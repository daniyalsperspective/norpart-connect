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76241-2DD1-4514-B448-6E65235934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D6759-B794-460F-A62C-6624B00DE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83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D6759-B794-460F-A62C-6624B00DE4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6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D6759-B794-460F-A62C-6624B00DE4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99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9280-3D28-C46C-F4A1-B4B592F29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EEEC4-22DE-8218-513B-88362A497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F5105-4B90-7FBD-29A2-D5CF0E4A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80B8-9570-FB70-14A4-30659155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3947E-0C5B-4DE6-7C65-6828C571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E7E3-696A-5B9E-9073-43F2B92E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94895-4D2C-7014-0A79-27E8A0AAB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D28D-6ECE-A3CC-5B7B-6C55035A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A737-07E3-C1E7-4E62-72EF6BD0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C078-BE09-FC05-D02E-8635DD4C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1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D69E-3BCA-6FC9-121E-9B029B8B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78149-90CC-BB1C-B281-953ED02C7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254F9-19D0-0947-E13B-64A9F344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B4FB9-0CE2-47BE-F770-FE279426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647C-5C37-EF2E-DCA6-DB6588DF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6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9B74-364B-4C1E-853D-E2847A97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169FF-A4F3-DB3F-AC9D-BD6598560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285FF-5F34-6621-FDD6-C2D0133F3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D8B30-254D-4C0C-7AD6-4823A537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89680-0E52-EA6F-C36D-7401CDCC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26284-BB6B-3789-954D-9A923F60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2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6197-8CD0-FC28-6E2A-ECDF8764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0BD86-0F33-1AE8-E81C-8F662C4E9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90AD8-9BE7-FC0A-8C83-E3477F819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B3048A-FE1F-DE4C-A567-078F9DB5E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E46C3-7A83-E416-5148-DBCCB0729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ECD07-607B-BBDA-AFA8-517B227C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CD38A-D43C-F190-2132-7F3751D0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2AE72-4522-5F1D-4C8D-43B06003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4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55DA-37A2-2BC2-D015-8E665E28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A3BB6-DD8D-9F9B-036D-9D44C6D7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6915E-7C24-5C6A-AC90-0213EE3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2E1EC-1325-6F1E-733C-4FF9015B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AB15C-5555-B2BA-5C28-F71BD9FD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00286-BCA3-34C0-84D9-0EA2F377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A19DE-A8FA-0875-666C-707366ED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8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110C-3160-C1BD-D0A4-D3430C14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6BA4-E3DA-DE0C-F944-2060443A2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534E3-868F-D0A1-B88B-55BA23223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57A0B-6B49-92FE-2EF7-88C26B02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12EBC-E98E-D1C7-180E-B81E7D360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3BD70-BAB2-233A-E7B8-D7134D23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1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BE78-BBA0-0CE7-EBC8-50410BA6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9E1C0-2A35-0A76-FD46-AE7A1B2BC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2EB3A-F6CD-2943-B7D7-E419F3C36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1A0CB-7EEF-8D18-7EF8-4E7A35A6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A4D47-A0E4-8B09-97A2-0EF76070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8AE32-49D6-779D-6DF2-2DC0CE44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7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EF09-0DEB-8843-1C22-391A1F2C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7A847-703B-B3BD-029B-98B2CA9CE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64FBD-059E-F35A-6269-F0A969A9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7D8B6-C5B8-7D95-32AB-8C7DD654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A0CA0-4D34-D51D-DB70-F7CBE7D2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5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31A0-4614-8D22-87E6-C61D1FBF3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114D8-B6D3-6C63-6857-81571360D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2496C-0F9E-2259-80EE-94A7B9B4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8C6CE-E227-B034-F951-9E0513B8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16CCD-25AA-620C-F9A1-E63FE22D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9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505C4-721E-4736-FB6F-150D9227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A89ED-07FE-C837-A0F1-D67097380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537A-05C3-6201-5A6C-BCAABB848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8DAD1-E993-4EC9-8FB5-D0895077489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F3862-91AE-734D-BDDF-CFBB7C52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FDA7-3EE7-FBEA-6C75-0E3A49CEE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5299A-DEDB-4811-A2A8-091549D18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6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4D2C0-256C-233F-F417-6B61DB386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DISCUSSION DRAFT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2FD4B-A126-4D08-5665-4E3A2A245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MUHAMMAD DANIYAL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8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5107C-285E-2408-1617-21D45F8D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Search query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0E45-0022-FF54-343A-67AE018A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("Bloom taxonomy" AND "large language model")OR("Bloom taxonomy classification" AND "GPT")OR("automated Bloom taxonomy classification transformer")OR("LLM based educational question classification Bloom")OR("LLM based educational question classification Bloom")OR("zero-shot Bloom taxonomy classification")</a:t>
            </a:r>
          </a:p>
        </p:txBody>
      </p:sp>
    </p:spTree>
    <p:extLst>
      <p:ext uri="{BB962C8B-B14F-4D97-AF65-F5344CB8AC3E}">
        <p14:creationId xmlns:p14="http://schemas.microsoft.com/office/powerpoint/2010/main" val="318979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B6286-2292-8908-24C9-F1260D22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Research Context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AA6EF1-DC9F-3C6E-C6BF-F159D6C7F3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Large Language Models (LLMs) such as ChatGPT are increasingly used in education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LLMs can generate learning objectives, questions, and instructional content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Bloom’s Taxonomy is a standard framework to assess cognitive levels in education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Ensuring cognitive quality of AI-generated content remains a challenge.</a:t>
            </a:r>
          </a:p>
        </p:txBody>
      </p:sp>
    </p:spTree>
    <p:extLst>
      <p:ext uri="{BB962C8B-B14F-4D97-AF65-F5344CB8AC3E}">
        <p14:creationId xmlns:p14="http://schemas.microsoft.com/office/powerpoint/2010/main" val="158802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0CD45-6D44-2869-1698-894F74E5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Motivation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A4539C-25F8-39FA-6508-3599E4D9B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Educational content must align with Bloom’s cognitive levels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 Bloom classification is: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Time-consuming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Subjective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 scalable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With growing AI-generated content,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cognitive analysis is required</a:t>
            </a:r>
          </a:p>
        </p:txBody>
      </p:sp>
    </p:spTree>
    <p:extLst>
      <p:ext uri="{BB962C8B-B14F-4D97-AF65-F5344CB8AC3E}">
        <p14:creationId xmlns:p14="http://schemas.microsoft.com/office/powerpoint/2010/main" val="47260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E0678-2662-AB01-FD32-0E22F28F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Key Insight from Recent Literature (2026)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85BA1B-509A-4652-B415-2DAC354F7D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Recent studies show: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ChatGPT can generate instructional units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Cognitive depth depends on teacher expertise, not the AI itself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Novice users produce mostly lower-order Bloom levels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LLMs are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 Bloom-aware by default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824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75EB1-4F4B-4CC2-3BB9-B176D6C1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Literature Observation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1F7487-E2DD-2013-A1D0-F2AAC221B6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Most studies focus on: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Content generation using LLMs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Teacher perceptions and experiences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Bloom’s Taxonomy is mainly used: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 a manual evaluation tool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After content generation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 automatic Bloom classification mechanism is commonly used</a:t>
            </a:r>
          </a:p>
        </p:txBody>
      </p:sp>
    </p:spTree>
    <p:extLst>
      <p:ext uri="{BB962C8B-B14F-4D97-AF65-F5344CB8AC3E}">
        <p14:creationId xmlns:p14="http://schemas.microsoft.com/office/powerpoint/2010/main" val="366138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0C57B-0DDF-486F-C813-73A897C0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80900D-695A-A929-C1A6-0F5C4A626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3631"/>
              </p:ext>
            </p:extLst>
          </p:nvPr>
        </p:nvGraphicFramePr>
        <p:xfrm>
          <a:off x="301451" y="2048052"/>
          <a:ext cx="11726426" cy="4451211"/>
        </p:xfrm>
        <a:graphic>
          <a:graphicData uri="http://schemas.openxmlformats.org/drawingml/2006/table">
            <a:tbl>
              <a:tblPr/>
              <a:tblGrid>
                <a:gridCol w="499439">
                  <a:extLst>
                    <a:ext uri="{9D8B030D-6E8A-4147-A177-3AD203B41FA5}">
                      <a16:colId xmlns:a16="http://schemas.microsoft.com/office/drawing/2014/main" val="4259594171"/>
                    </a:ext>
                  </a:extLst>
                </a:gridCol>
                <a:gridCol w="1565897">
                  <a:extLst>
                    <a:ext uri="{9D8B030D-6E8A-4147-A177-3AD203B41FA5}">
                      <a16:colId xmlns:a16="http://schemas.microsoft.com/office/drawing/2014/main" val="3732331555"/>
                    </a:ext>
                  </a:extLst>
                </a:gridCol>
                <a:gridCol w="1392144">
                  <a:extLst>
                    <a:ext uri="{9D8B030D-6E8A-4147-A177-3AD203B41FA5}">
                      <a16:colId xmlns:a16="http://schemas.microsoft.com/office/drawing/2014/main" val="2448356620"/>
                    </a:ext>
                  </a:extLst>
                </a:gridCol>
                <a:gridCol w="1297307">
                  <a:extLst>
                    <a:ext uri="{9D8B030D-6E8A-4147-A177-3AD203B41FA5}">
                      <a16:colId xmlns:a16="http://schemas.microsoft.com/office/drawing/2014/main" val="2909203322"/>
                    </a:ext>
                  </a:extLst>
                </a:gridCol>
                <a:gridCol w="1415803">
                  <a:extLst>
                    <a:ext uri="{9D8B030D-6E8A-4147-A177-3AD203B41FA5}">
                      <a16:colId xmlns:a16="http://schemas.microsoft.com/office/drawing/2014/main" val="913863276"/>
                    </a:ext>
                  </a:extLst>
                </a:gridCol>
                <a:gridCol w="1123514">
                  <a:extLst>
                    <a:ext uri="{9D8B030D-6E8A-4147-A177-3AD203B41FA5}">
                      <a16:colId xmlns:a16="http://schemas.microsoft.com/office/drawing/2014/main" val="1052783904"/>
                    </a:ext>
                  </a:extLst>
                </a:gridCol>
                <a:gridCol w="2671894">
                  <a:extLst>
                    <a:ext uri="{9D8B030D-6E8A-4147-A177-3AD203B41FA5}">
                      <a16:colId xmlns:a16="http://schemas.microsoft.com/office/drawing/2014/main" val="2939675846"/>
                    </a:ext>
                  </a:extLst>
                </a:gridCol>
                <a:gridCol w="1760428">
                  <a:extLst>
                    <a:ext uri="{9D8B030D-6E8A-4147-A177-3AD203B41FA5}">
                      <a16:colId xmlns:a16="http://schemas.microsoft.com/office/drawing/2014/main" val="2142344402"/>
                    </a:ext>
                  </a:extLst>
                </a:gridCol>
              </a:tblGrid>
              <a:tr h="356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Ref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Authors &amp; Year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Context / Dataset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Methodology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Use of Bloom’s Taxonomy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Role of LLM / AI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Key Findings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Limitations / Gap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73388"/>
                  </a:ext>
                </a:extLst>
              </a:tr>
              <a:tr h="8432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Abu Eideh (2026)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K-12 Physics curriculum (Palestine), 3 teachers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Qualitative multi-case study, content analysis + interviews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Manual classification of objectives into Bloom levels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ChatGPT used for instructional unit generation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Output cognitive depth depends heavily on teacher expertise; novice prompts → low-level Bloom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No automation of Bloom classification;  no algorithmic model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468920"/>
                  </a:ext>
                </a:extLst>
              </a:tr>
              <a:tr h="5999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Ullmann et al. (2024)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Distance education units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Comparative qualitative analysis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used as evaluation framework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ChatGPT &amp; AI tools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AI content looks structured but lacks cognitive sequencing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Bloom levels not detected automatically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716380"/>
                  </a:ext>
                </a:extLst>
              </a:tr>
              <a:tr h="5999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Rahman &amp; Watanobe (2023)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AI-generated educational text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Conceptual + empirical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referenced theoretically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ChatGPT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Overuse weakens higher-order cognition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No classification mechanism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402428"/>
                  </a:ext>
                </a:extLst>
              </a:tr>
              <a:tr h="5999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Dickey &amp; Bejarano (2024)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Instructional design frameworks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GAIDE framework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embedded implicitly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Generative AI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AI supports design but needs human oversight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Bloom not operationalized computationally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867997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Nazar et al. (2024)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University course generation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Case study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considered indirectly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CourseGPT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Polished content, shallow cognitive depth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No Bloom automation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312859"/>
                  </a:ext>
                </a:extLst>
              </a:tr>
              <a:tr h="5999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Apata et al. (2024)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Teacher training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Experimental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known but not enforced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ChatGPT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Teachers use AI as assistant, not analyzer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Bloom awareness ≠ Bloom automation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453777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Utami et al. (2025)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Curriculum planning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Mixed methods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Bloom as checklist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AI tools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AI helpful for planning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 Manual Bloom tagging only</a:t>
                      </a:r>
                    </a:p>
                  </a:txBody>
                  <a:tcPr marL="36916" marR="36916" marT="18458" marB="184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22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62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34D0-5FE1-CD55-6543-E46700CD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3311B5-5A61-0737-3F8D-507DE6891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304186"/>
              </p:ext>
            </p:extLst>
          </p:nvPr>
        </p:nvGraphicFramePr>
        <p:xfrm>
          <a:off x="321547" y="1825623"/>
          <a:ext cx="11595794" cy="4470074"/>
        </p:xfrm>
        <a:graphic>
          <a:graphicData uri="http://schemas.openxmlformats.org/drawingml/2006/table">
            <a:tbl>
              <a:tblPr/>
              <a:tblGrid>
                <a:gridCol w="489679">
                  <a:extLst>
                    <a:ext uri="{9D8B030D-6E8A-4147-A177-3AD203B41FA5}">
                      <a16:colId xmlns:a16="http://schemas.microsoft.com/office/drawing/2014/main" val="2894349245"/>
                    </a:ext>
                  </a:extLst>
                </a:gridCol>
                <a:gridCol w="1942022">
                  <a:extLst>
                    <a:ext uri="{9D8B030D-6E8A-4147-A177-3AD203B41FA5}">
                      <a16:colId xmlns:a16="http://schemas.microsoft.com/office/drawing/2014/main" val="1680263987"/>
                    </a:ext>
                  </a:extLst>
                </a:gridCol>
                <a:gridCol w="1916723">
                  <a:extLst>
                    <a:ext uri="{9D8B030D-6E8A-4147-A177-3AD203B41FA5}">
                      <a16:colId xmlns:a16="http://schemas.microsoft.com/office/drawing/2014/main" val="2660006736"/>
                    </a:ext>
                  </a:extLst>
                </a:gridCol>
                <a:gridCol w="1449474">
                  <a:extLst>
                    <a:ext uri="{9D8B030D-6E8A-4147-A177-3AD203B41FA5}">
                      <a16:colId xmlns:a16="http://schemas.microsoft.com/office/drawing/2014/main" val="209508840"/>
                    </a:ext>
                  </a:extLst>
                </a:gridCol>
                <a:gridCol w="1449474">
                  <a:extLst>
                    <a:ext uri="{9D8B030D-6E8A-4147-A177-3AD203B41FA5}">
                      <a16:colId xmlns:a16="http://schemas.microsoft.com/office/drawing/2014/main" val="310931250"/>
                    </a:ext>
                  </a:extLst>
                </a:gridCol>
                <a:gridCol w="1449474">
                  <a:extLst>
                    <a:ext uri="{9D8B030D-6E8A-4147-A177-3AD203B41FA5}">
                      <a16:colId xmlns:a16="http://schemas.microsoft.com/office/drawing/2014/main" val="3790504086"/>
                    </a:ext>
                  </a:extLst>
                </a:gridCol>
                <a:gridCol w="1449474">
                  <a:extLst>
                    <a:ext uri="{9D8B030D-6E8A-4147-A177-3AD203B41FA5}">
                      <a16:colId xmlns:a16="http://schemas.microsoft.com/office/drawing/2014/main" val="3785812101"/>
                    </a:ext>
                  </a:extLst>
                </a:gridCol>
                <a:gridCol w="1449474">
                  <a:extLst>
                    <a:ext uri="{9D8B030D-6E8A-4147-A177-3AD203B41FA5}">
                      <a16:colId xmlns:a16="http://schemas.microsoft.com/office/drawing/2014/main" val="3577017854"/>
                    </a:ext>
                  </a:extLst>
                </a:gridCol>
              </a:tblGrid>
              <a:tr h="402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Ref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Authors &amp; Year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Context / Dataset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Methodology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 of Bloom’s Taxonomy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Role of LLM / AI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Key Findings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Limitations / Gap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730152"/>
                  </a:ext>
                </a:extLst>
              </a:tr>
              <a:tr h="644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8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Koenig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Pedagogical AI adoption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Survey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conceptual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LLMs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Teachers struggle to encode cognition in prompts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automatic classifier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929187"/>
                  </a:ext>
                </a:extLst>
              </a:tr>
              <a:tr h="76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Gousopoulos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GPT-4 educational outputs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Evaluation study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analysis attempted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GPT-4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Poor performance on higher Bloom tasks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classifier model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289786"/>
                  </a:ext>
                </a:extLst>
              </a:tr>
              <a:tr h="5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Zhang &amp; Tur (2023)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K-12 education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Systematic review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mentioned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ChatGPT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Engagement ↑, cognition unclear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Bloom levels not quantified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852270"/>
                  </a:ext>
                </a:extLst>
              </a:tr>
              <a:tr h="402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11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 et al.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72 empirical studies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Meta-review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implicit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ChatGPT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Cognitive engagement mixed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taxonomy-aware AI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459963"/>
                  </a:ext>
                </a:extLst>
              </a:tr>
              <a:tr h="402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Hasanein &amp; Sobaih (2023)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 content quality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Analytical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theoretical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 tools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200"/>
                        <a:t>Conceptual ambiguity in AI text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detection model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73235"/>
                  </a:ext>
                </a:extLst>
              </a:tr>
              <a:tr h="402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13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Demirbek &amp; Ekizer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AutoGPT feedback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Experimental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absent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AutoGPT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Feedback useful but shallow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Bloom mapping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885551"/>
                  </a:ext>
                </a:extLst>
              </a:tr>
              <a:tr h="402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14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Liu et al.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Text simplification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NLP study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ignored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LLMs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Linguistic simplification only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Cognition ignored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610984"/>
                  </a:ext>
                </a:extLst>
              </a:tr>
              <a:tr h="5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Kayabaş (2024)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Generative AI in education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Conceptual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Bloom absent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LLMs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Focus on creativity &amp; access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 No cognitive classification</a:t>
                      </a:r>
                    </a:p>
                  </a:txBody>
                  <a:tcPr marL="17617" marR="17617" marT="8808" marB="88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27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51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1EC9B-FA77-E6DF-B9EA-AC8C64FF4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Identified Research Gap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2EEA12-FE2E-DF24-8458-66CCC4806C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There is no scalable system that: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Automatically classifies educational text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Into Bloom’s Taxonomy cognitive levels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Without human intervention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Cognitive quality assurance of AI-generated content remains manual</a:t>
            </a:r>
          </a:p>
        </p:txBody>
      </p:sp>
    </p:spTree>
    <p:extLst>
      <p:ext uri="{BB962C8B-B14F-4D97-AF65-F5344CB8AC3E}">
        <p14:creationId xmlns:p14="http://schemas.microsoft.com/office/powerpoint/2010/main" val="2205911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100BC-9A98-7835-E497-1937A6DF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A9B284-B3DE-C7A6-54EB-F89D0CEE1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AI-generated educational content lacks automatic cognitive validation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Bloom classification relies on human expertise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creates inconsistency and limits large-scale adoption of AI in education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reliable automated Bloom classification approach is missing</a:t>
            </a:r>
          </a:p>
        </p:txBody>
      </p:sp>
    </p:spTree>
    <p:extLst>
      <p:ext uri="{BB962C8B-B14F-4D97-AF65-F5344CB8AC3E}">
        <p14:creationId xmlns:p14="http://schemas.microsoft.com/office/powerpoint/2010/main" val="3727505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5F137-A0F2-B87B-DBCB-21984011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Proposed Research Direction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EF4123-FF7C-D44C-8298-CC7ECA1F2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Treat Bloom Taxonomy classification as an NLP classification problem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LLM-based and ML-based approaches for automatic classification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 on: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Learning objectives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Assessment questions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automated results with human-annotated labels</a:t>
            </a:r>
          </a:p>
        </p:txBody>
      </p:sp>
    </p:spTree>
    <p:extLst>
      <p:ext uri="{BB962C8B-B14F-4D97-AF65-F5344CB8AC3E}">
        <p14:creationId xmlns:p14="http://schemas.microsoft.com/office/powerpoint/2010/main" val="215962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F21B-31CE-DD03-5060-8E1ECA77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45F97-B62B-581E-EA42-4A59CCA08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Can an LLM-based system automatically classify educational text into Bloom’s Taxonomy levels with acceptable accuracy?</a:t>
            </a:r>
          </a:p>
          <a:p>
            <a:r>
              <a:rPr lang="en-US" dirty="0"/>
              <a:t>How are Bloom levels distributed in existing educational datasets?</a:t>
            </a:r>
          </a:p>
          <a:p>
            <a:r>
              <a:rPr lang="en-US" dirty="0"/>
              <a:t>Which Bloom levels are hardest to classify automatically?</a:t>
            </a:r>
          </a:p>
          <a:p>
            <a:r>
              <a:rPr lang="en-US" b="1" dirty="0"/>
              <a:t>How does LLM-based classification compare with traditional ML methods?</a:t>
            </a:r>
          </a:p>
          <a:p>
            <a:r>
              <a:rPr lang="en-US" b="1" dirty="0">
                <a:highlight>
                  <a:srgbClr val="FFFF00"/>
                </a:highlight>
              </a:rPr>
              <a:t>How close are automated predictions to human expert annotations?</a:t>
            </a:r>
          </a:p>
        </p:txBody>
      </p:sp>
    </p:spTree>
    <p:extLst>
      <p:ext uri="{BB962C8B-B14F-4D97-AF65-F5344CB8AC3E}">
        <p14:creationId xmlns:p14="http://schemas.microsoft.com/office/powerpoint/2010/main" val="228570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AC643-6B55-5C23-B858-D9D87F1B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Expected Contribution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C6CFD-5581-8AB2-6855-C98863E2B2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 an automated Bloom Taxonomy classification framework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 teacher workload in cognitive analysis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 quality assurance of AI-generated educational content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Bridge the gap between educational theory and AI automation</a:t>
            </a:r>
          </a:p>
        </p:txBody>
      </p:sp>
    </p:spTree>
    <p:extLst>
      <p:ext uri="{BB962C8B-B14F-4D97-AF65-F5344CB8AC3E}">
        <p14:creationId xmlns:p14="http://schemas.microsoft.com/office/powerpoint/2010/main" val="229668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859</Words>
  <Application>Microsoft Office PowerPoint</Application>
  <PresentationFormat>Widescreen</PresentationFormat>
  <Paragraphs>197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DISCUSSION DRAFT</vt:lpstr>
      <vt:lpstr>Search query</vt:lpstr>
      <vt:lpstr>Research Context</vt:lpstr>
      <vt:lpstr>Motivation</vt:lpstr>
      <vt:lpstr>Key Insight from Recent Literature (2026)</vt:lpstr>
      <vt:lpstr>Literature Observation</vt:lpstr>
      <vt:lpstr>PowerPoint Presentation</vt:lpstr>
      <vt:lpstr>PowerPoint Presentation</vt:lpstr>
      <vt:lpstr>Identified Research Gap</vt:lpstr>
      <vt:lpstr>Problem Statement</vt:lpstr>
      <vt:lpstr>Proposed Research Direction</vt:lpstr>
      <vt:lpstr>RQs</vt:lpstr>
      <vt:lpstr>Expected 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Daniyal Qureshi</dc:creator>
  <cp:lastModifiedBy>Muhammad Daniyal Qureshi</cp:lastModifiedBy>
  <cp:revision>22</cp:revision>
  <dcterms:created xsi:type="dcterms:W3CDTF">2026-02-12T06:49:08Z</dcterms:created>
  <dcterms:modified xsi:type="dcterms:W3CDTF">2026-02-22T20:14:24Z</dcterms:modified>
</cp:coreProperties>
</file>
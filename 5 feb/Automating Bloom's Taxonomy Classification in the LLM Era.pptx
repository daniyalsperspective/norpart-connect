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Liter" charset="-122" pitchFamily="34"/>
      <p:regular r:id="rId16"/>
    </p:embeddedFont>
    <p:embeddedFont>
      <p:font typeface="Oranienbaum" charset="-122" pitchFamily="34"/>
      <p:regular r:id="rId17"/>
    </p:embeddedFont>
    <p:embeddedFont>
      <p:font typeface="Unna" charset="-122" pitchFamily="34"/>
      <p:regular r:id="rId18"/>
    </p:embeddedFont>
    <p:embeddedFont>
      <p:font typeface="Quattrocento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ubstackcdn.com/d818ae8bacc7ab4af4a84945c24053eea5a8a7ea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85000"/>
                </a:srgbClr>
              </a:gs>
              <a:gs pos="100000">
                <a:srgbClr val="2C3E5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381000"/>
            <a:ext cx="2343150" cy="419100"/>
          </a:xfrm>
          <a:custGeom>
            <a:avLst/>
            <a:gdLst/>
            <a:ahLst/>
            <a:cxnLst/>
            <a:rect l="l" t="t" r="r" b="b"/>
            <a:pathLst>
              <a:path w="2343150" h="419100">
                <a:moveTo>
                  <a:pt x="0" y="0"/>
                </a:moveTo>
                <a:lnTo>
                  <a:pt x="2343150" y="0"/>
                </a:lnTo>
                <a:lnTo>
                  <a:pt x="23431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810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45720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Proposal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104900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7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Automating Bloom's Taxonomy Classification in the LLM Era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76225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 Comparative Perspective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61912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7F2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32844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8F7F2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747169" y="6210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3147219" y="61912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7F2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63832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8F7F2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592445" y="6210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3"/>
          <p:cNvSpPr/>
          <p:nvPr/>
        </p:nvSpPr>
        <p:spPr>
          <a:xfrm>
            <a:off x="5978207" y="619125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7F2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Assessment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Motivation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038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This Research?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581650" cy="5143500"/>
          </a:xfrm>
          <a:custGeom>
            <a:avLst/>
            <a:gdLst/>
            <a:ahLst/>
            <a:cxnLst/>
            <a:rect l="l" t="t" r="r" b="b"/>
            <a:pathLst>
              <a:path w="5581650" h="5143500">
                <a:moveTo>
                  <a:pt x="38100" y="0"/>
                </a:moveTo>
                <a:lnTo>
                  <a:pt x="5505475" y="0"/>
                </a:lnTo>
                <a:cubicBezTo>
                  <a:pt x="5547545" y="0"/>
                  <a:pt x="5581650" y="34105"/>
                  <a:pt x="5581650" y="76175"/>
                </a:cubicBezTo>
                <a:lnTo>
                  <a:pt x="5581650" y="5067325"/>
                </a:lnTo>
                <a:cubicBezTo>
                  <a:pt x="5581650" y="5109395"/>
                  <a:pt x="5547545" y="5143500"/>
                  <a:pt x="5505475" y="5143500"/>
                </a:cubicBezTo>
                <a:lnTo>
                  <a:pt x="38100" y="5143500"/>
                </a:lnTo>
                <a:cubicBezTo>
                  <a:pt x="17072" y="5143500"/>
                  <a:pt x="0" y="5126428"/>
                  <a:pt x="0" y="510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5143500"/>
          </a:xfrm>
          <a:custGeom>
            <a:avLst/>
            <a:gdLst/>
            <a:ahLst/>
            <a:cxnLst/>
            <a:rect l="l" t="t" r="r" b="b"/>
            <a:pathLst>
              <a:path w="38100" h="5143500">
                <a:moveTo>
                  <a:pt x="38100" y="0"/>
                </a:moveTo>
                <a:lnTo>
                  <a:pt x="38100" y="0"/>
                </a:lnTo>
                <a:lnTo>
                  <a:pt x="38100" y="5143500"/>
                </a:lnTo>
                <a:lnTo>
                  <a:pt x="38100" y="5143500"/>
                </a:lnTo>
                <a:cubicBezTo>
                  <a:pt x="17072" y="5143500"/>
                  <a:pt x="0" y="5126428"/>
                  <a:pt x="0" y="510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7810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383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Core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668112"/>
            <a:ext cx="5191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Bloom's Taxonomy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serves as the foundational framework for categorizing educational learning objectives into six hierarchical cognitive levels.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5320" y="3694430"/>
            <a:ext cx="2484120" cy="457200"/>
          </a:xfrm>
          <a:custGeom>
            <a:avLst/>
            <a:gdLst/>
            <a:ahLst/>
            <a:cxnLst/>
            <a:rect l="l" t="t" r="r" b="b"/>
            <a:pathLst>
              <a:path w="2484120" h="457200">
                <a:moveTo>
                  <a:pt x="15240" y="0"/>
                </a:moveTo>
                <a:lnTo>
                  <a:pt x="2446022" y="0"/>
                </a:lnTo>
                <a:cubicBezTo>
                  <a:pt x="2467063" y="0"/>
                  <a:pt x="2484120" y="17057"/>
                  <a:pt x="2484120" y="38098"/>
                </a:cubicBezTo>
                <a:lnTo>
                  <a:pt x="2484120" y="419102"/>
                </a:lnTo>
                <a:cubicBezTo>
                  <a:pt x="2484120" y="440143"/>
                  <a:pt x="2467063" y="457200"/>
                  <a:pt x="2446022" y="457200"/>
                </a:cubicBez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" y="3694430"/>
            <a:ext cx="15240" cy="457200"/>
          </a:xfrm>
          <a:custGeom>
            <a:avLst/>
            <a:gdLst/>
            <a:ahLst/>
            <a:cxnLst/>
            <a:rect l="l" t="t" r="r" b="b"/>
            <a:pathLst>
              <a:path w="15240" h="457200">
                <a:moveTo>
                  <a:pt x="15240" y="0"/>
                </a:moveTo>
                <a:lnTo>
                  <a:pt x="15240" y="0"/>
                </a:lnTo>
                <a:lnTo>
                  <a:pt x="15240" y="457200"/>
                </a:ln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815340" y="380873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65170" y="3694430"/>
            <a:ext cx="2484120" cy="457200"/>
          </a:xfrm>
          <a:custGeom>
            <a:avLst/>
            <a:gdLst/>
            <a:ahLst/>
            <a:cxnLst/>
            <a:rect l="l" t="t" r="r" b="b"/>
            <a:pathLst>
              <a:path w="2484120" h="457200">
                <a:moveTo>
                  <a:pt x="15240" y="0"/>
                </a:moveTo>
                <a:lnTo>
                  <a:pt x="2446022" y="0"/>
                </a:lnTo>
                <a:cubicBezTo>
                  <a:pt x="2467063" y="0"/>
                  <a:pt x="2484120" y="17057"/>
                  <a:pt x="2484120" y="38098"/>
                </a:cubicBezTo>
                <a:lnTo>
                  <a:pt x="2484120" y="419102"/>
                </a:lnTo>
                <a:cubicBezTo>
                  <a:pt x="2484120" y="440143"/>
                  <a:pt x="2467063" y="457200"/>
                  <a:pt x="2446022" y="457200"/>
                </a:cubicBez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5" name="Shape 13"/>
          <p:cNvSpPr/>
          <p:nvPr/>
        </p:nvSpPr>
        <p:spPr>
          <a:xfrm>
            <a:off x="3265170" y="3694430"/>
            <a:ext cx="15240" cy="457200"/>
          </a:xfrm>
          <a:custGeom>
            <a:avLst/>
            <a:gdLst/>
            <a:ahLst/>
            <a:cxnLst/>
            <a:rect l="l" t="t" r="r" b="b"/>
            <a:pathLst>
              <a:path w="15240" h="457200">
                <a:moveTo>
                  <a:pt x="15240" y="0"/>
                </a:moveTo>
                <a:lnTo>
                  <a:pt x="15240" y="0"/>
                </a:lnTo>
                <a:lnTo>
                  <a:pt x="15240" y="457200"/>
                </a:ln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3425190" y="380873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5320" y="4265930"/>
            <a:ext cx="2484120" cy="457200"/>
          </a:xfrm>
          <a:custGeom>
            <a:avLst/>
            <a:gdLst/>
            <a:ahLst/>
            <a:cxnLst/>
            <a:rect l="l" t="t" r="r" b="b"/>
            <a:pathLst>
              <a:path w="2484120" h="457200">
                <a:moveTo>
                  <a:pt x="15240" y="0"/>
                </a:moveTo>
                <a:lnTo>
                  <a:pt x="2446022" y="0"/>
                </a:lnTo>
                <a:cubicBezTo>
                  <a:pt x="2467063" y="0"/>
                  <a:pt x="2484120" y="17057"/>
                  <a:pt x="2484120" y="38098"/>
                </a:cubicBezTo>
                <a:lnTo>
                  <a:pt x="2484120" y="419102"/>
                </a:lnTo>
                <a:cubicBezTo>
                  <a:pt x="2484120" y="440143"/>
                  <a:pt x="2467063" y="457200"/>
                  <a:pt x="2446022" y="457200"/>
                </a:cubicBez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5320" y="4265930"/>
            <a:ext cx="15240" cy="457200"/>
          </a:xfrm>
          <a:custGeom>
            <a:avLst/>
            <a:gdLst/>
            <a:ahLst/>
            <a:cxnLst/>
            <a:rect l="l" t="t" r="r" b="b"/>
            <a:pathLst>
              <a:path w="15240" h="457200">
                <a:moveTo>
                  <a:pt x="15240" y="0"/>
                </a:moveTo>
                <a:lnTo>
                  <a:pt x="15240" y="0"/>
                </a:lnTo>
                <a:lnTo>
                  <a:pt x="15240" y="457200"/>
                </a:ln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815340" y="438023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65170" y="4265930"/>
            <a:ext cx="2484120" cy="457200"/>
          </a:xfrm>
          <a:custGeom>
            <a:avLst/>
            <a:gdLst/>
            <a:ahLst/>
            <a:cxnLst/>
            <a:rect l="l" t="t" r="r" b="b"/>
            <a:pathLst>
              <a:path w="2484120" h="457200">
                <a:moveTo>
                  <a:pt x="15240" y="0"/>
                </a:moveTo>
                <a:lnTo>
                  <a:pt x="2446022" y="0"/>
                </a:lnTo>
                <a:cubicBezTo>
                  <a:pt x="2467063" y="0"/>
                  <a:pt x="2484120" y="17057"/>
                  <a:pt x="2484120" y="38098"/>
                </a:cubicBezTo>
                <a:lnTo>
                  <a:pt x="2484120" y="419102"/>
                </a:lnTo>
                <a:cubicBezTo>
                  <a:pt x="2484120" y="440143"/>
                  <a:pt x="2467063" y="457200"/>
                  <a:pt x="2446022" y="457200"/>
                </a:cubicBez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5170" y="4265930"/>
            <a:ext cx="15240" cy="457200"/>
          </a:xfrm>
          <a:custGeom>
            <a:avLst/>
            <a:gdLst/>
            <a:ahLst/>
            <a:cxnLst/>
            <a:rect l="l" t="t" r="r" b="b"/>
            <a:pathLst>
              <a:path w="15240" h="457200">
                <a:moveTo>
                  <a:pt x="15240" y="0"/>
                </a:moveTo>
                <a:lnTo>
                  <a:pt x="15240" y="0"/>
                </a:lnTo>
                <a:lnTo>
                  <a:pt x="15240" y="457200"/>
                </a:ln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3425190" y="438023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5320" y="4837430"/>
            <a:ext cx="2484120" cy="457200"/>
          </a:xfrm>
          <a:custGeom>
            <a:avLst/>
            <a:gdLst/>
            <a:ahLst/>
            <a:cxnLst/>
            <a:rect l="l" t="t" r="r" b="b"/>
            <a:pathLst>
              <a:path w="2484120" h="457200">
                <a:moveTo>
                  <a:pt x="15240" y="0"/>
                </a:moveTo>
                <a:lnTo>
                  <a:pt x="2446022" y="0"/>
                </a:lnTo>
                <a:cubicBezTo>
                  <a:pt x="2467063" y="0"/>
                  <a:pt x="2484120" y="17057"/>
                  <a:pt x="2484120" y="38098"/>
                </a:cubicBezTo>
                <a:lnTo>
                  <a:pt x="2484120" y="419102"/>
                </a:lnTo>
                <a:cubicBezTo>
                  <a:pt x="2484120" y="440143"/>
                  <a:pt x="2467063" y="457200"/>
                  <a:pt x="2446022" y="457200"/>
                </a:cubicBez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" y="4837430"/>
            <a:ext cx="15240" cy="457200"/>
          </a:xfrm>
          <a:custGeom>
            <a:avLst/>
            <a:gdLst/>
            <a:ahLst/>
            <a:cxnLst/>
            <a:rect l="l" t="t" r="r" b="b"/>
            <a:pathLst>
              <a:path w="15240" h="457200">
                <a:moveTo>
                  <a:pt x="15240" y="0"/>
                </a:moveTo>
                <a:lnTo>
                  <a:pt x="15240" y="0"/>
                </a:lnTo>
                <a:lnTo>
                  <a:pt x="15240" y="457200"/>
                </a:ln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815340" y="495173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65170" y="4837430"/>
            <a:ext cx="2484120" cy="457200"/>
          </a:xfrm>
          <a:custGeom>
            <a:avLst/>
            <a:gdLst/>
            <a:ahLst/>
            <a:cxnLst/>
            <a:rect l="l" t="t" r="r" b="b"/>
            <a:pathLst>
              <a:path w="2484120" h="457200">
                <a:moveTo>
                  <a:pt x="15240" y="0"/>
                </a:moveTo>
                <a:lnTo>
                  <a:pt x="2446022" y="0"/>
                </a:lnTo>
                <a:cubicBezTo>
                  <a:pt x="2467063" y="0"/>
                  <a:pt x="2484120" y="17057"/>
                  <a:pt x="2484120" y="38098"/>
                </a:cubicBezTo>
                <a:lnTo>
                  <a:pt x="2484120" y="419102"/>
                </a:lnTo>
                <a:cubicBezTo>
                  <a:pt x="2484120" y="440143"/>
                  <a:pt x="2467063" y="457200"/>
                  <a:pt x="2446022" y="457200"/>
                </a:cubicBez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65170" y="4837430"/>
            <a:ext cx="15240" cy="457200"/>
          </a:xfrm>
          <a:custGeom>
            <a:avLst/>
            <a:gdLst/>
            <a:ahLst/>
            <a:cxnLst/>
            <a:rect l="l" t="t" r="r" b="b"/>
            <a:pathLst>
              <a:path w="15240" h="457200">
                <a:moveTo>
                  <a:pt x="15240" y="0"/>
                </a:moveTo>
                <a:lnTo>
                  <a:pt x="15240" y="0"/>
                </a:lnTo>
                <a:lnTo>
                  <a:pt x="15240" y="457200"/>
                </a:lnTo>
                <a:lnTo>
                  <a:pt x="15240" y="457200"/>
                </a:lnTo>
                <a:cubicBezTo>
                  <a:pt x="6823" y="457200"/>
                  <a:pt x="0" y="450377"/>
                  <a:pt x="0" y="4419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3425190" y="495173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" y="556133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Lower-order vs. Higher-order cognitive skills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9350" y="1333500"/>
            <a:ext cx="5581650" cy="1828800"/>
          </a:xfrm>
          <a:custGeom>
            <a:avLst/>
            <a:gdLst/>
            <a:ahLst/>
            <a:cxnLst/>
            <a:rect l="l" t="t" r="r" b="b"/>
            <a:pathLst>
              <a:path w="5581650" h="1828800">
                <a:moveTo>
                  <a:pt x="38100" y="0"/>
                </a:moveTo>
                <a:lnTo>
                  <a:pt x="5505444" y="0"/>
                </a:lnTo>
                <a:cubicBezTo>
                  <a:pt x="5547531" y="0"/>
                  <a:pt x="5581650" y="34119"/>
                  <a:pt x="5581650" y="76206"/>
                </a:cubicBezTo>
                <a:lnTo>
                  <a:pt x="5581650" y="1752594"/>
                </a:lnTo>
                <a:cubicBezTo>
                  <a:pt x="5581650" y="1794681"/>
                  <a:pt x="5547531" y="1828800"/>
                  <a:pt x="55054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29350" y="13335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Shape 30"/>
          <p:cNvSpPr/>
          <p:nvPr/>
        </p:nvSpPr>
        <p:spPr>
          <a:xfrm>
            <a:off x="64389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Shape 31"/>
          <p:cNvSpPr/>
          <p:nvPr/>
        </p:nvSpPr>
        <p:spPr>
          <a:xfrm>
            <a:off x="6546056" y="1628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34200" y="158115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Educator Challenges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7950" y="209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743700" y="20574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Difficulty in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judging cognitive depth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consistently across assessments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57950" y="243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743700" y="24003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Struggle to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higher-order skills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curriculum design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57950" y="278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743700" y="27432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classification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not scalable for large educational programs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0300" y="3390900"/>
            <a:ext cx="5600700" cy="3086100"/>
          </a:xfrm>
          <a:custGeom>
            <a:avLst/>
            <a:gdLst/>
            <a:ahLst/>
            <a:cxnLst/>
            <a:rect l="l" t="t" r="r" b="b"/>
            <a:pathLst>
              <a:path w="5600700" h="3086100">
                <a:moveTo>
                  <a:pt x="76196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3009904"/>
                </a:lnTo>
                <a:cubicBezTo>
                  <a:pt x="5600700" y="3051986"/>
                  <a:pt x="5566586" y="3086100"/>
                  <a:pt x="5524504" y="3086100"/>
                </a:cubicBezTo>
                <a:lnTo>
                  <a:pt x="76196" y="3086100"/>
                </a:lnTo>
                <a:cubicBezTo>
                  <a:pt x="34114" y="3086100"/>
                  <a:pt x="0" y="3051986"/>
                  <a:pt x="0" y="30099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2C3E50"/>
              </a:gs>
              <a:gs pos="100000">
                <a:srgbClr val="8D99AE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37261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Shape 41"/>
          <p:cNvSpPr/>
          <p:nvPr/>
        </p:nvSpPr>
        <p:spPr>
          <a:xfrm>
            <a:off x="6507956" y="383095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96100" y="378333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LLM Opportunity &amp; Confusion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0" y="425958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are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widely adopted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but their reliability for educational assessment remains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unclear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0" y="486918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38098" y="0"/>
                </a:moveTo>
                <a:lnTo>
                  <a:pt x="5181602" y="0"/>
                </a:lnTo>
                <a:cubicBezTo>
                  <a:pt x="5202643" y="0"/>
                  <a:pt x="5219700" y="17057"/>
                  <a:pt x="5219700" y="38098"/>
                </a:cubicBezTo>
                <a:lnTo>
                  <a:pt x="5219700" y="419102"/>
                </a:lnTo>
                <a:cubicBezTo>
                  <a:pt x="5219700" y="440143"/>
                  <a:pt x="5202643" y="457200"/>
                  <a:pt x="51816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72250" y="50177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6800850" y="498348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Bloom levels are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weakly handled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4610" y="5444490"/>
            <a:ext cx="5208270" cy="693420"/>
          </a:xfrm>
          <a:custGeom>
            <a:avLst/>
            <a:gdLst/>
            <a:ahLst/>
            <a:cxnLst/>
            <a:rect l="l" t="t" r="r" b="b"/>
            <a:pathLst>
              <a:path w="5208270" h="693420">
                <a:moveTo>
                  <a:pt x="38103" y="0"/>
                </a:moveTo>
                <a:lnTo>
                  <a:pt x="5170167" y="0"/>
                </a:lnTo>
                <a:cubicBezTo>
                  <a:pt x="5191196" y="0"/>
                  <a:pt x="5208270" y="17074"/>
                  <a:pt x="5208270" y="38103"/>
                </a:cubicBezTo>
                <a:lnTo>
                  <a:pt x="5208270" y="655317"/>
                </a:lnTo>
                <a:cubicBezTo>
                  <a:pt x="5208270" y="676346"/>
                  <a:pt x="5191196" y="693420"/>
                  <a:pt x="517016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9395" y="559689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9"/>
          <p:cNvSpPr/>
          <p:nvPr/>
        </p:nvSpPr>
        <p:spPr>
          <a:xfrm>
            <a:off x="6808470" y="55626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Anchor Study: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Huber &amp; Niklaus (2025) — benchmarks are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lower-order biased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435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44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Has Already Been Done?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10490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major research streams in Bloom's Taxonomy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43050"/>
            <a:ext cx="5638800" cy="2381250"/>
          </a:xfrm>
          <a:custGeom>
            <a:avLst/>
            <a:gdLst/>
            <a:ahLst/>
            <a:cxnLst/>
            <a:rect l="l" t="t" r="r" b="b"/>
            <a:pathLst>
              <a:path w="5638800" h="23812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305050"/>
                </a:lnTo>
                <a:cubicBezTo>
                  <a:pt x="5638800" y="2347106"/>
                  <a:pt x="5604656" y="2381250"/>
                  <a:pt x="5562600" y="2381250"/>
                </a:cubicBezTo>
                <a:lnTo>
                  <a:pt x="76200" y="2381250"/>
                </a:lnTo>
                <a:cubicBezTo>
                  <a:pt x="34144" y="2381250"/>
                  <a:pt x="0" y="2347106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5430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514350" y="1752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88595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CLOs &amp; Exam Questions Classification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00300"/>
            <a:ext cx="533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automating classification of Course Learning Outcomes and examination questions into Bloom's levels using various ML techniques.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314700"/>
            <a:ext cx="5257800" cy="419100"/>
          </a:xfrm>
          <a:custGeom>
            <a:avLst/>
            <a:gdLst/>
            <a:ahLst/>
            <a:cxnLst/>
            <a:rect l="l" t="t" r="r" b="b"/>
            <a:pathLst>
              <a:path w="5257800" h="419100">
                <a:moveTo>
                  <a:pt x="38100" y="0"/>
                </a:moveTo>
                <a:lnTo>
                  <a:pt x="5219700" y="0"/>
                </a:lnTo>
                <a:cubicBezTo>
                  <a:pt x="5240742" y="0"/>
                  <a:pt x="5257800" y="17058"/>
                  <a:pt x="5257800" y="38100"/>
                </a:cubicBezTo>
                <a:lnTo>
                  <a:pt x="5257800" y="381000"/>
                </a:lnTo>
                <a:cubicBezTo>
                  <a:pt x="5257800" y="402042"/>
                  <a:pt x="5240742" y="419100"/>
                  <a:pt x="52197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88181" y="345376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Researchers: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Kumar et al., Almatrafi et 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543050"/>
            <a:ext cx="5638800" cy="2381250"/>
          </a:xfrm>
          <a:custGeom>
            <a:avLst/>
            <a:gdLst/>
            <a:ahLst/>
            <a:cxnLst/>
            <a:rect l="l" t="t" r="r" b="b"/>
            <a:pathLst>
              <a:path w="5638800" h="23812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305050"/>
                </a:lnTo>
                <a:cubicBezTo>
                  <a:pt x="5638800" y="2347106"/>
                  <a:pt x="5604656" y="2381250"/>
                  <a:pt x="5562600" y="2381250"/>
                </a:cubicBezTo>
                <a:lnTo>
                  <a:pt x="76200" y="2381250"/>
                </a:lnTo>
                <a:cubicBezTo>
                  <a:pt x="34144" y="2381250"/>
                  <a:pt x="0" y="2347106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5430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27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5550" y="1752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0400" y="188595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LLM vs Traditional ML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2700" y="2400300"/>
            <a:ext cx="533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studies examining performance differences between transformer-based LLMs and classical ML approaches like SVM and Logistic Regression.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2700" y="3314700"/>
            <a:ext cx="5257800" cy="419100"/>
          </a:xfrm>
          <a:custGeom>
            <a:avLst/>
            <a:gdLst/>
            <a:ahLst/>
            <a:cxnLst/>
            <a:rect l="l" t="t" r="r" b="b"/>
            <a:pathLst>
              <a:path w="5257800" h="419100">
                <a:moveTo>
                  <a:pt x="38100" y="0"/>
                </a:moveTo>
                <a:lnTo>
                  <a:pt x="5219700" y="0"/>
                </a:lnTo>
                <a:cubicBezTo>
                  <a:pt x="5240742" y="0"/>
                  <a:pt x="5257800" y="17058"/>
                  <a:pt x="5257800" y="38100"/>
                </a:cubicBezTo>
                <a:lnTo>
                  <a:pt x="5257800" y="381000"/>
                </a:lnTo>
                <a:cubicBezTo>
                  <a:pt x="5257800" y="402042"/>
                  <a:pt x="5240742" y="419100"/>
                  <a:pt x="52197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9381" y="345376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6705600" y="342900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Debate: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GPT-4o-mini vs SVM performance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4095750"/>
            <a:ext cx="5638800" cy="2381250"/>
          </a:xfrm>
          <a:custGeom>
            <a:avLst/>
            <a:gdLst/>
            <a:ahLst/>
            <a:cxnLst/>
            <a:rect l="l" t="t" r="r" b="b"/>
            <a:pathLst>
              <a:path w="5638800" h="23812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305050"/>
                </a:lnTo>
                <a:cubicBezTo>
                  <a:pt x="5638800" y="2347106"/>
                  <a:pt x="5604656" y="2381250"/>
                  <a:pt x="5562600" y="2381250"/>
                </a:cubicBezTo>
                <a:lnTo>
                  <a:pt x="76200" y="2381250"/>
                </a:lnTo>
                <a:cubicBezTo>
                  <a:pt x="34144" y="2381250"/>
                  <a:pt x="0" y="2347106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1000" y="40957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430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514350" y="4305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4438650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Practical Tools &amp; Applications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953000"/>
            <a:ext cx="533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of deployable educational tools leveraging fine-tuned language models for real-world classroom integration and assessment automation.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1500" y="5867400"/>
            <a:ext cx="5257800" cy="419100"/>
          </a:xfrm>
          <a:custGeom>
            <a:avLst/>
            <a:gdLst/>
            <a:ahLst/>
            <a:cxnLst/>
            <a:rect l="l" t="t" r="r" b="b"/>
            <a:pathLst>
              <a:path w="5257800" h="419100">
                <a:moveTo>
                  <a:pt x="38100" y="0"/>
                </a:moveTo>
                <a:lnTo>
                  <a:pt x="5219700" y="0"/>
                </a:lnTo>
                <a:cubicBezTo>
                  <a:pt x="5240742" y="0"/>
                  <a:pt x="5257800" y="17058"/>
                  <a:pt x="5257800" y="38100"/>
                </a:cubicBezTo>
                <a:lnTo>
                  <a:pt x="5257800" y="381000"/>
                </a:lnTo>
                <a:cubicBezTo>
                  <a:pt x="5257800" y="402042"/>
                  <a:pt x="5240742" y="419100"/>
                  <a:pt x="52197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31" name="Shape 29"/>
          <p:cNvSpPr/>
          <p:nvPr/>
        </p:nvSpPr>
        <p:spPr>
          <a:xfrm>
            <a:off x="696516" y="600646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67" y="25290"/>
                </a:moveTo>
                <a:lnTo>
                  <a:pt x="58367" y="38208"/>
                </a:lnTo>
                <a:lnTo>
                  <a:pt x="58497" y="38338"/>
                </a:lnTo>
                <a:cubicBezTo>
                  <a:pt x="60190" y="16877"/>
                  <a:pt x="78135" y="0"/>
                  <a:pt x="100039" y="0"/>
                </a:cubicBezTo>
                <a:cubicBezTo>
                  <a:pt x="105274" y="0"/>
                  <a:pt x="110300" y="964"/>
                  <a:pt x="114910" y="2735"/>
                </a:cubicBezTo>
                <a:cubicBezTo>
                  <a:pt x="117515" y="3724"/>
                  <a:pt x="117983" y="7032"/>
                  <a:pt x="116030" y="9012"/>
                </a:cubicBezTo>
                <a:lnTo>
                  <a:pt x="92928" y="32113"/>
                </a:lnTo>
                <a:cubicBezTo>
                  <a:pt x="92147" y="32895"/>
                  <a:pt x="91704" y="33963"/>
                  <a:pt x="91704" y="35056"/>
                </a:cubicBezTo>
                <a:lnTo>
                  <a:pt x="91704" y="45839"/>
                </a:lnTo>
                <a:cubicBezTo>
                  <a:pt x="91704" y="48131"/>
                  <a:pt x="93579" y="50006"/>
                  <a:pt x="95871" y="50006"/>
                </a:cubicBezTo>
                <a:lnTo>
                  <a:pt x="106654" y="50006"/>
                </a:lnTo>
                <a:cubicBezTo>
                  <a:pt x="107748" y="50006"/>
                  <a:pt x="108816" y="49563"/>
                  <a:pt x="109597" y="48782"/>
                </a:cubicBezTo>
                <a:lnTo>
                  <a:pt x="132699" y="25680"/>
                </a:lnTo>
                <a:cubicBezTo>
                  <a:pt x="134678" y="23701"/>
                  <a:pt x="137986" y="24196"/>
                  <a:pt x="138976" y="26800"/>
                </a:cubicBezTo>
                <a:cubicBezTo>
                  <a:pt x="140747" y="31410"/>
                  <a:pt x="141710" y="36437"/>
                  <a:pt x="141710" y="41672"/>
                </a:cubicBezTo>
                <a:cubicBezTo>
                  <a:pt x="141710" y="57455"/>
                  <a:pt x="132933" y="71207"/>
                  <a:pt x="119963" y="78265"/>
                </a:cubicBezTo>
                <a:lnTo>
                  <a:pt x="141190" y="99492"/>
                </a:lnTo>
                <a:cubicBezTo>
                  <a:pt x="146060" y="104362"/>
                  <a:pt x="146060" y="112280"/>
                  <a:pt x="141190" y="117176"/>
                </a:cubicBezTo>
                <a:lnTo>
                  <a:pt x="125537" y="132829"/>
                </a:lnTo>
                <a:cubicBezTo>
                  <a:pt x="120666" y="137700"/>
                  <a:pt x="112748" y="137700"/>
                  <a:pt x="107852" y="132829"/>
                </a:cubicBezTo>
                <a:lnTo>
                  <a:pt x="75035" y="100013"/>
                </a:lnTo>
                <a:cubicBezTo>
                  <a:pt x="67899" y="92876"/>
                  <a:pt x="66284" y="82328"/>
                  <a:pt x="70217" y="73629"/>
                </a:cubicBezTo>
                <a:lnTo>
                  <a:pt x="46594" y="50006"/>
                </a:lnTo>
                <a:lnTo>
                  <a:pt x="33676" y="50006"/>
                </a:lnTo>
                <a:cubicBezTo>
                  <a:pt x="30889" y="50006"/>
                  <a:pt x="28285" y="48626"/>
                  <a:pt x="26748" y="46308"/>
                </a:cubicBezTo>
                <a:lnTo>
                  <a:pt x="6095" y="15340"/>
                </a:lnTo>
                <a:cubicBezTo>
                  <a:pt x="5001" y="13700"/>
                  <a:pt x="5209" y="11486"/>
                  <a:pt x="6615" y="10079"/>
                </a:cubicBezTo>
                <a:lnTo>
                  <a:pt x="18440" y="-1745"/>
                </a:lnTo>
                <a:cubicBezTo>
                  <a:pt x="19846" y="-3151"/>
                  <a:pt x="22034" y="-3360"/>
                  <a:pt x="23701" y="-2266"/>
                </a:cubicBezTo>
                <a:lnTo>
                  <a:pt x="54668" y="18362"/>
                </a:lnTo>
                <a:cubicBezTo>
                  <a:pt x="56986" y="19898"/>
                  <a:pt x="58367" y="22503"/>
                  <a:pt x="58367" y="25290"/>
                </a:cubicBezTo>
                <a:close/>
                <a:moveTo>
                  <a:pt x="56153" y="77249"/>
                </a:moveTo>
                <a:cubicBezTo>
                  <a:pt x="54512" y="86886"/>
                  <a:pt x="56778" y="97069"/>
                  <a:pt x="63029" y="105221"/>
                </a:cubicBezTo>
                <a:lnTo>
                  <a:pt x="38286" y="129938"/>
                </a:lnTo>
                <a:cubicBezTo>
                  <a:pt x="30967" y="137257"/>
                  <a:pt x="19091" y="137257"/>
                  <a:pt x="11772" y="129938"/>
                </a:cubicBezTo>
                <a:cubicBezTo>
                  <a:pt x="4454" y="122619"/>
                  <a:pt x="4454" y="110743"/>
                  <a:pt x="11772" y="103424"/>
                </a:cubicBezTo>
                <a:lnTo>
                  <a:pt x="47037" y="68160"/>
                </a:lnTo>
                <a:lnTo>
                  <a:pt x="56153" y="7727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98170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Bloomify (Mistral 7B + QLoRA)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4095750"/>
            <a:ext cx="5638800" cy="2381250"/>
          </a:xfrm>
          <a:custGeom>
            <a:avLst/>
            <a:gdLst/>
            <a:ahLst/>
            <a:cxnLst/>
            <a:rect l="l" t="t" r="r" b="b"/>
            <a:pathLst>
              <a:path w="5638800" h="23812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305050"/>
                </a:lnTo>
                <a:cubicBezTo>
                  <a:pt x="5638800" y="2347106"/>
                  <a:pt x="5604656" y="2381250"/>
                  <a:pt x="5562600" y="2381250"/>
                </a:cubicBezTo>
                <a:lnTo>
                  <a:pt x="76200" y="2381250"/>
                </a:lnTo>
                <a:cubicBezTo>
                  <a:pt x="34144" y="2381250"/>
                  <a:pt x="0" y="2347106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40957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2700" y="430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5550" y="4305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10400" y="443865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Dialogue &amp; Learning Analytics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62700" y="4953000"/>
            <a:ext cx="533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of taxonomy classification to educational dialogues, Socratic questioning patterns, and interactive learning environments for real-time feedback.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2700" y="5867400"/>
            <a:ext cx="5257800" cy="419100"/>
          </a:xfrm>
          <a:custGeom>
            <a:avLst/>
            <a:gdLst/>
            <a:ahLst/>
            <a:cxnLst/>
            <a:rect l="l" t="t" r="r" b="b"/>
            <a:pathLst>
              <a:path w="5257800" h="419100">
                <a:moveTo>
                  <a:pt x="38100" y="0"/>
                </a:moveTo>
                <a:lnTo>
                  <a:pt x="5219700" y="0"/>
                </a:lnTo>
                <a:cubicBezTo>
                  <a:pt x="5240742" y="0"/>
                  <a:pt x="5257800" y="17058"/>
                  <a:pt x="5257800" y="38100"/>
                </a:cubicBezTo>
                <a:lnTo>
                  <a:pt x="5257800" y="381000"/>
                </a:lnTo>
                <a:cubicBezTo>
                  <a:pt x="5257800" y="402042"/>
                  <a:pt x="5240742" y="419100"/>
                  <a:pt x="52197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87716" y="600646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6705600" y="598170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Socratic chatbot labeling (Lee et al.)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142" y="473205"/>
            <a:ext cx="55671" cy="371142"/>
          </a:xfrm>
          <a:custGeom>
            <a:avLst/>
            <a:gdLst/>
            <a:ahLst/>
            <a:cxnLst/>
            <a:rect l="l" t="t" r="r" b="b"/>
            <a:pathLst>
              <a:path w="55671" h="371142">
                <a:moveTo>
                  <a:pt x="0" y="0"/>
                </a:moveTo>
                <a:lnTo>
                  <a:pt x="55671" y="0"/>
                </a:lnTo>
                <a:lnTo>
                  <a:pt x="55671" y="371142"/>
                </a:lnTo>
                <a:lnTo>
                  <a:pt x="0" y="37114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8155" y="371142"/>
            <a:ext cx="274644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spc="58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Maturity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8155" y="612384"/>
            <a:ext cx="2811397" cy="334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2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Empirical 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3826" y="983525"/>
            <a:ext cx="11301260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insights from recent studies on Bloom's Taxonomy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699" y="1280438"/>
            <a:ext cx="5650630" cy="2672219"/>
          </a:xfrm>
          <a:custGeom>
            <a:avLst/>
            <a:gdLst/>
            <a:ahLst/>
            <a:cxnLst/>
            <a:rect l="l" t="t" r="r" b="b"/>
            <a:pathLst>
              <a:path w="5650630" h="2672219">
                <a:moveTo>
                  <a:pt x="37114" y="0"/>
                </a:moveTo>
                <a:lnTo>
                  <a:pt x="5576396" y="0"/>
                </a:lnTo>
                <a:cubicBezTo>
                  <a:pt x="5617394" y="0"/>
                  <a:pt x="5650630" y="33236"/>
                  <a:pt x="5650630" y="74234"/>
                </a:cubicBezTo>
                <a:lnTo>
                  <a:pt x="5650630" y="2597985"/>
                </a:lnTo>
                <a:cubicBezTo>
                  <a:pt x="5650630" y="2638983"/>
                  <a:pt x="5617394" y="2672219"/>
                  <a:pt x="5576396" y="2672219"/>
                </a:cubicBezTo>
                <a:lnTo>
                  <a:pt x="37114" y="2672219"/>
                </a:lnTo>
                <a:cubicBezTo>
                  <a:pt x="16617" y="2672219"/>
                  <a:pt x="0" y="2655603"/>
                  <a:pt x="0" y="2635105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671" dist="37114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9699" y="1280438"/>
            <a:ext cx="37114" cy="2672219"/>
          </a:xfrm>
          <a:custGeom>
            <a:avLst/>
            <a:gdLst/>
            <a:ahLst/>
            <a:cxnLst/>
            <a:rect l="l" t="t" r="r" b="b"/>
            <a:pathLst>
              <a:path w="37114" h="2672219">
                <a:moveTo>
                  <a:pt x="37114" y="0"/>
                </a:moveTo>
                <a:lnTo>
                  <a:pt x="37114" y="0"/>
                </a:lnTo>
                <a:lnTo>
                  <a:pt x="37114" y="2672219"/>
                </a:lnTo>
                <a:lnTo>
                  <a:pt x="37114" y="2672219"/>
                </a:lnTo>
                <a:cubicBezTo>
                  <a:pt x="16617" y="2672219"/>
                  <a:pt x="0" y="2655603"/>
                  <a:pt x="0" y="2635105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519598" y="1447452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9" name="Shape 7"/>
          <p:cNvSpPr/>
          <p:nvPr/>
        </p:nvSpPr>
        <p:spPr>
          <a:xfrm>
            <a:off x="623982" y="1549516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20877" y="20877"/>
                </a:moveTo>
                <a:cubicBezTo>
                  <a:pt x="20877" y="15103"/>
                  <a:pt x="16212" y="10438"/>
                  <a:pt x="10438" y="10438"/>
                </a:cubicBezTo>
                <a:cubicBezTo>
                  <a:pt x="4665" y="10438"/>
                  <a:pt x="0" y="15103"/>
                  <a:pt x="0" y="20877"/>
                </a:cubicBezTo>
                <a:lnTo>
                  <a:pt x="0" y="130479"/>
                </a:lnTo>
                <a:cubicBezTo>
                  <a:pt x="0" y="144897"/>
                  <a:pt x="11678" y="156575"/>
                  <a:pt x="26096" y="156575"/>
                </a:cubicBezTo>
                <a:lnTo>
                  <a:pt x="156575" y="156575"/>
                </a:lnTo>
                <a:cubicBezTo>
                  <a:pt x="162349" y="156575"/>
                  <a:pt x="167014" y="151911"/>
                  <a:pt x="167014" y="146137"/>
                </a:cubicBezTo>
                <a:cubicBezTo>
                  <a:pt x="167014" y="140363"/>
                  <a:pt x="162349" y="135699"/>
                  <a:pt x="156575" y="135699"/>
                </a:cubicBezTo>
                <a:lnTo>
                  <a:pt x="26096" y="135699"/>
                </a:lnTo>
                <a:cubicBezTo>
                  <a:pt x="23225" y="135699"/>
                  <a:pt x="20877" y="133350"/>
                  <a:pt x="20877" y="130479"/>
                </a:cubicBezTo>
                <a:lnTo>
                  <a:pt x="20877" y="20877"/>
                </a:lnTo>
                <a:close/>
                <a:moveTo>
                  <a:pt x="153509" y="49126"/>
                </a:moveTo>
                <a:cubicBezTo>
                  <a:pt x="157587" y="45048"/>
                  <a:pt x="157587" y="38426"/>
                  <a:pt x="153509" y="34349"/>
                </a:cubicBezTo>
                <a:cubicBezTo>
                  <a:pt x="149432" y="30271"/>
                  <a:pt x="142810" y="30271"/>
                  <a:pt x="138732" y="34349"/>
                </a:cubicBezTo>
                <a:lnTo>
                  <a:pt x="104384" y="68730"/>
                </a:lnTo>
                <a:lnTo>
                  <a:pt x="85660" y="50039"/>
                </a:lnTo>
                <a:cubicBezTo>
                  <a:pt x="81582" y="45961"/>
                  <a:pt x="74960" y="45961"/>
                  <a:pt x="70883" y="50039"/>
                </a:cubicBezTo>
                <a:lnTo>
                  <a:pt x="39568" y="81354"/>
                </a:lnTo>
                <a:cubicBezTo>
                  <a:pt x="35490" y="85431"/>
                  <a:pt x="35490" y="92053"/>
                  <a:pt x="39568" y="96131"/>
                </a:cubicBezTo>
                <a:cubicBezTo>
                  <a:pt x="43645" y="100208"/>
                  <a:pt x="50267" y="100208"/>
                  <a:pt x="54345" y="96131"/>
                </a:cubicBezTo>
                <a:lnTo>
                  <a:pt x="78288" y="72188"/>
                </a:lnTo>
                <a:lnTo>
                  <a:pt x="97011" y="90912"/>
                </a:lnTo>
                <a:cubicBezTo>
                  <a:pt x="101089" y="94989"/>
                  <a:pt x="107711" y="94989"/>
                  <a:pt x="111788" y="90912"/>
                </a:cubicBezTo>
                <a:lnTo>
                  <a:pt x="153542" y="49158"/>
                </a:ln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2082" y="1391781"/>
            <a:ext cx="2783562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Small Datasets: SVM Dominance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2082" y="1651580"/>
            <a:ext cx="2774283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ML outperforms deep learning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9598" y="2044989"/>
            <a:ext cx="5409388" cy="797954"/>
          </a:xfrm>
          <a:custGeom>
            <a:avLst/>
            <a:gdLst/>
            <a:ahLst/>
            <a:cxnLst/>
            <a:rect l="l" t="t" r="r" b="b"/>
            <a:pathLst>
              <a:path w="5409388" h="797954">
                <a:moveTo>
                  <a:pt x="37113" y="0"/>
                </a:moveTo>
                <a:lnTo>
                  <a:pt x="5372275" y="0"/>
                </a:lnTo>
                <a:cubicBezTo>
                  <a:pt x="5392772" y="0"/>
                  <a:pt x="5409388" y="16616"/>
                  <a:pt x="5409388" y="37113"/>
                </a:cubicBezTo>
                <a:lnTo>
                  <a:pt x="5409388" y="760841"/>
                </a:lnTo>
                <a:cubicBezTo>
                  <a:pt x="5409388" y="781338"/>
                  <a:pt x="5392772" y="797954"/>
                  <a:pt x="5372275" y="797954"/>
                </a:cubicBezTo>
                <a:lnTo>
                  <a:pt x="37113" y="797954"/>
                </a:lnTo>
                <a:cubicBezTo>
                  <a:pt x="16616" y="797954"/>
                  <a:pt x="0" y="781338"/>
                  <a:pt x="0" y="760841"/>
                </a:cubicBezTo>
                <a:lnTo>
                  <a:pt x="0" y="37113"/>
                </a:lnTo>
                <a:cubicBezTo>
                  <a:pt x="0" y="16630"/>
                  <a:pt x="16630" y="0"/>
                  <a:pt x="37113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3" name="Text 11"/>
          <p:cNvSpPr/>
          <p:nvPr/>
        </p:nvSpPr>
        <p:spPr>
          <a:xfrm>
            <a:off x="593826" y="2137774"/>
            <a:ext cx="2106228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SVM with Data Augmentation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5112" y="2119217"/>
            <a:ext cx="408256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94%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3826" y="2416131"/>
            <a:ext cx="5260932" cy="92785"/>
          </a:xfrm>
          <a:custGeom>
            <a:avLst/>
            <a:gdLst/>
            <a:ahLst/>
            <a:cxnLst/>
            <a:rect l="l" t="t" r="r" b="b"/>
            <a:pathLst>
              <a:path w="5260932" h="92785">
                <a:moveTo>
                  <a:pt x="46393" y="0"/>
                </a:moveTo>
                <a:lnTo>
                  <a:pt x="5214539" y="0"/>
                </a:lnTo>
                <a:cubicBezTo>
                  <a:pt x="5240161" y="0"/>
                  <a:pt x="5260932" y="20771"/>
                  <a:pt x="5260932" y="46393"/>
                </a:cubicBezTo>
                <a:lnTo>
                  <a:pt x="5260932" y="46393"/>
                </a:lnTo>
                <a:cubicBezTo>
                  <a:pt x="5260932" y="72015"/>
                  <a:pt x="5240161" y="92785"/>
                  <a:pt x="5214539" y="92785"/>
                </a:cubicBezTo>
                <a:lnTo>
                  <a:pt x="46393" y="92785"/>
                </a:lnTo>
                <a:cubicBezTo>
                  <a:pt x="20788" y="92785"/>
                  <a:pt x="0" y="71998"/>
                  <a:pt x="0" y="46393"/>
                </a:cubicBezTo>
                <a:lnTo>
                  <a:pt x="0" y="46393"/>
                </a:lnTo>
                <a:cubicBezTo>
                  <a:pt x="0" y="20788"/>
                  <a:pt x="20788" y="0"/>
                  <a:pt x="46393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3826" y="2416131"/>
            <a:ext cx="4945461" cy="92785"/>
          </a:xfrm>
          <a:custGeom>
            <a:avLst/>
            <a:gdLst/>
            <a:ahLst/>
            <a:cxnLst/>
            <a:rect l="l" t="t" r="r" b="b"/>
            <a:pathLst>
              <a:path w="4945461" h="92785">
                <a:moveTo>
                  <a:pt x="46393" y="0"/>
                </a:moveTo>
                <a:lnTo>
                  <a:pt x="4899068" y="0"/>
                </a:lnTo>
                <a:cubicBezTo>
                  <a:pt x="4924690" y="0"/>
                  <a:pt x="4945461" y="20771"/>
                  <a:pt x="4945461" y="46393"/>
                </a:cubicBezTo>
                <a:lnTo>
                  <a:pt x="4945461" y="46393"/>
                </a:lnTo>
                <a:cubicBezTo>
                  <a:pt x="4945461" y="72015"/>
                  <a:pt x="4924690" y="92785"/>
                  <a:pt x="4899068" y="92785"/>
                </a:cubicBezTo>
                <a:lnTo>
                  <a:pt x="46393" y="92785"/>
                </a:lnTo>
                <a:cubicBezTo>
                  <a:pt x="20788" y="92785"/>
                  <a:pt x="0" y="71998"/>
                  <a:pt x="0" y="46393"/>
                </a:cubicBezTo>
                <a:lnTo>
                  <a:pt x="0" y="46393"/>
                </a:lnTo>
                <a:cubicBezTo>
                  <a:pt x="0" y="20788"/>
                  <a:pt x="20788" y="0"/>
                  <a:pt x="4639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593826" y="2546030"/>
            <a:ext cx="5335160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on limited training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598" y="2917172"/>
            <a:ext cx="5483616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Support Vector Machines achieve superior performance with small datasets through effective feature engineering and data augmentation strategies.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9598" y="3536979"/>
            <a:ext cx="5409388" cy="7423"/>
          </a:xfrm>
          <a:custGeom>
            <a:avLst/>
            <a:gdLst/>
            <a:ahLst/>
            <a:cxnLst/>
            <a:rect l="l" t="t" r="r" b="b"/>
            <a:pathLst>
              <a:path w="5409388" h="7423">
                <a:moveTo>
                  <a:pt x="0" y="0"/>
                </a:moveTo>
                <a:lnTo>
                  <a:pt x="5409388" y="0"/>
                </a:lnTo>
                <a:lnTo>
                  <a:pt x="5409388" y="7423"/>
                </a:lnTo>
                <a:lnTo>
                  <a:pt x="0" y="7423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7434" y="3648321"/>
            <a:ext cx="129900" cy="148457"/>
          </a:xfrm>
          <a:custGeom>
            <a:avLst/>
            <a:gdLst/>
            <a:ahLst/>
            <a:cxnLst/>
            <a:rect l="l" t="t" r="r" b="b"/>
            <a:pathLst>
              <a:path w="129900" h="148457">
                <a:moveTo>
                  <a:pt x="111342" y="148457"/>
                </a:moveTo>
                <a:lnTo>
                  <a:pt x="27836" y="148457"/>
                </a:lnTo>
                <a:cubicBezTo>
                  <a:pt x="12468" y="148457"/>
                  <a:pt x="0" y="135989"/>
                  <a:pt x="0" y="120621"/>
                </a:cubicBezTo>
                <a:lnTo>
                  <a:pt x="0" y="27836"/>
                </a:lnTo>
                <a:cubicBezTo>
                  <a:pt x="0" y="12468"/>
                  <a:pt x="12468" y="0"/>
                  <a:pt x="27836" y="0"/>
                </a:cubicBezTo>
                <a:lnTo>
                  <a:pt x="115982" y="0"/>
                </a:lnTo>
                <a:cubicBezTo>
                  <a:pt x="123666" y="0"/>
                  <a:pt x="129900" y="6234"/>
                  <a:pt x="129900" y="13918"/>
                </a:cubicBezTo>
                <a:lnTo>
                  <a:pt x="129900" y="97425"/>
                </a:lnTo>
                <a:cubicBezTo>
                  <a:pt x="129900" y="103485"/>
                  <a:pt x="126014" y="108646"/>
                  <a:pt x="120621" y="110560"/>
                </a:cubicBezTo>
                <a:lnTo>
                  <a:pt x="120621" y="129900"/>
                </a:lnTo>
                <a:cubicBezTo>
                  <a:pt x="125753" y="129900"/>
                  <a:pt x="129900" y="134046"/>
                  <a:pt x="129900" y="139178"/>
                </a:cubicBezTo>
                <a:cubicBezTo>
                  <a:pt x="129900" y="144310"/>
                  <a:pt x="125753" y="148457"/>
                  <a:pt x="120621" y="148457"/>
                </a:cubicBezTo>
                <a:lnTo>
                  <a:pt x="111342" y="148457"/>
                </a:lnTo>
                <a:close/>
                <a:moveTo>
                  <a:pt x="27836" y="111342"/>
                </a:moveTo>
                <a:cubicBezTo>
                  <a:pt x="22703" y="111342"/>
                  <a:pt x="18557" y="115489"/>
                  <a:pt x="18557" y="120621"/>
                </a:cubicBezTo>
                <a:cubicBezTo>
                  <a:pt x="18557" y="125753"/>
                  <a:pt x="22703" y="129900"/>
                  <a:pt x="27836" y="129900"/>
                </a:cubicBezTo>
                <a:lnTo>
                  <a:pt x="102064" y="129900"/>
                </a:lnTo>
                <a:lnTo>
                  <a:pt x="102064" y="111342"/>
                </a:lnTo>
                <a:lnTo>
                  <a:pt x="27836" y="111342"/>
                </a:lnTo>
                <a:close/>
                <a:moveTo>
                  <a:pt x="37114" y="44073"/>
                </a:moveTo>
                <a:cubicBezTo>
                  <a:pt x="37114" y="47929"/>
                  <a:pt x="40217" y="51032"/>
                  <a:pt x="44073" y="51032"/>
                </a:cubicBezTo>
                <a:lnTo>
                  <a:pt x="95105" y="51032"/>
                </a:lnTo>
                <a:cubicBezTo>
                  <a:pt x="98961" y="51032"/>
                  <a:pt x="102064" y="47929"/>
                  <a:pt x="102064" y="44073"/>
                </a:cubicBezTo>
                <a:cubicBezTo>
                  <a:pt x="102064" y="40217"/>
                  <a:pt x="98961" y="37114"/>
                  <a:pt x="95105" y="37114"/>
                </a:cubicBezTo>
                <a:lnTo>
                  <a:pt x="44073" y="37114"/>
                </a:lnTo>
                <a:cubicBezTo>
                  <a:pt x="40217" y="37114"/>
                  <a:pt x="37114" y="40217"/>
                  <a:pt x="37114" y="44073"/>
                </a:cubicBezTo>
                <a:close/>
                <a:moveTo>
                  <a:pt x="44073" y="64950"/>
                </a:moveTo>
                <a:cubicBezTo>
                  <a:pt x="40217" y="64950"/>
                  <a:pt x="37114" y="68052"/>
                  <a:pt x="37114" y="71909"/>
                </a:cubicBezTo>
                <a:cubicBezTo>
                  <a:pt x="37114" y="75765"/>
                  <a:pt x="40217" y="78868"/>
                  <a:pt x="44073" y="78868"/>
                </a:cubicBezTo>
                <a:lnTo>
                  <a:pt x="95105" y="78868"/>
                </a:lnTo>
                <a:cubicBezTo>
                  <a:pt x="98961" y="78868"/>
                  <a:pt x="102064" y="75765"/>
                  <a:pt x="102064" y="71909"/>
                </a:cubicBezTo>
                <a:cubicBezTo>
                  <a:pt x="102064" y="68052"/>
                  <a:pt x="98961" y="64950"/>
                  <a:pt x="95105" y="64950"/>
                </a:cubicBezTo>
                <a:lnTo>
                  <a:pt x="44073" y="6495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759400" y="3614920"/>
            <a:ext cx="5243815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Kumar et al., Almatrafi et al.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69301" y="1280438"/>
            <a:ext cx="5650630" cy="2672219"/>
          </a:xfrm>
          <a:custGeom>
            <a:avLst/>
            <a:gdLst/>
            <a:ahLst/>
            <a:cxnLst/>
            <a:rect l="l" t="t" r="r" b="b"/>
            <a:pathLst>
              <a:path w="5650630" h="2672219">
                <a:moveTo>
                  <a:pt x="37114" y="0"/>
                </a:moveTo>
                <a:lnTo>
                  <a:pt x="5576396" y="0"/>
                </a:lnTo>
                <a:cubicBezTo>
                  <a:pt x="5617394" y="0"/>
                  <a:pt x="5650630" y="33236"/>
                  <a:pt x="5650630" y="74234"/>
                </a:cubicBezTo>
                <a:lnTo>
                  <a:pt x="5650630" y="2597985"/>
                </a:lnTo>
                <a:cubicBezTo>
                  <a:pt x="5650630" y="2638983"/>
                  <a:pt x="5617394" y="2672219"/>
                  <a:pt x="5576396" y="2672219"/>
                </a:cubicBezTo>
                <a:lnTo>
                  <a:pt x="37114" y="2672219"/>
                </a:lnTo>
                <a:cubicBezTo>
                  <a:pt x="16617" y="2672219"/>
                  <a:pt x="0" y="2655603"/>
                  <a:pt x="0" y="2635105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671" dist="37114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9301" y="1280438"/>
            <a:ext cx="37114" cy="2672219"/>
          </a:xfrm>
          <a:custGeom>
            <a:avLst/>
            <a:gdLst/>
            <a:ahLst/>
            <a:cxnLst/>
            <a:rect l="l" t="t" r="r" b="b"/>
            <a:pathLst>
              <a:path w="37114" h="2672219">
                <a:moveTo>
                  <a:pt x="37114" y="0"/>
                </a:moveTo>
                <a:lnTo>
                  <a:pt x="37114" y="0"/>
                </a:lnTo>
                <a:lnTo>
                  <a:pt x="37114" y="2672219"/>
                </a:lnTo>
                <a:lnTo>
                  <a:pt x="37114" y="2672219"/>
                </a:lnTo>
                <a:cubicBezTo>
                  <a:pt x="16617" y="2672219"/>
                  <a:pt x="0" y="2655603"/>
                  <a:pt x="0" y="2635105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99200" y="1447452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707" y="1549516"/>
            <a:ext cx="208767" cy="167014"/>
          </a:xfrm>
          <a:custGeom>
            <a:avLst/>
            <a:gdLst/>
            <a:ahLst/>
            <a:cxnLst/>
            <a:rect l="l" t="t" r="r" b="b"/>
            <a:pathLst>
              <a:path w="208767" h="167014">
                <a:moveTo>
                  <a:pt x="114822" y="0"/>
                </a:moveTo>
                <a:cubicBezTo>
                  <a:pt x="114822" y="-5774"/>
                  <a:pt x="110157" y="-10438"/>
                  <a:pt x="104384" y="-10438"/>
                </a:cubicBezTo>
                <a:cubicBezTo>
                  <a:pt x="98610" y="-10438"/>
                  <a:pt x="93945" y="-5774"/>
                  <a:pt x="93945" y="0"/>
                </a:cubicBezTo>
                <a:lnTo>
                  <a:pt x="93945" y="20877"/>
                </a:lnTo>
                <a:lnTo>
                  <a:pt x="62630" y="20877"/>
                </a:lnTo>
                <a:cubicBezTo>
                  <a:pt x="45342" y="20877"/>
                  <a:pt x="31315" y="34903"/>
                  <a:pt x="31315" y="52192"/>
                </a:cubicBezTo>
                <a:lnTo>
                  <a:pt x="31315" y="125260"/>
                </a:lnTo>
                <a:cubicBezTo>
                  <a:pt x="31315" y="142549"/>
                  <a:pt x="45342" y="156575"/>
                  <a:pt x="62630" y="156575"/>
                </a:cubicBezTo>
                <a:lnTo>
                  <a:pt x="146137" y="156575"/>
                </a:lnTo>
                <a:cubicBezTo>
                  <a:pt x="163426" y="156575"/>
                  <a:pt x="177452" y="142549"/>
                  <a:pt x="177452" y="125260"/>
                </a:cubicBezTo>
                <a:lnTo>
                  <a:pt x="177452" y="52192"/>
                </a:lnTo>
                <a:cubicBezTo>
                  <a:pt x="177452" y="34903"/>
                  <a:pt x="163426" y="20877"/>
                  <a:pt x="146137" y="20877"/>
                </a:cubicBezTo>
                <a:lnTo>
                  <a:pt x="114822" y="20877"/>
                </a:lnTo>
                <a:lnTo>
                  <a:pt x="114822" y="0"/>
                </a:lnTo>
                <a:close/>
                <a:moveTo>
                  <a:pt x="52192" y="120041"/>
                </a:moveTo>
                <a:cubicBezTo>
                  <a:pt x="52192" y="115703"/>
                  <a:pt x="55682" y="112212"/>
                  <a:pt x="60021" y="112212"/>
                </a:cubicBezTo>
                <a:lnTo>
                  <a:pt x="70459" y="112212"/>
                </a:lnTo>
                <a:cubicBezTo>
                  <a:pt x="74797" y="112212"/>
                  <a:pt x="78288" y="115703"/>
                  <a:pt x="78288" y="120041"/>
                </a:cubicBezTo>
                <a:cubicBezTo>
                  <a:pt x="78288" y="124380"/>
                  <a:pt x="74797" y="127870"/>
                  <a:pt x="70459" y="127870"/>
                </a:cubicBezTo>
                <a:lnTo>
                  <a:pt x="60021" y="127870"/>
                </a:lnTo>
                <a:cubicBezTo>
                  <a:pt x="55682" y="127870"/>
                  <a:pt x="52192" y="124380"/>
                  <a:pt x="52192" y="120041"/>
                </a:cubicBezTo>
                <a:close/>
                <a:moveTo>
                  <a:pt x="91336" y="120041"/>
                </a:moveTo>
                <a:cubicBezTo>
                  <a:pt x="91336" y="115703"/>
                  <a:pt x="94826" y="112212"/>
                  <a:pt x="99164" y="112212"/>
                </a:cubicBezTo>
                <a:lnTo>
                  <a:pt x="109603" y="112212"/>
                </a:lnTo>
                <a:cubicBezTo>
                  <a:pt x="113941" y="112212"/>
                  <a:pt x="117432" y="115703"/>
                  <a:pt x="117432" y="120041"/>
                </a:cubicBezTo>
                <a:cubicBezTo>
                  <a:pt x="117432" y="124380"/>
                  <a:pt x="113941" y="127870"/>
                  <a:pt x="109603" y="127870"/>
                </a:cubicBezTo>
                <a:lnTo>
                  <a:pt x="99164" y="127870"/>
                </a:lnTo>
                <a:cubicBezTo>
                  <a:pt x="94826" y="127870"/>
                  <a:pt x="91336" y="124380"/>
                  <a:pt x="91336" y="120041"/>
                </a:cubicBezTo>
                <a:close/>
                <a:moveTo>
                  <a:pt x="130479" y="120041"/>
                </a:moveTo>
                <a:cubicBezTo>
                  <a:pt x="130479" y="115703"/>
                  <a:pt x="133970" y="112212"/>
                  <a:pt x="138308" y="112212"/>
                </a:cubicBezTo>
                <a:lnTo>
                  <a:pt x="148747" y="112212"/>
                </a:lnTo>
                <a:cubicBezTo>
                  <a:pt x="153085" y="112212"/>
                  <a:pt x="156575" y="115703"/>
                  <a:pt x="156575" y="120041"/>
                </a:cubicBezTo>
                <a:cubicBezTo>
                  <a:pt x="156575" y="124380"/>
                  <a:pt x="153085" y="127870"/>
                  <a:pt x="148747" y="127870"/>
                </a:cubicBezTo>
                <a:lnTo>
                  <a:pt x="138308" y="127870"/>
                </a:lnTo>
                <a:cubicBezTo>
                  <a:pt x="133970" y="127870"/>
                  <a:pt x="130479" y="124380"/>
                  <a:pt x="130479" y="120041"/>
                </a:cubicBezTo>
                <a:close/>
                <a:moveTo>
                  <a:pt x="73068" y="57411"/>
                </a:moveTo>
                <a:cubicBezTo>
                  <a:pt x="81710" y="57411"/>
                  <a:pt x="88726" y="64427"/>
                  <a:pt x="88726" y="73068"/>
                </a:cubicBezTo>
                <a:cubicBezTo>
                  <a:pt x="88726" y="81710"/>
                  <a:pt x="81710" y="88726"/>
                  <a:pt x="73068" y="88726"/>
                </a:cubicBezTo>
                <a:cubicBezTo>
                  <a:pt x="64427" y="88726"/>
                  <a:pt x="57411" y="81710"/>
                  <a:pt x="57411" y="73068"/>
                </a:cubicBezTo>
                <a:cubicBezTo>
                  <a:pt x="57411" y="64427"/>
                  <a:pt x="64427" y="57411"/>
                  <a:pt x="73068" y="57411"/>
                </a:cubicBezTo>
                <a:close/>
                <a:moveTo>
                  <a:pt x="120041" y="73068"/>
                </a:moveTo>
                <a:cubicBezTo>
                  <a:pt x="120041" y="64427"/>
                  <a:pt x="127057" y="57411"/>
                  <a:pt x="135699" y="57411"/>
                </a:cubicBezTo>
                <a:cubicBezTo>
                  <a:pt x="144340" y="57411"/>
                  <a:pt x="151356" y="64427"/>
                  <a:pt x="151356" y="73068"/>
                </a:cubicBezTo>
                <a:cubicBezTo>
                  <a:pt x="151356" y="81710"/>
                  <a:pt x="144340" y="88726"/>
                  <a:pt x="135699" y="88726"/>
                </a:cubicBezTo>
                <a:cubicBezTo>
                  <a:pt x="127057" y="88726"/>
                  <a:pt x="120041" y="81710"/>
                  <a:pt x="120041" y="73068"/>
                </a:cubicBezTo>
                <a:close/>
                <a:moveTo>
                  <a:pt x="20877" y="73068"/>
                </a:moveTo>
                <a:cubicBezTo>
                  <a:pt x="20877" y="67295"/>
                  <a:pt x="16212" y="62630"/>
                  <a:pt x="10438" y="62630"/>
                </a:cubicBezTo>
                <a:cubicBezTo>
                  <a:pt x="4665" y="62630"/>
                  <a:pt x="0" y="67295"/>
                  <a:pt x="0" y="73068"/>
                </a:cubicBezTo>
                <a:lnTo>
                  <a:pt x="0" y="104384"/>
                </a:lnTo>
                <a:cubicBezTo>
                  <a:pt x="0" y="110157"/>
                  <a:pt x="4665" y="114822"/>
                  <a:pt x="10438" y="114822"/>
                </a:cubicBezTo>
                <a:cubicBezTo>
                  <a:pt x="16212" y="114822"/>
                  <a:pt x="20877" y="110157"/>
                  <a:pt x="20877" y="104384"/>
                </a:cubicBezTo>
                <a:lnTo>
                  <a:pt x="20877" y="73068"/>
                </a:lnTo>
                <a:close/>
                <a:moveTo>
                  <a:pt x="198329" y="62630"/>
                </a:moveTo>
                <a:cubicBezTo>
                  <a:pt x="192555" y="62630"/>
                  <a:pt x="187890" y="67295"/>
                  <a:pt x="187890" y="73068"/>
                </a:cubicBezTo>
                <a:lnTo>
                  <a:pt x="187890" y="104384"/>
                </a:lnTo>
                <a:cubicBezTo>
                  <a:pt x="187890" y="110157"/>
                  <a:pt x="192555" y="114822"/>
                  <a:pt x="198329" y="114822"/>
                </a:cubicBezTo>
                <a:cubicBezTo>
                  <a:pt x="204102" y="114822"/>
                  <a:pt x="208767" y="110157"/>
                  <a:pt x="208767" y="104384"/>
                </a:cubicBezTo>
                <a:lnTo>
                  <a:pt x="208767" y="73068"/>
                </a:lnTo>
                <a:cubicBezTo>
                  <a:pt x="208767" y="67295"/>
                  <a:pt x="204102" y="62630"/>
                  <a:pt x="198329" y="626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1684" y="1391781"/>
            <a:ext cx="3015525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Zero-Shot LLMs: Decent but Not Superior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1684" y="1651580"/>
            <a:ext cx="300624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performance without fine-tuning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9200" y="1948493"/>
            <a:ext cx="5409388" cy="1373224"/>
          </a:xfrm>
          <a:custGeom>
            <a:avLst/>
            <a:gdLst/>
            <a:ahLst/>
            <a:cxnLst/>
            <a:rect l="l" t="t" r="r" b="b"/>
            <a:pathLst>
              <a:path w="5409388" h="1373224">
                <a:moveTo>
                  <a:pt x="37118" y="0"/>
                </a:moveTo>
                <a:lnTo>
                  <a:pt x="5372270" y="0"/>
                </a:lnTo>
                <a:cubicBezTo>
                  <a:pt x="5392770" y="0"/>
                  <a:pt x="5409388" y="16618"/>
                  <a:pt x="5409388" y="37118"/>
                </a:cubicBezTo>
                <a:lnTo>
                  <a:pt x="5409388" y="1336106"/>
                </a:lnTo>
                <a:cubicBezTo>
                  <a:pt x="5409388" y="1356605"/>
                  <a:pt x="5392770" y="1373224"/>
                  <a:pt x="5372270" y="1373224"/>
                </a:cubicBezTo>
                <a:lnTo>
                  <a:pt x="37118" y="1373224"/>
                </a:lnTo>
                <a:cubicBezTo>
                  <a:pt x="16618" y="1373224"/>
                  <a:pt x="0" y="1356605"/>
                  <a:pt x="0" y="1336106"/>
                </a:cubicBezTo>
                <a:lnTo>
                  <a:pt x="0" y="37118"/>
                </a:lnTo>
                <a:cubicBezTo>
                  <a:pt x="0" y="16632"/>
                  <a:pt x="16632" y="0"/>
                  <a:pt x="37118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6410543" y="2059836"/>
            <a:ext cx="5260932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Zero-shot LLMs demonstrate </a:t>
            </a:r>
            <a:pPr>
              <a:lnSpc>
                <a:spcPct val="130000"/>
              </a:lnSpc>
            </a:pPr>
            <a:r>
              <a:rPr lang="en-US" sz="1169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reasonable baseline performance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Bloom's classification tasks without task-specific training.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4254" y="2583145"/>
            <a:ext cx="2549742" cy="619806"/>
          </a:xfrm>
          <a:custGeom>
            <a:avLst/>
            <a:gdLst/>
            <a:ahLst/>
            <a:cxnLst/>
            <a:rect l="l" t="t" r="r" b="b"/>
            <a:pathLst>
              <a:path w="2549742" h="619806">
                <a:moveTo>
                  <a:pt x="37114" y="0"/>
                </a:moveTo>
                <a:lnTo>
                  <a:pt x="2512628" y="0"/>
                </a:lnTo>
                <a:cubicBezTo>
                  <a:pt x="2533126" y="0"/>
                  <a:pt x="2549742" y="16617"/>
                  <a:pt x="2549742" y="37114"/>
                </a:cubicBezTo>
                <a:lnTo>
                  <a:pt x="2549742" y="582692"/>
                </a:lnTo>
                <a:cubicBezTo>
                  <a:pt x="2549742" y="603190"/>
                  <a:pt x="2533126" y="619806"/>
                  <a:pt x="2512628" y="619806"/>
                </a:cubicBezTo>
                <a:lnTo>
                  <a:pt x="37114" y="619806"/>
                </a:lnTo>
                <a:cubicBezTo>
                  <a:pt x="16617" y="619806"/>
                  <a:pt x="0" y="603190"/>
                  <a:pt x="0" y="582692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080" y="2661085"/>
            <a:ext cx="246809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5080" y="2902327"/>
            <a:ext cx="246809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training needed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44255" y="2583145"/>
            <a:ext cx="2549742" cy="619806"/>
          </a:xfrm>
          <a:custGeom>
            <a:avLst/>
            <a:gdLst/>
            <a:ahLst/>
            <a:cxnLst/>
            <a:rect l="l" t="t" r="r" b="b"/>
            <a:pathLst>
              <a:path w="2549742" h="619806">
                <a:moveTo>
                  <a:pt x="37114" y="0"/>
                </a:moveTo>
                <a:lnTo>
                  <a:pt x="2512628" y="0"/>
                </a:lnTo>
                <a:cubicBezTo>
                  <a:pt x="2533126" y="0"/>
                  <a:pt x="2549742" y="16617"/>
                  <a:pt x="2549742" y="37114"/>
                </a:cubicBezTo>
                <a:lnTo>
                  <a:pt x="2549742" y="582692"/>
                </a:lnTo>
                <a:cubicBezTo>
                  <a:pt x="2549742" y="603190"/>
                  <a:pt x="2533126" y="619806"/>
                  <a:pt x="2512628" y="619806"/>
                </a:cubicBezTo>
                <a:lnTo>
                  <a:pt x="37114" y="619806"/>
                </a:lnTo>
                <a:cubicBezTo>
                  <a:pt x="16617" y="619806"/>
                  <a:pt x="0" y="603190"/>
                  <a:pt x="0" y="582692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85082" y="2661085"/>
            <a:ext cx="246809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85082" y="2902327"/>
            <a:ext cx="246809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SVM levels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99200" y="3392235"/>
            <a:ext cx="5483616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convenient, zero-shot approaches may not be optimal for high-stakes educational assessment scenarios.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9699" y="4060289"/>
            <a:ext cx="5650630" cy="2765005"/>
          </a:xfrm>
          <a:custGeom>
            <a:avLst/>
            <a:gdLst/>
            <a:ahLst/>
            <a:cxnLst/>
            <a:rect l="l" t="t" r="r" b="b"/>
            <a:pathLst>
              <a:path w="5650630" h="2765005">
                <a:moveTo>
                  <a:pt x="37114" y="0"/>
                </a:moveTo>
                <a:lnTo>
                  <a:pt x="5576390" y="0"/>
                </a:lnTo>
                <a:cubicBezTo>
                  <a:pt x="5617392" y="0"/>
                  <a:pt x="5650630" y="33239"/>
                  <a:pt x="5650630" y="74240"/>
                </a:cubicBezTo>
                <a:lnTo>
                  <a:pt x="5650630" y="2690764"/>
                </a:lnTo>
                <a:cubicBezTo>
                  <a:pt x="5650630" y="2731766"/>
                  <a:pt x="5617392" y="2765005"/>
                  <a:pt x="5576390" y="2765005"/>
                </a:cubicBezTo>
                <a:lnTo>
                  <a:pt x="37114" y="2765005"/>
                </a:lnTo>
                <a:cubicBezTo>
                  <a:pt x="16617" y="2765005"/>
                  <a:pt x="0" y="2748388"/>
                  <a:pt x="0" y="2727890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671" dist="37114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9699" y="4060289"/>
            <a:ext cx="37114" cy="2765005"/>
          </a:xfrm>
          <a:custGeom>
            <a:avLst/>
            <a:gdLst/>
            <a:ahLst/>
            <a:cxnLst/>
            <a:rect l="l" t="t" r="r" b="b"/>
            <a:pathLst>
              <a:path w="37114" h="2765005">
                <a:moveTo>
                  <a:pt x="37114" y="0"/>
                </a:moveTo>
                <a:lnTo>
                  <a:pt x="37114" y="0"/>
                </a:lnTo>
                <a:lnTo>
                  <a:pt x="37114" y="2765005"/>
                </a:lnTo>
                <a:lnTo>
                  <a:pt x="37114" y="2765005"/>
                </a:lnTo>
                <a:cubicBezTo>
                  <a:pt x="16617" y="2765005"/>
                  <a:pt x="0" y="2748388"/>
                  <a:pt x="0" y="2727890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Shape 37"/>
          <p:cNvSpPr/>
          <p:nvPr/>
        </p:nvSpPr>
        <p:spPr>
          <a:xfrm>
            <a:off x="519598" y="4227303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623982" y="4329367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47070" y="0"/>
                </a:moveTo>
                <a:lnTo>
                  <a:pt x="120139" y="0"/>
                </a:lnTo>
                <a:cubicBezTo>
                  <a:pt x="128783" y="0"/>
                  <a:pt x="135829" y="7111"/>
                  <a:pt x="135503" y="15723"/>
                </a:cubicBezTo>
                <a:cubicBezTo>
                  <a:pt x="135438" y="17452"/>
                  <a:pt x="135372" y="19180"/>
                  <a:pt x="135275" y="20877"/>
                </a:cubicBezTo>
                <a:lnTo>
                  <a:pt x="151454" y="20877"/>
                </a:lnTo>
                <a:cubicBezTo>
                  <a:pt x="159968" y="20877"/>
                  <a:pt x="167470" y="27923"/>
                  <a:pt x="166818" y="37121"/>
                </a:cubicBezTo>
                <a:cubicBezTo>
                  <a:pt x="164371" y="70948"/>
                  <a:pt x="147083" y="89542"/>
                  <a:pt x="128327" y="99262"/>
                </a:cubicBezTo>
                <a:cubicBezTo>
                  <a:pt x="123173" y="101937"/>
                  <a:pt x="117921" y="103927"/>
                  <a:pt x="112930" y="105395"/>
                </a:cubicBezTo>
                <a:cubicBezTo>
                  <a:pt x="106341" y="114724"/>
                  <a:pt x="99491" y="119650"/>
                  <a:pt x="94043" y="122292"/>
                </a:cubicBezTo>
                <a:lnTo>
                  <a:pt x="94043" y="146137"/>
                </a:lnTo>
                <a:lnTo>
                  <a:pt x="114920" y="146137"/>
                </a:lnTo>
                <a:cubicBezTo>
                  <a:pt x="120693" y="146137"/>
                  <a:pt x="125358" y="150802"/>
                  <a:pt x="125358" y="156575"/>
                </a:cubicBezTo>
                <a:cubicBezTo>
                  <a:pt x="125358" y="162349"/>
                  <a:pt x="120693" y="167014"/>
                  <a:pt x="114920" y="167014"/>
                </a:cubicBezTo>
                <a:lnTo>
                  <a:pt x="52290" y="167014"/>
                </a:lnTo>
                <a:cubicBezTo>
                  <a:pt x="46516" y="167014"/>
                  <a:pt x="41851" y="162349"/>
                  <a:pt x="41851" y="156575"/>
                </a:cubicBezTo>
                <a:cubicBezTo>
                  <a:pt x="41851" y="150802"/>
                  <a:pt x="46516" y="146137"/>
                  <a:pt x="52290" y="146137"/>
                </a:cubicBezTo>
                <a:lnTo>
                  <a:pt x="73166" y="146137"/>
                </a:lnTo>
                <a:lnTo>
                  <a:pt x="73166" y="122292"/>
                </a:lnTo>
                <a:cubicBezTo>
                  <a:pt x="67947" y="119780"/>
                  <a:pt x="61456" y="115115"/>
                  <a:pt x="55128" y="106536"/>
                </a:cubicBezTo>
                <a:cubicBezTo>
                  <a:pt x="49126" y="104971"/>
                  <a:pt x="42602" y="102589"/>
                  <a:pt x="36241" y="99001"/>
                </a:cubicBezTo>
                <a:cubicBezTo>
                  <a:pt x="18593" y="89117"/>
                  <a:pt x="2675" y="70492"/>
                  <a:pt x="391" y="37056"/>
                </a:cubicBezTo>
                <a:cubicBezTo>
                  <a:pt x="-228" y="27890"/>
                  <a:pt x="7242" y="20844"/>
                  <a:pt x="15755" y="20844"/>
                </a:cubicBezTo>
                <a:lnTo>
                  <a:pt x="31935" y="20844"/>
                </a:lnTo>
                <a:cubicBezTo>
                  <a:pt x="31837" y="19148"/>
                  <a:pt x="31772" y="17452"/>
                  <a:pt x="31707" y="15690"/>
                </a:cubicBezTo>
                <a:cubicBezTo>
                  <a:pt x="31380" y="7046"/>
                  <a:pt x="38426" y="-33"/>
                  <a:pt x="47070" y="-33"/>
                </a:cubicBezTo>
                <a:close/>
                <a:moveTo>
                  <a:pt x="33109" y="36534"/>
                </a:moveTo>
                <a:lnTo>
                  <a:pt x="16016" y="36534"/>
                </a:lnTo>
                <a:cubicBezTo>
                  <a:pt x="18039" y="64163"/>
                  <a:pt x="30728" y="77994"/>
                  <a:pt x="43808" y="85334"/>
                </a:cubicBezTo>
                <a:cubicBezTo>
                  <a:pt x="39111" y="73166"/>
                  <a:pt x="35229" y="57280"/>
                  <a:pt x="33109" y="36534"/>
                </a:cubicBezTo>
                <a:close/>
                <a:moveTo>
                  <a:pt x="123955" y="83768"/>
                </a:moveTo>
                <a:cubicBezTo>
                  <a:pt x="137167" y="76004"/>
                  <a:pt x="149105" y="62206"/>
                  <a:pt x="151128" y="36534"/>
                </a:cubicBezTo>
                <a:lnTo>
                  <a:pt x="134068" y="36534"/>
                </a:lnTo>
                <a:cubicBezTo>
                  <a:pt x="132045" y="56400"/>
                  <a:pt x="128392" y="71829"/>
                  <a:pt x="123955" y="837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2082" y="4171632"/>
            <a:ext cx="3544402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Fine-Tuned LLMs: High Micro-F1, Poor Macro-F1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2082" y="4431431"/>
            <a:ext cx="3535123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class imbalance problem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3310" y="4977008"/>
            <a:ext cx="2642528" cy="972391"/>
          </a:xfrm>
          <a:custGeom>
            <a:avLst/>
            <a:gdLst/>
            <a:ahLst/>
            <a:cxnLst/>
            <a:rect l="l" t="t" r="r" b="b"/>
            <a:pathLst>
              <a:path w="2642528" h="972391">
                <a:moveTo>
                  <a:pt x="37116" y="0"/>
                </a:moveTo>
                <a:lnTo>
                  <a:pt x="2605412" y="0"/>
                </a:lnTo>
                <a:cubicBezTo>
                  <a:pt x="2625910" y="0"/>
                  <a:pt x="2642528" y="16617"/>
                  <a:pt x="2642528" y="37116"/>
                </a:cubicBezTo>
                <a:lnTo>
                  <a:pt x="2642528" y="935275"/>
                </a:lnTo>
                <a:cubicBezTo>
                  <a:pt x="2642528" y="955773"/>
                  <a:pt x="2625910" y="972391"/>
                  <a:pt x="2605412" y="972391"/>
                </a:cubicBezTo>
                <a:lnTo>
                  <a:pt x="37116" y="972391"/>
                </a:lnTo>
                <a:cubicBezTo>
                  <a:pt x="16631" y="972391"/>
                  <a:pt x="0" y="955760"/>
                  <a:pt x="0" y="935275"/>
                </a:cubicBezTo>
                <a:lnTo>
                  <a:pt x="0" y="37116"/>
                </a:lnTo>
                <a:cubicBezTo>
                  <a:pt x="0" y="16631"/>
                  <a:pt x="16631" y="0"/>
                  <a:pt x="3711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4135" y="5054948"/>
            <a:ext cx="256087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Micro-F1 Score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5578" y="5314747"/>
            <a:ext cx="2597991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3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High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4135" y="5648775"/>
            <a:ext cx="256087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accuracy looks good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83211" y="4977008"/>
            <a:ext cx="2642528" cy="972391"/>
          </a:xfrm>
          <a:custGeom>
            <a:avLst/>
            <a:gdLst/>
            <a:ahLst/>
            <a:cxnLst/>
            <a:rect l="l" t="t" r="r" b="b"/>
            <a:pathLst>
              <a:path w="2642528" h="972391">
                <a:moveTo>
                  <a:pt x="37116" y="0"/>
                </a:moveTo>
                <a:lnTo>
                  <a:pt x="2605412" y="0"/>
                </a:lnTo>
                <a:cubicBezTo>
                  <a:pt x="2625910" y="0"/>
                  <a:pt x="2642528" y="16617"/>
                  <a:pt x="2642528" y="37116"/>
                </a:cubicBezTo>
                <a:lnTo>
                  <a:pt x="2642528" y="935275"/>
                </a:lnTo>
                <a:cubicBezTo>
                  <a:pt x="2642528" y="955773"/>
                  <a:pt x="2625910" y="972391"/>
                  <a:pt x="2605412" y="972391"/>
                </a:cubicBezTo>
                <a:lnTo>
                  <a:pt x="37116" y="972391"/>
                </a:lnTo>
                <a:cubicBezTo>
                  <a:pt x="16631" y="972391"/>
                  <a:pt x="0" y="955760"/>
                  <a:pt x="0" y="935275"/>
                </a:cubicBezTo>
                <a:lnTo>
                  <a:pt x="0" y="37116"/>
                </a:lnTo>
                <a:cubicBezTo>
                  <a:pt x="0" y="16631"/>
                  <a:pt x="16631" y="0"/>
                  <a:pt x="3711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24037" y="5054948"/>
            <a:ext cx="256087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Macro-F1 Score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305479" y="5314747"/>
            <a:ext cx="2597991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3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Poor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24037" y="5648775"/>
            <a:ext cx="256087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Per-class performance varies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9598" y="6027340"/>
            <a:ext cx="5483616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Issue: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Fine-tuned LLMs excel on frequent classes but struggle with rare ones, revealing a </a:t>
            </a:r>
            <a:pPr>
              <a:lnSpc>
                <a:spcPct val="130000"/>
              </a:lnSpc>
            </a:pPr>
            <a:r>
              <a:rPr lang="en-US" sz="1169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class imbalance problem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Bloom's classification.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50744" y="4060289"/>
            <a:ext cx="5669187" cy="2765005"/>
          </a:xfrm>
          <a:custGeom>
            <a:avLst/>
            <a:gdLst/>
            <a:ahLst/>
            <a:cxnLst/>
            <a:rect l="l" t="t" r="r" b="b"/>
            <a:pathLst>
              <a:path w="5669187" h="2765005">
                <a:moveTo>
                  <a:pt x="74240" y="0"/>
                </a:moveTo>
                <a:lnTo>
                  <a:pt x="5594947" y="0"/>
                </a:lnTo>
                <a:cubicBezTo>
                  <a:pt x="5635949" y="0"/>
                  <a:pt x="5669187" y="33239"/>
                  <a:pt x="5669187" y="74240"/>
                </a:cubicBezTo>
                <a:lnTo>
                  <a:pt x="5669187" y="2690764"/>
                </a:lnTo>
                <a:cubicBezTo>
                  <a:pt x="5669187" y="2731766"/>
                  <a:pt x="5635949" y="2765005"/>
                  <a:pt x="5594947" y="2765005"/>
                </a:cubicBezTo>
                <a:lnTo>
                  <a:pt x="74240" y="2765005"/>
                </a:lnTo>
                <a:cubicBezTo>
                  <a:pt x="33239" y="2765005"/>
                  <a:pt x="0" y="2731766"/>
                  <a:pt x="0" y="2690764"/>
                </a:cubicBezTo>
                <a:lnTo>
                  <a:pt x="0" y="74240"/>
                </a:lnTo>
                <a:cubicBezTo>
                  <a:pt x="0" y="33266"/>
                  <a:pt x="33266" y="0"/>
                  <a:pt x="74240" y="0"/>
                </a:cubicBezTo>
                <a:close/>
              </a:path>
            </a:pathLst>
          </a:custGeom>
          <a:gradFill rotWithShape="1" flip="none">
            <a:gsLst>
              <a:gs pos="0">
                <a:srgbClr val="2C3E50"/>
              </a:gs>
              <a:gs pos="100000">
                <a:srgbClr val="8D99AE"/>
              </a:gs>
            </a:gsLst>
            <a:lin ang="2700000" scaled="1"/>
          </a:gradFill>
          <a:ln/>
          <a:effectLst>
            <a:outerShdw sx="100000" sy="100000" kx="0" ky="0" algn="bl" rotWithShape="0" blurRad="55671" dist="37114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62086" y="4227303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Shape 52"/>
          <p:cNvSpPr/>
          <p:nvPr/>
        </p:nvSpPr>
        <p:spPr>
          <a:xfrm>
            <a:off x="6366470" y="4329367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83507" y="44363"/>
                </a:moveTo>
                <a:cubicBezTo>
                  <a:pt x="87845" y="44363"/>
                  <a:pt x="91336" y="47853"/>
                  <a:pt x="91336" y="52192"/>
                </a:cubicBezTo>
                <a:lnTo>
                  <a:pt x="91336" y="88726"/>
                </a:lnTo>
                <a:cubicBezTo>
                  <a:pt x="91336" y="93064"/>
                  <a:pt x="87845" y="96555"/>
                  <a:pt x="83507" y="96555"/>
                </a:cubicBezTo>
                <a:cubicBezTo>
                  <a:pt x="79168" y="96555"/>
                  <a:pt x="75678" y="93064"/>
                  <a:pt x="75678" y="88726"/>
                </a:cubicBezTo>
                <a:lnTo>
                  <a:pt x="75678" y="52192"/>
                </a:lnTo>
                <a:cubicBezTo>
                  <a:pt x="75678" y="47853"/>
                  <a:pt x="79168" y="44363"/>
                  <a:pt x="83507" y="44363"/>
                </a:cubicBezTo>
                <a:close/>
                <a:moveTo>
                  <a:pt x="74797" y="114822"/>
                </a:moveTo>
                <a:cubicBezTo>
                  <a:pt x="74599" y="111589"/>
                  <a:pt x="76211" y="108513"/>
                  <a:pt x="78983" y="106837"/>
                </a:cubicBezTo>
                <a:cubicBezTo>
                  <a:pt x="81754" y="105161"/>
                  <a:pt x="85227" y="105161"/>
                  <a:pt x="87998" y="106837"/>
                </a:cubicBezTo>
                <a:cubicBezTo>
                  <a:pt x="90770" y="108513"/>
                  <a:pt x="92382" y="111589"/>
                  <a:pt x="92184" y="114822"/>
                </a:cubicBezTo>
                <a:cubicBezTo>
                  <a:pt x="92382" y="118055"/>
                  <a:pt x="90770" y="121131"/>
                  <a:pt x="87998" y="122807"/>
                </a:cubicBezTo>
                <a:cubicBezTo>
                  <a:pt x="85227" y="124483"/>
                  <a:pt x="81754" y="124483"/>
                  <a:pt x="78983" y="122807"/>
                </a:cubicBezTo>
                <a:cubicBezTo>
                  <a:pt x="76211" y="121131"/>
                  <a:pt x="74599" y="118055"/>
                  <a:pt x="74797" y="1148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744570" y="4171632"/>
            <a:ext cx="3228932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Higher-Order Levels: The Hardest Challenge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44570" y="4431431"/>
            <a:ext cx="3219653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&amp; Create remain elusive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62086" y="4728344"/>
            <a:ext cx="5446502" cy="445370"/>
          </a:xfrm>
          <a:custGeom>
            <a:avLst/>
            <a:gdLst/>
            <a:ahLst/>
            <a:cxnLst/>
            <a:rect l="l" t="t" r="r" b="b"/>
            <a:pathLst>
              <a:path w="5446502" h="445370">
                <a:moveTo>
                  <a:pt x="37113" y="0"/>
                </a:moveTo>
                <a:lnTo>
                  <a:pt x="5409390" y="0"/>
                </a:lnTo>
                <a:cubicBezTo>
                  <a:pt x="5429886" y="0"/>
                  <a:pt x="5446502" y="16616"/>
                  <a:pt x="5446502" y="37113"/>
                </a:cubicBezTo>
                <a:lnTo>
                  <a:pt x="5446502" y="408257"/>
                </a:lnTo>
                <a:cubicBezTo>
                  <a:pt x="5446502" y="428754"/>
                  <a:pt x="5429886" y="445370"/>
                  <a:pt x="5409390" y="445370"/>
                </a:cubicBezTo>
                <a:lnTo>
                  <a:pt x="37113" y="445370"/>
                </a:lnTo>
                <a:cubicBezTo>
                  <a:pt x="16616" y="445370"/>
                  <a:pt x="0" y="428754"/>
                  <a:pt x="0" y="408257"/>
                </a:cubicBezTo>
                <a:lnTo>
                  <a:pt x="0" y="37113"/>
                </a:lnTo>
                <a:cubicBezTo>
                  <a:pt x="0" y="16630"/>
                  <a:pt x="16630" y="0"/>
                  <a:pt x="37113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36314" y="4802573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148457" y="0"/>
                </a:moveTo>
                <a:lnTo>
                  <a:pt x="148457" y="0"/>
                </a:lnTo>
                <a:cubicBezTo>
                  <a:pt x="230392" y="0"/>
                  <a:pt x="296913" y="66521"/>
                  <a:pt x="296913" y="148457"/>
                </a:cubicBezTo>
                <a:lnTo>
                  <a:pt x="296913" y="148457"/>
                </a:lnTo>
                <a:cubicBezTo>
                  <a:pt x="296913" y="230392"/>
                  <a:pt x="230392" y="296913"/>
                  <a:pt x="148457" y="296913"/>
                </a:cubicBezTo>
                <a:lnTo>
                  <a:pt x="148457" y="296913"/>
                </a:lnTo>
                <a:cubicBezTo>
                  <a:pt x="66521" y="296913"/>
                  <a:pt x="0" y="230392"/>
                  <a:pt x="0" y="148457"/>
                </a:cubicBezTo>
                <a:lnTo>
                  <a:pt x="0" y="148457"/>
                </a:lnTo>
                <a:cubicBezTo>
                  <a:pt x="0" y="66521"/>
                  <a:pt x="66521" y="0"/>
                  <a:pt x="14845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9" name="Text 57"/>
          <p:cNvSpPr/>
          <p:nvPr/>
        </p:nvSpPr>
        <p:spPr>
          <a:xfrm>
            <a:off x="6299200" y="4802573"/>
            <a:ext cx="371142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8F7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44570" y="4839687"/>
            <a:ext cx="463926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Remember, Understand, Apply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447862" y="4856386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111038" y="69382"/>
                </a:moveTo>
                <a:lnTo>
                  <a:pt x="84942" y="111136"/>
                </a:lnTo>
                <a:cubicBezTo>
                  <a:pt x="83572" y="113321"/>
                  <a:pt x="81223" y="114691"/>
                  <a:pt x="78646" y="114822"/>
                </a:cubicBezTo>
                <a:cubicBezTo>
                  <a:pt x="76070" y="114952"/>
                  <a:pt x="73590" y="113778"/>
                  <a:pt x="72057" y="111690"/>
                </a:cubicBezTo>
                <a:lnTo>
                  <a:pt x="56400" y="90814"/>
                </a:lnTo>
                <a:cubicBezTo>
                  <a:pt x="53790" y="87356"/>
                  <a:pt x="54508" y="82463"/>
                  <a:pt x="57965" y="79853"/>
                </a:cubicBezTo>
                <a:cubicBezTo>
                  <a:pt x="61423" y="77244"/>
                  <a:pt x="66316" y="77961"/>
                  <a:pt x="68926" y="81419"/>
                </a:cubicBezTo>
                <a:lnTo>
                  <a:pt x="77733" y="93162"/>
                </a:lnTo>
                <a:lnTo>
                  <a:pt x="97762" y="61097"/>
                </a:lnTo>
                <a:cubicBezTo>
                  <a:pt x="100045" y="57444"/>
                  <a:pt x="104873" y="56302"/>
                  <a:pt x="108559" y="58618"/>
                </a:cubicBezTo>
                <a:cubicBezTo>
                  <a:pt x="112245" y="60934"/>
                  <a:pt x="113354" y="65729"/>
                  <a:pt x="111038" y="6941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2" name="Shape 60"/>
          <p:cNvSpPr/>
          <p:nvPr/>
        </p:nvSpPr>
        <p:spPr>
          <a:xfrm>
            <a:off x="6262086" y="5210828"/>
            <a:ext cx="5446502" cy="445370"/>
          </a:xfrm>
          <a:custGeom>
            <a:avLst/>
            <a:gdLst/>
            <a:ahLst/>
            <a:cxnLst/>
            <a:rect l="l" t="t" r="r" b="b"/>
            <a:pathLst>
              <a:path w="5446502" h="445370">
                <a:moveTo>
                  <a:pt x="37113" y="0"/>
                </a:moveTo>
                <a:lnTo>
                  <a:pt x="5409390" y="0"/>
                </a:lnTo>
                <a:cubicBezTo>
                  <a:pt x="5429886" y="0"/>
                  <a:pt x="5446502" y="16616"/>
                  <a:pt x="5446502" y="37113"/>
                </a:cubicBezTo>
                <a:lnTo>
                  <a:pt x="5446502" y="408257"/>
                </a:lnTo>
                <a:cubicBezTo>
                  <a:pt x="5446502" y="428754"/>
                  <a:pt x="5429886" y="445370"/>
                  <a:pt x="5409390" y="445370"/>
                </a:cubicBezTo>
                <a:lnTo>
                  <a:pt x="37113" y="445370"/>
                </a:lnTo>
                <a:cubicBezTo>
                  <a:pt x="16616" y="445370"/>
                  <a:pt x="0" y="428754"/>
                  <a:pt x="0" y="408257"/>
                </a:cubicBezTo>
                <a:lnTo>
                  <a:pt x="0" y="37113"/>
                </a:lnTo>
                <a:cubicBezTo>
                  <a:pt x="0" y="16630"/>
                  <a:pt x="16630" y="0"/>
                  <a:pt x="37113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336314" y="5285057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148457" y="0"/>
                </a:moveTo>
                <a:lnTo>
                  <a:pt x="148457" y="0"/>
                </a:lnTo>
                <a:cubicBezTo>
                  <a:pt x="230392" y="0"/>
                  <a:pt x="296913" y="66521"/>
                  <a:pt x="296913" y="148457"/>
                </a:cubicBezTo>
                <a:lnTo>
                  <a:pt x="296913" y="148457"/>
                </a:lnTo>
                <a:cubicBezTo>
                  <a:pt x="296913" y="230392"/>
                  <a:pt x="230392" y="296913"/>
                  <a:pt x="148457" y="296913"/>
                </a:cubicBezTo>
                <a:lnTo>
                  <a:pt x="148457" y="296913"/>
                </a:lnTo>
                <a:cubicBezTo>
                  <a:pt x="66521" y="296913"/>
                  <a:pt x="0" y="230392"/>
                  <a:pt x="0" y="148457"/>
                </a:cubicBezTo>
                <a:lnTo>
                  <a:pt x="0" y="148457"/>
                </a:lnTo>
                <a:cubicBezTo>
                  <a:pt x="0" y="66521"/>
                  <a:pt x="66521" y="0"/>
                  <a:pt x="14845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4" name="Text 62"/>
          <p:cNvSpPr/>
          <p:nvPr/>
        </p:nvSpPr>
        <p:spPr>
          <a:xfrm>
            <a:off x="6299200" y="5285057"/>
            <a:ext cx="371142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8F7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44570" y="5322171"/>
            <a:ext cx="463926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447862" y="5338870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111038" y="69382"/>
                </a:moveTo>
                <a:lnTo>
                  <a:pt x="84942" y="111136"/>
                </a:lnTo>
                <a:cubicBezTo>
                  <a:pt x="83572" y="113321"/>
                  <a:pt x="81223" y="114691"/>
                  <a:pt x="78646" y="114822"/>
                </a:cubicBezTo>
                <a:cubicBezTo>
                  <a:pt x="76070" y="114952"/>
                  <a:pt x="73590" y="113778"/>
                  <a:pt x="72057" y="111690"/>
                </a:cubicBezTo>
                <a:lnTo>
                  <a:pt x="56400" y="90814"/>
                </a:lnTo>
                <a:cubicBezTo>
                  <a:pt x="53790" y="87356"/>
                  <a:pt x="54508" y="82463"/>
                  <a:pt x="57965" y="79853"/>
                </a:cubicBezTo>
                <a:cubicBezTo>
                  <a:pt x="61423" y="77244"/>
                  <a:pt x="66316" y="77961"/>
                  <a:pt x="68926" y="81419"/>
                </a:cubicBezTo>
                <a:lnTo>
                  <a:pt x="77733" y="93162"/>
                </a:lnTo>
                <a:lnTo>
                  <a:pt x="97762" y="61097"/>
                </a:lnTo>
                <a:cubicBezTo>
                  <a:pt x="100045" y="57444"/>
                  <a:pt x="104873" y="56302"/>
                  <a:pt x="108559" y="58618"/>
                </a:cubicBezTo>
                <a:cubicBezTo>
                  <a:pt x="112245" y="60934"/>
                  <a:pt x="113354" y="65729"/>
                  <a:pt x="111038" y="6941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7" name="Shape 65"/>
          <p:cNvSpPr/>
          <p:nvPr/>
        </p:nvSpPr>
        <p:spPr>
          <a:xfrm>
            <a:off x="6265797" y="5697024"/>
            <a:ext cx="5435368" cy="452793"/>
          </a:xfrm>
          <a:custGeom>
            <a:avLst/>
            <a:gdLst/>
            <a:ahLst/>
            <a:cxnLst/>
            <a:rect l="l" t="t" r="r" b="b"/>
            <a:pathLst>
              <a:path w="5435368" h="452793">
                <a:moveTo>
                  <a:pt x="37115" y="0"/>
                </a:moveTo>
                <a:lnTo>
                  <a:pt x="5398253" y="0"/>
                </a:lnTo>
                <a:cubicBezTo>
                  <a:pt x="5418751" y="0"/>
                  <a:pt x="5435368" y="16617"/>
                  <a:pt x="5435368" y="37115"/>
                </a:cubicBezTo>
                <a:lnTo>
                  <a:pt x="5435368" y="415677"/>
                </a:lnTo>
                <a:cubicBezTo>
                  <a:pt x="5435368" y="436176"/>
                  <a:pt x="5418751" y="452793"/>
                  <a:pt x="5398253" y="452793"/>
                </a:cubicBezTo>
                <a:lnTo>
                  <a:pt x="37115" y="452793"/>
                </a:lnTo>
                <a:cubicBezTo>
                  <a:pt x="16617" y="452793"/>
                  <a:pt x="0" y="436176"/>
                  <a:pt x="0" y="415677"/>
                </a:cubicBezTo>
                <a:lnTo>
                  <a:pt x="0" y="37115"/>
                </a:lnTo>
                <a:cubicBezTo>
                  <a:pt x="0" y="16631"/>
                  <a:pt x="16631" y="0"/>
                  <a:pt x="3711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43737" y="5774962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148457" y="0"/>
                </a:moveTo>
                <a:lnTo>
                  <a:pt x="148457" y="0"/>
                </a:lnTo>
                <a:cubicBezTo>
                  <a:pt x="230392" y="0"/>
                  <a:pt x="296913" y="66521"/>
                  <a:pt x="296913" y="148457"/>
                </a:cubicBezTo>
                <a:lnTo>
                  <a:pt x="296913" y="148457"/>
                </a:lnTo>
                <a:cubicBezTo>
                  <a:pt x="296913" y="230392"/>
                  <a:pt x="230392" y="296913"/>
                  <a:pt x="148457" y="296913"/>
                </a:cubicBezTo>
                <a:lnTo>
                  <a:pt x="148457" y="296913"/>
                </a:lnTo>
                <a:cubicBezTo>
                  <a:pt x="66521" y="296913"/>
                  <a:pt x="0" y="230392"/>
                  <a:pt x="0" y="148457"/>
                </a:cubicBezTo>
                <a:lnTo>
                  <a:pt x="0" y="148457"/>
                </a:lnTo>
                <a:cubicBezTo>
                  <a:pt x="0" y="66521"/>
                  <a:pt x="66521" y="0"/>
                  <a:pt x="14845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9" name="Text 67"/>
          <p:cNvSpPr/>
          <p:nvPr/>
        </p:nvSpPr>
        <p:spPr>
          <a:xfrm>
            <a:off x="6306623" y="5774962"/>
            <a:ext cx="371142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8F7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51993" y="5812076"/>
            <a:ext cx="462999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Evaluate, Create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1440438" y="5828778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54475" y="54475"/>
                </a:moveTo>
                <a:cubicBezTo>
                  <a:pt x="57541" y="51409"/>
                  <a:pt x="62500" y="51409"/>
                  <a:pt x="65533" y="54475"/>
                </a:cubicBezTo>
                <a:lnTo>
                  <a:pt x="83474" y="72416"/>
                </a:lnTo>
                <a:lnTo>
                  <a:pt x="101415" y="54475"/>
                </a:lnTo>
                <a:cubicBezTo>
                  <a:pt x="104481" y="51409"/>
                  <a:pt x="109440" y="51409"/>
                  <a:pt x="112473" y="54475"/>
                </a:cubicBezTo>
                <a:cubicBezTo>
                  <a:pt x="115507" y="57541"/>
                  <a:pt x="115540" y="62500"/>
                  <a:pt x="112473" y="65533"/>
                </a:cubicBezTo>
                <a:lnTo>
                  <a:pt x="94532" y="83474"/>
                </a:lnTo>
                <a:lnTo>
                  <a:pt x="112473" y="101415"/>
                </a:lnTo>
                <a:cubicBezTo>
                  <a:pt x="115540" y="104481"/>
                  <a:pt x="115540" y="109440"/>
                  <a:pt x="112473" y="112473"/>
                </a:cubicBezTo>
                <a:cubicBezTo>
                  <a:pt x="109407" y="115507"/>
                  <a:pt x="104449" y="115540"/>
                  <a:pt x="101415" y="112473"/>
                </a:cubicBezTo>
                <a:lnTo>
                  <a:pt x="83474" y="94532"/>
                </a:lnTo>
                <a:lnTo>
                  <a:pt x="65533" y="112473"/>
                </a:lnTo>
                <a:cubicBezTo>
                  <a:pt x="62467" y="115540"/>
                  <a:pt x="57509" y="115540"/>
                  <a:pt x="54475" y="112473"/>
                </a:cubicBezTo>
                <a:cubicBezTo>
                  <a:pt x="51442" y="109407"/>
                  <a:pt x="51409" y="104449"/>
                  <a:pt x="54475" y="101415"/>
                </a:cubicBezTo>
                <a:lnTo>
                  <a:pt x="72416" y="83474"/>
                </a:lnTo>
                <a:lnTo>
                  <a:pt x="54475" y="65533"/>
                </a:lnTo>
                <a:cubicBezTo>
                  <a:pt x="51409" y="62467"/>
                  <a:pt x="51409" y="57509"/>
                  <a:pt x="54475" y="544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2" name="Shape 70"/>
          <p:cNvSpPr/>
          <p:nvPr/>
        </p:nvSpPr>
        <p:spPr>
          <a:xfrm>
            <a:off x="6262086" y="6231466"/>
            <a:ext cx="5446502" cy="7423"/>
          </a:xfrm>
          <a:custGeom>
            <a:avLst/>
            <a:gdLst/>
            <a:ahLst/>
            <a:cxnLst/>
            <a:rect l="l" t="t" r="r" b="b"/>
            <a:pathLst>
              <a:path w="5446502" h="7423">
                <a:moveTo>
                  <a:pt x="0" y="0"/>
                </a:moveTo>
                <a:lnTo>
                  <a:pt x="5446502" y="0"/>
                </a:lnTo>
                <a:lnTo>
                  <a:pt x="5446502" y="7423"/>
                </a:lnTo>
                <a:lnTo>
                  <a:pt x="0" y="7423"/>
                </a:lnTo>
                <a:lnTo>
                  <a:pt x="0" y="0"/>
                </a:lnTo>
                <a:close/>
              </a:path>
            </a:pathLst>
          </a:custGeom>
          <a:solidFill>
            <a:srgbClr val="F8F7F2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262086" y="6227755"/>
            <a:ext cx="5520731" cy="482484"/>
          </a:xfrm>
          <a:prstGeom prst="rect">
            <a:avLst/>
          </a:prstGeom>
          <a:noFill/>
          <a:ln/>
        </p:spPr>
        <p:txBody>
          <a:bodyPr wrap="square" lIns="0" tIns="37114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Gap: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Higher-order cognitive skills (Evaluate, Create) are consistently the </a:t>
            </a:r>
            <a:pPr>
              <a:lnSpc>
                <a:spcPct val="130000"/>
              </a:lnSpc>
            </a:pPr>
            <a:r>
              <a:rPr lang="en-US" sz="1169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difficult to classify accurately</a:t>
            </a:r>
            <a:pPr>
              <a:lnSpc>
                <a:spcPct val="130000"/>
              </a:lnSpc>
            </a:pPr>
            <a:r>
              <a:rPr lang="en-US" sz="1169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all approaches.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275" y="465344"/>
            <a:ext cx="55841" cy="446730"/>
          </a:xfrm>
          <a:custGeom>
            <a:avLst/>
            <a:gdLst/>
            <a:ahLst/>
            <a:cxnLst/>
            <a:rect l="l" t="t" r="r" b="b"/>
            <a:pathLst>
              <a:path w="55841" h="446730">
                <a:moveTo>
                  <a:pt x="0" y="0"/>
                </a:moveTo>
                <a:lnTo>
                  <a:pt x="55841" y="0"/>
                </a:lnTo>
                <a:lnTo>
                  <a:pt x="55841" y="446730"/>
                </a:lnTo>
                <a:lnTo>
                  <a:pt x="0" y="44673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9798" y="372275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spc="59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9798" y="632867"/>
            <a:ext cx="3452849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LLMs vs Traditional ML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5640" y="1079597"/>
            <a:ext cx="1130784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systematic comparison of two paradigms for Bloom's Taxonomy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275" y="1489099"/>
            <a:ext cx="5612043" cy="4551060"/>
          </a:xfrm>
          <a:custGeom>
            <a:avLst/>
            <a:gdLst/>
            <a:ahLst/>
            <a:cxnLst/>
            <a:rect l="l" t="t" r="r" b="b"/>
            <a:pathLst>
              <a:path w="5612043" h="4551060">
                <a:moveTo>
                  <a:pt x="74455" y="0"/>
                </a:moveTo>
                <a:lnTo>
                  <a:pt x="5537587" y="0"/>
                </a:lnTo>
                <a:cubicBezTo>
                  <a:pt x="5578708" y="0"/>
                  <a:pt x="5612043" y="33335"/>
                  <a:pt x="5612043" y="74455"/>
                </a:cubicBezTo>
                <a:lnTo>
                  <a:pt x="5612043" y="4476604"/>
                </a:lnTo>
                <a:cubicBezTo>
                  <a:pt x="5612043" y="4517725"/>
                  <a:pt x="5578708" y="4551060"/>
                  <a:pt x="5537587" y="4551060"/>
                </a:cubicBezTo>
                <a:lnTo>
                  <a:pt x="74455" y="4551060"/>
                </a:lnTo>
                <a:cubicBezTo>
                  <a:pt x="33335" y="4551060"/>
                  <a:pt x="0" y="4517725"/>
                  <a:pt x="0" y="4476604"/>
                </a:cubicBezTo>
                <a:lnTo>
                  <a:pt x="0" y="74455"/>
                </a:lnTo>
                <a:cubicBezTo>
                  <a:pt x="0" y="33335"/>
                  <a:pt x="33335" y="0"/>
                  <a:pt x="744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841" dist="37227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2275" y="1489099"/>
            <a:ext cx="5612043" cy="967915"/>
          </a:xfrm>
          <a:custGeom>
            <a:avLst/>
            <a:gdLst/>
            <a:ahLst/>
            <a:cxnLst/>
            <a:rect l="l" t="t" r="r" b="b"/>
            <a:pathLst>
              <a:path w="5612043" h="967915">
                <a:moveTo>
                  <a:pt x="0" y="0"/>
                </a:moveTo>
                <a:lnTo>
                  <a:pt x="5612043" y="0"/>
                </a:lnTo>
                <a:lnTo>
                  <a:pt x="5612043" y="967915"/>
                </a:lnTo>
                <a:lnTo>
                  <a:pt x="0" y="96791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C3E50"/>
              </a:gs>
              <a:gs pos="100000">
                <a:srgbClr val="8D99AE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58412" y="1675237"/>
            <a:ext cx="595640" cy="595640"/>
          </a:xfrm>
          <a:custGeom>
            <a:avLst/>
            <a:gdLst/>
            <a:ahLst/>
            <a:cxnLst/>
            <a:rect l="l" t="t" r="r" b="b"/>
            <a:pathLst>
              <a:path w="595640" h="595640">
                <a:moveTo>
                  <a:pt x="297820" y="0"/>
                </a:moveTo>
                <a:lnTo>
                  <a:pt x="297820" y="0"/>
                </a:lnTo>
                <a:cubicBezTo>
                  <a:pt x="462191" y="0"/>
                  <a:pt x="595640" y="133449"/>
                  <a:pt x="595640" y="297820"/>
                </a:cubicBezTo>
                <a:lnTo>
                  <a:pt x="595640" y="297820"/>
                </a:lnTo>
                <a:cubicBezTo>
                  <a:pt x="595640" y="462191"/>
                  <a:pt x="462191" y="595640"/>
                  <a:pt x="297820" y="595640"/>
                </a:cubicBezTo>
                <a:lnTo>
                  <a:pt x="297820" y="595640"/>
                </a:lnTo>
                <a:cubicBezTo>
                  <a:pt x="133449" y="595640"/>
                  <a:pt x="0" y="462191"/>
                  <a:pt x="0" y="297820"/>
                </a:cubicBezTo>
                <a:lnTo>
                  <a:pt x="0" y="297820"/>
                </a:lnTo>
                <a:cubicBezTo>
                  <a:pt x="0" y="133449"/>
                  <a:pt x="133449" y="0"/>
                  <a:pt x="29782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4055" y="1833453"/>
            <a:ext cx="349008" cy="279206"/>
          </a:xfrm>
          <a:custGeom>
            <a:avLst/>
            <a:gdLst/>
            <a:ahLst/>
            <a:cxnLst/>
            <a:rect l="l" t="t" r="r" b="b"/>
            <a:pathLst>
              <a:path w="349008" h="279206">
                <a:moveTo>
                  <a:pt x="191954" y="0"/>
                </a:moveTo>
                <a:cubicBezTo>
                  <a:pt x="191954" y="-9652"/>
                  <a:pt x="184156" y="-17450"/>
                  <a:pt x="174504" y="-17450"/>
                </a:cubicBezTo>
                <a:cubicBezTo>
                  <a:pt x="164852" y="-17450"/>
                  <a:pt x="157053" y="-9652"/>
                  <a:pt x="157053" y="0"/>
                </a:cubicBezTo>
                <a:lnTo>
                  <a:pt x="157053" y="34901"/>
                </a:lnTo>
                <a:lnTo>
                  <a:pt x="104702" y="34901"/>
                </a:lnTo>
                <a:cubicBezTo>
                  <a:pt x="75800" y="34901"/>
                  <a:pt x="52351" y="58350"/>
                  <a:pt x="52351" y="87252"/>
                </a:cubicBezTo>
                <a:lnTo>
                  <a:pt x="52351" y="209405"/>
                </a:lnTo>
                <a:cubicBezTo>
                  <a:pt x="52351" y="238307"/>
                  <a:pt x="75800" y="261756"/>
                  <a:pt x="104702" y="261756"/>
                </a:cubicBezTo>
                <a:lnTo>
                  <a:pt x="244305" y="261756"/>
                </a:lnTo>
                <a:cubicBezTo>
                  <a:pt x="273208" y="261756"/>
                  <a:pt x="296656" y="238307"/>
                  <a:pt x="296656" y="209405"/>
                </a:cubicBezTo>
                <a:lnTo>
                  <a:pt x="296656" y="87252"/>
                </a:lnTo>
                <a:cubicBezTo>
                  <a:pt x="296656" y="58350"/>
                  <a:pt x="273208" y="34901"/>
                  <a:pt x="244305" y="34901"/>
                </a:cubicBezTo>
                <a:lnTo>
                  <a:pt x="191954" y="34901"/>
                </a:lnTo>
                <a:lnTo>
                  <a:pt x="191954" y="0"/>
                </a:lnTo>
                <a:close/>
                <a:moveTo>
                  <a:pt x="87252" y="200679"/>
                </a:moveTo>
                <a:cubicBezTo>
                  <a:pt x="87252" y="193427"/>
                  <a:pt x="93087" y="187592"/>
                  <a:pt x="100340" y="187592"/>
                </a:cubicBezTo>
                <a:lnTo>
                  <a:pt x="117790" y="187592"/>
                </a:lnTo>
                <a:cubicBezTo>
                  <a:pt x="125043" y="187592"/>
                  <a:pt x="130878" y="193427"/>
                  <a:pt x="130878" y="200679"/>
                </a:cubicBezTo>
                <a:cubicBezTo>
                  <a:pt x="130878" y="207932"/>
                  <a:pt x="125043" y="213767"/>
                  <a:pt x="117790" y="213767"/>
                </a:cubicBezTo>
                <a:lnTo>
                  <a:pt x="100340" y="213767"/>
                </a:lnTo>
                <a:cubicBezTo>
                  <a:pt x="93087" y="213767"/>
                  <a:pt x="87252" y="207932"/>
                  <a:pt x="87252" y="200679"/>
                </a:cubicBezTo>
                <a:close/>
                <a:moveTo>
                  <a:pt x="152691" y="200679"/>
                </a:moveTo>
                <a:cubicBezTo>
                  <a:pt x="152691" y="193427"/>
                  <a:pt x="158526" y="187592"/>
                  <a:pt x="165779" y="187592"/>
                </a:cubicBezTo>
                <a:lnTo>
                  <a:pt x="183229" y="187592"/>
                </a:lnTo>
                <a:cubicBezTo>
                  <a:pt x="190482" y="187592"/>
                  <a:pt x="196317" y="193427"/>
                  <a:pt x="196317" y="200679"/>
                </a:cubicBezTo>
                <a:cubicBezTo>
                  <a:pt x="196317" y="207932"/>
                  <a:pt x="190482" y="213767"/>
                  <a:pt x="183229" y="213767"/>
                </a:cubicBezTo>
                <a:lnTo>
                  <a:pt x="165779" y="213767"/>
                </a:lnTo>
                <a:cubicBezTo>
                  <a:pt x="158526" y="213767"/>
                  <a:pt x="152691" y="207932"/>
                  <a:pt x="152691" y="200679"/>
                </a:cubicBezTo>
                <a:close/>
                <a:moveTo>
                  <a:pt x="218130" y="200679"/>
                </a:moveTo>
                <a:cubicBezTo>
                  <a:pt x="218130" y="193427"/>
                  <a:pt x="223965" y="187592"/>
                  <a:pt x="231218" y="187592"/>
                </a:cubicBezTo>
                <a:lnTo>
                  <a:pt x="248668" y="187592"/>
                </a:lnTo>
                <a:cubicBezTo>
                  <a:pt x="255921" y="187592"/>
                  <a:pt x="261756" y="193427"/>
                  <a:pt x="261756" y="200679"/>
                </a:cubicBezTo>
                <a:cubicBezTo>
                  <a:pt x="261756" y="207932"/>
                  <a:pt x="255921" y="213767"/>
                  <a:pt x="248668" y="213767"/>
                </a:cubicBezTo>
                <a:lnTo>
                  <a:pt x="231218" y="213767"/>
                </a:lnTo>
                <a:cubicBezTo>
                  <a:pt x="223965" y="213767"/>
                  <a:pt x="218130" y="207932"/>
                  <a:pt x="218130" y="200679"/>
                </a:cubicBezTo>
                <a:close/>
                <a:moveTo>
                  <a:pt x="122153" y="95977"/>
                </a:moveTo>
                <a:cubicBezTo>
                  <a:pt x="136599" y="95977"/>
                  <a:pt x="148328" y="107706"/>
                  <a:pt x="148328" y="122153"/>
                </a:cubicBezTo>
                <a:cubicBezTo>
                  <a:pt x="148328" y="136599"/>
                  <a:pt x="136599" y="148328"/>
                  <a:pt x="122153" y="148328"/>
                </a:cubicBezTo>
                <a:cubicBezTo>
                  <a:pt x="107706" y="148328"/>
                  <a:pt x="95977" y="136599"/>
                  <a:pt x="95977" y="122153"/>
                </a:cubicBezTo>
                <a:cubicBezTo>
                  <a:pt x="95977" y="107706"/>
                  <a:pt x="107706" y="95977"/>
                  <a:pt x="122153" y="95977"/>
                </a:cubicBezTo>
                <a:close/>
                <a:moveTo>
                  <a:pt x="200679" y="122153"/>
                </a:moveTo>
                <a:cubicBezTo>
                  <a:pt x="200679" y="107706"/>
                  <a:pt x="212408" y="95977"/>
                  <a:pt x="226855" y="95977"/>
                </a:cubicBezTo>
                <a:cubicBezTo>
                  <a:pt x="241302" y="95977"/>
                  <a:pt x="253031" y="107706"/>
                  <a:pt x="253031" y="122153"/>
                </a:cubicBezTo>
                <a:cubicBezTo>
                  <a:pt x="253031" y="136599"/>
                  <a:pt x="241302" y="148328"/>
                  <a:pt x="226855" y="148328"/>
                </a:cubicBezTo>
                <a:cubicBezTo>
                  <a:pt x="212408" y="148328"/>
                  <a:pt x="200679" y="136599"/>
                  <a:pt x="200679" y="122153"/>
                </a:cubicBezTo>
                <a:close/>
                <a:moveTo>
                  <a:pt x="34901" y="122153"/>
                </a:moveTo>
                <a:cubicBezTo>
                  <a:pt x="34901" y="112500"/>
                  <a:pt x="27103" y="104702"/>
                  <a:pt x="17450" y="104702"/>
                </a:cubicBezTo>
                <a:cubicBezTo>
                  <a:pt x="7798" y="104702"/>
                  <a:pt x="0" y="112500"/>
                  <a:pt x="0" y="122153"/>
                </a:cubicBezTo>
                <a:lnTo>
                  <a:pt x="0" y="174504"/>
                </a:lnTo>
                <a:cubicBezTo>
                  <a:pt x="0" y="184156"/>
                  <a:pt x="7798" y="191954"/>
                  <a:pt x="17450" y="191954"/>
                </a:cubicBezTo>
                <a:cubicBezTo>
                  <a:pt x="27103" y="191954"/>
                  <a:pt x="34901" y="184156"/>
                  <a:pt x="34901" y="174504"/>
                </a:cubicBezTo>
                <a:lnTo>
                  <a:pt x="34901" y="122153"/>
                </a:lnTo>
                <a:close/>
                <a:moveTo>
                  <a:pt x="331557" y="104702"/>
                </a:moveTo>
                <a:cubicBezTo>
                  <a:pt x="321905" y="104702"/>
                  <a:pt x="314107" y="112500"/>
                  <a:pt x="314107" y="122153"/>
                </a:cubicBezTo>
                <a:lnTo>
                  <a:pt x="314107" y="174504"/>
                </a:lnTo>
                <a:cubicBezTo>
                  <a:pt x="314107" y="184156"/>
                  <a:pt x="321905" y="191954"/>
                  <a:pt x="331557" y="191954"/>
                </a:cubicBezTo>
                <a:cubicBezTo>
                  <a:pt x="341209" y="191954"/>
                  <a:pt x="349008" y="184156"/>
                  <a:pt x="349008" y="174504"/>
                </a:cubicBezTo>
                <a:lnTo>
                  <a:pt x="349008" y="122153"/>
                </a:lnTo>
                <a:cubicBezTo>
                  <a:pt x="349008" y="112500"/>
                  <a:pt x="341209" y="104702"/>
                  <a:pt x="331557" y="1047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02962" y="1675237"/>
            <a:ext cx="2913050" cy="33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8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02962" y="2047511"/>
            <a:ext cx="2847902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8F7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Transformer-based approaches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412" y="2661765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148910" y="0"/>
                </a:moveTo>
                <a:lnTo>
                  <a:pt x="148910" y="0"/>
                </a:lnTo>
                <a:cubicBezTo>
                  <a:pt x="231096" y="0"/>
                  <a:pt x="297820" y="66724"/>
                  <a:pt x="297820" y="148910"/>
                </a:cubicBezTo>
                <a:lnTo>
                  <a:pt x="297820" y="148910"/>
                </a:lnTo>
                <a:cubicBezTo>
                  <a:pt x="297820" y="231096"/>
                  <a:pt x="231096" y="297820"/>
                  <a:pt x="148910" y="297820"/>
                </a:cubicBezTo>
                <a:lnTo>
                  <a:pt x="148910" y="297820"/>
                </a:lnTo>
                <a:cubicBezTo>
                  <a:pt x="66724" y="297820"/>
                  <a:pt x="0" y="231096"/>
                  <a:pt x="0" y="148910"/>
                </a:cubicBezTo>
                <a:lnTo>
                  <a:pt x="0" y="148910"/>
                </a:lnTo>
                <a:cubicBezTo>
                  <a:pt x="0" y="66724"/>
                  <a:pt x="66724" y="0"/>
                  <a:pt x="14891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2644" y="2745527"/>
            <a:ext cx="114009" cy="130296"/>
          </a:xfrm>
          <a:custGeom>
            <a:avLst/>
            <a:gdLst/>
            <a:ahLst/>
            <a:cxnLst/>
            <a:rect l="l" t="t" r="r" b="b"/>
            <a:pathLst>
              <a:path w="114009" h="130296">
                <a:moveTo>
                  <a:pt x="65148" y="16287"/>
                </a:moveTo>
                <a:cubicBezTo>
                  <a:pt x="65148" y="11783"/>
                  <a:pt x="61509" y="8144"/>
                  <a:pt x="57005" y="8144"/>
                </a:cubicBezTo>
                <a:cubicBezTo>
                  <a:pt x="52500" y="8144"/>
                  <a:pt x="48861" y="11783"/>
                  <a:pt x="48861" y="16287"/>
                </a:cubicBezTo>
                <a:lnTo>
                  <a:pt x="48861" y="57005"/>
                </a:lnTo>
                <a:lnTo>
                  <a:pt x="8144" y="57005"/>
                </a:lnTo>
                <a:cubicBezTo>
                  <a:pt x="3639" y="57005"/>
                  <a:pt x="0" y="60644"/>
                  <a:pt x="0" y="65148"/>
                </a:cubicBezTo>
                <a:cubicBezTo>
                  <a:pt x="0" y="69652"/>
                  <a:pt x="3639" y="73292"/>
                  <a:pt x="8144" y="73292"/>
                </a:cubicBezTo>
                <a:lnTo>
                  <a:pt x="48861" y="73292"/>
                </a:lnTo>
                <a:lnTo>
                  <a:pt x="48861" y="114009"/>
                </a:lnTo>
                <a:cubicBezTo>
                  <a:pt x="48861" y="118514"/>
                  <a:pt x="52500" y="122153"/>
                  <a:pt x="57005" y="122153"/>
                </a:cubicBezTo>
                <a:cubicBezTo>
                  <a:pt x="61509" y="122153"/>
                  <a:pt x="65148" y="118514"/>
                  <a:pt x="65148" y="114009"/>
                </a:cubicBezTo>
                <a:lnTo>
                  <a:pt x="65148" y="73292"/>
                </a:lnTo>
                <a:lnTo>
                  <a:pt x="105866" y="73292"/>
                </a:lnTo>
                <a:cubicBezTo>
                  <a:pt x="110370" y="73292"/>
                  <a:pt x="114009" y="69652"/>
                  <a:pt x="114009" y="65148"/>
                </a:cubicBezTo>
                <a:cubicBezTo>
                  <a:pt x="114009" y="60644"/>
                  <a:pt x="110370" y="57005"/>
                  <a:pt x="105866" y="57005"/>
                </a:cubicBezTo>
                <a:lnTo>
                  <a:pt x="65148" y="57005"/>
                </a:lnTo>
                <a:lnTo>
                  <a:pt x="65148" y="162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967915" y="2643151"/>
            <a:ext cx="491402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on Frequent Labels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7915" y="2940971"/>
            <a:ext cx="4904721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performance on common Bloom's levels (Remember, Understand)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412" y="3517997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148910" y="0"/>
                </a:moveTo>
                <a:lnTo>
                  <a:pt x="148910" y="0"/>
                </a:lnTo>
                <a:cubicBezTo>
                  <a:pt x="231096" y="0"/>
                  <a:pt x="297820" y="66724"/>
                  <a:pt x="297820" y="148910"/>
                </a:cubicBezTo>
                <a:lnTo>
                  <a:pt x="297820" y="148910"/>
                </a:lnTo>
                <a:cubicBezTo>
                  <a:pt x="297820" y="231096"/>
                  <a:pt x="231096" y="297820"/>
                  <a:pt x="148910" y="297820"/>
                </a:cubicBezTo>
                <a:lnTo>
                  <a:pt x="148910" y="297820"/>
                </a:lnTo>
                <a:cubicBezTo>
                  <a:pt x="66724" y="297820"/>
                  <a:pt x="0" y="231096"/>
                  <a:pt x="0" y="148910"/>
                </a:cubicBezTo>
                <a:lnTo>
                  <a:pt x="0" y="148910"/>
                </a:lnTo>
                <a:cubicBezTo>
                  <a:pt x="0" y="66724"/>
                  <a:pt x="66724" y="0"/>
                  <a:pt x="14891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2644" y="3601759"/>
            <a:ext cx="114009" cy="130296"/>
          </a:xfrm>
          <a:custGeom>
            <a:avLst/>
            <a:gdLst/>
            <a:ahLst/>
            <a:cxnLst/>
            <a:rect l="l" t="t" r="r" b="b"/>
            <a:pathLst>
              <a:path w="114009" h="130296">
                <a:moveTo>
                  <a:pt x="0" y="65148"/>
                </a:moveTo>
                <a:cubicBezTo>
                  <a:pt x="0" y="60644"/>
                  <a:pt x="3639" y="57005"/>
                  <a:pt x="8144" y="57005"/>
                </a:cubicBezTo>
                <a:lnTo>
                  <a:pt x="105866" y="57005"/>
                </a:lnTo>
                <a:cubicBezTo>
                  <a:pt x="110370" y="57005"/>
                  <a:pt x="114009" y="60644"/>
                  <a:pt x="114009" y="65148"/>
                </a:cubicBezTo>
                <a:cubicBezTo>
                  <a:pt x="114009" y="69652"/>
                  <a:pt x="110370" y="73292"/>
                  <a:pt x="105866" y="73292"/>
                </a:cubicBezTo>
                <a:lnTo>
                  <a:pt x="8144" y="73292"/>
                </a:lnTo>
                <a:cubicBezTo>
                  <a:pt x="3639" y="73292"/>
                  <a:pt x="0" y="69652"/>
                  <a:pt x="0" y="6514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967915" y="3499383"/>
            <a:ext cx="4895414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Intensive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7915" y="3797203"/>
            <a:ext cx="4886107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computational costs and infrastructure requirements for deployment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8412" y="4150864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148910" y="0"/>
                </a:moveTo>
                <a:lnTo>
                  <a:pt x="148910" y="0"/>
                </a:lnTo>
                <a:cubicBezTo>
                  <a:pt x="231096" y="0"/>
                  <a:pt x="297820" y="66724"/>
                  <a:pt x="297820" y="148910"/>
                </a:cubicBezTo>
                <a:lnTo>
                  <a:pt x="297820" y="148910"/>
                </a:lnTo>
                <a:cubicBezTo>
                  <a:pt x="297820" y="231096"/>
                  <a:pt x="231096" y="297820"/>
                  <a:pt x="148910" y="297820"/>
                </a:cubicBezTo>
                <a:lnTo>
                  <a:pt x="148910" y="297820"/>
                </a:lnTo>
                <a:cubicBezTo>
                  <a:pt x="66724" y="297820"/>
                  <a:pt x="0" y="231096"/>
                  <a:pt x="0" y="148910"/>
                </a:cubicBezTo>
                <a:lnTo>
                  <a:pt x="0" y="148910"/>
                </a:lnTo>
                <a:cubicBezTo>
                  <a:pt x="0" y="66724"/>
                  <a:pt x="66724" y="0"/>
                  <a:pt x="14891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2644" y="4234626"/>
            <a:ext cx="114009" cy="130296"/>
          </a:xfrm>
          <a:custGeom>
            <a:avLst/>
            <a:gdLst/>
            <a:ahLst/>
            <a:cxnLst/>
            <a:rect l="l" t="t" r="r" b="b"/>
            <a:pathLst>
              <a:path w="114009" h="130296">
                <a:moveTo>
                  <a:pt x="0" y="65148"/>
                </a:moveTo>
                <a:cubicBezTo>
                  <a:pt x="0" y="60644"/>
                  <a:pt x="3639" y="57005"/>
                  <a:pt x="8144" y="57005"/>
                </a:cubicBezTo>
                <a:lnTo>
                  <a:pt x="105866" y="57005"/>
                </a:lnTo>
                <a:cubicBezTo>
                  <a:pt x="110370" y="57005"/>
                  <a:pt x="114009" y="60644"/>
                  <a:pt x="114009" y="65148"/>
                </a:cubicBezTo>
                <a:cubicBezTo>
                  <a:pt x="114009" y="69652"/>
                  <a:pt x="110370" y="73292"/>
                  <a:pt x="105866" y="73292"/>
                </a:cubicBezTo>
                <a:lnTo>
                  <a:pt x="8144" y="73292"/>
                </a:lnTo>
                <a:cubicBezTo>
                  <a:pt x="3639" y="73292"/>
                  <a:pt x="0" y="69652"/>
                  <a:pt x="0" y="6514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967915" y="4132250"/>
            <a:ext cx="473719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on Rare Classes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7915" y="4430070"/>
            <a:ext cx="472789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Struggle with higher-order levels (Evaluate, Create) due to data scarcity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8412" y="5029433"/>
            <a:ext cx="5239768" cy="7445"/>
          </a:xfrm>
          <a:custGeom>
            <a:avLst/>
            <a:gdLst/>
            <a:ahLst/>
            <a:cxnLst/>
            <a:rect l="l" t="t" r="r" b="b"/>
            <a:pathLst>
              <a:path w="5239768" h="7445">
                <a:moveTo>
                  <a:pt x="0" y="0"/>
                </a:moveTo>
                <a:lnTo>
                  <a:pt x="5239768" y="0"/>
                </a:lnTo>
                <a:lnTo>
                  <a:pt x="5239768" y="7445"/>
                </a:lnTo>
                <a:lnTo>
                  <a:pt x="0" y="744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8412" y="5182066"/>
            <a:ext cx="5239768" cy="670095"/>
          </a:xfrm>
          <a:custGeom>
            <a:avLst/>
            <a:gdLst/>
            <a:ahLst/>
            <a:cxnLst/>
            <a:rect l="l" t="t" r="r" b="b"/>
            <a:pathLst>
              <a:path w="5239768" h="670095">
                <a:moveTo>
                  <a:pt x="37230" y="0"/>
                </a:moveTo>
                <a:lnTo>
                  <a:pt x="5202537" y="0"/>
                </a:lnTo>
                <a:cubicBezTo>
                  <a:pt x="5223099" y="0"/>
                  <a:pt x="5239768" y="16669"/>
                  <a:pt x="5239768" y="37230"/>
                </a:cubicBezTo>
                <a:lnTo>
                  <a:pt x="5239768" y="632864"/>
                </a:lnTo>
                <a:cubicBezTo>
                  <a:pt x="5239768" y="653426"/>
                  <a:pt x="5223099" y="670095"/>
                  <a:pt x="5202537" y="670095"/>
                </a:cubicBezTo>
                <a:lnTo>
                  <a:pt x="37230" y="670095"/>
                </a:lnTo>
                <a:cubicBezTo>
                  <a:pt x="16669" y="670095"/>
                  <a:pt x="0" y="653426"/>
                  <a:pt x="0" y="632864"/>
                </a:cubicBezTo>
                <a:lnTo>
                  <a:pt x="0" y="37230"/>
                </a:lnTo>
                <a:cubicBezTo>
                  <a:pt x="0" y="16669"/>
                  <a:pt x="16669" y="0"/>
                  <a:pt x="3723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6" name="Text 24"/>
          <p:cNvSpPr/>
          <p:nvPr/>
        </p:nvSpPr>
        <p:spPr>
          <a:xfrm>
            <a:off x="670095" y="5293748"/>
            <a:ext cx="5090858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Large-scale applications with abundant data and computational resources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08769" y="1489099"/>
            <a:ext cx="5612043" cy="4551060"/>
          </a:xfrm>
          <a:custGeom>
            <a:avLst/>
            <a:gdLst/>
            <a:ahLst/>
            <a:cxnLst/>
            <a:rect l="l" t="t" r="r" b="b"/>
            <a:pathLst>
              <a:path w="5612043" h="4551060">
                <a:moveTo>
                  <a:pt x="74455" y="0"/>
                </a:moveTo>
                <a:lnTo>
                  <a:pt x="5537587" y="0"/>
                </a:lnTo>
                <a:cubicBezTo>
                  <a:pt x="5578708" y="0"/>
                  <a:pt x="5612043" y="33335"/>
                  <a:pt x="5612043" y="74455"/>
                </a:cubicBezTo>
                <a:lnTo>
                  <a:pt x="5612043" y="4476604"/>
                </a:lnTo>
                <a:cubicBezTo>
                  <a:pt x="5612043" y="4517725"/>
                  <a:pt x="5578708" y="4551060"/>
                  <a:pt x="5537587" y="4551060"/>
                </a:cubicBezTo>
                <a:lnTo>
                  <a:pt x="74455" y="4551060"/>
                </a:lnTo>
                <a:cubicBezTo>
                  <a:pt x="33335" y="4551060"/>
                  <a:pt x="0" y="4517725"/>
                  <a:pt x="0" y="4476604"/>
                </a:cubicBezTo>
                <a:lnTo>
                  <a:pt x="0" y="74455"/>
                </a:lnTo>
                <a:cubicBezTo>
                  <a:pt x="0" y="33335"/>
                  <a:pt x="33335" y="0"/>
                  <a:pt x="744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841" dist="37227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69" y="1489099"/>
            <a:ext cx="5612043" cy="967915"/>
          </a:xfrm>
          <a:custGeom>
            <a:avLst/>
            <a:gdLst/>
            <a:ahLst/>
            <a:cxnLst/>
            <a:rect l="l" t="t" r="r" b="b"/>
            <a:pathLst>
              <a:path w="5612043" h="967915">
                <a:moveTo>
                  <a:pt x="0" y="0"/>
                </a:moveTo>
                <a:lnTo>
                  <a:pt x="5612043" y="0"/>
                </a:lnTo>
                <a:lnTo>
                  <a:pt x="5612043" y="967915"/>
                </a:lnTo>
                <a:lnTo>
                  <a:pt x="0" y="96791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D4A373"/>
              </a:gs>
              <a:gs pos="100000">
                <a:srgbClr val="8D99AE"/>
              </a:gs>
            </a:gsLst>
            <a:lin ang="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394906" y="1675237"/>
            <a:ext cx="595640" cy="595640"/>
          </a:xfrm>
          <a:custGeom>
            <a:avLst/>
            <a:gdLst/>
            <a:ahLst/>
            <a:cxnLst/>
            <a:rect l="l" t="t" r="r" b="b"/>
            <a:pathLst>
              <a:path w="595640" h="595640">
                <a:moveTo>
                  <a:pt x="297820" y="0"/>
                </a:moveTo>
                <a:lnTo>
                  <a:pt x="297820" y="0"/>
                </a:lnTo>
                <a:cubicBezTo>
                  <a:pt x="462191" y="0"/>
                  <a:pt x="595640" y="133449"/>
                  <a:pt x="595640" y="297820"/>
                </a:cubicBezTo>
                <a:lnTo>
                  <a:pt x="595640" y="297820"/>
                </a:lnTo>
                <a:cubicBezTo>
                  <a:pt x="595640" y="462191"/>
                  <a:pt x="462191" y="595640"/>
                  <a:pt x="297820" y="595640"/>
                </a:cubicBezTo>
                <a:lnTo>
                  <a:pt x="297820" y="595640"/>
                </a:lnTo>
                <a:cubicBezTo>
                  <a:pt x="133449" y="595640"/>
                  <a:pt x="0" y="462191"/>
                  <a:pt x="0" y="297820"/>
                </a:cubicBezTo>
                <a:lnTo>
                  <a:pt x="0" y="297820"/>
                </a:lnTo>
                <a:cubicBezTo>
                  <a:pt x="0" y="133449"/>
                  <a:pt x="133449" y="0"/>
                  <a:pt x="29782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520549" y="1833453"/>
            <a:ext cx="349008" cy="279206"/>
          </a:xfrm>
          <a:custGeom>
            <a:avLst/>
            <a:gdLst/>
            <a:ahLst/>
            <a:cxnLst/>
            <a:rect l="l" t="t" r="r" b="b"/>
            <a:pathLst>
              <a:path w="349008" h="279206">
                <a:moveTo>
                  <a:pt x="226800" y="114791"/>
                </a:moveTo>
                <a:cubicBezTo>
                  <a:pt x="233453" y="112991"/>
                  <a:pt x="240434" y="116154"/>
                  <a:pt x="243433" y="122316"/>
                </a:cubicBezTo>
                <a:lnTo>
                  <a:pt x="253576" y="142820"/>
                </a:lnTo>
                <a:cubicBezTo>
                  <a:pt x="259193" y="143584"/>
                  <a:pt x="264700" y="145111"/>
                  <a:pt x="269881" y="147238"/>
                </a:cubicBezTo>
                <a:lnTo>
                  <a:pt x="288967" y="134532"/>
                </a:lnTo>
                <a:cubicBezTo>
                  <a:pt x="294693" y="130714"/>
                  <a:pt x="302273" y="131478"/>
                  <a:pt x="307127" y="136331"/>
                </a:cubicBezTo>
                <a:lnTo>
                  <a:pt x="317597" y="146801"/>
                </a:lnTo>
                <a:cubicBezTo>
                  <a:pt x="322450" y="151655"/>
                  <a:pt x="323214" y="159289"/>
                  <a:pt x="319397" y="164961"/>
                </a:cubicBezTo>
                <a:lnTo>
                  <a:pt x="306690" y="183992"/>
                </a:lnTo>
                <a:cubicBezTo>
                  <a:pt x="307727" y="186555"/>
                  <a:pt x="308654" y="189228"/>
                  <a:pt x="309417" y="192009"/>
                </a:cubicBezTo>
                <a:cubicBezTo>
                  <a:pt x="310181" y="194790"/>
                  <a:pt x="310671" y="197517"/>
                  <a:pt x="311053" y="200298"/>
                </a:cubicBezTo>
                <a:lnTo>
                  <a:pt x="331612" y="210441"/>
                </a:lnTo>
                <a:cubicBezTo>
                  <a:pt x="337774" y="213495"/>
                  <a:pt x="340937" y="220475"/>
                  <a:pt x="339137" y="227073"/>
                </a:cubicBezTo>
                <a:lnTo>
                  <a:pt x="335320" y="241361"/>
                </a:lnTo>
                <a:cubicBezTo>
                  <a:pt x="333520" y="247959"/>
                  <a:pt x="327358" y="252431"/>
                  <a:pt x="320487" y="251994"/>
                </a:cubicBezTo>
                <a:lnTo>
                  <a:pt x="297584" y="250522"/>
                </a:lnTo>
                <a:cubicBezTo>
                  <a:pt x="294148" y="254939"/>
                  <a:pt x="290167" y="259029"/>
                  <a:pt x="285641" y="262519"/>
                </a:cubicBezTo>
                <a:lnTo>
                  <a:pt x="287113" y="285368"/>
                </a:lnTo>
                <a:cubicBezTo>
                  <a:pt x="287550" y="292239"/>
                  <a:pt x="283078" y="298456"/>
                  <a:pt x="276479" y="300201"/>
                </a:cubicBezTo>
                <a:lnTo>
                  <a:pt x="262192" y="304018"/>
                </a:lnTo>
                <a:cubicBezTo>
                  <a:pt x="255539" y="305818"/>
                  <a:pt x="248613" y="302655"/>
                  <a:pt x="245560" y="296493"/>
                </a:cubicBezTo>
                <a:lnTo>
                  <a:pt x="235417" y="275989"/>
                </a:lnTo>
                <a:cubicBezTo>
                  <a:pt x="229800" y="275225"/>
                  <a:pt x="224292" y="273698"/>
                  <a:pt x="219111" y="271572"/>
                </a:cubicBezTo>
                <a:lnTo>
                  <a:pt x="200025" y="284278"/>
                </a:lnTo>
                <a:cubicBezTo>
                  <a:pt x="194299" y="288095"/>
                  <a:pt x="186719" y="287331"/>
                  <a:pt x="181866" y="282478"/>
                </a:cubicBezTo>
                <a:lnTo>
                  <a:pt x="171395" y="272008"/>
                </a:lnTo>
                <a:cubicBezTo>
                  <a:pt x="166542" y="267154"/>
                  <a:pt x="165779" y="259574"/>
                  <a:pt x="169596" y="253849"/>
                </a:cubicBezTo>
                <a:lnTo>
                  <a:pt x="182302" y="234762"/>
                </a:lnTo>
                <a:cubicBezTo>
                  <a:pt x="181266" y="232199"/>
                  <a:pt x="180339" y="229527"/>
                  <a:pt x="179575" y="226746"/>
                </a:cubicBezTo>
                <a:cubicBezTo>
                  <a:pt x="178812" y="223965"/>
                  <a:pt x="178321" y="221184"/>
                  <a:pt x="177939" y="218457"/>
                </a:cubicBezTo>
                <a:lnTo>
                  <a:pt x="157381" y="208314"/>
                </a:lnTo>
                <a:cubicBezTo>
                  <a:pt x="151218" y="205260"/>
                  <a:pt x="148110" y="198280"/>
                  <a:pt x="149855" y="191682"/>
                </a:cubicBezTo>
                <a:lnTo>
                  <a:pt x="153672" y="177394"/>
                </a:lnTo>
                <a:cubicBezTo>
                  <a:pt x="155472" y="170796"/>
                  <a:pt x="161634" y="166324"/>
                  <a:pt x="168505" y="166760"/>
                </a:cubicBezTo>
                <a:lnTo>
                  <a:pt x="191354" y="168233"/>
                </a:lnTo>
                <a:cubicBezTo>
                  <a:pt x="194790" y="163815"/>
                  <a:pt x="198771" y="159726"/>
                  <a:pt x="203297" y="156235"/>
                </a:cubicBezTo>
                <a:lnTo>
                  <a:pt x="201825" y="133441"/>
                </a:lnTo>
                <a:cubicBezTo>
                  <a:pt x="201388" y="126570"/>
                  <a:pt x="205860" y="120353"/>
                  <a:pt x="212458" y="118608"/>
                </a:cubicBezTo>
                <a:lnTo>
                  <a:pt x="226746" y="114791"/>
                </a:lnTo>
                <a:close/>
                <a:moveTo>
                  <a:pt x="244523" y="185410"/>
                </a:moveTo>
                <a:cubicBezTo>
                  <a:pt x="231281" y="185425"/>
                  <a:pt x="220541" y="196189"/>
                  <a:pt x="220556" y="209432"/>
                </a:cubicBezTo>
                <a:cubicBezTo>
                  <a:pt x="220572" y="222675"/>
                  <a:pt x="231335" y="233414"/>
                  <a:pt x="244578" y="233399"/>
                </a:cubicBezTo>
                <a:cubicBezTo>
                  <a:pt x="257821" y="233384"/>
                  <a:pt x="268560" y="222620"/>
                  <a:pt x="268545" y="209377"/>
                </a:cubicBezTo>
                <a:cubicBezTo>
                  <a:pt x="268530" y="196135"/>
                  <a:pt x="257766" y="185395"/>
                  <a:pt x="244523" y="185410"/>
                </a:cubicBezTo>
                <a:close/>
                <a:moveTo>
                  <a:pt x="122643" y="-24812"/>
                </a:moveTo>
                <a:lnTo>
                  <a:pt x="136931" y="-20995"/>
                </a:lnTo>
                <a:cubicBezTo>
                  <a:pt x="143529" y="-19195"/>
                  <a:pt x="148001" y="-12979"/>
                  <a:pt x="147565" y="-6162"/>
                </a:cubicBezTo>
                <a:lnTo>
                  <a:pt x="146092" y="16632"/>
                </a:lnTo>
                <a:cubicBezTo>
                  <a:pt x="150619" y="20122"/>
                  <a:pt x="154599" y="24158"/>
                  <a:pt x="158035" y="28630"/>
                </a:cubicBezTo>
                <a:lnTo>
                  <a:pt x="180939" y="27157"/>
                </a:lnTo>
                <a:cubicBezTo>
                  <a:pt x="187755" y="26721"/>
                  <a:pt x="193972" y="31193"/>
                  <a:pt x="195771" y="37791"/>
                </a:cubicBezTo>
                <a:lnTo>
                  <a:pt x="199589" y="52078"/>
                </a:lnTo>
                <a:cubicBezTo>
                  <a:pt x="201334" y="58677"/>
                  <a:pt x="198225" y="65657"/>
                  <a:pt x="192063" y="68711"/>
                </a:cubicBezTo>
                <a:lnTo>
                  <a:pt x="171505" y="78854"/>
                </a:lnTo>
                <a:cubicBezTo>
                  <a:pt x="171123" y="81635"/>
                  <a:pt x="170577" y="84416"/>
                  <a:pt x="169869" y="87143"/>
                </a:cubicBezTo>
                <a:cubicBezTo>
                  <a:pt x="169160" y="89869"/>
                  <a:pt x="168178" y="92596"/>
                  <a:pt x="167142" y="95159"/>
                </a:cubicBezTo>
                <a:lnTo>
                  <a:pt x="179848" y="114245"/>
                </a:lnTo>
                <a:cubicBezTo>
                  <a:pt x="183665" y="119971"/>
                  <a:pt x="182902" y="127551"/>
                  <a:pt x="178048" y="132405"/>
                </a:cubicBezTo>
                <a:lnTo>
                  <a:pt x="167578" y="142875"/>
                </a:lnTo>
                <a:cubicBezTo>
                  <a:pt x="162725" y="147728"/>
                  <a:pt x="155145" y="148492"/>
                  <a:pt x="149419" y="144675"/>
                </a:cubicBezTo>
                <a:lnTo>
                  <a:pt x="130333" y="131969"/>
                </a:lnTo>
                <a:cubicBezTo>
                  <a:pt x="125152" y="134095"/>
                  <a:pt x="119644" y="135622"/>
                  <a:pt x="114027" y="136386"/>
                </a:cubicBezTo>
                <a:lnTo>
                  <a:pt x="103884" y="156890"/>
                </a:lnTo>
                <a:cubicBezTo>
                  <a:pt x="100830" y="163052"/>
                  <a:pt x="93850" y="166160"/>
                  <a:pt x="87252" y="164415"/>
                </a:cubicBezTo>
                <a:lnTo>
                  <a:pt x="72964" y="160598"/>
                </a:lnTo>
                <a:cubicBezTo>
                  <a:pt x="66311" y="158798"/>
                  <a:pt x="61894" y="152582"/>
                  <a:pt x="62331" y="145765"/>
                </a:cubicBezTo>
                <a:lnTo>
                  <a:pt x="63803" y="122916"/>
                </a:lnTo>
                <a:cubicBezTo>
                  <a:pt x="59277" y="119426"/>
                  <a:pt x="55296" y="115391"/>
                  <a:pt x="51860" y="110919"/>
                </a:cubicBezTo>
                <a:lnTo>
                  <a:pt x="28957" y="112391"/>
                </a:lnTo>
                <a:cubicBezTo>
                  <a:pt x="22140" y="112828"/>
                  <a:pt x="15923" y="108356"/>
                  <a:pt x="14124" y="101758"/>
                </a:cubicBezTo>
                <a:lnTo>
                  <a:pt x="10307" y="87470"/>
                </a:lnTo>
                <a:cubicBezTo>
                  <a:pt x="8562" y="80872"/>
                  <a:pt x="11670" y="73891"/>
                  <a:pt x="17832" y="70838"/>
                </a:cubicBezTo>
                <a:lnTo>
                  <a:pt x="38391" y="60695"/>
                </a:lnTo>
                <a:cubicBezTo>
                  <a:pt x="38773" y="57913"/>
                  <a:pt x="39318" y="55187"/>
                  <a:pt x="40027" y="52406"/>
                </a:cubicBezTo>
                <a:cubicBezTo>
                  <a:pt x="40790" y="49625"/>
                  <a:pt x="41663" y="46952"/>
                  <a:pt x="42753" y="44389"/>
                </a:cubicBezTo>
                <a:lnTo>
                  <a:pt x="30047" y="25358"/>
                </a:lnTo>
                <a:cubicBezTo>
                  <a:pt x="26230" y="19632"/>
                  <a:pt x="26994" y="12052"/>
                  <a:pt x="31847" y="7198"/>
                </a:cubicBezTo>
                <a:lnTo>
                  <a:pt x="42317" y="-3272"/>
                </a:lnTo>
                <a:cubicBezTo>
                  <a:pt x="47171" y="-8125"/>
                  <a:pt x="54751" y="-8889"/>
                  <a:pt x="60476" y="-5072"/>
                </a:cubicBezTo>
                <a:lnTo>
                  <a:pt x="79563" y="7635"/>
                </a:lnTo>
                <a:cubicBezTo>
                  <a:pt x="84743" y="5508"/>
                  <a:pt x="90251" y="3981"/>
                  <a:pt x="95868" y="3217"/>
                </a:cubicBezTo>
                <a:lnTo>
                  <a:pt x="106011" y="-17287"/>
                </a:lnTo>
                <a:cubicBezTo>
                  <a:pt x="109065" y="-23449"/>
                  <a:pt x="115991" y="-26557"/>
                  <a:pt x="122643" y="-24812"/>
                </a:cubicBezTo>
                <a:close/>
                <a:moveTo>
                  <a:pt x="104920" y="45807"/>
                </a:moveTo>
                <a:cubicBezTo>
                  <a:pt x="91678" y="45807"/>
                  <a:pt x="80926" y="56559"/>
                  <a:pt x="80926" y="69802"/>
                </a:cubicBezTo>
                <a:cubicBezTo>
                  <a:pt x="80926" y="83044"/>
                  <a:pt x="91678" y="93796"/>
                  <a:pt x="104920" y="93796"/>
                </a:cubicBezTo>
                <a:cubicBezTo>
                  <a:pt x="118163" y="93796"/>
                  <a:pt x="128915" y="83044"/>
                  <a:pt x="128915" y="69802"/>
                </a:cubicBezTo>
                <a:cubicBezTo>
                  <a:pt x="128915" y="56559"/>
                  <a:pt x="118163" y="45807"/>
                  <a:pt x="104920" y="458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139456" y="1675237"/>
            <a:ext cx="1898602" cy="33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8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Traditional ML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9456" y="2047511"/>
            <a:ext cx="183345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8F7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SVM, Logistic Regression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4906" y="2661765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148910" y="0"/>
                </a:moveTo>
                <a:lnTo>
                  <a:pt x="148910" y="0"/>
                </a:lnTo>
                <a:cubicBezTo>
                  <a:pt x="231096" y="0"/>
                  <a:pt x="297820" y="66724"/>
                  <a:pt x="297820" y="148910"/>
                </a:cubicBezTo>
                <a:lnTo>
                  <a:pt x="297820" y="148910"/>
                </a:lnTo>
                <a:cubicBezTo>
                  <a:pt x="297820" y="231096"/>
                  <a:pt x="231096" y="297820"/>
                  <a:pt x="148910" y="297820"/>
                </a:cubicBezTo>
                <a:lnTo>
                  <a:pt x="148910" y="297820"/>
                </a:lnTo>
                <a:cubicBezTo>
                  <a:pt x="66724" y="297820"/>
                  <a:pt x="0" y="231096"/>
                  <a:pt x="0" y="148910"/>
                </a:cubicBezTo>
                <a:lnTo>
                  <a:pt x="0" y="148910"/>
                </a:lnTo>
                <a:cubicBezTo>
                  <a:pt x="0" y="66724"/>
                  <a:pt x="66724" y="0"/>
                  <a:pt x="14891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89138" y="2745527"/>
            <a:ext cx="114009" cy="130296"/>
          </a:xfrm>
          <a:custGeom>
            <a:avLst/>
            <a:gdLst/>
            <a:ahLst/>
            <a:cxnLst/>
            <a:rect l="l" t="t" r="r" b="b"/>
            <a:pathLst>
              <a:path w="114009" h="130296">
                <a:moveTo>
                  <a:pt x="65148" y="16287"/>
                </a:moveTo>
                <a:cubicBezTo>
                  <a:pt x="65148" y="11783"/>
                  <a:pt x="61509" y="8144"/>
                  <a:pt x="57005" y="8144"/>
                </a:cubicBezTo>
                <a:cubicBezTo>
                  <a:pt x="52500" y="8144"/>
                  <a:pt x="48861" y="11783"/>
                  <a:pt x="48861" y="16287"/>
                </a:cubicBezTo>
                <a:lnTo>
                  <a:pt x="48861" y="57005"/>
                </a:lnTo>
                <a:lnTo>
                  <a:pt x="8144" y="57005"/>
                </a:lnTo>
                <a:cubicBezTo>
                  <a:pt x="3639" y="57005"/>
                  <a:pt x="0" y="60644"/>
                  <a:pt x="0" y="65148"/>
                </a:cubicBezTo>
                <a:cubicBezTo>
                  <a:pt x="0" y="69652"/>
                  <a:pt x="3639" y="73292"/>
                  <a:pt x="8144" y="73292"/>
                </a:cubicBezTo>
                <a:lnTo>
                  <a:pt x="48861" y="73292"/>
                </a:lnTo>
                <a:lnTo>
                  <a:pt x="48861" y="114009"/>
                </a:lnTo>
                <a:cubicBezTo>
                  <a:pt x="48861" y="118514"/>
                  <a:pt x="52500" y="122153"/>
                  <a:pt x="57005" y="122153"/>
                </a:cubicBezTo>
                <a:cubicBezTo>
                  <a:pt x="61509" y="122153"/>
                  <a:pt x="65148" y="118514"/>
                  <a:pt x="65148" y="114009"/>
                </a:cubicBezTo>
                <a:lnTo>
                  <a:pt x="65148" y="73292"/>
                </a:lnTo>
                <a:lnTo>
                  <a:pt x="105866" y="73292"/>
                </a:lnTo>
                <a:cubicBezTo>
                  <a:pt x="110370" y="73292"/>
                  <a:pt x="114009" y="69652"/>
                  <a:pt x="114009" y="65148"/>
                </a:cubicBezTo>
                <a:cubicBezTo>
                  <a:pt x="114009" y="60644"/>
                  <a:pt x="110370" y="57005"/>
                  <a:pt x="105866" y="57005"/>
                </a:cubicBezTo>
                <a:lnTo>
                  <a:pt x="65148" y="57005"/>
                </a:lnTo>
                <a:lnTo>
                  <a:pt x="65148" y="162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6804408" y="2643151"/>
            <a:ext cx="491402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Data-Efficient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4408" y="2940971"/>
            <a:ext cx="4904721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 strong performance with limited training data through feature engineering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4906" y="3517997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148910" y="0"/>
                </a:moveTo>
                <a:lnTo>
                  <a:pt x="148910" y="0"/>
                </a:lnTo>
                <a:cubicBezTo>
                  <a:pt x="231096" y="0"/>
                  <a:pt x="297820" y="66724"/>
                  <a:pt x="297820" y="148910"/>
                </a:cubicBezTo>
                <a:lnTo>
                  <a:pt x="297820" y="148910"/>
                </a:lnTo>
                <a:cubicBezTo>
                  <a:pt x="297820" y="231096"/>
                  <a:pt x="231096" y="297820"/>
                  <a:pt x="148910" y="297820"/>
                </a:cubicBezTo>
                <a:lnTo>
                  <a:pt x="148910" y="297820"/>
                </a:lnTo>
                <a:cubicBezTo>
                  <a:pt x="66724" y="297820"/>
                  <a:pt x="0" y="231096"/>
                  <a:pt x="0" y="148910"/>
                </a:cubicBezTo>
                <a:lnTo>
                  <a:pt x="0" y="148910"/>
                </a:lnTo>
                <a:cubicBezTo>
                  <a:pt x="0" y="66724"/>
                  <a:pt x="66724" y="0"/>
                  <a:pt x="14891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89138" y="3601759"/>
            <a:ext cx="114009" cy="130296"/>
          </a:xfrm>
          <a:custGeom>
            <a:avLst/>
            <a:gdLst/>
            <a:ahLst/>
            <a:cxnLst/>
            <a:rect l="l" t="t" r="r" b="b"/>
            <a:pathLst>
              <a:path w="114009" h="130296">
                <a:moveTo>
                  <a:pt x="65148" y="16287"/>
                </a:moveTo>
                <a:cubicBezTo>
                  <a:pt x="65148" y="11783"/>
                  <a:pt x="61509" y="8144"/>
                  <a:pt x="57005" y="8144"/>
                </a:cubicBezTo>
                <a:cubicBezTo>
                  <a:pt x="52500" y="8144"/>
                  <a:pt x="48861" y="11783"/>
                  <a:pt x="48861" y="16287"/>
                </a:cubicBezTo>
                <a:lnTo>
                  <a:pt x="48861" y="57005"/>
                </a:lnTo>
                <a:lnTo>
                  <a:pt x="8144" y="57005"/>
                </a:lnTo>
                <a:cubicBezTo>
                  <a:pt x="3639" y="57005"/>
                  <a:pt x="0" y="60644"/>
                  <a:pt x="0" y="65148"/>
                </a:cubicBezTo>
                <a:cubicBezTo>
                  <a:pt x="0" y="69652"/>
                  <a:pt x="3639" y="73292"/>
                  <a:pt x="8144" y="73292"/>
                </a:cubicBezTo>
                <a:lnTo>
                  <a:pt x="48861" y="73292"/>
                </a:lnTo>
                <a:lnTo>
                  <a:pt x="48861" y="114009"/>
                </a:lnTo>
                <a:cubicBezTo>
                  <a:pt x="48861" y="118514"/>
                  <a:pt x="52500" y="122153"/>
                  <a:pt x="57005" y="122153"/>
                </a:cubicBezTo>
                <a:cubicBezTo>
                  <a:pt x="61509" y="122153"/>
                  <a:pt x="65148" y="118514"/>
                  <a:pt x="65148" y="114009"/>
                </a:cubicBezTo>
                <a:lnTo>
                  <a:pt x="65148" y="73292"/>
                </a:lnTo>
                <a:lnTo>
                  <a:pt x="105866" y="73292"/>
                </a:lnTo>
                <a:cubicBezTo>
                  <a:pt x="110370" y="73292"/>
                  <a:pt x="114009" y="69652"/>
                  <a:pt x="114009" y="65148"/>
                </a:cubicBezTo>
                <a:cubicBezTo>
                  <a:pt x="114009" y="60644"/>
                  <a:pt x="110370" y="57005"/>
                  <a:pt x="105866" y="57005"/>
                </a:cubicBezTo>
                <a:lnTo>
                  <a:pt x="65148" y="57005"/>
                </a:lnTo>
                <a:lnTo>
                  <a:pt x="65148" y="162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6804408" y="3499383"/>
            <a:ext cx="491402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Macro-F1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4408" y="3797203"/>
            <a:ext cx="4904721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balanced performance across all Bloom's levels, including rare classes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4906" y="4374229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148910" y="0"/>
                </a:moveTo>
                <a:lnTo>
                  <a:pt x="148910" y="0"/>
                </a:lnTo>
                <a:cubicBezTo>
                  <a:pt x="231096" y="0"/>
                  <a:pt x="297820" y="66724"/>
                  <a:pt x="297820" y="148910"/>
                </a:cubicBezTo>
                <a:lnTo>
                  <a:pt x="297820" y="148910"/>
                </a:lnTo>
                <a:cubicBezTo>
                  <a:pt x="297820" y="231096"/>
                  <a:pt x="231096" y="297820"/>
                  <a:pt x="148910" y="297820"/>
                </a:cubicBezTo>
                <a:lnTo>
                  <a:pt x="148910" y="297820"/>
                </a:lnTo>
                <a:cubicBezTo>
                  <a:pt x="66724" y="297820"/>
                  <a:pt x="0" y="231096"/>
                  <a:pt x="0" y="148910"/>
                </a:cubicBezTo>
                <a:lnTo>
                  <a:pt x="0" y="148910"/>
                </a:lnTo>
                <a:cubicBezTo>
                  <a:pt x="0" y="66724"/>
                  <a:pt x="66724" y="0"/>
                  <a:pt x="14891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89138" y="4457991"/>
            <a:ext cx="114009" cy="130296"/>
          </a:xfrm>
          <a:custGeom>
            <a:avLst/>
            <a:gdLst/>
            <a:ahLst/>
            <a:cxnLst/>
            <a:rect l="l" t="t" r="r" b="b"/>
            <a:pathLst>
              <a:path w="114009" h="130296">
                <a:moveTo>
                  <a:pt x="65148" y="16287"/>
                </a:moveTo>
                <a:cubicBezTo>
                  <a:pt x="65148" y="11783"/>
                  <a:pt x="61509" y="8144"/>
                  <a:pt x="57005" y="8144"/>
                </a:cubicBezTo>
                <a:cubicBezTo>
                  <a:pt x="52500" y="8144"/>
                  <a:pt x="48861" y="11783"/>
                  <a:pt x="48861" y="16287"/>
                </a:cubicBezTo>
                <a:lnTo>
                  <a:pt x="48861" y="57005"/>
                </a:lnTo>
                <a:lnTo>
                  <a:pt x="8144" y="57005"/>
                </a:lnTo>
                <a:cubicBezTo>
                  <a:pt x="3639" y="57005"/>
                  <a:pt x="0" y="60644"/>
                  <a:pt x="0" y="65148"/>
                </a:cubicBezTo>
                <a:cubicBezTo>
                  <a:pt x="0" y="69652"/>
                  <a:pt x="3639" y="73292"/>
                  <a:pt x="8144" y="73292"/>
                </a:cubicBezTo>
                <a:lnTo>
                  <a:pt x="48861" y="73292"/>
                </a:lnTo>
                <a:lnTo>
                  <a:pt x="48861" y="114009"/>
                </a:lnTo>
                <a:cubicBezTo>
                  <a:pt x="48861" y="118514"/>
                  <a:pt x="52500" y="122153"/>
                  <a:pt x="57005" y="122153"/>
                </a:cubicBezTo>
                <a:cubicBezTo>
                  <a:pt x="61509" y="122153"/>
                  <a:pt x="65148" y="118514"/>
                  <a:pt x="65148" y="114009"/>
                </a:cubicBezTo>
                <a:lnTo>
                  <a:pt x="65148" y="73292"/>
                </a:lnTo>
                <a:lnTo>
                  <a:pt x="105866" y="73292"/>
                </a:lnTo>
                <a:cubicBezTo>
                  <a:pt x="110370" y="73292"/>
                  <a:pt x="114009" y="69652"/>
                  <a:pt x="114009" y="65148"/>
                </a:cubicBezTo>
                <a:cubicBezTo>
                  <a:pt x="114009" y="60644"/>
                  <a:pt x="110370" y="57005"/>
                  <a:pt x="105866" y="57005"/>
                </a:cubicBezTo>
                <a:lnTo>
                  <a:pt x="65148" y="57005"/>
                </a:lnTo>
                <a:lnTo>
                  <a:pt x="65148" y="162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6804408" y="4355615"/>
            <a:ext cx="483957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Easier Deployment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04408" y="4653435"/>
            <a:ext cx="4830266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models suitable for institutional integration and real-time use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4906" y="5029433"/>
            <a:ext cx="5239768" cy="7445"/>
          </a:xfrm>
          <a:custGeom>
            <a:avLst/>
            <a:gdLst/>
            <a:ahLst/>
            <a:cxnLst/>
            <a:rect l="l" t="t" r="r" b="b"/>
            <a:pathLst>
              <a:path w="5239768" h="7445">
                <a:moveTo>
                  <a:pt x="0" y="0"/>
                </a:moveTo>
                <a:lnTo>
                  <a:pt x="5239768" y="0"/>
                </a:lnTo>
                <a:lnTo>
                  <a:pt x="5239768" y="7445"/>
                </a:lnTo>
                <a:lnTo>
                  <a:pt x="0" y="744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94906" y="5182066"/>
            <a:ext cx="5239768" cy="670095"/>
          </a:xfrm>
          <a:custGeom>
            <a:avLst/>
            <a:gdLst/>
            <a:ahLst/>
            <a:cxnLst/>
            <a:rect l="l" t="t" r="r" b="b"/>
            <a:pathLst>
              <a:path w="5239768" h="670095">
                <a:moveTo>
                  <a:pt x="37230" y="0"/>
                </a:moveTo>
                <a:lnTo>
                  <a:pt x="5202537" y="0"/>
                </a:lnTo>
                <a:cubicBezTo>
                  <a:pt x="5223099" y="0"/>
                  <a:pt x="5239768" y="16669"/>
                  <a:pt x="5239768" y="37230"/>
                </a:cubicBezTo>
                <a:lnTo>
                  <a:pt x="5239768" y="632864"/>
                </a:lnTo>
                <a:cubicBezTo>
                  <a:pt x="5239768" y="653426"/>
                  <a:pt x="5223099" y="670095"/>
                  <a:pt x="5202537" y="670095"/>
                </a:cubicBezTo>
                <a:lnTo>
                  <a:pt x="37230" y="670095"/>
                </a:lnTo>
                <a:cubicBezTo>
                  <a:pt x="16669" y="670095"/>
                  <a:pt x="0" y="653426"/>
                  <a:pt x="0" y="632864"/>
                </a:cubicBezTo>
                <a:lnTo>
                  <a:pt x="0" y="37230"/>
                </a:lnTo>
                <a:cubicBezTo>
                  <a:pt x="0" y="16669"/>
                  <a:pt x="16669" y="0"/>
                  <a:pt x="3723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47" name="Text 45"/>
          <p:cNvSpPr/>
          <p:nvPr/>
        </p:nvSpPr>
        <p:spPr>
          <a:xfrm>
            <a:off x="6506588" y="5293748"/>
            <a:ext cx="5090858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pPr>
              <a:lnSpc>
                <a:spcPct val="130000"/>
              </a:lnSpc>
            </a:pPr>
            <a:r>
              <a:rPr lang="en-US" sz="1173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Resource-constrained environments requiring balanced, interpretable results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2275" y="6187208"/>
            <a:ext cx="11447450" cy="446730"/>
          </a:xfrm>
          <a:custGeom>
            <a:avLst/>
            <a:gdLst/>
            <a:ahLst/>
            <a:cxnLst/>
            <a:rect l="l" t="t" r="r" b="b"/>
            <a:pathLst>
              <a:path w="11447450" h="446730">
                <a:moveTo>
                  <a:pt x="74456" y="0"/>
                </a:moveTo>
                <a:lnTo>
                  <a:pt x="11372994" y="0"/>
                </a:lnTo>
                <a:cubicBezTo>
                  <a:pt x="11414115" y="0"/>
                  <a:pt x="11447450" y="33335"/>
                  <a:pt x="11447450" y="74456"/>
                </a:cubicBezTo>
                <a:lnTo>
                  <a:pt x="11447450" y="372273"/>
                </a:lnTo>
                <a:cubicBezTo>
                  <a:pt x="11447450" y="413394"/>
                  <a:pt x="11414115" y="446730"/>
                  <a:pt x="11372994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9" name="Shape 47"/>
          <p:cNvSpPr/>
          <p:nvPr/>
        </p:nvSpPr>
        <p:spPr>
          <a:xfrm>
            <a:off x="586333" y="6332394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11682" y="148910"/>
                </a:moveTo>
                <a:lnTo>
                  <a:pt x="27921" y="148910"/>
                </a:lnTo>
                <a:cubicBezTo>
                  <a:pt x="12506" y="148910"/>
                  <a:pt x="0" y="136404"/>
                  <a:pt x="0" y="120989"/>
                </a:cubicBezTo>
                <a:lnTo>
                  <a:pt x="0" y="27921"/>
                </a:lnTo>
                <a:cubicBezTo>
                  <a:pt x="0" y="12506"/>
                  <a:pt x="12506" y="0"/>
                  <a:pt x="27921" y="0"/>
                </a:cubicBezTo>
                <a:lnTo>
                  <a:pt x="116336" y="0"/>
                </a:lnTo>
                <a:cubicBezTo>
                  <a:pt x="124043" y="0"/>
                  <a:pt x="130296" y="6253"/>
                  <a:pt x="130296" y="13960"/>
                </a:cubicBezTo>
                <a:lnTo>
                  <a:pt x="130296" y="97722"/>
                </a:lnTo>
                <a:cubicBezTo>
                  <a:pt x="130296" y="103801"/>
                  <a:pt x="126399" y="108978"/>
                  <a:pt x="120989" y="110897"/>
                </a:cubicBezTo>
                <a:lnTo>
                  <a:pt x="120989" y="130296"/>
                </a:lnTo>
                <a:cubicBezTo>
                  <a:pt x="126137" y="130296"/>
                  <a:pt x="130296" y="134455"/>
                  <a:pt x="130296" y="139603"/>
                </a:cubicBezTo>
                <a:cubicBezTo>
                  <a:pt x="130296" y="144751"/>
                  <a:pt x="126137" y="148910"/>
                  <a:pt x="120989" y="148910"/>
                </a:cubicBezTo>
                <a:lnTo>
                  <a:pt x="111682" y="148910"/>
                </a:lnTo>
                <a:close/>
                <a:moveTo>
                  <a:pt x="27921" y="111682"/>
                </a:moveTo>
                <a:cubicBezTo>
                  <a:pt x="22773" y="111682"/>
                  <a:pt x="18614" y="115841"/>
                  <a:pt x="18614" y="120989"/>
                </a:cubicBezTo>
                <a:cubicBezTo>
                  <a:pt x="18614" y="126137"/>
                  <a:pt x="22773" y="130296"/>
                  <a:pt x="27921" y="130296"/>
                </a:cubicBezTo>
                <a:lnTo>
                  <a:pt x="102376" y="130296"/>
                </a:lnTo>
                <a:lnTo>
                  <a:pt x="102376" y="111682"/>
                </a:lnTo>
                <a:lnTo>
                  <a:pt x="27921" y="111682"/>
                </a:lnTo>
                <a:close/>
                <a:moveTo>
                  <a:pt x="37227" y="44208"/>
                </a:moveTo>
                <a:cubicBezTo>
                  <a:pt x="37227" y="48076"/>
                  <a:pt x="40339" y="51188"/>
                  <a:pt x="44208" y="51188"/>
                </a:cubicBezTo>
                <a:lnTo>
                  <a:pt x="95395" y="51188"/>
                </a:lnTo>
                <a:cubicBezTo>
                  <a:pt x="99264" y="51188"/>
                  <a:pt x="102376" y="48076"/>
                  <a:pt x="102376" y="44208"/>
                </a:cubicBezTo>
                <a:cubicBezTo>
                  <a:pt x="102376" y="40339"/>
                  <a:pt x="99264" y="37227"/>
                  <a:pt x="95395" y="37227"/>
                </a:cubicBezTo>
                <a:lnTo>
                  <a:pt x="44208" y="37227"/>
                </a:lnTo>
                <a:cubicBezTo>
                  <a:pt x="40339" y="37227"/>
                  <a:pt x="37227" y="40339"/>
                  <a:pt x="37227" y="44208"/>
                </a:cubicBezTo>
                <a:close/>
                <a:moveTo>
                  <a:pt x="44208" y="65148"/>
                </a:moveTo>
                <a:cubicBezTo>
                  <a:pt x="40339" y="65148"/>
                  <a:pt x="37227" y="68260"/>
                  <a:pt x="37227" y="72128"/>
                </a:cubicBezTo>
                <a:cubicBezTo>
                  <a:pt x="37227" y="75996"/>
                  <a:pt x="40339" y="79108"/>
                  <a:pt x="44208" y="79108"/>
                </a:cubicBezTo>
                <a:lnTo>
                  <a:pt x="95395" y="79108"/>
                </a:lnTo>
                <a:cubicBezTo>
                  <a:pt x="99264" y="79108"/>
                  <a:pt x="102376" y="75996"/>
                  <a:pt x="102376" y="72128"/>
                </a:cubicBezTo>
                <a:cubicBezTo>
                  <a:pt x="102376" y="68260"/>
                  <a:pt x="99264" y="65148"/>
                  <a:pt x="95395" y="65148"/>
                </a:cubicBezTo>
                <a:lnTo>
                  <a:pt x="44208" y="651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8"/>
          <p:cNvSpPr/>
          <p:nvPr/>
        </p:nvSpPr>
        <p:spPr>
          <a:xfrm>
            <a:off x="799112" y="6298890"/>
            <a:ext cx="1090893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Reference:</a:t>
            </a:r>
            <a:pPr>
              <a:lnSpc>
                <a:spcPct val="130000"/>
              </a:lnSpc>
            </a:pPr>
            <a:r>
              <a:rPr lang="en-US" sz="1173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Lee et al. (Socratic chatbot classification) — computers-14-00555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904" y="442380"/>
            <a:ext cx="53086" cy="424685"/>
          </a:xfrm>
          <a:custGeom>
            <a:avLst/>
            <a:gdLst/>
            <a:ahLst/>
            <a:cxnLst/>
            <a:rect l="l" t="t" r="r" b="b"/>
            <a:pathLst>
              <a:path w="53086" h="424685">
                <a:moveTo>
                  <a:pt x="0" y="0"/>
                </a:moveTo>
                <a:lnTo>
                  <a:pt x="53086" y="0"/>
                </a:lnTo>
                <a:lnTo>
                  <a:pt x="53086" y="424685"/>
                </a:lnTo>
                <a:lnTo>
                  <a:pt x="0" y="42468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13161" y="353904"/>
            <a:ext cx="2999338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spc="56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Opportunity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3161" y="601637"/>
            <a:ext cx="3087814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8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Still Missing?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247" y="1026322"/>
            <a:ext cx="1135147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the most critical gaps in current research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3904" y="1415617"/>
            <a:ext cx="7024999" cy="3362090"/>
          </a:xfrm>
          <a:custGeom>
            <a:avLst/>
            <a:gdLst/>
            <a:ahLst/>
            <a:cxnLst/>
            <a:rect l="l" t="t" r="r" b="b"/>
            <a:pathLst>
              <a:path w="7024999" h="3362090">
                <a:moveTo>
                  <a:pt x="70772" y="0"/>
                </a:moveTo>
                <a:lnTo>
                  <a:pt x="6954227" y="0"/>
                </a:lnTo>
                <a:cubicBezTo>
                  <a:pt x="6993313" y="0"/>
                  <a:pt x="7024999" y="31686"/>
                  <a:pt x="7024999" y="70772"/>
                </a:cubicBezTo>
                <a:lnTo>
                  <a:pt x="7024999" y="3291318"/>
                </a:lnTo>
                <a:cubicBezTo>
                  <a:pt x="7024999" y="3330404"/>
                  <a:pt x="6993313" y="3362090"/>
                  <a:pt x="6954227" y="3362090"/>
                </a:cubicBezTo>
                <a:lnTo>
                  <a:pt x="70772" y="3362090"/>
                </a:lnTo>
                <a:cubicBezTo>
                  <a:pt x="31686" y="3362090"/>
                  <a:pt x="0" y="3330404"/>
                  <a:pt x="0" y="3291318"/>
                </a:cubicBezTo>
                <a:lnTo>
                  <a:pt x="0" y="70772"/>
                </a:lnTo>
                <a:cubicBezTo>
                  <a:pt x="0" y="31712"/>
                  <a:pt x="31712" y="0"/>
                  <a:pt x="70772" y="0"/>
                </a:cubicBezTo>
                <a:close/>
              </a:path>
            </a:pathLst>
          </a:custGeom>
          <a:gradFill rotWithShape="1" flip="none">
            <a:gsLst>
              <a:gs pos="0">
                <a:srgbClr val="2C3E50"/>
              </a:gs>
              <a:gs pos="100000">
                <a:srgbClr val="8D99AE"/>
              </a:gs>
            </a:gsLst>
            <a:lin ang="2700000" scaled="1"/>
          </a:gradFill>
          <a:ln/>
          <a:effectLst>
            <a:outerShdw sx="100000" sy="100000" kx="0" ky="0" algn="bl" rotWithShape="0" blurRad="53086" dist="3539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856" y="1592569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>
                <a:moveTo>
                  <a:pt x="247733" y="0"/>
                </a:moveTo>
                <a:lnTo>
                  <a:pt x="247733" y="0"/>
                </a:lnTo>
                <a:cubicBezTo>
                  <a:pt x="384460" y="0"/>
                  <a:pt x="495466" y="111005"/>
                  <a:pt x="495466" y="247733"/>
                </a:cubicBezTo>
                <a:lnTo>
                  <a:pt x="495466" y="247733"/>
                </a:lnTo>
                <a:cubicBezTo>
                  <a:pt x="495466" y="384460"/>
                  <a:pt x="384460" y="495466"/>
                  <a:pt x="247733" y="495466"/>
                </a:cubicBezTo>
                <a:lnTo>
                  <a:pt x="247733" y="495466"/>
                </a:lnTo>
                <a:cubicBezTo>
                  <a:pt x="111005" y="495466"/>
                  <a:pt x="0" y="384460"/>
                  <a:pt x="0" y="247733"/>
                </a:cubicBezTo>
                <a:lnTo>
                  <a:pt x="0" y="247733"/>
                </a:lnTo>
                <a:cubicBezTo>
                  <a:pt x="0" y="111005"/>
                  <a:pt x="111005" y="0"/>
                  <a:pt x="2477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Shape 6"/>
          <p:cNvSpPr/>
          <p:nvPr/>
        </p:nvSpPr>
        <p:spPr>
          <a:xfrm>
            <a:off x="712232" y="1734131"/>
            <a:ext cx="132714" cy="212343"/>
          </a:xfrm>
          <a:custGeom>
            <a:avLst/>
            <a:gdLst/>
            <a:ahLst/>
            <a:cxnLst/>
            <a:rect l="l" t="t" r="r" b="b"/>
            <a:pathLst>
              <a:path w="132714" h="212343">
                <a:moveTo>
                  <a:pt x="26543" y="66357"/>
                </a:moveTo>
                <a:cubicBezTo>
                  <a:pt x="26543" y="44376"/>
                  <a:pt x="44376" y="26543"/>
                  <a:pt x="66357" y="26543"/>
                </a:cubicBezTo>
                <a:cubicBezTo>
                  <a:pt x="88338" y="26543"/>
                  <a:pt x="106171" y="44376"/>
                  <a:pt x="106171" y="66357"/>
                </a:cubicBezTo>
                <a:cubicBezTo>
                  <a:pt x="106171" y="84066"/>
                  <a:pt x="94600" y="99079"/>
                  <a:pt x="78592" y="104263"/>
                </a:cubicBezTo>
                <a:cubicBezTo>
                  <a:pt x="66813" y="108079"/>
                  <a:pt x="53086" y="118904"/>
                  <a:pt x="53086" y="136032"/>
                </a:cubicBezTo>
                <a:lnTo>
                  <a:pt x="53086" y="145985"/>
                </a:lnTo>
                <a:cubicBezTo>
                  <a:pt x="53086" y="153326"/>
                  <a:pt x="59016" y="159257"/>
                  <a:pt x="66357" y="159257"/>
                </a:cubicBezTo>
                <a:cubicBezTo>
                  <a:pt x="73698" y="159257"/>
                  <a:pt x="79628" y="153326"/>
                  <a:pt x="79628" y="145985"/>
                </a:cubicBezTo>
                <a:lnTo>
                  <a:pt x="79628" y="136032"/>
                </a:lnTo>
                <a:cubicBezTo>
                  <a:pt x="79628" y="135327"/>
                  <a:pt x="79877" y="134332"/>
                  <a:pt x="81080" y="133004"/>
                </a:cubicBezTo>
                <a:cubicBezTo>
                  <a:pt x="82324" y="131636"/>
                  <a:pt x="84356" y="130309"/>
                  <a:pt x="86762" y="129521"/>
                </a:cubicBezTo>
                <a:cubicBezTo>
                  <a:pt x="113429" y="120936"/>
                  <a:pt x="132714" y="95927"/>
                  <a:pt x="132714" y="66357"/>
                </a:cubicBezTo>
                <a:cubicBezTo>
                  <a:pt x="132714" y="29695"/>
                  <a:pt x="103019" y="0"/>
                  <a:pt x="66357" y="0"/>
                </a:cubicBezTo>
                <a:cubicBezTo>
                  <a:pt x="29695" y="0"/>
                  <a:pt x="0" y="29695"/>
                  <a:pt x="0" y="66357"/>
                </a:cubicBezTo>
                <a:cubicBezTo>
                  <a:pt x="0" y="73698"/>
                  <a:pt x="5931" y="79628"/>
                  <a:pt x="13271" y="79628"/>
                </a:cubicBezTo>
                <a:cubicBezTo>
                  <a:pt x="20612" y="79628"/>
                  <a:pt x="26543" y="73698"/>
                  <a:pt x="26543" y="66357"/>
                </a:cubicBezTo>
                <a:close/>
                <a:moveTo>
                  <a:pt x="66357" y="212343"/>
                </a:moveTo>
                <a:cubicBezTo>
                  <a:pt x="75523" y="212343"/>
                  <a:pt x="82946" y="204919"/>
                  <a:pt x="82946" y="195753"/>
                </a:cubicBezTo>
                <a:cubicBezTo>
                  <a:pt x="82946" y="186588"/>
                  <a:pt x="75523" y="179164"/>
                  <a:pt x="66357" y="179164"/>
                </a:cubicBezTo>
                <a:cubicBezTo>
                  <a:pt x="57191" y="179164"/>
                  <a:pt x="49768" y="186588"/>
                  <a:pt x="49768" y="195753"/>
                </a:cubicBezTo>
                <a:cubicBezTo>
                  <a:pt x="49768" y="204919"/>
                  <a:pt x="57191" y="212343"/>
                  <a:pt x="66357" y="2123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32493" y="1698740"/>
            <a:ext cx="3432871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No Consensus on Approach Selection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856" y="2572441"/>
            <a:ext cx="6750723" cy="52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4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research community lacks clear guidelines on </a:t>
            </a:r>
            <a:pPr>
              <a:lnSpc>
                <a:spcPct val="140000"/>
              </a:lnSpc>
            </a:pPr>
            <a:r>
              <a:rPr lang="en-US" sz="1254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deploy LLMs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versus </a:t>
            </a:r>
            <a:pPr>
              <a:lnSpc>
                <a:spcPct val="140000"/>
              </a:lnSpc>
            </a:pPr>
            <a:r>
              <a:rPr lang="en-US" sz="1254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traditional ML suffices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856" y="3196197"/>
            <a:ext cx="6671094" cy="1061713"/>
          </a:xfrm>
          <a:custGeom>
            <a:avLst/>
            <a:gdLst/>
            <a:ahLst/>
            <a:cxnLst/>
            <a:rect l="l" t="t" r="r" b="b"/>
            <a:pathLst>
              <a:path w="6671094" h="1061713">
                <a:moveTo>
                  <a:pt x="35387" y="0"/>
                </a:moveTo>
                <a:lnTo>
                  <a:pt x="6635707" y="0"/>
                </a:lnTo>
                <a:cubicBezTo>
                  <a:pt x="6655251" y="0"/>
                  <a:pt x="6671094" y="15843"/>
                  <a:pt x="6671094" y="35387"/>
                </a:cubicBezTo>
                <a:lnTo>
                  <a:pt x="6671094" y="1026326"/>
                </a:lnTo>
                <a:cubicBezTo>
                  <a:pt x="6671094" y="1045869"/>
                  <a:pt x="6655251" y="1061713"/>
                  <a:pt x="6635707" y="1061713"/>
                </a:cubicBezTo>
                <a:lnTo>
                  <a:pt x="35387" y="1061713"/>
                </a:lnTo>
                <a:cubicBezTo>
                  <a:pt x="15843" y="1061713"/>
                  <a:pt x="0" y="1045869"/>
                  <a:pt x="0" y="1026326"/>
                </a:cubicBezTo>
                <a:lnTo>
                  <a:pt x="0" y="35387"/>
                </a:lnTo>
                <a:cubicBezTo>
                  <a:pt x="0" y="15856"/>
                  <a:pt x="15856" y="0"/>
                  <a:pt x="35387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0113" y="3373149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46173" y="46173"/>
                </a:moveTo>
                <a:cubicBezTo>
                  <a:pt x="48772" y="43574"/>
                  <a:pt x="52975" y="43574"/>
                  <a:pt x="55546" y="46173"/>
                </a:cubicBezTo>
                <a:lnTo>
                  <a:pt x="70753" y="61380"/>
                </a:lnTo>
                <a:lnTo>
                  <a:pt x="85960" y="46173"/>
                </a:lnTo>
                <a:cubicBezTo>
                  <a:pt x="88559" y="43574"/>
                  <a:pt x="92762" y="43574"/>
                  <a:pt x="95333" y="46173"/>
                </a:cubicBezTo>
                <a:cubicBezTo>
                  <a:pt x="97904" y="48772"/>
                  <a:pt x="97932" y="52975"/>
                  <a:pt x="95333" y="55546"/>
                </a:cubicBezTo>
                <a:lnTo>
                  <a:pt x="80126" y="70753"/>
                </a:lnTo>
                <a:lnTo>
                  <a:pt x="95333" y="85960"/>
                </a:lnTo>
                <a:cubicBezTo>
                  <a:pt x="97932" y="88559"/>
                  <a:pt x="97932" y="92762"/>
                  <a:pt x="95333" y="95333"/>
                </a:cubicBezTo>
                <a:cubicBezTo>
                  <a:pt x="92734" y="97904"/>
                  <a:pt x="88531" y="97932"/>
                  <a:pt x="85960" y="95333"/>
                </a:cubicBezTo>
                <a:lnTo>
                  <a:pt x="70753" y="80126"/>
                </a:lnTo>
                <a:lnTo>
                  <a:pt x="55546" y="95333"/>
                </a:lnTo>
                <a:cubicBezTo>
                  <a:pt x="52947" y="97932"/>
                  <a:pt x="48745" y="97932"/>
                  <a:pt x="46173" y="95333"/>
                </a:cubicBezTo>
                <a:cubicBezTo>
                  <a:pt x="43602" y="92734"/>
                  <a:pt x="43574" y="88531"/>
                  <a:pt x="46173" y="85960"/>
                </a:cubicBezTo>
                <a:lnTo>
                  <a:pt x="61380" y="70753"/>
                </a:lnTo>
                <a:lnTo>
                  <a:pt x="46173" y="55546"/>
                </a:lnTo>
                <a:cubicBezTo>
                  <a:pt x="43574" y="52947"/>
                  <a:pt x="43574" y="48745"/>
                  <a:pt x="46173" y="4617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955541" y="3337759"/>
            <a:ext cx="292855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decision framework exists for practitioners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0113" y="3656273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46173" y="46173"/>
                </a:moveTo>
                <a:cubicBezTo>
                  <a:pt x="48772" y="43574"/>
                  <a:pt x="52975" y="43574"/>
                  <a:pt x="55546" y="46173"/>
                </a:cubicBezTo>
                <a:lnTo>
                  <a:pt x="70753" y="61380"/>
                </a:lnTo>
                <a:lnTo>
                  <a:pt x="85960" y="46173"/>
                </a:lnTo>
                <a:cubicBezTo>
                  <a:pt x="88559" y="43574"/>
                  <a:pt x="92762" y="43574"/>
                  <a:pt x="95333" y="46173"/>
                </a:cubicBezTo>
                <a:cubicBezTo>
                  <a:pt x="97904" y="48772"/>
                  <a:pt x="97932" y="52975"/>
                  <a:pt x="95333" y="55546"/>
                </a:cubicBezTo>
                <a:lnTo>
                  <a:pt x="80126" y="70753"/>
                </a:lnTo>
                <a:lnTo>
                  <a:pt x="95333" y="85960"/>
                </a:lnTo>
                <a:cubicBezTo>
                  <a:pt x="97932" y="88559"/>
                  <a:pt x="97932" y="92762"/>
                  <a:pt x="95333" y="95333"/>
                </a:cubicBezTo>
                <a:cubicBezTo>
                  <a:pt x="92734" y="97904"/>
                  <a:pt x="88531" y="97932"/>
                  <a:pt x="85960" y="95333"/>
                </a:cubicBezTo>
                <a:lnTo>
                  <a:pt x="70753" y="80126"/>
                </a:lnTo>
                <a:lnTo>
                  <a:pt x="55546" y="95333"/>
                </a:lnTo>
                <a:cubicBezTo>
                  <a:pt x="52947" y="97932"/>
                  <a:pt x="48745" y="97932"/>
                  <a:pt x="46173" y="95333"/>
                </a:cubicBezTo>
                <a:cubicBezTo>
                  <a:pt x="43602" y="92734"/>
                  <a:pt x="43574" y="88531"/>
                  <a:pt x="46173" y="85960"/>
                </a:cubicBezTo>
                <a:lnTo>
                  <a:pt x="61380" y="70753"/>
                </a:lnTo>
                <a:lnTo>
                  <a:pt x="46173" y="55546"/>
                </a:lnTo>
                <a:cubicBezTo>
                  <a:pt x="43574" y="52947"/>
                  <a:pt x="43574" y="48745"/>
                  <a:pt x="46173" y="4617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955541" y="3620882"/>
            <a:ext cx="396372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Trade-offs between accuracy, cost, and interpretability unclear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113" y="3939396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46173" y="46173"/>
                </a:moveTo>
                <a:cubicBezTo>
                  <a:pt x="48772" y="43574"/>
                  <a:pt x="52975" y="43574"/>
                  <a:pt x="55546" y="46173"/>
                </a:cubicBezTo>
                <a:lnTo>
                  <a:pt x="70753" y="61380"/>
                </a:lnTo>
                <a:lnTo>
                  <a:pt x="85960" y="46173"/>
                </a:lnTo>
                <a:cubicBezTo>
                  <a:pt x="88559" y="43574"/>
                  <a:pt x="92762" y="43574"/>
                  <a:pt x="95333" y="46173"/>
                </a:cubicBezTo>
                <a:cubicBezTo>
                  <a:pt x="97904" y="48772"/>
                  <a:pt x="97932" y="52975"/>
                  <a:pt x="95333" y="55546"/>
                </a:cubicBezTo>
                <a:lnTo>
                  <a:pt x="80126" y="70753"/>
                </a:lnTo>
                <a:lnTo>
                  <a:pt x="95333" y="85960"/>
                </a:lnTo>
                <a:cubicBezTo>
                  <a:pt x="97932" y="88559"/>
                  <a:pt x="97932" y="92762"/>
                  <a:pt x="95333" y="95333"/>
                </a:cubicBezTo>
                <a:cubicBezTo>
                  <a:pt x="92734" y="97904"/>
                  <a:pt x="88531" y="97932"/>
                  <a:pt x="85960" y="95333"/>
                </a:cubicBezTo>
                <a:lnTo>
                  <a:pt x="70753" y="80126"/>
                </a:lnTo>
                <a:lnTo>
                  <a:pt x="55546" y="95333"/>
                </a:lnTo>
                <a:cubicBezTo>
                  <a:pt x="52947" y="97932"/>
                  <a:pt x="48745" y="97932"/>
                  <a:pt x="46173" y="95333"/>
                </a:cubicBezTo>
                <a:cubicBezTo>
                  <a:pt x="43602" y="92734"/>
                  <a:pt x="43574" y="88531"/>
                  <a:pt x="46173" y="85960"/>
                </a:cubicBezTo>
                <a:lnTo>
                  <a:pt x="61380" y="70753"/>
                </a:lnTo>
                <a:lnTo>
                  <a:pt x="46173" y="55546"/>
                </a:lnTo>
                <a:cubicBezTo>
                  <a:pt x="43574" y="52947"/>
                  <a:pt x="43574" y="48745"/>
                  <a:pt x="46173" y="4617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955541" y="3904006"/>
            <a:ext cx="2884319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adoption hindered by uncertainty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599" y="4919269"/>
            <a:ext cx="7007303" cy="1344836"/>
          </a:xfrm>
          <a:custGeom>
            <a:avLst/>
            <a:gdLst/>
            <a:ahLst/>
            <a:cxnLst/>
            <a:rect l="l" t="t" r="r" b="b"/>
            <a:pathLst>
              <a:path w="7007303" h="1344836">
                <a:moveTo>
                  <a:pt x="35390" y="0"/>
                </a:moveTo>
                <a:lnTo>
                  <a:pt x="6936525" y="0"/>
                </a:lnTo>
                <a:cubicBezTo>
                  <a:pt x="6975615" y="0"/>
                  <a:pt x="7007303" y="31689"/>
                  <a:pt x="7007303" y="70779"/>
                </a:cubicBezTo>
                <a:lnTo>
                  <a:pt x="7007303" y="1274057"/>
                </a:lnTo>
                <a:cubicBezTo>
                  <a:pt x="7007303" y="1313147"/>
                  <a:pt x="6975615" y="1344836"/>
                  <a:pt x="6936525" y="1344836"/>
                </a:cubicBezTo>
                <a:lnTo>
                  <a:pt x="35390" y="1344836"/>
                </a:lnTo>
                <a:cubicBezTo>
                  <a:pt x="15845" y="1344836"/>
                  <a:pt x="0" y="1328991"/>
                  <a:pt x="0" y="1309446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86" dist="3539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599" y="4919269"/>
            <a:ext cx="35390" cy="1344836"/>
          </a:xfrm>
          <a:custGeom>
            <a:avLst/>
            <a:gdLst/>
            <a:ahLst/>
            <a:cxnLst/>
            <a:rect l="l" t="t" r="r" b="b"/>
            <a:pathLst>
              <a:path w="35390" h="1344836">
                <a:moveTo>
                  <a:pt x="35390" y="0"/>
                </a:moveTo>
                <a:lnTo>
                  <a:pt x="35390" y="0"/>
                </a:lnTo>
                <a:lnTo>
                  <a:pt x="35390" y="1344836"/>
                </a:lnTo>
                <a:lnTo>
                  <a:pt x="35390" y="1344836"/>
                </a:lnTo>
                <a:cubicBezTo>
                  <a:pt x="15845" y="1344836"/>
                  <a:pt x="0" y="1328991"/>
                  <a:pt x="0" y="1309446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247" y="5096221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>
                <a:moveTo>
                  <a:pt x="212343" y="0"/>
                </a:moveTo>
                <a:lnTo>
                  <a:pt x="212343" y="0"/>
                </a:lnTo>
                <a:cubicBezTo>
                  <a:pt x="329616" y="0"/>
                  <a:pt x="424685" y="95069"/>
                  <a:pt x="424685" y="212343"/>
                </a:cubicBezTo>
                <a:lnTo>
                  <a:pt x="424685" y="212343"/>
                </a:lnTo>
                <a:cubicBezTo>
                  <a:pt x="424685" y="329616"/>
                  <a:pt x="329616" y="424685"/>
                  <a:pt x="212343" y="424685"/>
                </a:cubicBezTo>
                <a:lnTo>
                  <a:pt x="212343" y="424685"/>
                </a:lnTo>
                <a:cubicBezTo>
                  <a:pt x="95069" y="424685"/>
                  <a:pt x="0" y="329616"/>
                  <a:pt x="0" y="212343"/>
                </a:cubicBezTo>
                <a:lnTo>
                  <a:pt x="0" y="212343"/>
                </a:lnTo>
                <a:cubicBezTo>
                  <a:pt x="0" y="95069"/>
                  <a:pt x="95069" y="0"/>
                  <a:pt x="21234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113" y="5220087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>
                <a:moveTo>
                  <a:pt x="88476" y="0"/>
                </a:moveTo>
                <a:cubicBezTo>
                  <a:pt x="93557" y="0"/>
                  <a:pt x="98222" y="2799"/>
                  <a:pt x="100642" y="7258"/>
                </a:cubicBezTo>
                <a:lnTo>
                  <a:pt x="175293" y="145502"/>
                </a:lnTo>
                <a:cubicBezTo>
                  <a:pt x="177609" y="149787"/>
                  <a:pt x="177505" y="154971"/>
                  <a:pt x="175017" y="159153"/>
                </a:cubicBezTo>
                <a:cubicBezTo>
                  <a:pt x="172528" y="163335"/>
                  <a:pt x="168001" y="165893"/>
                  <a:pt x="163128" y="165893"/>
                </a:cubicBezTo>
                <a:lnTo>
                  <a:pt x="13824" y="165893"/>
                </a:lnTo>
                <a:cubicBezTo>
                  <a:pt x="8951" y="165893"/>
                  <a:pt x="4458" y="163335"/>
                  <a:pt x="1935" y="159153"/>
                </a:cubicBezTo>
                <a:cubicBezTo>
                  <a:pt x="-588" y="154971"/>
                  <a:pt x="-657" y="149787"/>
                  <a:pt x="1659" y="145502"/>
                </a:cubicBezTo>
                <a:lnTo>
                  <a:pt x="76311" y="7258"/>
                </a:lnTo>
                <a:cubicBezTo>
                  <a:pt x="78730" y="2799"/>
                  <a:pt x="83396" y="0"/>
                  <a:pt x="88476" y="0"/>
                </a:cubicBezTo>
                <a:close/>
                <a:moveTo>
                  <a:pt x="88476" y="58062"/>
                </a:moveTo>
                <a:cubicBezTo>
                  <a:pt x="83879" y="58062"/>
                  <a:pt x="80181" y="61760"/>
                  <a:pt x="80181" y="66357"/>
                </a:cubicBezTo>
                <a:lnTo>
                  <a:pt x="80181" y="105065"/>
                </a:lnTo>
                <a:cubicBezTo>
                  <a:pt x="80181" y="109662"/>
                  <a:pt x="83879" y="113360"/>
                  <a:pt x="88476" y="113360"/>
                </a:cubicBezTo>
                <a:cubicBezTo>
                  <a:pt x="93073" y="113360"/>
                  <a:pt x="96771" y="109662"/>
                  <a:pt x="96771" y="105065"/>
                </a:cubicBezTo>
                <a:lnTo>
                  <a:pt x="96771" y="66357"/>
                </a:lnTo>
                <a:cubicBezTo>
                  <a:pt x="96771" y="61760"/>
                  <a:pt x="93073" y="58062"/>
                  <a:pt x="88476" y="58062"/>
                </a:cubicBezTo>
                <a:close/>
                <a:moveTo>
                  <a:pt x="97704" y="132714"/>
                </a:moveTo>
                <a:cubicBezTo>
                  <a:pt x="97914" y="129289"/>
                  <a:pt x="96206" y="126030"/>
                  <a:pt x="93269" y="124254"/>
                </a:cubicBezTo>
                <a:cubicBezTo>
                  <a:pt x="90333" y="122478"/>
                  <a:pt x="86654" y="122478"/>
                  <a:pt x="83717" y="124254"/>
                </a:cubicBezTo>
                <a:cubicBezTo>
                  <a:pt x="80781" y="126030"/>
                  <a:pt x="79073" y="129289"/>
                  <a:pt x="79283" y="132714"/>
                </a:cubicBezTo>
                <a:cubicBezTo>
                  <a:pt x="79073" y="136139"/>
                  <a:pt x="80781" y="139398"/>
                  <a:pt x="83717" y="141174"/>
                </a:cubicBezTo>
                <a:cubicBezTo>
                  <a:pt x="86654" y="142950"/>
                  <a:pt x="90333" y="142950"/>
                  <a:pt x="93269" y="141174"/>
                </a:cubicBezTo>
                <a:cubicBezTo>
                  <a:pt x="96206" y="139398"/>
                  <a:pt x="97914" y="136139"/>
                  <a:pt x="97704" y="1327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103" y="5184697"/>
            <a:ext cx="2831234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Higher-Order Levels Under-Detected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247" y="5627077"/>
            <a:ext cx="6706485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LLMs and traditional ML approaches consistently struggle with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levels, which are crucial for assessing critical thinking and creativity.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328" y="1415617"/>
            <a:ext cx="4246851" cy="4848488"/>
          </a:xfrm>
          <a:custGeom>
            <a:avLst/>
            <a:gdLst/>
            <a:ahLst/>
            <a:cxnLst/>
            <a:rect l="l" t="t" r="r" b="b"/>
            <a:pathLst>
              <a:path w="4246851" h="4848488">
                <a:moveTo>
                  <a:pt x="70795" y="0"/>
                </a:moveTo>
                <a:lnTo>
                  <a:pt x="4176056" y="0"/>
                </a:lnTo>
                <a:cubicBezTo>
                  <a:pt x="4215155" y="0"/>
                  <a:pt x="4246851" y="31696"/>
                  <a:pt x="4246851" y="70795"/>
                </a:cubicBezTo>
                <a:lnTo>
                  <a:pt x="4246851" y="4777693"/>
                </a:lnTo>
                <a:cubicBezTo>
                  <a:pt x="4246851" y="4816792"/>
                  <a:pt x="4215155" y="4848488"/>
                  <a:pt x="4176056" y="4848488"/>
                </a:cubicBezTo>
                <a:lnTo>
                  <a:pt x="70795" y="4848488"/>
                </a:lnTo>
                <a:cubicBezTo>
                  <a:pt x="31696" y="4848488"/>
                  <a:pt x="0" y="4816792"/>
                  <a:pt x="0" y="4777693"/>
                </a:cubicBezTo>
                <a:lnTo>
                  <a:pt x="0" y="70795"/>
                </a:lnTo>
                <a:cubicBezTo>
                  <a:pt x="0" y="31722"/>
                  <a:pt x="31722" y="0"/>
                  <a:pt x="707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86" dist="3539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66280" y="1592569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>
                <a:moveTo>
                  <a:pt x="212343" y="0"/>
                </a:moveTo>
                <a:lnTo>
                  <a:pt x="212343" y="0"/>
                </a:lnTo>
                <a:cubicBezTo>
                  <a:pt x="329616" y="0"/>
                  <a:pt x="424685" y="95069"/>
                  <a:pt x="424685" y="212343"/>
                </a:cubicBezTo>
                <a:lnTo>
                  <a:pt x="424685" y="212343"/>
                </a:lnTo>
                <a:cubicBezTo>
                  <a:pt x="424685" y="329616"/>
                  <a:pt x="329616" y="424685"/>
                  <a:pt x="212343" y="424685"/>
                </a:cubicBezTo>
                <a:lnTo>
                  <a:pt x="212343" y="424685"/>
                </a:lnTo>
                <a:cubicBezTo>
                  <a:pt x="95069" y="424685"/>
                  <a:pt x="0" y="329616"/>
                  <a:pt x="0" y="212343"/>
                </a:cubicBezTo>
                <a:lnTo>
                  <a:pt x="0" y="212343"/>
                </a:lnTo>
                <a:cubicBezTo>
                  <a:pt x="0" y="95069"/>
                  <a:pt x="95069" y="0"/>
                  <a:pt x="21234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7890147" y="1716435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>
                <a:moveTo>
                  <a:pt x="126908" y="142564"/>
                </a:moveTo>
                <a:lnTo>
                  <a:pt x="34388" y="50044"/>
                </a:lnTo>
                <a:cubicBezTo>
                  <a:pt x="26646" y="60896"/>
                  <a:pt x="22119" y="74168"/>
                  <a:pt x="22119" y="88476"/>
                </a:cubicBezTo>
                <a:cubicBezTo>
                  <a:pt x="22119" y="125111"/>
                  <a:pt x="51841" y="154833"/>
                  <a:pt x="88476" y="154833"/>
                </a:cubicBezTo>
                <a:cubicBezTo>
                  <a:pt x="102819" y="154833"/>
                  <a:pt x="116090" y="150306"/>
                  <a:pt x="126908" y="142564"/>
                </a:cubicBezTo>
                <a:close/>
                <a:moveTo>
                  <a:pt x="142564" y="126908"/>
                </a:moveTo>
                <a:cubicBezTo>
                  <a:pt x="150306" y="116056"/>
                  <a:pt x="154833" y="102784"/>
                  <a:pt x="154833" y="88476"/>
                </a:cubicBezTo>
                <a:cubicBezTo>
                  <a:pt x="154833" y="51841"/>
                  <a:pt x="125111" y="22119"/>
                  <a:pt x="88476" y="22119"/>
                </a:cubicBezTo>
                <a:cubicBezTo>
                  <a:pt x="74133" y="22119"/>
                  <a:pt x="60862" y="26646"/>
                  <a:pt x="50044" y="34388"/>
                </a:cubicBezTo>
                <a:lnTo>
                  <a:pt x="142564" y="126908"/>
                </a:lnTo>
                <a:close/>
                <a:moveTo>
                  <a:pt x="0" y="88476"/>
                </a:moveTo>
                <a:cubicBezTo>
                  <a:pt x="0" y="39645"/>
                  <a:pt x="39645" y="0"/>
                  <a:pt x="88476" y="0"/>
                </a:cubicBezTo>
                <a:cubicBezTo>
                  <a:pt x="137307" y="0"/>
                  <a:pt x="176952" y="39645"/>
                  <a:pt x="176952" y="88476"/>
                </a:cubicBezTo>
                <a:cubicBezTo>
                  <a:pt x="176952" y="137307"/>
                  <a:pt x="137307" y="176952"/>
                  <a:pt x="88476" y="176952"/>
                </a:cubicBezTo>
                <a:cubicBezTo>
                  <a:pt x="39645" y="176952"/>
                  <a:pt x="0" y="137307"/>
                  <a:pt x="0" y="884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97137" y="1681045"/>
            <a:ext cx="2141120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Common Study Limitations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83976" y="2158816"/>
            <a:ext cx="3875251" cy="1238665"/>
          </a:xfrm>
          <a:custGeom>
            <a:avLst/>
            <a:gdLst/>
            <a:ahLst/>
            <a:cxnLst/>
            <a:rect l="l" t="t" r="r" b="b"/>
            <a:pathLst>
              <a:path w="3875251" h="1238665">
                <a:moveTo>
                  <a:pt x="35390" y="0"/>
                </a:moveTo>
                <a:lnTo>
                  <a:pt x="3804474" y="0"/>
                </a:lnTo>
                <a:cubicBezTo>
                  <a:pt x="3843563" y="0"/>
                  <a:pt x="3875251" y="31688"/>
                  <a:pt x="3875251" y="70777"/>
                </a:cubicBezTo>
                <a:lnTo>
                  <a:pt x="3875251" y="1167887"/>
                </a:lnTo>
                <a:cubicBezTo>
                  <a:pt x="3875251" y="1206977"/>
                  <a:pt x="3843563" y="1238665"/>
                  <a:pt x="3804474" y="1238665"/>
                </a:cubicBezTo>
                <a:lnTo>
                  <a:pt x="35390" y="1238665"/>
                </a:lnTo>
                <a:cubicBezTo>
                  <a:pt x="15845" y="1238665"/>
                  <a:pt x="0" y="1222820"/>
                  <a:pt x="0" y="12032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3976" y="2158816"/>
            <a:ext cx="35390" cy="1238665"/>
          </a:xfrm>
          <a:custGeom>
            <a:avLst/>
            <a:gdLst/>
            <a:ahLst/>
            <a:cxnLst/>
            <a:rect l="l" t="t" r="r" b="b"/>
            <a:pathLst>
              <a:path w="35390" h="1238665">
                <a:moveTo>
                  <a:pt x="35390" y="0"/>
                </a:moveTo>
                <a:lnTo>
                  <a:pt x="35390" y="0"/>
                </a:lnTo>
                <a:lnTo>
                  <a:pt x="35390" y="1238665"/>
                </a:lnTo>
                <a:lnTo>
                  <a:pt x="35390" y="1238665"/>
                </a:lnTo>
                <a:cubicBezTo>
                  <a:pt x="15845" y="1238665"/>
                  <a:pt x="0" y="1222820"/>
                  <a:pt x="0" y="12032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Shape 28"/>
          <p:cNvSpPr/>
          <p:nvPr/>
        </p:nvSpPr>
        <p:spPr>
          <a:xfrm>
            <a:off x="7987470" y="2335768"/>
            <a:ext cx="132714" cy="176952"/>
          </a:xfrm>
          <a:custGeom>
            <a:avLst/>
            <a:gdLst/>
            <a:ahLst/>
            <a:cxnLst/>
            <a:rect l="l" t="t" r="r" b="b"/>
            <a:pathLst>
              <a:path w="132714" h="176952">
                <a:moveTo>
                  <a:pt x="0" y="22119"/>
                </a:moveTo>
                <a:cubicBezTo>
                  <a:pt x="0" y="9919"/>
                  <a:pt x="9919" y="0"/>
                  <a:pt x="22119" y="0"/>
                </a:cubicBezTo>
                <a:lnTo>
                  <a:pt x="73788" y="0"/>
                </a:lnTo>
                <a:cubicBezTo>
                  <a:pt x="79663" y="0"/>
                  <a:pt x="85296" y="2316"/>
                  <a:pt x="89444" y="6463"/>
                </a:cubicBezTo>
                <a:lnTo>
                  <a:pt x="126251" y="43305"/>
                </a:lnTo>
                <a:cubicBezTo>
                  <a:pt x="130398" y="47452"/>
                  <a:pt x="132714" y="53086"/>
                  <a:pt x="132714" y="58961"/>
                </a:cubicBezTo>
                <a:lnTo>
                  <a:pt x="132714" y="154833"/>
                </a:lnTo>
                <a:cubicBezTo>
                  <a:pt x="132714" y="167033"/>
                  <a:pt x="122795" y="176952"/>
                  <a:pt x="110595" y="176952"/>
                </a:cubicBezTo>
                <a:lnTo>
                  <a:pt x="22119" y="176952"/>
                </a:lnTo>
                <a:cubicBezTo>
                  <a:pt x="9919" y="176952"/>
                  <a:pt x="0" y="167033"/>
                  <a:pt x="0" y="154833"/>
                </a:cubicBezTo>
                <a:lnTo>
                  <a:pt x="0" y="22119"/>
                </a:lnTo>
                <a:close/>
                <a:moveTo>
                  <a:pt x="71887" y="20218"/>
                </a:moveTo>
                <a:lnTo>
                  <a:pt x="71887" y="52533"/>
                </a:lnTo>
                <a:cubicBezTo>
                  <a:pt x="71887" y="57129"/>
                  <a:pt x="75585" y="60827"/>
                  <a:pt x="80181" y="60827"/>
                </a:cubicBezTo>
                <a:lnTo>
                  <a:pt x="112496" y="60827"/>
                </a:lnTo>
                <a:lnTo>
                  <a:pt x="71887" y="20218"/>
                </a:lnTo>
                <a:close/>
                <a:moveTo>
                  <a:pt x="41473" y="88476"/>
                </a:moveTo>
                <a:cubicBezTo>
                  <a:pt x="36877" y="88476"/>
                  <a:pt x="33179" y="92174"/>
                  <a:pt x="33179" y="96771"/>
                </a:cubicBezTo>
                <a:cubicBezTo>
                  <a:pt x="33179" y="101367"/>
                  <a:pt x="36877" y="105065"/>
                  <a:pt x="41473" y="105065"/>
                </a:cubicBezTo>
                <a:lnTo>
                  <a:pt x="91241" y="105065"/>
                </a:lnTo>
                <a:cubicBezTo>
                  <a:pt x="95838" y="105065"/>
                  <a:pt x="99536" y="101367"/>
                  <a:pt x="99536" y="96771"/>
                </a:cubicBezTo>
                <a:cubicBezTo>
                  <a:pt x="99536" y="92174"/>
                  <a:pt x="95838" y="88476"/>
                  <a:pt x="91241" y="88476"/>
                </a:cubicBezTo>
                <a:lnTo>
                  <a:pt x="41473" y="88476"/>
                </a:lnTo>
                <a:close/>
                <a:moveTo>
                  <a:pt x="41473" y="121655"/>
                </a:moveTo>
                <a:cubicBezTo>
                  <a:pt x="36877" y="121655"/>
                  <a:pt x="33179" y="125353"/>
                  <a:pt x="33179" y="129949"/>
                </a:cubicBezTo>
                <a:cubicBezTo>
                  <a:pt x="33179" y="134546"/>
                  <a:pt x="36877" y="138244"/>
                  <a:pt x="41473" y="138244"/>
                </a:cubicBezTo>
                <a:lnTo>
                  <a:pt x="91241" y="138244"/>
                </a:lnTo>
                <a:cubicBezTo>
                  <a:pt x="95838" y="138244"/>
                  <a:pt x="99536" y="134546"/>
                  <a:pt x="99536" y="129949"/>
                </a:cubicBezTo>
                <a:cubicBezTo>
                  <a:pt x="99536" y="125353"/>
                  <a:pt x="95838" y="121655"/>
                  <a:pt x="91241" y="121655"/>
                </a:cubicBezTo>
                <a:lnTo>
                  <a:pt x="41473" y="12165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0594" y="2300377"/>
            <a:ext cx="1167884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Static Text Only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43232" y="2618891"/>
            <a:ext cx="3645213" cy="6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studies focus solely on isolated text snippets, ignoring context-rich educational scenarios like dialogues and interactive assessments.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83976" y="3503652"/>
            <a:ext cx="3875251" cy="1238665"/>
          </a:xfrm>
          <a:custGeom>
            <a:avLst/>
            <a:gdLst/>
            <a:ahLst/>
            <a:cxnLst/>
            <a:rect l="l" t="t" r="r" b="b"/>
            <a:pathLst>
              <a:path w="3875251" h="1238665">
                <a:moveTo>
                  <a:pt x="35390" y="0"/>
                </a:moveTo>
                <a:lnTo>
                  <a:pt x="3804474" y="0"/>
                </a:lnTo>
                <a:cubicBezTo>
                  <a:pt x="3843563" y="0"/>
                  <a:pt x="3875251" y="31688"/>
                  <a:pt x="3875251" y="70777"/>
                </a:cubicBezTo>
                <a:lnTo>
                  <a:pt x="3875251" y="1167887"/>
                </a:lnTo>
                <a:cubicBezTo>
                  <a:pt x="3875251" y="1206977"/>
                  <a:pt x="3843563" y="1238665"/>
                  <a:pt x="3804474" y="1238665"/>
                </a:cubicBezTo>
                <a:lnTo>
                  <a:pt x="35390" y="1238665"/>
                </a:lnTo>
                <a:cubicBezTo>
                  <a:pt x="15845" y="1238665"/>
                  <a:pt x="0" y="1222820"/>
                  <a:pt x="0" y="12032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34" name="Shape 32"/>
          <p:cNvSpPr/>
          <p:nvPr/>
        </p:nvSpPr>
        <p:spPr>
          <a:xfrm>
            <a:off x="7783976" y="3503652"/>
            <a:ext cx="35390" cy="1238665"/>
          </a:xfrm>
          <a:custGeom>
            <a:avLst/>
            <a:gdLst/>
            <a:ahLst/>
            <a:cxnLst/>
            <a:rect l="l" t="t" r="r" b="b"/>
            <a:pathLst>
              <a:path w="35390" h="1238665">
                <a:moveTo>
                  <a:pt x="35390" y="0"/>
                </a:moveTo>
                <a:lnTo>
                  <a:pt x="35390" y="0"/>
                </a:lnTo>
                <a:lnTo>
                  <a:pt x="35390" y="1238665"/>
                </a:lnTo>
                <a:lnTo>
                  <a:pt x="35390" y="1238665"/>
                </a:lnTo>
                <a:cubicBezTo>
                  <a:pt x="15845" y="1238665"/>
                  <a:pt x="0" y="1222820"/>
                  <a:pt x="0" y="12032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4292" y="3680604"/>
            <a:ext cx="199071" cy="176952"/>
          </a:xfrm>
          <a:custGeom>
            <a:avLst/>
            <a:gdLst/>
            <a:ahLst/>
            <a:cxnLst/>
            <a:rect l="l" t="t" r="r" b="b"/>
            <a:pathLst>
              <a:path w="199071" h="176952">
                <a:moveTo>
                  <a:pt x="55298" y="0"/>
                </a:moveTo>
                <a:cubicBezTo>
                  <a:pt x="61415" y="0"/>
                  <a:pt x="66357" y="4942"/>
                  <a:pt x="66357" y="11060"/>
                </a:cubicBezTo>
                <a:lnTo>
                  <a:pt x="66357" y="22119"/>
                </a:lnTo>
                <a:lnTo>
                  <a:pt x="110595" y="22119"/>
                </a:lnTo>
                <a:cubicBezTo>
                  <a:pt x="116712" y="22119"/>
                  <a:pt x="121655" y="27061"/>
                  <a:pt x="121655" y="33179"/>
                </a:cubicBezTo>
                <a:cubicBezTo>
                  <a:pt x="121655" y="39296"/>
                  <a:pt x="116712" y="44238"/>
                  <a:pt x="110595" y="44238"/>
                </a:cubicBezTo>
                <a:lnTo>
                  <a:pt x="107277" y="44238"/>
                </a:lnTo>
                <a:lnTo>
                  <a:pt x="104374" y="52222"/>
                </a:lnTo>
                <a:cubicBezTo>
                  <a:pt x="98706" y="67843"/>
                  <a:pt x="90170" y="82117"/>
                  <a:pt x="79421" y="94386"/>
                </a:cubicBezTo>
                <a:cubicBezTo>
                  <a:pt x="84329" y="97427"/>
                  <a:pt x="89444" y="100123"/>
                  <a:pt x="94766" y="102508"/>
                </a:cubicBezTo>
                <a:lnTo>
                  <a:pt x="112185" y="110249"/>
                </a:lnTo>
                <a:lnTo>
                  <a:pt x="133682" y="61864"/>
                </a:lnTo>
                <a:cubicBezTo>
                  <a:pt x="135444" y="57855"/>
                  <a:pt x="139419" y="55298"/>
                  <a:pt x="143774" y="55298"/>
                </a:cubicBezTo>
                <a:cubicBezTo>
                  <a:pt x="148128" y="55298"/>
                  <a:pt x="152103" y="57855"/>
                  <a:pt x="153865" y="61864"/>
                </a:cubicBezTo>
                <a:lnTo>
                  <a:pt x="198103" y="161400"/>
                </a:lnTo>
                <a:cubicBezTo>
                  <a:pt x="200592" y="166999"/>
                  <a:pt x="198069" y="173531"/>
                  <a:pt x="192505" y="175984"/>
                </a:cubicBezTo>
                <a:cubicBezTo>
                  <a:pt x="186940" y="178438"/>
                  <a:pt x="180374" y="175950"/>
                  <a:pt x="177920" y="170386"/>
                </a:cubicBezTo>
                <a:lnTo>
                  <a:pt x="171008" y="154833"/>
                </a:lnTo>
                <a:lnTo>
                  <a:pt x="116574" y="154833"/>
                </a:lnTo>
                <a:lnTo>
                  <a:pt x="109662" y="170386"/>
                </a:lnTo>
                <a:cubicBezTo>
                  <a:pt x="107174" y="175984"/>
                  <a:pt x="100642" y="178473"/>
                  <a:pt x="95077" y="175984"/>
                </a:cubicBezTo>
                <a:cubicBezTo>
                  <a:pt x="89513" y="173496"/>
                  <a:pt x="86990" y="166964"/>
                  <a:pt x="89478" y="161400"/>
                </a:cubicBezTo>
                <a:lnTo>
                  <a:pt x="103234" y="130468"/>
                </a:lnTo>
                <a:lnTo>
                  <a:pt x="85815" y="122726"/>
                </a:lnTo>
                <a:cubicBezTo>
                  <a:pt x="77866" y="119201"/>
                  <a:pt x="70262" y="114984"/>
                  <a:pt x="63074" y="110146"/>
                </a:cubicBezTo>
                <a:cubicBezTo>
                  <a:pt x="55712" y="116090"/>
                  <a:pt x="47660" y="121274"/>
                  <a:pt x="39054" y="125595"/>
                </a:cubicBezTo>
                <a:lnTo>
                  <a:pt x="27061" y="131539"/>
                </a:lnTo>
                <a:cubicBezTo>
                  <a:pt x="21601" y="134269"/>
                  <a:pt x="14965" y="132057"/>
                  <a:pt x="12235" y="126597"/>
                </a:cubicBezTo>
                <a:cubicBezTo>
                  <a:pt x="9504" y="121136"/>
                  <a:pt x="11716" y="114500"/>
                  <a:pt x="17177" y="111770"/>
                </a:cubicBezTo>
                <a:lnTo>
                  <a:pt x="29100" y="105791"/>
                </a:lnTo>
                <a:cubicBezTo>
                  <a:pt x="34734" y="102957"/>
                  <a:pt x="40091" y="99674"/>
                  <a:pt x="45137" y="96010"/>
                </a:cubicBezTo>
                <a:cubicBezTo>
                  <a:pt x="40367" y="91621"/>
                  <a:pt x="35874" y="86886"/>
                  <a:pt x="31692" y="81875"/>
                </a:cubicBezTo>
                <a:lnTo>
                  <a:pt x="28202" y="77658"/>
                </a:lnTo>
                <a:cubicBezTo>
                  <a:pt x="24296" y="72958"/>
                  <a:pt x="24918" y="65977"/>
                  <a:pt x="29619" y="62071"/>
                </a:cubicBezTo>
                <a:cubicBezTo>
                  <a:pt x="34319" y="58166"/>
                  <a:pt x="41300" y="58788"/>
                  <a:pt x="45206" y="63488"/>
                </a:cubicBezTo>
                <a:lnTo>
                  <a:pt x="48731" y="67705"/>
                </a:lnTo>
                <a:cubicBezTo>
                  <a:pt x="52705" y="72509"/>
                  <a:pt x="57060" y="76967"/>
                  <a:pt x="61657" y="81080"/>
                </a:cubicBezTo>
                <a:cubicBezTo>
                  <a:pt x="71161" y="70573"/>
                  <a:pt x="78661" y="58235"/>
                  <a:pt x="83603" y="44653"/>
                </a:cubicBezTo>
                <a:lnTo>
                  <a:pt x="83776" y="44238"/>
                </a:lnTo>
                <a:lnTo>
                  <a:pt x="11094" y="44238"/>
                </a:lnTo>
                <a:cubicBezTo>
                  <a:pt x="4942" y="44238"/>
                  <a:pt x="0" y="39296"/>
                  <a:pt x="0" y="33179"/>
                </a:cubicBezTo>
                <a:cubicBezTo>
                  <a:pt x="0" y="27061"/>
                  <a:pt x="4942" y="22119"/>
                  <a:pt x="11060" y="22119"/>
                </a:cubicBezTo>
                <a:lnTo>
                  <a:pt x="44238" y="22119"/>
                </a:lnTo>
                <a:lnTo>
                  <a:pt x="44238" y="11060"/>
                </a:lnTo>
                <a:cubicBezTo>
                  <a:pt x="44238" y="4942"/>
                  <a:pt x="49180" y="0"/>
                  <a:pt x="55298" y="0"/>
                </a:cubicBezTo>
                <a:close/>
                <a:moveTo>
                  <a:pt x="143774" y="93591"/>
                </a:moveTo>
                <a:lnTo>
                  <a:pt x="126389" y="132714"/>
                </a:lnTo>
                <a:lnTo>
                  <a:pt x="161158" y="132714"/>
                </a:lnTo>
                <a:lnTo>
                  <a:pt x="143774" y="9359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8270594" y="3645213"/>
            <a:ext cx="1574874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English-Only Datasets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43232" y="3963727"/>
            <a:ext cx="3645213" cy="6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predominantly uses English corpora, limiting generalizability to multilingual educational contexts and diverse learner populations.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83976" y="4848488"/>
            <a:ext cx="3875251" cy="1238665"/>
          </a:xfrm>
          <a:custGeom>
            <a:avLst/>
            <a:gdLst/>
            <a:ahLst/>
            <a:cxnLst/>
            <a:rect l="l" t="t" r="r" b="b"/>
            <a:pathLst>
              <a:path w="3875251" h="1238665">
                <a:moveTo>
                  <a:pt x="35390" y="0"/>
                </a:moveTo>
                <a:lnTo>
                  <a:pt x="3804474" y="0"/>
                </a:lnTo>
                <a:cubicBezTo>
                  <a:pt x="3843563" y="0"/>
                  <a:pt x="3875251" y="31688"/>
                  <a:pt x="3875251" y="70777"/>
                </a:cubicBezTo>
                <a:lnTo>
                  <a:pt x="3875251" y="1167887"/>
                </a:lnTo>
                <a:cubicBezTo>
                  <a:pt x="3875251" y="1206977"/>
                  <a:pt x="3843563" y="1238665"/>
                  <a:pt x="3804474" y="1238665"/>
                </a:cubicBezTo>
                <a:lnTo>
                  <a:pt x="35390" y="1238665"/>
                </a:lnTo>
                <a:cubicBezTo>
                  <a:pt x="15845" y="1238665"/>
                  <a:pt x="0" y="1222820"/>
                  <a:pt x="0" y="12032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783976" y="4848488"/>
            <a:ext cx="35390" cy="1238665"/>
          </a:xfrm>
          <a:custGeom>
            <a:avLst/>
            <a:gdLst/>
            <a:ahLst/>
            <a:cxnLst/>
            <a:rect l="l" t="t" r="r" b="b"/>
            <a:pathLst>
              <a:path w="35390" h="1238665">
                <a:moveTo>
                  <a:pt x="35390" y="0"/>
                </a:moveTo>
                <a:lnTo>
                  <a:pt x="35390" y="0"/>
                </a:lnTo>
                <a:lnTo>
                  <a:pt x="35390" y="1238665"/>
                </a:lnTo>
                <a:lnTo>
                  <a:pt x="35390" y="1238665"/>
                </a:lnTo>
                <a:cubicBezTo>
                  <a:pt x="15845" y="1238665"/>
                  <a:pt x="0" y="1222820"/>
                  <a:pt x="0" y="12032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7976411" y="5025440"/>
            <a:ext cx="154833" cy="176952"/>
          </a:xfrm>
          <a:custGeom>
            <a:avLst/>
            <a:gdLst/>
            <a:ahLst/>
            <a:cxnLst/>
            <a:rect l="l" t="t" r="r" b="b"/>
            <a:pathLst>
              <a:path w="154833" h="176952">
                <a:moveTo>
                  <a:pt x="154833" y="71126"/>
                </a:moveTo>
                <a:cubicBezTo>
                  <a:pt x="149718" y="74513"/>
                  <a:pt x="143843" y="77244"/>
                  <a:pt x="137725" y="79421"/>
                </a:cubicBezTo>
                <a:cubicBezTo>
                  <a:pt x="121482" y="85227"/>
                  <a:pt x="100158" y="88476"/>
                  <a:pt x="77417" y="88476"/>
                </a:cubicBezTo>
                <a:cubicBezTo>
                  <a:pt x="54675" y="88476"/>
                  <a:pt x="33317" y="85193"/>
                  <a:pt x="17108" y="79421"/>
                </a:cubicBezTo>
                <a:cubicBezTo>
                  <a:pt x="11025" y="77244"/>
                  <a:pt x="5115" y="74513"/>
                  <a:pt x="0" y="71126"/>
                </a:cubicBezTo>
                <a:lnTo>
                  <a:pt x="0" y="99536"/>
                </a:lnTo>
                <a:cubicBezTo>
                  <a:pt x="0" y="114812"/>
                  <a:pt x="34665" y="127184"/>
                  <a:pt x="77417" y="127184"/>
                </a:cubicBezTo>
                <a:cubicBezTo>
                  <a:pt x="120168" y="127184"/>
                  <a:pt x="154833" y="114812"/>
                  <a:pt x="154833" y="99536"/>
                </a:cubicBezTo>
                <a:lnTo>
                  <a:pt x="154833" y="71126"/>
                </a:lnTo>
                <a:close/>
                <a:moveTo>
                  <a:pt x="154833" y="44238"/>
                </a:moveTo>
                <a:lnTo>
                  <a:pt x="154833" y="27649"/>
                </a:lnTo>
                <a:cubicBezTo>
                  <a:pt x="154833" y="12373"/>
                  <a:pt x="120168" y="0"/>
                  <a:pt x="77417" y="0"/>
                </a:cubicBezTo>
                <a:cubicBezTo>
                  <a:pt x="34665" y="0"/>
                  <a:pt x="0" y="12373"/>
                  <a:pt x="0" y="27649"/>
                </a:cubicBezTo>
                <a:lnTo>
                  <a:pt x="0" y="44238"/>
                </a:lnTo>
                <a:cubicBezTo>
                  <a:pt x="0" y="59514"/>
                  <a:pt x="34665" y="71887"/>
                  <a:pt x="77417" y="71887"/>
                </a:cubicBezTo>
                <a:cubicBezTo>
                  <a:pt x="120168" y="71887"/>
                  <a:pt x="154833" y="59514"/>
                  <a:pt x="154833" y="44238"/>
                </a:cubicBezTo>
                <a:close/>
                <a:moveTo>
                  <a:pt x="137725" y="134719"/>
                </a:moveTo>
                <a:cubicBezTo>
                  <a:pt x="121516" y="140490"/>
                  <a:pt x="100192" y="143774"/>
                  <a:pt x="77417" y="143774"/>
                </a:cubicBezTo>
                <a:cubicBezTo>
                  <a:pt x="54641" y="143774"/>
                  <a:pt x="33317" y="140490"/>
                  <a:pt x="17108" y="134719"/>
                </a:cubicBezTo>
                <a:cubicBezTo>
                  <a:pt x="11025" y="132541"/>
                  <a:pt x="5115" y="129811"/>
                  <a:pt x="0" y="126424"/>
                </a:cubicBezTo>
                <a:lnTo>
                  <a:pt x="0" y="149303"/>
                </a:lnTo>
                <a:cubicBezTo>
                  <a:pt x="0" y="164579"/>
                  <a:pt x="34665" y="176952"/>
                  <a:pt x="77417" y="176952"/>
                </a:cubicBezTo>
                <a:cubicBezTo>
                  <a:pt x="120168" y="176952"/>
                  <a:pt x="154833" y="164579"/>
                  <a:pt x="154833" y="149303"/>
                </a:cubicBezTo>
                <a:lnTo>
                  <a:pt x="154833" y="126424"/>
                </a:lnTo>
                <a:cubicBezTo>
                  <a:pt x="149718" y="129811"/>
                  <a:pt x="143843" y="132541"/>
                  <a:pt x="137725" y="13471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8270594" y="4990049"/>
            <a:ext cx="1804911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Single-Dataset Evaluation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43232" y="5308563"/>
            <a:ext cx="3645213" cy="6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Studies rarely validate findings across multiple datasets, raising concerns about overfitting and limited external validity.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0982" y="6412744"/>
            <a:ext cx="11471805" cy="438841"/>
          </a:xfrm>
          <a:custGeom>
            <a:avLst/>
            <a:gdLst/>
            <a:ahLst/>
            <a:cxnLst/>
            <a:rect l="l" t="t" r="r" b="b"/>
            <a:pathLst>
              <a:path w="11471805" h="438841">
                <a:moveTo>
                  <a:pt x="70781" y="0"/>
                </a:moveTo>
                <a:lnTo>
                  <a:pt x="11401024" y="0"/>
                </a:lnTo>
                <a:cubicBezTo>
                  <a:pt x="11440115" y="0"/>
                  <a:pt x="11471805" y="31690"/>
                  <a:pt x="11471805" y="70781"/>
                </a:cubicBezTo>
                <a:lnTo>
                  <a:pt x="11471805" y="368061"/>
                </a:lnTo>
                <a:cubicBezTo>
                  <a:pt x="11471805" y="407152"/>
                  <a:pt x="11440115" y="438841"/>
                  <a:pt x="11401024" y="438841"/>
                </a:cubicBezTo>
                <a:lnTo>
                  <a:pt x="70781" y="438841"/>
                </a:lnTo>
                <a:cubicBezTo>
                  <a:pt x="31690" y="438841"/>
                  <a:pt x="0" y="407152"/>
                  <a:pt x="0" y="368061"/>
                </a:cubicBezTo>
                <a:lnTo>
                  <a:pt x="0" y="70781"/>
                </a:lnTo>
                <a:cubicBezTo>
                  <a:pt x="0" y="31690"/>
                  <a:pt x="31690" y="0"/>
                  <a:pt x="7078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55815" y="6557847"/>
            <a:ext cx="106171" cy="141562"/>
          </a:xfrm>
          <a:custGeom>
            <a:avLst/>
            <a:gdLst/>
            <a:ahLst/>
            <a:cxnLst/>
            <a:rect l="l" t="t" r="r" b="b"/>
            <a:pathLst>
              <a:path w="106171" h="141562">
                <a:moveTo>
                  <a:pt x="80983" y="106171"/>
                </a:moveTo>
                <a:cubicBezTo>
                  <a:pt x="83002" y="100006"/>
                  <a:pt x="87038" y="94421"/>
                  <a:pt x="91600" y="89610"/>
                </a:cubicBezTo>
                <a:cubicBezTo>
                  <a:pt x="100642" y="80098"/>
                  <a:pt x="106171" y="67242"/>
                  <a:pt x="106171" y="53086"/>
                </a:cubicBezTo>
                <a:cubicBezTo>
                  <a:pt x="106171" y="23778"/>
                  <a:pt x="82393" y="0"/>
                  <a:pt x="53086" y="0"/>
                </a:cubicBezTo>
                <a:cubicBezTo>
                  <a:pt x="23778" y="0"/>
                  <a:pt x="0" y="23778"/>
                  <a:pt x="0" y="53086"/>
                </a:cubicBezTo>
                <a:cubicBezTo>
                  <a:pt x="0" y="67242"/>
                  <a:pt x="5530" y="80098"/>
                  <a:pt x="14571" y="89610"/>
                </a:cubicBezTo>
                <a:cubicBezTo>
                  <a:pt x="19133" y="94421"/>
                  <a:pt x="23197" y="100006"/>
                  <a:pt x="25188" y="106171"/>
                </a:cubicBezTo>
                <a:lnTo>
                  <a:pt x="80956" y="106171"/>
                </a:lnTo>
                <a:close/>
                <a:moveTo>
                  <a:pt x="79628" y="119443"/>
                </a:moveTo>
                <a:lnTo>
                  <a:pt x="26543" y="119443"/>
                </a:lnTo>
                <a:lnTo>
                  <a:pt x="26543" y="123866"/>
                </a:lnTo>
                <a:cubicBezTo>
                  <a:pt x="26543" y="136087"/>
                  <a:pt x="36441" y="145985"/>
                  <a:pt x="48662" y="145985"/>
                </a:cubicBezTo>
                <a:lnTo>
                  <a:pt x="57509" y="145985"/>
                </a:lnTo>
                <a:cubicBezTo>
                  <a:pt x="69730" y="145985"/>
                  <a:pt x="79628" y="136087"/>
                  <a:pt x="79628" y="123866"/>
                </a:cubicBezTo>
                <a:lnTo>
                  <a:pt x="79628" y="119443"/>
                </a:lnTo>
                <a:close/>
                <a:moveTo>
                  <a:pt x="50874" y="30967"/>
                </a:moveTo>
                <a:cubicBezTo>
                  <a:pt x="39870" y="30967"/>
                  <a:pt x="30967" y="39870"/>
                  <a:pt x="30967" y="50874"/>
                </a:cubicBezTo>
                <a:cubicBezTo>
                  <a:pt x="30967" y="54551"/>
                  <a:pt x="28008" y="57509"/>
                  <a:pt x="24331" y="57509"/>
                </a:cubicBezTo>
                <a:cubicBezTo>
                  <a:pt x="20654" y="57509"/>
                  <a:pt x="17695" y="54551"/>
                  <a:pt x="17695" y="50874"/>
                </a:cubicBezTo>
                <a:cubicBezTo>
                  <a:pt x="17695" y="32543"/>
                  <a:pt x="32543" y="17695"/>
                  <a:pt x="50874" y="17695"/>
                </a:cubicBezTo>
                <a:cubicBezTo>
                  <a:pt x="54551" y="17695"/>
                  <a:pt x="57509" y="20654"/>
                  <a:pt x="57509" y="24331"/>
                </a:cubicBezTo>
                <a:cubicBezTo>
                  <a:pt x="57509" y="28008"/>
                  <a:pt x="54551" y="30967"/>
                  <a:pt x="50874" y="3096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735885" y="6525994"/>
            <a:ext cx="10948263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 Intervention Point:</a:t>
            </a:r>
            <a:pPr algn="ctr">
              <a:lnSpc>
                <a:spcPct val="130000"/>
              </a:lnSpc>
            </a:pPr>
            <a:r>
              <a:rPr lang="en-US" sz="111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gaps represent opportunities for impactful contributions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418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Proposal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27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Proposed Research Direction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11430000" cy="1495425"/>
          </a:xfrm>
          <a:custGeom>
            <a:avLst/>
            <a:gdLst/>
            <a:ahLst/>
            <a:cxnLst/>
            <a:rect l="l" t="t" r="r" b="b"/>
            <a:pathLst>
              <a:path w="11430000" h="1495425">
                <a:moveTo>
                  <a:pt x="76207" y="0"/>
                </a:moveTo>
                <a:lnTo>
                  <a:pt x="11353793" y="0"/>
                </a:lnTo>
                <a:cubicBezTo>
                  <a:pt x="11395881" y="0"/>
                  <a:pt x="11430000" y="34119"/>
                  <a:pt x="11430000" y="76207"/>
                </a:cubicBezTo>
                <a:lnTo>
                  <a:pt x="11430000" y="1419218"/>
                </a:lnTo>
                <a:cubicBezTo>
                  <a:pt x="11430000" y="1461306"/>
                  <a:pt x="11395881" y="1495425"/>
                  <a:pt x="11353793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2C3E50"/>
              </a:gs>
              <a:gs pos="100000">
                <a:srgbClr val="8D99AE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4859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8501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62100" y="1485900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Aim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1905000"/>
            <a:ext cx="10115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 aim 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systematically compare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LLM-based and traditional ML approaches for Bloom's Taxonomy classification, with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focus on higher-order cognitive skills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under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limited-data and realistic educational settings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924175"/>
            <a:ext cx="3705225" cy="2914650"/>
          </a:xfrm>
          <a:custGeom>
            <a:avLst/>
            <a:gdLst/>
            <a:ahLst/>
            <a:cxnLst/>
            <a:rect l="l" t="t" r="r" b="b"/>
            <a:pathLst>
              <a:path w="3705225" h="29146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838461"/>
                </a:lnTo>
                <a:cubicBezTo>
                  <a:pt x="3705225" y="2880539"/>
                  <a:pt x="3671114" y="2914650"/>
                  <a:pt x="3629036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000" y="292417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3133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038" y="32670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2289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Systematic 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410432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Rigorous evaluation of both paradigms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550" y="44567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814388" y="4409122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LLM architectures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550" y="47615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814388" y="4713922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ML baselines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0550" y="50663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814388" y="5018722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 comparison protocols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41800" y="2924175"/>
            <a:ext cx="3705225" cy="2914650"/>
          </a:xfrm>
          <a:custGeom>
            <a:avLst/>
            <a:gdLst/>
            <a:ahLst/>
            <a:cxnLst/>
            <a:rect l="l" t="t" r="r" b="b"/>
            <a:pathLst>
              <a:path w="3705225" h="29146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838461"/>
                </a:lnTo>
                <a:cubicBezTo>
                  <a:pt x="3705225" y="2880539"/>
                  <a:pt x="3671114" y="2914650"/>
                  <a:pt x="3629036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41800" y="292417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32300" y="3133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5650" y="3267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03800" y="32289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Higher-Order Focus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2300" y="410432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 Evaluate &amp; Create levels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1350" y="44567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4675187" y="440912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failure modes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51350" y="47615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4675187" y="4713922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targeted solutions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1350" y="50663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4675187" y="5018722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per-level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2600" y="2924175"/>
            <a:ext cx="3705225" cy="2914650"/>
          </a:xfrm>
          <a:custGeom>
            <a:avLst/>
            <a:gdLst/>
            <a:ahLst/>
            <a:cxnLst/>
            <a:rect l="l" t="t" r="r" b="b"/>
            <a:pathLst>
              <a:path w="3705225" h="29146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838461"/>
                </a:lnTo>
                <a:cubicBezTo>
                  <a:pt x="3705225" y="2880539"/>
                  <a:pt x="3671114" y="2914650"/>
                  <a:pt x="3629036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02600" y="292417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Shape 34"/>
          <p:cNvSpPr/>
          <p:nvPr/>
        </p:nvSpPr>
        <p:spPr>
          <a:xfrm>
            <a:off x="8293100" y="3133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4544" y="3267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71438"/>
                </a:move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95213" y="4800"/>
                </a:lnTo>
                <a:cubicBezTo>
                  <a:pt x="102022" y="-1302"/>
                  <a:pt x="112328" y="-1302"/>
                  <a:pt x="119100" y="4800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lose/>
                <a:moveTo>
                  <a:pt x="83344" y="139898"/>
                </a:moveTo>
                <a:lnTo>
                  <a:pt x="83344" y="172641"/>
                </a:lnTo>
                <a:lnTo>
                  <a:pt x="130969" y="172641"/>
                </a:lnTo>
                <a:lnTo>
                  <a:pt x="130969" y="139898"/>
                </a:lnTo>
                <a:cubicBezTo>
                  <a:pt x="130969" y="131676"/>
                  <a:pt x="124309" y="125016"/>
                  <a:pt x="116086" y="125016"/>
                </a:cubicBezTo>
                <a:lnTo>
                  <a:pt x="98227" y="125016"/>
                </a:lnTo>
                <a:cubicBezTo>
                  <a:pt x="90004" y="125016"/>
                  <a:pt x="83344" y="131676"/>
                  <a:pt x="83344" y="139898"/>
                </a:cubicBezTo>
                <a:close/>
                <a:moveTo>
                  <a:pt x="41672" y="142875"/>
                </a:moveTo>
                <a:cubicBezTo>
                  <a:pt x="44946" y="142875"/>
                  <a:pt x="47625" y="140196"/>
                  <a:pt x="47625" y="136922"/>
                </a:cubicBez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lose/>
                <a:moveTo>
                  <a:pt x="47625" y="89297"/>
                </a:move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ubicBezTo>
                  <a:pt x="44946" y="95250"/>
                  <a:pt x="47625" y="92571"/>
                  <a:pt x="47625" y="89297"/>
                </a:cubicBezTo>
                <a:close/>
                <a:moveTo>
                  <a:pt x="184547" y="142875"/>
                </a:moveTo>
                <a:cubicBezTo>
                  <a:pt x="187821" y="142875"/>
                  <a:pt x="190500" y="140196"/>
                  <a:pt x="190500" y="136922"/>
                </a:cubicBez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lose/>
                <a:moveTo>
                  <a:pt x="190500" y="89297"/>
                </a:move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ubicBezTo>
                  <a:pt x="187821" y="95250"/>
                  <a:pt x="190500" y="92571"/>
                  <a:pt x="190500" y="89297"/>
                </a:cubicBezTo>
                <a:close/>
                <a:moveTo>
                  <a:pt x="107156" y="95250"/>
                </a:moveTo>
                <a:cubicBezTo>
                  <a:pt x="120299" y="95250"/>
                  <a:pt x="130969" y="84580"/>
                  <a:pt x="130969" y="71438"/>
                </a:cubicBezTo>
                <a:cubicBezTo>
                  <a:pt x="130969" y="58295"/>
                  <a:pt x="120299" y="47625"/>
                  <a:pt x="107156" y="47625"/>
                </a:cubicBezTo>
                <a:cubicBezTo>
                  <a:pt x="94014" y="47625"/>
                  <a:pt x="83344" y="58295"/>
                  <a:pt x="83344" y="71438"/>
                </a:cubicBezTo>
                <a:cubicBezTo>
                  <a:pt x="83344" y="84580"/>
                  <a:pt x="94014" y="95250"/>
                  <a:pt x="107156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864600" y="322897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Realistic Settings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100" y="410432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practical constraints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12150" y="44567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8535988" y="440912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training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2150" y="47615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8535988" y="4713922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budgets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12150" y="50663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8535988" y="5018722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feasibility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8620" y="5996938"/>
            <a:ext cx="11416665" cy="472440"/>
          </a:xfrm>
          <a:custGeom>
            <a:avLst/>
            <a:gdLst/>
            <a:ahLst/>
            <a:cxnLst/>
            <a:rect l="l" t="t" r="r" b="b"/>
            <a:pathLst>
              <a:path w="11416665" h="472440">
                <a:moveTo>
                  <a:pt x="76200" y="0"/>
                </a:moveTo>
                <a:lnTo>
                  <a:pt x="11340465" y="0"/>
                </a:lnTo>
                <a:cubicBezTo>
                  <a:pt x="11382549" y="0"/>
                  <a:pt x="11416665" y="34116"/>
                  <a:pt x="11416665" y="76200"/>
                </a:cubicBezTo>
                <a:lnTo>
                  <a:pt x="11416665" y="396240"/>
                </a:lnTo>
                <a:cubicBezTo>
                  <a:pt x="11416665" y="438324"/>
                  <a:pt x="11382549" y="472440"/>
                  <a:pt x="11340465" y="472440"/>
                </a:cubicBezTo>
                <a:lnTo>
                  <a:pt x="76200" y="472440"/>
                </a:lnTo>
                <a:cubicBezTo>
                  <a:pt x="34144" y="472440"/>
                  <a:pt x="0" y="438296"/>
                  <a:pt x="0" y="3962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5315" y="61188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1024890" y="6118859"/>
            <a:ext cx="1065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code or tools committed at this stage. Focus is on establishing clear research direction and theoretical framework.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303" y="456629"/>
            <a:ext cx="54796" cy="438364"/>
          </a:xfrm>
          <a:custGeom>
            <a:avLst/>
            <a:gdLst/>
            <a:ahLst/>
            <a:cxnLst/>
            <a:rect l="l" t="t" r="r" b="b"/>
            <a:pathLst>
              <a:path w="54796" h="438364">
                <a:moveTo>
                  <a:pt x="0" y="0"/>
                </a:moveTo>
                <a:lnTo>
                  <a:pt x="54796" y="0"/>
                </a:lnTo>
                <a:lnTo>
                  <a:pt x="54796" y="438364"/>
                </a:lnTo>
                <a:lnTo>
                  <a:pt x="0" y="438364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29690" y="365303"/>
            <a:ext cx="3150742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spc="58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Anticipated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9690" y="621016"/>
            <a:ext cx="3242067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Expected Contribution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4485" y="1059380"/>
            <a:ext cx="11324404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Evidence-based guidance for educational technology practitioners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569" y="1461213"/>
            <a:ext cx="5625672" cy="4803739"/>
          </a:xfrm>
          <a:custGeom>
            <a:avLst/>
            <a:gdLst/>
            <a:ahLst/>
            <a:cxnLst/>
            <a:rect l="l" t="t" r="r" b="b"/>
            <a:pathLst>
              <a:path w="5625672" h="4803739">
                <a:moveTo>
                  <a:pt x="36530" y="0"/>
                </a:moveTo>
                <a:lnTo>
                  <a:pt x="5552607" y="0"/>
                </a:lnTo>
                <a:cubicBezTo>
                  <a:pt x="5592960" y="0"/>
                  <a:pt x="5625672" y="32712"/>
                  <a:pt x="5625672" y="73065"/>
                </a:cubicBezTo>
                <a:lnTo>
                  <a:pt x="5625672" y="4730674"/>
                </a:lnTo>
                <a:cubicBezTo>
                  <a:pt x="5625672" y="4771027"/>
                  <a:pt x="5592960" y="4803739"/>
                  <a:pt x="5552607" y="4803739"/>
                </a:cubicBezTo>
                <a:lnTo>
                  <a:pt x="36530" y="4803739"/>
                </a:lnTo>
                <a:cubicBezTo>
                  <a:pt x="16355" y="4803739"/>
                  <a:pt x="0" y="4787384"/>
                  <a:pt x="0" y="4767209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796" dist="3653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3569" y="1461213"/>
            <a:ext cx="36530" cy="4803739"/>
          </a:xfrm>
          <a:custGeom>
            <a:avLst/>
            <a:gdLst/>
            <a:ahLst/>
            <a:cxnLst/>
            <a:rect l="l" t="t" r="r" b="b"/>
            <a:pathLst>
              <a:path w="36530" h="4803739">
                <a:moveTo>
                  <a:pt x="36530" y="0"/>
                </a:moveTo>
                <a:lnTo>
                  <a:pt x="36530" y="0"/>
                </a:lnTo>
                <a:lnTo>
                  <a:pt x="36530" y="4803739"/>
                </a:lnTo>
                <a:lnTo>
                  <a:pt x="36530" y="4803739"/>
                </a:lnTo>
                <a:cubicBezTo>
                  <a:pt x="16355" y="4803739"/>
                  <a:pt x="0" y="4787384"/>
                  <a:pt x="0" y="4767209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584485" y="1643865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292243" y="0"/>
                </a:moveTo>
                <a:lnTo>
                  <a:pt x="292243" y="0"/>
                </a:lnTo>
                <a:cubicBezTo>
                  <a:pt x="453536" y="0"/>
                  <a:pt x="584485" y="130950"/>
                  <a:pt x="584485" y="292243"/>
                </a:cubicBezTo>
                <a:lnTo>
                  <a:pt x="584485" y="292243"/>
                </a:lnTo>
                <a:cubicBezTo>
                  <a:pt x="584485" y="453536"/>
                  <a:pt x="453536" y="584485"/>
                  <a:pt x="292243" y="584485"/>
                </a:cubicBezTo>
                <a:lnTo>
                  <a:pt x="292243" y="584485"/>
                </a:lnTo>
                <a:cubicBezTo>
                  <a:pt x="130950" y="584485"/>
                  <a:pt x="0" y="453536"/>
                  <a:pt x="0" y="292243"/>
                </a:cubicBezTo>
                <a:lnTo>
                  <a:pt x="0" y="292243"/>
                </a:lnTo>
                <a:cubicBezTo>
                  <a:pt x="0" y="130950"/>
                  <a:pt x="130950" y="0"/>
                  <a:pt x="292243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9" name="Shape 7"/>
          <p:cNvSpPr/>
          <p:nvPr/>
        </p:nvSpPr>
        <p:spPr>
          <a:xfrm>
            <a:off x="767137" y="1826517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762" y="0"/>
                </a:moveTo>
                <a:cubicBezTo>
                  <a:pt x="102185" y="0"/>
                  <a:pt x="96063" y="6122"/>
                  <a:pt x="96063" y="13699"/>
                </a:cubicBezTo>
                <a:lnTo>
                  <a:pt x="96063" y="27398"/>
                </a:lnTo>
                <a:lnTo>
                  <a:pt x="27569" y="27398"/>
                </a:lnTo>
                <a:cubicBezTo>
                  <a:pt x="19992" y="27398"/>
                  <a:pt x="13870" y="33519"/>
                  <a:pt x="13870" y="41097"/>
                </a:cubicBezTo>
                <a:lnTo>
                  <a:pt x="13870" y="68494"/>
                </a:lnTo>
                <a:cubicBezTo>
                  <a:pt x="13870" y="76072"/>
                  <a:pt x="19992" y="82193"/>
                  <a:pt x="27569" y="82193"/>
                </a:cubicBezTo>
                <a:lnTo>
                  <a:pt x="96063" y="82193"/>
                </a:lnTo>
                <a:lnTo>
                  <a:pt x="96063" y="109591"/>
                </a:lnTo>
                <a:lnTo>
                  <a:pt x="30394" y="109591"/>
                </a:lnTo>
                <a:cubicBezTo>
                  <a:pt x="28596" y="109591"/>
                  <a:pt x="26841" y="110319"/>
                  <a:pt x="25557" y="111603"/>
                </a:cubicBezTo>
                <a:lnTo>
                  <a:pt x="5009" y="132151"/>
                </a:lnTo>
                <a:cubicBezTo>
                  <a:pt x="2354" y="134806"/>
                  <a:pt x="2354" y="139172"/>
                  <a:pt x="5009" y="141826"/>
                </a:cubicBezTo>
                <a:lnTo>
                  <a:pt x="25557" y="162374"/>
                </a:lnTo>
                <a:cubicBezTo>
                  <a:pt x="26841" y="163659"/>
                  <a:pt x="28596" y="164387"/>
                  <a:pt x="30394" y="164387"/>
                </a:cubicBezTo>
                <a:lnTo>
                  <a:pt x="96063" y="164387"/>
                </a:lnTo>
                <a:lnTo>
                  <a:pt x="96063" y="205483"/>
                </a:lnTo>
                <a:cubicBezTo>
                  <a:pt x="96063" y="213060"/>
                  <a:pt x="102185" y="219182"/>
                  <a:pt x="109762" y="219182"/>
                </a:cubicBezTo>
                <a:cubicBezTo>
                  <a:pt x="117339" y="219182"/>
                  <a:pt x="123461" y="213060"/>
                  <a:pt x="123461" y="205483"/>
                </a:cubicBezTo>
                <a:lnTo>
                  <a:pt x="123461" y="164387"/>
                </a:lnTo>
                <a:lnTo>
                  <a:pt x="191956" y="164387"/>
                </a:lnTo>
                <a:cubicBezTo>
                  <a:pt x="199533" y="164387"/>
                  <a:pt x="205654" y="158265"/>
                  <a:pt x="205654" y="150688"/>
                </a:cubicBezTo>
                <a:lnTo>
                  <a:pt x="205654" y="123290"/>
                </a:lnTo>
                <a:cubicBezTo>
                  <a:pt x="205654" y="115713"/>
                  <a:pt x="199533" y="109591"/>
                  <a:pt x="191956" y="109591"/>
                </a:cubicBezTo>
                <a:lnTo>
                  <a:pt x="123461" y="109591"/>
                </a:lnTo>
                <a:lnTo>
                  <a:pt x="123461" y="82193"/>
                </a:lnTo>
                <a:lnTo>
                  <a:pt x="189130" y="82193"/>
                </a:lnTo>
                <a:cubicBezTo>
                  <a:pt x="190928" y="82193"/>
                  <a:pt x="192683" y="81466"/>
                  <a:pt x="193968" y="80181"/>
                </a:cubicBezTo>
                <a:lnTo>
                  <a:pt x="214516" y="59633"/>
                </a:lnTo>
                <a:cubicBezTo>
                  <a:pt x="217170" y="56979"/>
                  <a:pt x="217170" y="52612"/>
                  <a:pt x="214516" y="49958"/>
                </a:cubicBezTo>
                <a:lnTo>
                  <a:pt x="193968" y="29410"/>
                </a:lnTo>
                <a:cubicBezTo>
                  <a:pt x="192683" y="28126"/>
                  <a:pt x="190928" y="27398"/>
                  <a:pt x="189130" y="27398"/>
                </a:cubicBezTo>
                <a:lnTo>
                  <a:pt x="123461" y="27398"/>
                </a:lnTo>
                <a:lnTo>
                  <a:pt x="123461" y="13699"/>
                </a:lnTo>
                <a:cubicBezTo>
                  <a:pt x="123461" y="6122"/>
                  <a:pt x="117339" y="0"/>
                  <a:pt x="109762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0" name="Text 8"/>
          <p:cNvSpPr/>
          <p:nvPr/>
        </p:nvSpPr>
        <p:spPr>
          <a:xfrm>
            <a:off x="1315092" y="1680396"/>
            <a:ext cx="2474930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Evidence-Based Guidance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15092" y="1972638"/>
            <a:ext cx="243840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which approach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485" y="2949825"/>
            <a:ext cx="5315164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</a:t>
            </a:r>
            <a:pPr>
              <a:lnSpc>
                <a:spcPct val="140000"/>
              </a:lnSpc>
            </a:pPr>
            <a:r>
              <a:rPr lang="en-US" sz="1151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decision frameworks</a:t>
            </a:r>
            <a:pPr>
              <a:lnSpc>
                <a:spcPct val="14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practitioners choosing between LLMs and traditional ML based on: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485" y="3534310"/>
            <a:ext cx="5242103" cy="438364"/>
          </a:xfrm>
          <a:custGeom>
            <a:avLst/>
            <a:gdLst/>
            <a:ahLst/>
            <a:cxnLst/>
            <a:rect l="l" t="t" r="r" b="b"/>
            <a:pathLst>
              <a:path w="5242103" h="43836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01835"/>
                </a:lnTo>
                <a:cubicBezTo>
                  <a:pt x="5242103" y="422010"/>
                  <a:pt x="5225749" y="438364"/>
                  <a:pt x="5205574" y="438364"/>
                </a:cubicBezTo>
                <a:lnTo>
                  <a:pt x="36529" y="438364"/>
                </a:lnTo>
                <a:cubicBezTo>
                  <a:pt x="16355" y="438364"/>
                  <a:pt x="0" y="422010"/>
                  <a:pt x="0" y="401835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474" y="3680431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7856" y="58734"/>
                </a:moveTo>
                <a:cubicBezTo>
                  <a:pt x="123632" y="61531"/>
                  <a:pt x="118781" y="63785"/>
                  <a:pt x="113729" y="65583"/>
                </a:cubicBezTo>
                <a:cubicBezTo>
                  <a:pt x="100316" y="70378"/>
                  <a:pt x="82707" y="73061"/>
                  <a:pt x="63928" y="73061"/>
                </a:cubicBezTo>
                <a:cubicBezTo>
                  <a:pt x="45149" y="73061"/>
                  <a:pt x="27512" y="70349"/>
                  <a:pt x="14127" y="65583"/>
                </a:cubicBezTo>
                <a:cubicBezTo>
                  <a:pt x="9104" y="63785"/>
                  <a:pt x="4224" y="61531"/>
                  <a:pt x="0" y="58734"/>
                </a:cubicBezTo>
                <a:lnTo>
                  <a:pt x="0" y="82193"/>
                </a:lnTo>
                <a:cubicBezTo>
                  <a:pt x="0" y="94808"/>
                  <a:pt x="28625" y="105025"/>
                  <a:pt x="63928" y="105025"/>
                </a:cubicBezTo>
                <a:cubicBezTo>
                  <a:pt x="99231" y="105025"/>
                  <a:pt x="127856" y="94808"/>
                  <a:pt x="127856" y="82193"/>
                </a:cubicBezTo>
                <a:lnTo>
                  <a:pt x="127856" y="58734"/>
                </a:lnTo>
                <a:close/>
                <a:moveTo>
                  <a:pt x="127856" y="36530"/>
                </a:moveTo>
                <a:lnTo>
                  <a:pt x="127856" y="22831"/>
                </a:lnTo>
                <a:cubicBezTo>
                  <a:pt x="127856" y="10217"/>
                  <a:pt x="99231" y="0"/>
                  <a:pt x="63928" y="0"/>
                </a:cubicBezTo>
                <a:cubicBezTo>
                  <a:pt x="28625" y="0"/>
                  <a:pt x="0" y="10217"/>
                  <a:pt x="0" y="22831"/>
                </a:cubicBezTo>
                <a:lnTo>
                  <a:pt x="0" y="36530"/>
                </a:lnTo>
                <a:cubicBezTo>
                  <a:pt x="0" y="49145"/>
                  <a:pt x="28625" y="59362"/>
                  <a:pt x="63928" y="59362"/>
                </a:cubicBezTo>
                <a:cubicBezTo>
                  <a:pt x="99231" y="59362"/>
                  <a:pt x="127856" y="49145"/>
                  <a:pt x="127856" y="36530"/>
                </a:cubicBezTo>
                <a:close/>
                <a:moveTo>
                  <a:pt x="113729" y="111246"/>
                </a:moveTo>
                <a:cubicBezTo>
                  <a:pt x="100344" y="116012"/>
                  <a:pt x="82736" y="118724"/>
                  <a:pt x="63928" y="118724"/>
                </a:cubicBezTo>
                <a:cubicBezTo>
                  <a:pt x="45121" y="118724"/>
                  <a:pt x="27512" y="116012"/>
                  <a:pt x="14127" y="111246"/>
                </a:cubicBezTo>
                <a:cubicBezTo>
                  <a:pt x="9104" y="109448"/>
                  <a:pt x="4224" y="107194"/>
                  <a:pt x="0" y="104397"/>
                </a:cubicBezTo>
                <a:lnTo>
                  <a:pt x="0" y="123290"/>
                </a:lnTo>
                <a:cubicBezTo>
                  <a:pt x="0" y="135904"/>
                  <a:pt x="28625" y="146121"/>
                  <a:pt x="63928" y="146121"/>
                </a:cubicBezTo>
                <a:cubicBezTo>
                  <a:pt x="99231" y="146121"/>
                  <a:pt x="127856" y="135904"/>
                  <a:pt x="127856" y="123290"/>
                </a:cubicBezTo>
                <a:lnTo>
                  <a:pt x="127856" y="104397"/>
                </a:lnTo>
                <a:cubicBezTo>
                  <a:pt x="123632" y="107194"/>
                  <a:pt x="118781" y="109448"/>
                  <a:pt x="113729" y="11124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986319" y="3643901"/>
            <a:ext cx="199090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training data volume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4485" y="4045735"/>
            <a:ext cx="5242103" cy="438364"/>
          </a:xfrm>
          <a:custGeom>
            <a:avLst/>
            <a:gdLst/>
            <a:ahLst/>
            <a:cxnLst/>
            <a:rect l="l" t="t" r="r" b="b"/>
            <a:pathLst>
              <a:path w="5242103" h="43836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01835"/>
                </a:lnTo>
                <a:cubicBezTo>
                  <a:pt x="5242103" y="422010"/>
                  <a:pt x="5225749" y="438364"/>
                  <a:pt x="5205574" y="438364"/>
                </a:cubicBezTo>
                <a:lnTo>
                  <a:pt x="36529" y="438364"/>
                </a:lnTo>
                <a:cubicBezTo>
                  <a:pt x="16355" y="438364"/>
                  <a:pt x="0" y="422010"/>
                  <a:pt x="0" y="401835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474" y="4191856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8265" y="9133"/>
                </a:moveTo>
                <a:cubicBezTo>
                  <a:pt x="8191" y="9133"/>
                  <a:pt x="0" y="17323"/>
                  <a:pt x="0" y="27398"/>
                </a:cubicBezTo>
                <a:lnTo>
                  <a:pt x="0" y="45663"/>
                </a:lnTo>
                <a:cubicBezTo>
                  <a:pt x="0" y="55737"/>
                  <a:pt x="8191" y="63928"/>
                  <a:pt x="18265" y="63928"/>
                </a:cubicBezTo>
                <a:lnTo>
                  <a:pt x="109591" y="63928"/>
                </a:lnTo>
                <a:cubicBezTo>
                  <a:pt x="119665" y="63928"/>
                  <a:pt x="127856" y="55737"/>
                  <a:pt x="127856" y="45663"/>
                </a:cubicBezTo>
                <a:lnTo>
                  <a:pt x="127856" y="27398"/>
                </a:lnTo>
                <a:cubicBezTo>
                  <a:pt x="127856" y="17323"/>
                  <a:pt x="119665" y="9133"/>
                  <a:pt x="109591" y="9133"/>
                </a:cubicBezTo>
                <a:lnTo>
                  <a:pt x="18265" y="9133"/>
                </a:lnTo>
                <a:close/>
                <a:moveTo>
                  <a:pt x="79910" y="29681"/>
                </a:moveTo>
                <a:cubicBezTo>
                  <a:pt x="83690" y="29681"/>
                  <a:pt x="86760" y="32750"/>
                  <a:pt x="86760" y="36530"/>
                </a:cubicBezTo>
                <a:cubicBezTo>
                  <a:pt x="86760" y="40311"/>
                  <a:pt x="83690" y="43380"/>
                  <a:pt x="79910" y="43380"/>
                </a:cubicBezTo>
                <a:cubicBezTo>
                  <a:pt x="76130" y="43380"/>
                  <a:pt x="73061" y="40311"/>
                  <a:pt x="73061" y="36530"/>
                </a:cubicBezTo>
                <a:cubicBezTo>
                  <a:pt x="73061" y="32750"/>
                  <a:pt x="76130" y="29681"/>
                  <a:pt x="79910" y="29681"/>
                </a:cubicBezTo>
                <a:close/>
                <a:moveTo>
                  <a:pt x="95892" y="36530"/>
                </a:moveTo>
                <a:cubicBezTo>
                  <a:pt x="95892" y="32750"/>
                  <a:pt x="98961" y="29681"/>
                  <a:pt x="102742" y="29681"/>
                </a:cubicBezTo>
                <a:cubicBezTo>
                  <a:pt x="106522" y="29681"/>
                  <a:pt x="109591" y="32750"/>
                  <a:pt x="109591" y="36530"/>
                </a:cubicBezTo>
                <a:cubicBezTo>
                  <a:pt x="109591" y="40311"/>
                  <a:pt x="106522" y="43380"/>
                  <a:pt x="102742" y="43380"/>
                </a:cubicBezTo>
                <a:cubicBezTo>
                  <a:pt x="98961" y="43380"/>
                  <a:pt x="95892" y="40311"/>
                  <a:pt x="95892" y="36530"/>
                </a:cubicBezTo>
                <a:close/>
                <a:moveTo>
                  <a:pt x="18265" y="82193"/>
                </a:moveTo>
                <a:cubicBezTo>
                  <a:pt x="8191" y="82193"/>
                  <a:pt x="0" y="90384"/>
                  <a:pt x="0" y="100458"/>
                </a:cubicBezTo>
                <a:lnTo>
                  <a:pt x="0" y="118724"/>
                </a:lnTo>
                <a:cubicBezTo>
                  <a:pt x="0" y="128798"/>
                  <a:pt x="8191" y="136989"/>
                  <a:pt x="18265" y="136989"/>
                </a:cubicBezTo>
                <a:lnTo>
                  <a:pt x="109591" y="136989"/>
                </a:lnTo>
                <a:cubicBezTo>
                  <a:pt x="119665" y="136989"/>
                  <a:pt x="127856" y="128798"/>
                  <a:pt x="127856" y="118724"/>
                </a:cubicBezTo>
                <a:lnTo>
                  <a:pt x="127856" y="100458"/>
                </a:lnTo>
                <a:cubicBezTo>
                  <a:pt x="127856" y="90384"/>
                  <a:pt x="119665" y="82193"/>
                  <a:pt x="109591" y="82193"/>
                </a:cubicBezTo>
                <a:lnTo>
                  <a:pt x="18265" y="82193"/>
                </a:lnTo>
                <a:close/>
                <a:moveTo>
                  <a:pt x="79910" y="102742"/>
                </a:moveTo>
                <a:cubicBezTo>
                  <a:pt x="83690" y="102742"/>
                  <a:pt x="86760" y="105811"/>
                  <a:pt x="86760" y="109591"/>
                </a:cubicBezTo>
                <a:cubicBezTo>
                  <a:pt x="86760" y="113371"/>
                  <a:pt x="83690" y="116440"/>
                  <a:pt x="79910" y="116440"/>
                </a:cubicBezTo>
                <a:cubicBezTo>
                  <a:pt x="76130" y="116440"/>
                  <a:pt x="73061" y="113371"/>
                  <a:pt x="73061" y="109591"/>
                </a:cubicBezTo>
                <a:cubicBezTo>
                  <a:pt x="73061" y="105811"/>
                  <a:pt x="76130" y="102742"/>
                  <a:pt x="79910" y="102742"/>
                </a:cubicBezTo>
                <a:close/>
                <a:moveTo>
                  <a:pt x="95892" y="109591"/>
                </a:moveTo>
                <a:cubicBezTo>
                  <a:pt x="95892" y="105811"/>
                  <a:pt x="98961" y="102742"/>
                  <a:pt x="102742" y="102742"/>
                </a:cubicBezTo>
                <a:cubicBezTo>
                  <a:pt x="106522" y="102742"/>
                  <a:pt x="109591" y="105811"/>
                  <a:pt x="109591" y="109591"/>
                </a:cubicBezTo>
                <a:cubicBezTo>
                  <a:pt x="109591" y="113371"/>
                  <a:pt x="106522" y="116440"/>
                  <a:pt x="102742" y="116440"/>
                </a:cubicBezTo>
                <a:cubicBezTo>
                  <a:pt x="98961" y="116440"/>
                  <a:pt x="95892" y="113371"/>
                  <a:pt x="95892" y="10959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8" name="Text 16"/>
          <p:cNvSpPr/>
          <p:nvPr/>
        </p:nvSpPr>
        <p:spPr>
          <a:xfrm>
            <a:off x="986319" y="4155326"/>
            <a:ext cx="2374472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resource constraints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4485" y="4557160"/>
            <a:ext cx="5242103" cy="438364"/>
          </a:xfrm>
          <a:custGeom>
            <a:avLst/>
            <a:gdLst/>
            <a:ahLst/>
            <a:cxnLst/>
            <a:rect l="l" t="t" r="r" b="b"/>
            <a:pathLst>
              <a:path w="5242103" h="43836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01835"/>
                </a:lnTo>
                <a:cubicBezTo>
                  <a:pt x="5242103" y="422010"/>
                  <a:pt x="5225749" y="438364"/>
                  <a:pt x="5205574" y="438364"/>
                </a:cubicBezTo>
                <a:lnTo>
                  <a:pt x="36529" y="438364"/>
                </a:lnTo>
                <a:cubicBezTo>
                  <a:pt x="16355" y="438364"/>
                  <a:pt x="0" y="422010"/>
                  <a:pt x="0" y="401835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2342" y="4703281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9133" y="9133"/>
                </a:moveTo>
                <a:cubicBezTo>
                  <a:pt x="14184" y="9133"/>
                  <a:pt x="18265" y="13214"/>
                  <a:pt x="18265" y="18265"/>
                </a:cubicBezTo>
                <a:lnTo>
                  <a:pt x="18265" y="114157"/>
                </a:lnTo>
                <a:cubicBezTo>
                  <a:pt x="18265" y="116669"/>
                  <a:pt x="20320" y="118724"/>
                  <a:pt x="22831" y="118724"/>
                </a:cubicBezTo>
                <a:lnTo>
                  <a:pt x="136989" y="118724"/>
                </a:lnTo>
                <a:cubicBezTo>
                  <a:pt x="142040" y="118724"/>
                  <a:pt x="146121" y="122805"/>
                  <a:pt x="146121" y="127856"/>
                </a:cubicBezTo>
                <a:cubicBezTo>
                  <a:pt x="146121" y="132908"/>
                  <a:pt x="142040" y="136989"/>
                  <a:pt x="136989" y="136989"/>
                </a:cubicBezTo>
                <a:lnTo>
                  <a:pt x="22831" y="136989"/>
                </a:lnTo>
                <a:cubicBezTo>
                  <a:pt x="10217" y="136989"/>
                  <a:pt x="0" y="126772"/>
                  <a:pt x="0" y="114157"/>
                </a:cubicBezTo>
                <a:lnTo>
                  <a:pt x="0" y="18265"/>
                </a:lnTo>
                <a:cubicBezTo>
                  <a:pt x="0" y="13214"/>
                  <a:pt x="4081" y="9133"/>
                  <a:pt x="9133" y="9133"/>
                </a:cubicBezTo>
                <a:close/>
                <a:moveTo>
                  <a:pt x="36530" y="27398"/>
                </a:moveTo>
                <a:cubicBezTo>
                  <a:pt x="36530" y="22346"/>
                  <a:pt x="40611" y="18265"/>
                  <a:pt x="45663" y="18265"/>
                </a:cubicBezTo>
                <a:lnTo>
                  <a:pt x="100458" y="18265"/>
                </a:lnTo>
                <a:cubicBezTo>
                  <a:pt x="105510" y="18265"/>
                  <a:pt x="109591" y="22346"/>
                  <a:pt x="109591" y="27398"/>
                </a:cubicBezTo>
                <a:cubicBezTo>
                  <a:pt x="109591" y="32449"/>
                  <a:pt x="105510" y="36530"/>
                  <a:pt x="100458" y="36530"/>
                </a:cubicBezTo>
                <a:lnTo>
                  <a:pt x="45663" y="36530"/>
                </a:lnTo>
                <a:cubicBezTo>
                  <a:pt x="40611" y="36530"/>
                  <a:pt x="36530" y="32449"/>
                  <a:pt x="36530" y="27398"/>
                </a:cubicBezTo>
                <a:close/>
                <a:moveTo>
                  <a:pt x="45663" y="50229"/>
                </a:moveTo>
                <a:lnTo>
                  <a:pt x="82193" y="50229"/>
                </a:lnTo>
                <a:cubicBezTo>
                  <a:pt x="87245" y="50229"/>
                  <a:pt x="91326" y="54310"/>
                  <a:pt x="91326" y="59362"/>
                </a:cubicBezTo>
                <a:cubicBezTo>
                  <a:pt x="91326" y="64413"/>
                  <a:pt x="87245" y="68494"/>
                  <a:pt x="82193" y="68494"/>
                </a:cubicBezTo>
                <a:lnTo>
                  <a:pt x="45663" y="68494"/>
                </a:lnTo>
                <a:cubicBezTo>
                  <a:pt x="40611" y="68494"/>
                  <a:pt x="36530" y="64413"/>
                  <a:pt x="36530" y="59362"/>
                </a:cubicBezTo>
                <a:cubicBezTo>
                  <a:pt x="36530" y="54310"/>
                  <a:pt x="40611" y="50229"/>
                  <a:pt x="45663" y="50229"/>
                </a:cubicBezTo>
                <a:close/>
                <a:moveTo>
                  <a:pt x="45663" y="82193"/>
                </a:moveTo>
                <a:lnTo>
                  <a:pt x="118724" y="82193"/>
                </a:lnTo>
                <a:cubicBezTo>
                  <a:pt x="123775" y="82193"/>
                  <a:pt x="127856" y="86274"/>
                  <a:pt x="127856" y="91326"/>
                </a:cubicBezTo>
                <a:cubicBezTo>
                  <a:pt x="127856" y="96377"/>
                  <a:pt x="123775" y="100458"/>
                  <a:pt x="118724" y="100458"/>
                </a:cubicBezTo>
                <a:lnTo>
                  <a:pt x="45663" y="100458"/>
                </a:lnTo>
                <a:cubicBezTo>
                  <a:pt x="40611" y="100458"/>
                  <a:pt x="36530" y="96377"/>
                  <a:pt x="36530" y="91326"/>
                </a:cubicBezTo>
                <a:cubicBezTo>
                  <a:pt x="36530" y="86274"/>
                  <a:pt x="40611" y="82193"/>
                  <a:pt x="45663" y="8219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Text 19"/>
          <p:cNvSpPr/>
          <p:nvPr/>
        </p:nvSpPr>
        <p:spPr>
          <a:xfrm>
            <a:off x="986319" y="4666751"/>
            <a:ext cx="202743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performance metrics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485" y="5068584"/>
            <a:ext cx="5242103" cy="438364"/>
          </a:xfrm>
          <a:custGeom>
            <a:avLst/>
            <a:gdLst/>
            <a:ahLst/>
            <a:cxnLst/>
            <a:rect l="l" t="t" r="r" b="b"/>
            <a:pathLst>
              <a:path w="5242103" h="43836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01835"/>
                </a:lnTo>
                <a:cubicBezTo>
                  <a:pt x="5242103" y="422010"/>
                  <a:pt x="5225749" y="438364"/>
                  <a:pt x="5205574" y="438364"/>
                </a:cubicBezTo>
                <a:lnTo>
                  <a:pt x="36529" y="438364"/>
                </a:lnTo>
                <a:cubicBezTo>
                  <a:pt x="16355" y="438364"/>
                  <a:pt x="0" y="422010"/>
                  <a:pt x="0" y="401835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076" y="5214706"/>
            <a:ext cx="182652" cy="146121"/>
          </a:xfrm>
          <a:custGeom>
            <a:avLst/>
            <a:gdLst/>
            <a:ahLst/>
            <a:cxnLst/>
            <a:rect l="l" t="t" r="r" b="b"/>
            <a:pathLst>
              <a:path w="182652" h="146121">
                <a:moveTo>
                  <a:pt x="118695" y="60075"/>
                </a:moveTo>
                <a:cubicBezTo>
                  <a:pt x="122177" y="59133"/>
                  <a:pt x="125830" y="60789"/>
                  <a:pt x="127400" y="64014"/>
                </a:cubicBezTo>
                <a:lnTo>
                  <a:pt x="132708" y="74744"/>
                </a:lnTo>
                <a:cubicBezTo>
                  <a:pt x="135647" y="75144"/>
                  <a:pt x="138530" y="75943"/>
                  <a:pt x="141241" y="77056"/>
                </a:cubicBezTo>
                <a:lnTo>
                  <a:pt x="151230" y="70407"/>
                </a:lnTo>
                <a:cubicBezTo>
                  <a:pt x="154227" y="68409"/>
                  <a:pt x="158193" y="68808"/>
                  <a:pt x="160733" y="71348"/>
                </a:cubicBezTo>
                <a:lnTo>
                  <a:pt x="166213" y="76828"/>
                </a:lnTo>
                <a:cubicBezTo>
                  <a:pt x="168753" y="79368"/>
                  <a:pt x="169153" y="83363"/>
                  <a:pt x="167155" y="86331"/>
                </a:cubicBezTo>
                <a:lnTo>
                  <a:pt x="160505" y="96292"/>
                </a:lnTo>
                <a:cubicBezTo>
                  <a:pt x="161047" y="97633"/>
                  <a:pt x="161533" y="99031"/>
                  <a:pt x="161932" y="100487"/>
                </a:cubicBezTo>
                <a:cubicBezTo>
                  <a:pt x="162332" y="101942"/>
                  <a:pt x="162589" y="103369"/>
                  <a:pt x="162788" y="104825"/>
                </a:cubicBezTo>
                <a:lnTo>
                  <a:pt x="173548" y="110133"/>
                </a:lnTo>
                <a:cubicBezTo>
                  <a:pt x="176773" y="111731"/>
                  <a:pt x="178428" y="115384"/>
                  <a:pt x="177486" y="118838"/>
                </a:cubicBezTo>
                <a:lnTo>
                  <a:pt x="175488" y="126315"/>
                </a:lnTo>
                <a:cubicBezTo>
                  <a:pt x="174547" y="129768"/>
                  <a:pt x="171322" y="132109"/>
                  <a:pt x="167726" y="131880"/>
                </a:cubicBezTo>
                <a:lnTo>
                  <a:pt x="155739" y="131110"/>
                </a:lnTo>
                <a:cubicBezTo>
                  <a:pt x="153941" y="133421"/>
                  <a:pt x="151858" y="135562"/>
                  <a:pt x="149489" y="137388"/>
                </a:cubicBezTo>
                <a:lnTo>
                  <a:pt x="150260" y="149346"/>
                </a:lnTo>
                <a:cubicBezTo>
                  <a:pt x="150488" y="152942"/>
                  <a:pt x="148148" y="156196"/>
                  <a:pt x="144694" y="157109"/>
                </a:cubicBezTo>
                <a:lnTo>
                  <a:pt x="137217" y="159107"/>
                </a:lnTo>
                <a:cubicBezTo>
                  <a:pt x="133735" y="160049"/>
                  <a:pt x="130111" y="158393"/>
                  <a:pt x="128513" y="155168"/>
                </a:cubicBezTo>
                <a:lnTo>
                  <a:pt x="123204" y="144438"/>
                </a:lnTo>
                <a:cubicBezTo>
                  <a:pt x="120265" y="144038"/>
                  <a:pt x="117382" y="143239"/>
                  <a:pt x="114671" y="142126"/>
                </a:cubicBezTo>
                <a:lnTo>
                  <a:pt x="104682" y="148776"/>
                </a:lnTo>
                <a:cubicBezTo>
                  <a:pt x="101686" y="150773"/>
                  <a:pt x="97719" y="150374"/>
                  <a:pt x="95179" y="147834"/>
                </a:cubicBezTo>
                <a:lnTo>
                  <a:pt x="89699" y="142354"/>
                </a:lnTo>
                <a:cubicBezTo>
                  <a:pt x="87159" y="139814"/>
                  <a:pt x="86760" y="135847"/>
                  <a:pt x="88757" y="132851"/>
                </a:cubicBezTo>
                <a:lnTo>
                  <a:pt x="95407" y="122862"/>
                </a:lnTo>
                <a:cubicBezTo>
                  <a:pt x="94865" y="121520"/>
                  <a:pt x="94380" y="120122"/>
                  <a:pt x="93980" y="118667"/>
                </a:cubicBezTo>
                <a:cubicBezTo>
                  <a:pt x="93580" y="117211"/>
                  <a:pt x="93324" y="115756"/>
                  <a:pt x="93124" y="114329"/>
                </a:cubicBezTo>
                <a:lnTo>
                  <a:pt x="82364" y="109020"/>
                </a:lnTo>
                <a:cubicBezTo>
                  <a:pt x="79140" y="107422"/>
                  <a:pt x="77513" y="103769"/>
                  <a:pt x="78426" y="100316"/>
                </a:cubicBezTo>
                <a:lnTo>
                  <a:pt x="80424" y="92838"/>
                </a:lnTo>
                <a:cubicBezTo>
                  <a:pt x="81366" y="89385"/>
                  <a:pt x="84591" y="87045"/>
                  <a:pt x="88187" y="87273"/>
                </a:cubicBezTo>
                <a:lnTo>
                  <a:pt x="100144" y="88044"/>
                </a:lnTo>
                <a:cubicBezTo>
                  <a:pt x="101942" y="85732"/>
                  <a:pt x="104026" y="83592"/>
                  <a:pt x="106395" y="81765"/>
                </a:cubicBezTo>
                <a:lnTo>
                  <a:pt x="105624" y="69836"/>
                </a:lnTo>
                <a:cubicBezTo>
                  <a:pt x="105396" y="66240"/>
                  <a:pt x="107736" y="62986"/>
                  <a:pt x="111189" y="62073"/>
                </a:cubicBezTo>
                <a:lnTo>
                  <a:pt x="118667" y="60075"/>
                </a:lnTo>
                <a:close/>
                <a:moveTo>
                  <a:pt x="127970" y="97034"/>
                </a:moveTo>
                <a:cubicBezTo>
                  <a:pt x="121040" y="97042"/>
                  <a:pt x="115419" y="102675"/>
                  <a:pt x="115427" y="109605"/>
                </a:cubicBezTo>
                <a:cubicBezTo>
                  <a:pt x="115435" y="116536"/>
                  <a:pt x="121068" y="122156"/>
                  <a:pt x="127999" y="122148"/>
                </a:cubicBezTo>
                <a:cubicBezTo>
                  <a:pt x="134929" y="122140"/>
                  <a:pt x="140550" y="116507"/>
                  <a:pt x="140542" y="109577"/>
                </a:cubicBezTo>
                <a:cubicBezTo>
                  <a:pt x="140534" y="102646"/>
                  <a:pt x="134901" y="97026"/>
                  <a:pt x="127970" y="97034"/>
                </a:cubicBezTo>
                <a:close/>
                <a:moveTo>
                  <a:pt x="64185" y="-12985"/>
                </a:moveTo>
                <a:lnTo>
                  <a:pt x="71662" y="-10988"/>
                </a:lnTo>
                <a:cubicBezTo>
                  <a:pt x="75116" y="-10046"/>
                  <a:pt x="77456" y="-6792"/>
                  <a:pt x="77227" y="-3225"/>
                </a:cubicBezTo>
                <a:lnTo>
                  <a:pt x="76457" y="8704"/>
                </a:lnTo>
                <a:cubicBezTo>
                  <a:pt x="78826" y="10531"/>
                  <a:pt x="80909" y="12643"/>
                  <a:pt x="82707" y="14983"/>
                </a:cubicBezTo>
                <a:lnTo>
                  <a:pt x="94693" y="14213"/>
                </a:lnTo>
                <a:cubicBezTo>
                  <a:pt x="98261" y="13984"/>
                  <a:pt x="101514" y="16324"/>
                  <a:pt x="102456" y="19778"/>
                </a:cubicBezTo>
                <a:lnTo>
                  <a:pt x="104454" y="27255"/>
                </a:lnTo>
                <a:cubicBezTo>
                  <a:pt x="105367" y="30708"/>
                  <a:pt x="103740" y="34361"/>
                  <a:pt x="100516" y="35960"/>
                </a:cubicBezTo>
                <a:lnTo>
                  <a:pt x="89756" y="41268"/>
                </a:lnTo>
                <a:cubicBezTo>
                  <a:pt x="89556" y="42723"/>
                  <a:pt x="89271" y="44179"/>
                  <a:pt x="88900" y="45606"/>
                </a:cubicBezTo>
                <a:cubicBezTo>
                  <a:pt x="88529" y="47033"/>
                  <a:pt x="88015" y="48460"/>
                  <a:pt x="87473" y="49801"/>
                </a:cubicBezTo>
                <a:lnTo>
                  <a:pt x="94123" y="59790"/>
                </a:lnTo>
                <a:cubicBezTo>
                  <a:pt x="96120" y="62787"/>
                  <a:pt x="95721" y="66753"/>
                  <a:pt x="93181" y="69293"/>
                </a:cubicBezTo>
                <a:lnTo>
                  <a:pt x="87701" y="74773"/>
                </a:lnTo>
                <a:cubicBezTo>
                  <a:pt x="85161" y="77313"/>
                  <a:pt x="81194" y="77713"/>
                  <a:pt x="78198" y="75715"/>
                </a:cubicBezTo>
                <a:lnTo>
                  <a:pt x="68209" y="69065"/>
                </a:lnTo>
                <a:cubicBezTo>
                  <a:pt x="65498" y="70178"/>
                  <a:pt x="62615" y="70977"/>
                  <a:pt x="59676" y="71377"/>
                </a:cubicBezTo>
                <a:lnTo>
                  <a:pt x="54367" y="82108"/>
                </a:lnTo>
                <a:cubicBezTo>
                  <a:pt x="52769" y="85333"/>
                  <a:pt x="49116" y="86959"/>
                  <a:pt x="45663" y="86046"/>
                </a:cubicBezTo>
                <a:lnTo>
                  <a:pt x="38186" y="84048"/>
                </a:lnTo>
                <a:cubicBezTo>
                  <a:pt x="34704" y="83107"/>
                  <a:pt x="32392" y="79853"/>
                  <a:pt x="32620" y="76286"/>
                </a:cubicBezTo>
                <a:lnTo>
                  <a:pt x="33391" y="64328"/>
                </a:lnTo>
                <a:cubicBezTo>
                  <a:pt x="31022" y="62501"/>
                  <a:pt x="28939" y="60389"/>
                  <a:pt x="27141" y="58049"/>
                </a:cubicBezTo>
                <a:lnTo>
                  <a:pt x="15154" y="58820"/>
                </a:lnTo>
                <a:cubicBezTo>
                  <a:pt x="11587" y="59048"/>
                  <a:pt x="8333" y="56708"/>
                  <a:pt x="7392" y="53254"/>
                </a:cubicBezTo>
                <a:lnTo>
                  <a:pt x="5394" y="45777"/>
                </a:lnTo>
                <a:cubicBezTo>
                  <a:pt x="4481" y="42324"/>
                  <a:pt x="6107" y="38671"/>
                  <a:pt x="9332" y="37073"/>
                </a:cubicBezTo>
                <a:lnTo>
                  <a:pt x="20092" y="31764"/>
                </a:lnTo>
                <a:cubicBezTo>
                  <a:pt x="20291" y="30309"/>
                  <a:pt x="20577" y="28882"/>
                  <a:pt x="20948" y="27426"/>
                </a:cubicBezTo>
                <a:cubicBezTo>
                  <a:pt x="21347" y="25971"/>
                  <a:pt x="21804" y="24572"/>
                  <a:pt x="22375" y="23231"/>
                </a:cubicBezTo>
                <a:lnTo>
                  <a:pt x="15725" y="13271"/>
                </a:lnTo>
                <a:cubicBezTo>
                  <a:pt x="13727" y="10274"/>
                  <a:pt x="14127" y="6307"/>
                  <a:pt x="16667" y="3767"/>
                </a:cubicBezTo>
                <a:lnTo>
                  <a:pt x="22147" y="-1712"/>
                </a:lnTo>
                <a:cubicBezTo>
                  <a:pt x="24687" y="-4252"/>
                  <a:pt x="28653" y="-4652"/>
                  <a:pt x="31650" y="-2654"/>
                </a:cubicBezTo>
                <a:lnTo>
                  <a:pt x="41639" y="3996"/>
                </a:lnTo>
                <a:cubicBezTo>
                  <a:pt x="44350" y="2882"/>
                  <a:pt x="47233" y="2083"/>
                  <a:pt x="50172" y="1684"/>
                </a:cubicBezTo>
                <a:lnTo>
                  <a:pt x="55480" y="-9047"/>
                </a:lnTo>
                <a:cubicBezTo>
                  <a:pt x="57079" y="-12272"/>
                  <a:pt x="60703" y="-13899"/>
                  <a:pt x="64185" y="-12985"/>
                </a:cubicBezTo>
                <a:close/>
                <a:moveTo>
                  <a:pt x="54910" y="23973"/>
                </a:moveTo>
                <a:cubicBezTo>
                  <a:pt x="47979" y="23973"/>
                  <a:pt x="42352" y="29600"/>
                  <a:pt x="42352" y="36530"/>
                </a:cubicBezTo>
                <a:cubicBezTo>
                  <a:pt x="42352" y="43461"/>
                  <a:pt x="47979" y="49088"/>
                  <a:pt x="54910" y="49088"/>
                </a:cubicBezTo>
                <a:cubicBezTo>
                  <a:pt x="61840" y="49088"/>
                  <a:pt x="67467" y="43461"/>
                  <a:pt x="67467" y="36530"/>
                </a:cubicBezTo>
                <a:cubicBezTo>
                  <a:pt x="67467" y="29600"/>
                  <a:pt x="61840" y="23973"/>
                  <a:pt x="54910" y="2397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986319" y="5178175"/>
            <a:ext cx="243840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environment complexity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6200" y="1461213"/>
            <a:ext cx="5625672" cy="2557124"/>
          </a:xfrm>
          <a:custGeom>
            <a:avLst/>
            <a:gdLst/>
            <a:ahLst/>
            <a:cxnLst/>
            <a:rect l="l" t="t" r="r" b="b"/>
            <a:pathLst>
              <a:path w="5625672" h="2557124">
                <a:moveTo>
                  <a:pt x="36530" y="0"/>
                </a:moveTo>
                <a:lnTo>
                  <a:pt x="5552615" y="0"/>
                </a:lnTo>
                <a:cubicBezTo>
                  <a:pt x="5592963" y="0"/>
                  <a:pt x="5625672" y="32709"/>
                  <a:pt x="5625672" y="73057"/>
                </a:cubicBezTo>
                <a:lnTo>
                  <a:pt x="5625672" y="2484067"/>
                </a:lnTo>
                <a:cubicBezTo>
                  <a:pt x="5625672" y="2524415"/>
                  <a:pt x="5592963" y="2557124"/>
                  <a:pt x="5552615" y="2557124"/>
                </a:cubicBezTo>
                <a:lnTo>
                  <a:pt x="36530" y="2557124"/>
                </a:lnTo>
                <a:cubicBezTo>
                  <a:pt x="16355" y="2557124"/>
                  <a:pt x="0" y="2540768"/>
                  <a:pt x="0" y="2520593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796" dist="3653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6200" y="1461213"/>
            <a:ext cx="36530" cy="2557124"/>
          </a:xfrm>
          <a:custGeom>
            <a:avLst/>
            <a:gdLst/>
            <a:ahLst/>
            <a:cxnLst/>
            <a:rect l="l" t="t" r="r" b="b"/>
            <a:pathLst>
              <a:path w="36530" h="2557124">
                <a:moveTo>
                  <a:pt x="36530" y="0"/>
                </a:moveTo>
                <a:lnTo>
                  <a:pt x="36530" y="0"/>
                </a:lnTo>
                <a:lnTo>
                  <a:pt x="36530" y="2557124"/>
                </a:lnTo>
                <a:lnTo>
                  <a:pt x="36530" y="2557124"/>
                </a:lnTo>
                <a:cubicBezTo>
                  <a:pt x="16355" y="2557124"/>
                  <a:pt x="0" y="2540768"/>
                  <a:pt x="0" y="2520593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7117" y="164386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Shape 26"/>
          <p:cNvSpPr/>
          <p:nvPr/>
        </p:nvSpPr>
        <p:spPr>
          <a:xfrm>
            <a:off x="6594335" y="1808252"/>
            <a:ext cx="136989" cy="182652"/>
          </a:xfrm>
          <a:custGeom>
            <a:avLst/>
            <a:gdLst/>
            <a:ahLst/>
            <a:cxnLst/>
            <a:rect l="l" t="t" r="r" b="b"/>
            <a:pathLst>
              <a:path w="136989" h="182652">
                <a:moveTo>
                  <a:pt x="104490" y="136989"/>
                </a:moveTo>
                <a:cubicBezTo>
                  <a:pt x="107094" y="129033"/>
                  <a:pt x="112302" y="121827"/>
                  <a:pt x="118188" y="115620"/>
                </a:cubicBezTo>
                <a:cubicBezTo>
                  <a:pt x="129854" y="103348"/>
                  <a:pt x="136989" y="86760"/>
                  <a:pt x="136989" y="68494"/>
                </a:cubicBezTo>
                <a:cubicBezTo>
                  <a:pt x="136989" y="30680"/>
                  <a:pt x="106309" y="0"/>
                  <a:pt x="68494" y="0"/>
                </a:cubicBezTo>
                <a:cubicBezTo>
                  <a:pt x="30680" y="0"/>
                  <a:pt x="0" y="30680"/>
                  <a:pt x="0" y="68494"/>
                </a:cubicBezTo>
                <a:cubicBezTo>
                  <a:pt x="0" y="86760"/>
                  <a:pt x="7135" y="103348"/>
                  <a:pt x="18800" y="115620"/>
                </a:cubicBezTo>
                <a:cubicBezTo>
                  <a:pt x="24687" y="121827"/>
                  <a:pt x="29931" y="129033"/>
                  <a:pt x="32499" y="136989"/>
                </a:cubicBezTo>
                <a:lnTo>
                  <a:pt x="104454" y="136989"/>
                </a:lnTo>
                <a:close/>
                <a:moveTo>
                  <a:pt x="102742" y="154112"/>
                </a:moveTo>
                <a:lnTo>
                  <a:pt x="34247" y="154112"/>
                </a:lnTo>
                <a:lnTo>
                  <a:pt x="34247" y="159820"/>
                </a:lnTo>
                <a:cubicBezTo>
                  <a:pt x="34247" y="175588"/>
                  <a:pt x="47019" y="188360"/>
                  <a:pt x="62787" y="188360"/>
                </a:cubicBezTo>
                <a:lnTo>
                  <a:pt x="74202" y="188360"/>
                </a:lnTo>
                <a:cubicBezTo>
                  <a:pt x="89970" y="188360"/>
                  <a:pt x="102742" y="175588"/>
                  <a:pt x="102742" y="159820"/>
                </a:cubicBezTo>
                <a:lnTo>
                  <a:pt x="102742" y="154112"/>
                </a:lnTo>
                <a:close/>
                <a:moveTo>
                  <a:pt x="65640" y="39955"/>
                </a:moveTo>
                <a:cubicBezTo>
                  <a:pt x="51442" y="39955"/>
                  <a:pt x="39955" y="51442"/>
                  <a:pt x="39955" y="65640"/>
                </a:cubicBezTo>
                <a:cubicBezTo>
                  <a:pt x="39955" y="70385"/>
                  <a:pt x="36138" y="74202"/>
                  <a:pt x="31393" y="74202"/>
                </a:cubicBezTo>
                <a:cubicBezTo>
                  <a:pt x="26649" y="74202"/>
                  <a:pt x="22831" y="70385"/>
                  <a:pt x="22831" y="65640"/>
                </a:cubicBezTo>
                <a:cubicBezTo>
                  <a:pt x="22831" y="41988"/>
                  <a:pt x="41988" y="22831"/>
                  <a:pt x="65640" y="22831"/>
                </a:cubicBezTo>
                <a:cubicBezTo>
                  <a:pt x="70385" y="22831"/>
                  <a:pt x="74202" y="26649"/>
                  <a:pt x="74202" y="31393"/>
                </a:cubicBezTo>
                <a:cubicBezTo>
                  <a:pt x="74202" y="36138"/>
                  <a:pt x="70385" y="39955"/>
                  <a:pt x="65640" y="399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064663" y="1662130"/>
            <a:ext cx="223748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2C3E5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Focus on Evaluate/Create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64663" y="1917843"/>
            <a:ext cx="2219218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Addressing the hardest challenge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7117" y="2264881"/>
            <a:ext cx="5315164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specialized techniques to improve classification accuracy for </a:t>
            </a:r>
            <a:pPr>
              <a:lnSpc>
                <a:spcPct val="140000"/>
              </a:lnSpc>
            </a:pPr>
            <a:r>
              <a:rPr lang="en-US" sz="1151" b="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higher-order cognitive skills</a:t>
            </a:r>
            <a:pPr>
              <a:lnSpc>
                <a:spcPct val="14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7117" y="2812836"/>
            <a:ext cx="5242103" cy="1022849"/>
          </a:xfrm>
          <a:custGeom>
            <a:avLst/>
            <a:gdLst/>
            <a:ahLst/>
            <a:cxnLst/>
            <a:rect l="l" t="t" r="r" b="b"/>
            <a:pathLst>
              <a:path w="5242103" h="1022849">
                <a:moveTo>
                  <a:pt x="36526" y="0"/>
                </a:moveTo>
                <a:lnTo>
                  <a:pt x="5205577" y="0"/>
                </a:lnTo>
                <a:cubicBezTo>
                  <a:pt x="5225750" y="0"/>
                  <a:pt x="5242103" y="16353"/>
                  <a:pt x="5242103" y="36526"/>
                </a:cubicBezTo>
                <a:lnTo>
                  <a:pt x="5242103" y="986323"/>
                </a:lnTo>
                <a:cubicBezTo>
                  <a:pt x="5242103" y="1006496"/>
                  <a:pt x="5225750" y="1022849"/>
                  <a:pt x="5205577" y="1022849"/>
                </a:cubicBezTo>
                <a:lnTo>
                  <a:pt x="36526" y="1022849"/>
                </a:lnTo>
                <a:cubicBezTo>
                  <a:pt x="16353" y="1022849"/>
                  <a:pt x="0" y="1006496"/>
                  <a:pt x="0" y="986323"/>
                </a:cubicBezTo>
                <a:lnTo>
                  <a:pt x="0" y="36526"/>
                </a:lnTo>
                <a:cubicBezTo>
                  <a:pt x="0" y="16367"/>
                  <a:pt x="16367" y="0"/>
                  <a:pt x="36526" y="0"/>
                </a:cubicBezTo>
                <a:close/>
              </a:path>
            </a:pathLst>
          </a:custGeom>
          <a:solidFill>
            <a:srgbClr val="F8F7F2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4973" y="2958957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143439" y="79511"/>
                </a:moveTo>
                <a:cubicBezTo>
                  <a:pt x="147006" y="75943"/>
                  <a:pt x="147006" y="70150"/>
                  <a:pt x="143439" y="66582"/>
                </a:cubicBezTo>
                <a:lnTo>
                  <a:pt x="97776" y="20919"/>
                </a:lnTo>
                <a:cubicBezTo>
                  <a:pt x="94208" y="17352"/>
                  <a:pt x="88415" y="17352"/>
                  <a:pt x="84847" y="20919"/>
                </a:cubicBezTo>
                <a:cubicBezTo>
                  <a:pt x="81280" y="24487"/>
                  <a:pt x="81280" y="30280"/>
                  <a:pt x="84847" y="33848"/>
                </a:cubicBezTo>
                <a:lnTo>
                  <a:pt x="114928" y="63928"/>
                </a:lnTo>
                <a:lnTo>
                  <a:pt x="9133" y="63928"/>
                </a:lnTo>
                <a:cubicBezTo>
                  <a:pt x="4081" y="63928"/>
                  <a:pt x="0" y="68009"/>
                  <a:pt x="0" y="73061"/>
                </a:cubicBezTo>
                <a:cubicBezTo>
                  <a:pt x="0" y="78112"/>
                  <a:pt x="4081" y="82193"/>
                  <a:pt x="9133" y="82193"/>
                </a:cubicBezTo>
                <a:lnTo>
                  <a:pt x="114928" y="82193"/>
                </a:lnTo>
                <a:lnTo>
                  <a:pt x="84847" y="112274"/>
                </a:lnTo>
                <a:cubicBezTo>
                  <a:pt x="81280" y="115841"/>
                  <a:pt x="81280" y="121635"/>
                  <a:pt x="84847" y="125202"/>
                </a:cubicBezTo>
                <a:cubicBezTo>
                  <a:pt x="88415" y="128769"/>
                  <a:pt x="94208" y="128769"/>
                  <a:pt x="97776" y="125202"/>
                </a:cubicBezTo>
                <a:lnTo>
                  <a:pt x="143439" y="7953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6772420" y="2922427"/>
            <a:ext cx="2356207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 data augmentation strategies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34973" y="3251200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143439" y="79511"/>
                </a:moveTo>
                <a:cubicBezTo>
                  <a:pt x="147006" y="75943"/>
                  <a:pt x="147006" y="70150"/>
                  <a:pt x="143439" y="66582"/>
                </a:cubicBezTo>
                <a:lnTo>
                  <a:pt x="97776" y="20919"/>
                </a:lnTo>
                <a:cubicBezTo>
                  <a:pt x="94208" y="17352"/>
                  <a:pt x="88415" y="17352"/>
                  <a:pt x="84847" y="20919"/>
                </a:cubicBezTo>
                <a:cubicBezTo>
                  <a:pt x="81280" y="24487"/>
                  <a:pt x="81280" y="30280"/>
                  <a:pt x="84847" y="33848"/>
                </a:cubicBezTo>
                <a:lnTo>
                  <a:pt x="114928" y="63928"/>
                </a:lnTo>
                <a:lnTo>
                  <a:pt x="9133" y="63928"/>
                </a:lnTo>
                <a:cubicBezTo>
                  <a:pt x="4081" y="63928"/>
                  <a:pt x="0" y="68009"/>
                  <a:pt x="0" y="73061"/>
                </a:cubicBezTo>
                <a:cubicBezTo>
                  <a:pt x="0" y="78112"/>
                  <a:pt x="4081" y="82193"/>
                  <a:pt x="9133" y="82193"/>
                </a:cubicBezTo>
                <a:lnTo>
                  <a:pt x="114928" y="82193"/>
                </a:lnTo>
                <a:lnTo>
                  <a:pt x="84847" y="112274"/>
                </a:lnTo>
                <a:cubicBezTo>
                  <a:pt x="81280" y="115841"/>
                  <a:pt x="81280" y="121635"/>
                  <a:pt x="84847" y="125202"/>
                </a:cubicBezTo>
                <a:cubicBezTo>
                  <a:pt x="88415" y="128769"/>
                  <a:pt x="94208" y="128769"/>
                  <a:pt x="97776" y="125202"/>
                </a:cubicBezTo>
                <a:lnTo>
                  <a:pt x="143439" y="7953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6772420" y="3214670"/>
            <a:ext cx="240187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Class-balanced learning approaches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4973" y="3543443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143439" y="79511"/>
                </a:moveTo>
                <a:cubicBezTo>
                  <a:pt x="147006" y="75943"/>
                  <a:pt x="147006" y="70150"/>
                  <a:pt x="143439" y="66582"/>
                </a:cubicBezTo>
                <a:lnTo>
                  <a:pt x="97776" y="20919"/>
                </a:lnTo>
                <a:cubicBezTo>
                  <a:pt x="94208" y="17352"/>
                  <a:pt x="88415" y="17352"/>
                  <a:pt x="84847" y="20919"/>
                </a:cubicBezTo>
                <a:cubicBezTo>
                  <a:pt x="81280" y="24487"/>
                  <a:pt x="81280" y="30280"/>
                  <a:pt x="84847" y="33848"/>
                </a:cubicBezTo>
                <a:lnTo>
                  <a:pt x="114928" y="63928"/>
                </a:lnTo>
                <a:lnTo>
                  <a:pt x="9133" y="63928"/>
                </a:lnTo>
                <a:cubicBezTo>
                  <a:pt x="4081" y="63928"/>
                  <a:pt x="0" y="68009"/>
                  <a:pt x="0" y="73061"/>
                </a:cubicBezTo>
                <a:cubicBezTo>
                  <a:pt x="0" y="78112"/>
                  <a:pt x="4081" y="82193"/>
                  <a:pt x="9133" y="82193"/>
                </a:cubicBezTo>
                <a:lnTo>
                  <a:pt x="114928" y="82193"/>
                </a:lnTo>
                <a:lnTo>
                  <a:pt x="84847" y="112274"/>
                </a:lnTo>
                <a:cubicBezTo>
                  <a:pt x="81280" y="115841"/>
                  <a:pt x="81280" y="121635"/>
                  <a:pt x="84847" y="125202"/>
                </a:cubicBezTo>
                <a:cubicBezTo>
                  <a:pt x="88415" y="128769"/>
                  <a:pt x="94208" y="128769"/>
                  <a:pt x="97776" y="125202"/>
                </a:cubicBezTo>
                <a:lnTo>
                  <a:pt x="143439" y="7953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6772420" y="3506912"/>
            <a:ext cx="181738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343A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model architectures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7935" y="4164458"/>
            <a:ext cx="5643937" cy="2100494"/>
          </a:xfrm>
          <a:custGeom>
            <a:avLst/>
            <a:gdLst/>
            <a:ahLst/>
            <a:cxnLst/>
            <a:rect l="l" t="t" r="r" b="b"/>
            <a:pathLst>
              <a:path w="5643937" h="2100494">
                <a:moveTo>
                  <a:pt x="73055" y="0"/>
                </a:moveTo>
                <a:lnTo>
                  <a:pt x="5570882" y="0"/>
                </a:lnTo>
                <a:cubicBezTo>
                  <a:pt x="5611229" y="0"/>
                  <a:pt x="5643937" y="32708"/>
                  <a:pt x="5643937" y="73055"/>
                </a:cubicBezTo>
                <a:lnTo>
                  <a:pt x="5643937" y="2027439"/>
                </a:lnTo>
                <a:cubicBezTo>
                  <a:pt x="5643937" y="2067786"/>
                  <a:pt x="5611229" y="2100494"/>
                  <a:pt x="5570882" y="2100494"/>
                </a:cubicBezTo>
                <a:lnTo>
                  <a:pt x="73055" y="2100494"/>
                </a:lnTo>
                <a:cubicBezTo>
                  <a:pt x="32708" y="2100494"/>
                  <a:pt x="0" y="2067786"/>
                  <a:pt x="0" y="2027439"/>
                </a:cubicBezTo>
                <a:lnTo>
                  <a:pt x="0" y="73055"/>
                </a:lnTo>
                <a:cubicBezTo>
                  <a:pt x="0" y="32708"/>
                  <a:pt x="32708" y="0"/>
                  <a:pt x="73055" y="0"/>
                </a:cubicBezTo>
                <a:close/>
              </a:path>
            </a:pathLst>
          </a:custGeom>
          <a:gradFill rotWithShape="1" flip="none">
            <a:gsLst>
              <a:gs pos="0">
                <a:srgbClr val="2C3E50"/>
              </a:gs>
              <a:gs pos="100000">
                <a:srgbClr val="8D99AE"/>
              </a:gs>
            </a:gsLst>
            <a:lin ang="2700000" scaled="1"/>
          </a:gradFill>
          <a:ln/>
          <a:effectLst>
            <a:outerShdw sx="100000" sy="100000" kx="0" ky="0" algn="bl" rotWithShape="0" blurRad="54796" dist="36530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70586" y="4347110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Shape 39"/>
          <p:cNvSpPr/>
          <p:nvPr/>
        </p:nvSpPr>
        <p:spPr>
          <a:xfrm>
            <a:off x="6534973" y="4511497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96998" y="7206"/>
                </a:moveTo>
                <a:cubicBezTo>
                  <a:pt x="93502" y="5208"/>
                  <a:pt x="89185" y="5208"/>
                  <a:pt x="85654" y="7206"/>
                </a:cubicBezTo>
                <a:lnTo>
                  <a:pt x="5744" y="52869"/>
                </a:lnTo>
                <a:cubicBezTo>
                  <a:pt x="1249" y="55438"/>
                  <a:pt x="-963" y="60717"/>
                  <a:pt x="357" y="65712"/>
                </a:cubicBezTo>
                <a:cubicBezTo>
                  <a:pt x="1677" y="70706"/>
                  <a:pt x="6243" y="74202"/>
                  <a:pt x="11416" y="74202"/>
                </a:cubicBezTo>
                <a:lnTo>
                  <a:pt x="22831" y="74202"/>
                </a:lnTo>
                <a:lnTo>
                  <a:pt x="22831" y="148404"/>
                </a:lnTo>
                <a:lnTo>
                  <a:pt x="22831" y="148404"/>
                </a:lnTo>
                <a:lnTo>
                  <a:pt x="4566" y="162103"/>
                </a:lnTo>
                <a:cubicBezTo>
                  <a:pt x="1677" y="164244"/>
                  <a:pt x="0" y="167633"/>
                  <a:pt x="0" y="171236"/>
                </a:cubicBezTo>
                <a:cubicBezTo>
                  <a:pt x="0" y="177550"/>
                  <a:pt x="5101" y="182652"/>
                  <a:pt x="11416" y="182652"/>
                </a:cubicBezTo>
                <a:lnTo>
                  <a:pt x="171236" y="182652"/>
                </a:lnTo>
                <a:cubicBezTo>
                  <a:pt x="177550" y="182652"/>
                  <a:pt x="182652" y="177550"/>
                  <a:pt x="182652" y="171236"/>
                </a:cubicBezTo>
                <a:cubicBezTo>
                  <a:pt x="182652" y="167633"/>
                  <a:pt x="180975" y="164244"/>
                  <a:pt x="178085" y="162103"/>
                </a:cubicBezTo>
                <a:lnTo>
                  <a:pt x="159820" y="148404"/>
                </a:lnTo>
                <a:lnTo>
                  <a:pt x="159820" y="74202"/>
                </a:lnTo>
                <a:lnTo>
                  <a:pt x="171236" y="74202"/>
                </a:lnTo>
                <a:cubicBezTo>
                  <a:pt x="176409" y="74202"/>
                  <a:pt x="180939" y="70706"/>
                  <a:pt x="182259" y="65712"/>
                </a:cubicBezTo>
                <a:cubicBezTo>
                  <a:pt x="183579" y="60717"/>
                  <a:pt x="181367" y="55438"/>
                  <a:pt x="176872" y="52869"/>
                </a:cubicBezTo>
                <a:lnTo>
                  <a:pt x="96962" y="7206"/>
                </a:lnTo>
                <a:close/>
                <a:moveTo>
                  <a:pt x="142697" y="74202"/>
                </a:moveTo>
                <a:lnTo>
                  <a:pt x="142697" y="148404"/>
                </a:lnTo>
                <a:lnTo>
                  <a:pt x="119865" y="148404"/>
                </a:lnTo>
                <a:lnTo>
                  <a:pt x="119865" y="74202"/>
                </a:lnTo>
                <a:lnTo>
                  <a:pt x="142697" y="74202"/>
                </a:lnTo>
                <a:close/>
                <a:moveTo>
                  <a:pt x="102742" y="74202"/>
                </a:moveTo>
                <a:lnTo>
                  <a:pt x="102742" y="148404"/>
                </a:lnTo>
                <a:lnTo>
                  <a:pt x="79910" y="148404"/>
                </a:lnTo>
                <a:lnTo>
                  <a:pt x="79910" y="74202"/>
                </a:lnTo>
                <a:lnTo>
                  <a:pt x="102742" y="74202"/>
                </a:lnTo>
                <a:close/>
                <a:moveTo>
                  <a:pt x="62787" y="74202"/>
                </a:moveTo>
                <a:lnTo>
                  <a:pt x="62787" y="148404"/>
                </a:lnTo>
                <a:lnTo>
                  <a:pt x="39955" y="148404"/>
                </a:lnTo>
                <a:lnTo>
                  <a:pt x="39955" y="74202"/>
                </a:lnTo>
                <a:lnTo>
                  <a:pt x="62787" y="74202"/>
                </a:lnTo>
                <a:close/>
                <a:moveTo>
                  <a:pt x="91326" y="34247"/>
                </a:moveTo>
                <a:cubicBezTo>
                  <a:pt x="97626" y="34247"/>
                  <a:pt x="102742" y="39362"/>
                  <a:pt x="102742" y="45663"/>
                </a:cubicBezTo>
                <a:cubicBezTo>
                  <a:pt x="102742" y="51963"/>
                  <a:pt x="97626" y="57079"/>
                  <a:pt x="91326" y="57079"/>
                </a:cubicBezTo>
                <a:cubicBezTo>
                  <a:pt x="85025" y="57079"/>
                  <a:pt x="79910" y="51963"/>
                  <a:pt x="79910" y="45663"/>
                </a:cubicBezTo>
                <a:cubicBezTo>
                  <a:pt x="79910" y="39362"/>
                  <a:pt x="85025" y="34247"/>
                  <a:pt x="91326" y="342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028132" y="4365375"/>
            <a:ext cx="1835649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Practical Relevance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28132" y="4621088"/>
            <a:ext cx="181738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educational institutions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70586" y="4968126"/>
            <a:ext cx="5351694" cy="23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research outputs are </a:t>
            </a:r>
            <a:pPr>
              <a:lnSpc>
                <a:spcPct val="140000"/>
              </a:lnSpc>
            </a:pPr>
            <a:r>
              <a:rPr lang="en-US" sz="1151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immediately applicable</a:t>
            </a:r>
            <a:pPr>
              <a:lnSpc>
                <a:spcPct val="140000"/>
              </a:lnSpc>
            </a:pPr>
            <a:r>
              <a:rPr lang="en-US" sz="115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university settings: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7984" y="5315164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6626299" y="5278634"/>
            <a:ext cx="2493196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implementation guidelines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7984" y="5607407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6626299" y="5570876"/>
            <a:ext cx="223748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Cost-benefit analysis frameworks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7984" y="5899649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8"/>
          <p:cNvSpPr/>
          <p:nvPr/>
        </p:nvSpPr>
        <p:spPr>
          <a:xfrm>
            <a:off x="6626299" y="5863119"/>
            <a:ext cx="2091362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deployment strategies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8956" y="6414727"/>
            <a:ext cx="11459567" cy="445670"/>
          </a:xfrm>
          <a:custGeom>
            <a:avLst/>
            <a:gdLst/>
            <a:ahLst/>
            <a:cxnLst/>
            <a:rect l="l" t="t" r="r" b="b"/>
            <a:pathLst>
              <a:path w="11459567" h="445670">
                <a:moveTo>
                  <a:pt x="73059" y="0"/>
                </a:moveTo>
                <a:lnTo>
                  <a:pt x="11386508" y="0"/>
                </a:lnTo>
                <a:cubicBezTo>
                  <a:pt x="11426857" y="0"/>
                  <a:pt x="11459567" y="32709"/>
                  <a:pt x="11459567" y="73059"/>
                </a:cubicBezTo>
                <a:lnTo>
                  <a:pt x="11459567" y="372611"/>
                </a:lnTo>
                <a:cubicBezTo>
                  <a:pt x="11459567" y="412961"/>
                  <a:pt x="11426857" y="445670"/>
                  <a:pt x="11386508" y="445670"/>
                </a:cubicBezTo>
                <a:lnTo>
                  <a:pt x="73059" y="445670"/>
                </a:lnTo>
                <a:cubicBezTo>
                  <a:pt x="32737" y="445670"/>
                  <a:pt x="0" y="412934"/>
                  <a:pt x="0" y="372611"/>
                </a:cubicBezTo>
                <a:lnTo>
                  <a:pt x="0" y="73059"/>
                </a:lnTo>
                <a:cubicBezTo>
                  <a:pt x="0" y="32737"/>
                  <a:pt x="32737" y="0"/>
                  <a:pt x="7305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2472" y="6560848"/>
            <a:ext cx="164387" cy="146121"/>
          </a:xfrm>
          <a:custGeom>
            <a:avLst/>
            <a:gdLst/>
            <a:ahLst/>
            <a:cxnLst/>
            <a:rect l="l" t="t" r="r" b="b"/>
            <a:pathLst>
              <a:path w="164387" h="146121">
                <a:moveTo>
                  <a:pt x="88329" y="-5394"/>
                </a:moveTo>
                <a:cubicBezTo>
                  <a:pt x="87159" y="-7677"/>
                  <a:pt x="84790" y="-9133"/>
                  <a:pt x="82222" y="-9133"/>
                </a:cubicBezTo>
                <a:cubicBezTo>
                  <a:pt x="79653" y="-9133"/>
                  <a:pt x="77284" y="-7677"/>
                  <a:pt x="76114" y="-5394"/>
                </a:cubicBezTo>
                <a:lnTo>
                  <a:pt x="55109" y="35760"/>
                </a:lnTo>
                <a:lnTo>
                  <a:pt x="9475" y="43009"/>
                </a:lnTo>
                <a:cubicBezTo>
                  <a:pt x="6935" y="43408"/>
                  <a:pt x="4823" y="45206"/>
                  <a:pt x="4024" y="47661"/>
                </a:cubicBezTo>
                <a:cubicBezTo>
                  <a:pt x="3225" y="50115"/>
                  <a:pt x="3881" y="52798"/>
                  <a:pt x="5679" y="54624"/>
                </a:cubicBezTo>
                <a:lnTo>
                  <a:pt x="38328" y="87302"/>
                </a:lnTo>
                <a:lnTo>
                  <a:pt x="31136" y="132936"/>
                </a:lnTo>
                <a:cubicBezTo>
                  <a:pt x="30737" y="135476"/>
                  <a:pt x="31793" y="138045"/>
                  <a:pt x="33876" y="139557"/>
                </a:cubicBezTo>
                <a:cubicBezTo>
                  <a:pt x="35960" y="141070"/>
                  <a:pt x="38699" y="141298"/>
                  <a:pt x="41011" y="140128"/>
                </a:cubicBezTo>
                <a:lnTo>
                  <a:pt x="82222" y="119180"/>
                </a:lnTo>
                <a:lnTo>
                  <a:pt x="123404" y="140128"/>
                </a:lnTo>
                <a:cubicBezTo>
                  <a:pt x="125687" y="141298"/>
                  <a:pt x="128456" y="141070"/>
                  <a:pt x="130539" y="139557"/>
                </a:cubicBezTo>
                <a:cubicBezTo>
                  <a:pt x="132622" y="138045"/>
                  <a:pt x="133678" y="135505"/>
                  <a:pt x="133279" y="132936"/>
                </a:cubicBezTo>
                <a:lnTo>
                  <a:pt x="126058" y="87302"/>
                </a:lnTo>
                <a:lnTo>
                  <a:pt x="158707" y="54624"/>
                </a:lnTo>
                <a:cubicBezTo>
                  <a:pt x="160534" y="52798"/>
                  <a:pt x="161162" y="50115"/>
                  <a:pt x="160362" y="47661"/>
                </a:cubicBezTo>
                <a:cubicBezTo>
                  <a:pt x="159563" y="45206"/>
                  <a:pt x="157480" y="43408"/>
                  <a:pt x="154911" y="43009"/>
                </a:cubicBezTo>
                <a:lnTo>
                  <a:pt x="109306" y="35760"/>
                </a:lnTo>
                <a:lnTo>
                  <a:pt x="88329" y="-539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1"/>
          <p:cNvSpPr/>
          <p:nvPr/>
        </p:nvSpPr>
        <p:spPr>
          <a:xfrm>
            <a:off x="753921" y="6527969"/>
            <a:ext cx="10924828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pPr algn="ctr">
              <a:lnSpc>
                <a:spcPct val="130000"/>
              </a:lnSpc>
            </a:pPr>
            <a:r>
              <a:rPr lang="en-US" sz="115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are anticipated contributions based on research direction, not claims. Outcomes will be validated through rigorous empirical investigation.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eurosciencenews.com/d2f5b8c40e6c089c22870d350d1290ad9a5dc71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85" b="778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8D99AE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590" y="367229"/>
            <a:ext cx="2001398" cy="403952"/>
          </a:xfrm>
          <a:custGeom>
            <a:avLst/>
            <a:gdLst/>
            <a:ahLst/>
            <a:cxnLst/>
            <a:rect l="l" t="t" r="r" b="b"/>
            <a:pathLst>
              <a:path w="2001398" h="403952">
                <a:moveTo>
                  <a:pt x="0" y="0"/>
                </a:moveTo>
                <a:lnTo>
                  <a:pt x="2001398" y="0"/>
                </a:lnTo>
                <a:lnTo>
                  <a:pt x="2001398" y="403952"/>
                </a:lnTo>
                <a:lnTo>
                  <a:pt x="0" y="403952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85590" y="367229"/>
            <a:ext cx="36723" cy="403952"/>
          </a:xfrm>
          <a:custGeom>
            <a:avLst/>
            <a:gdLst/>
            <a:ahLst/>
            <a:cxnLst/>
            <a:rect l="l" t="t" r="r" b="b"/>
            <a:pathLst>
              <a:path w="36723" h="403952">
                <a:moveTo>
                  <a:pt x="0" y="0"/>
                </a:moveTo>
                <a:lnTo>
                  <a:pt x="36723" y="0"/>
                </a:lnTo>
                <a:lnTo>
                  <a:pt x="36723" y="403952"/>
                </a:lnTo>
                <a:lnTo>
                  <a:pt x="0" y="40395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587566" y="440675"/>
            <a:ext cx="169843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spc="65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Moving Forward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7229" y="918072"/>
            <a:ext cx="11677880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0" b="1" dirty="0">
                <a:solidFill>
                  <a:srgbClr val="F8F7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7229" y="1468916"/>
            <a:ext cx="1154934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dirty="0">
                <a:solidFill>
                  <a:srgbClr val="F8F7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action items and open questions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0901" y="1949986"/>
            <a:ext cx="3661272" cy="4111128"/>
          </a:xfrm>
          <a:custGeom>
            <a:avLst/>
            <a:gdLst/>
            <a:ahLst/>
            <a:cxnLst/>
            <a:rect l="l" t="t" r="r" b="b"/>
            <a:pathLst>
              <a:path w="3661272" h="4111128">
                <a:moveTo>
                  <a:pt x="73445" y="0"/>
                </a:moveTo>
                <a:lnTo>
                  <a:pt x="3587827" y="0"/>
                </a:lnTo>
                <a:cubicBezTo>
                  <a:pt x="3628390" y="0"/>
                  <a:pt x="3661272" y="32883"/>
                  <a:pt x="3661272" y="73445"/>
                </a:cubicBezTo>
                <a:lnTo>
                  <a:pt x="3661272" y="4037683"/>
                </a:lnTo>
                <a:cubicBezTo>
                  <a:pt x="3661272" y="4078245"/>
                  <a:pt x="3628390" y="4111128"/>
                  <a:pt x="3587827" y="4111128"/>
                </a:cubicBezTo>
                <a:lnTo>
                  <a:pt x="73445" y="4111128"/>
                </a:lnTo>
                <a:cubicBezTo>
                  <a:pt x="32883" y="4111128"/>
                  <a:pt x="0" y="4078245"/>
                  <a:pt x="0" y="4037683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 w="10160">
            <a:solidFill>
              <a:srgbClr val="F8F7F2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911" y="2173993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8"/>
          <p:cNvSpPr/>
          <p:nvPr/>
        </p:nvSpPr>
        <p:spPr>
          <a:xfrm>
            <a:off x="771028" y="2302524"/>
            <a:ext cx="376410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9369" y="2173993"/>
            <a:ext cx="2588964" cy="58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Finalize Research Questions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911" y="3661270"/>
            <a:ext cx="3295880" cy="5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specific, testable research questions that address identified gaps.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3272" y="4345234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44195" y="79930"/>
                </a:moveTo>
                <a:cubicBezTo>
                  <a:pt x="147781" y="76343"/>
                  <a:pt x="147781" y="70519"/>
                  <a:pt x="144195" y="66933"/>
                </a:cubicBezTo>
                <a:lnTo>
                  <a:pt x="98291" y="21030"/>
                </a:lnTo>
                <a:cubicBezTo>
                  <a:pt x="94705" y="17443"/>
                  <a:pt x="88881" y="17443"/>
                  <a:pt x="85295" y="21030"/>
                </a:cubicBezTo>
                <a:cubicBezTo>
                  <a:pt x="81708" y="24616"/>
                  <a:pt x="81708" y="30440"/>
                  <a:pt x="85295" y="34026"/>
                </a:cubicBezTo>
                <a:lnTo>
                  <a:pt x="115534" y="64265"/>
                </a:lnTo>
                <a:lnTo>
                  <a:pt x="9181" y="64265"/>
                </a:lnTo>
                <a:cubicBezTo>
                  <a:pt x="4103" y="64265"/>
                  <a:pt x="0" y="68368"/>
                  <a:pt x="0" y="73446"/>
                </a:cubicBezTo>
                <a:cubicBezTo>
                  <a:pt x="0" y="78524"/>
                  <a:pt x="4103" y="82627"/>
                  <a:pt x="9181" y="82627"/>
                </a:cubicBezTo>
                <a:lnTo>
                  <a:pt x="115534" y="82627"/>
                </a:lnTo>
                <a:lnTo>
                  <a:pt x="85295" y="112866"/>
                </a:lnTo>
                <a:cubicBezTo>
                  <a:pt x="81708" y="116452"/>
                  <a:pt x="81708" y="122276"/>
                  <a:pt x="85295" y="125862"/>
                </a:cubicBezTo>
                <a:cubicBezTo>
                  <a:pt x="88881" y="129448"/>
                  <a:pt x="94705" y="129448"/>
                  <a:pt x="98291" y="125862"/>
                </a:cubicBezTo>
                <a:lnTo>
                  <a:pt x="144195" y="7995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2"/>
          <p:cNvSpPr/>
          <p:nvPr/>
        </p:nvSpPr>
        <p:spPr>
          <a:xfrm>
            <a:off x="888694" y="4308511"/>
            <a:ext cx="206566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performance RQs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3272" y="4639017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44195" y="79930"/>
                </a:moveTo>
                <a:cubicBezTo>
                  <a:pt x="147781" y="76343"/>
                  <a:pt x="147781" y="70519"/>
                  <a:pt x="144195" y="66933"/>
                </a:cubicBezTo>
                <a:lnTo>
                  <a:pt x="98291" y="21030"/>
                </a:lnTo>
                <a:cubicBezTo>
                  <a:pt x="94705" y="17443"/>
                  <a:pt x="88881" y="17443"/>
                  <a:pt x="85295" y="21030"/>
                </a:cubicBezTo>
                <a:cubicBezTo>
                  <a:pt x="81708" y="24616"/>
                  <a:pt x="81708" y="30440"/>
                  <a:pt x="85295" y="34026"/>
                </a:cubicBezTo>
                <a:lnTo>
                  <a:pt x="115534" y="64265"/>
                </a:lnTo>
                <a:lnTo>
                  <a:pt x="9181" y="64265"/>
                </a:lnTo>
                <a:cubicBezTo>
                  <a:pt x="4103" y="64265"/>
                  <a:pt x="0" y="68368"/>
                  <a:pt x="0" y="73446"/>
                </a:cubicBezTo>
                <a:cubicBezTo>
                  <a:pt x="0" y="78524"/>
                  <a:pt x="4103" y="82627"/>
                  <a:pt x="9181" y="82627"/>
                </a:cubicBezTo>
                <a:lnTo>
                  <a:pt x="115534" y="82627"/>
                </a:lnTo>
                <a:lnTo>
                  <a:pt x="85295" y="112866"/>
                </a:lnTo>
                <a:cubicBezTo>
                  <a:pt x="81708" y="116452"/>
                  <a:pt x="81708" y="122276"/>
                  <a:pt x="85295" y="125862"/>
                </a:cubicBezTo>
                <a:cubicBezTo>
                  <a:pt x="88881" y="129448"/>
                  <a:pt x="94705" y="129448"/>
                  <a:pt x="98291" y="125862"/>
                </a:cubicBezTo>
                <a:lnTo>
                  <a:pt x="144195" y="7995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4"/>
          <p:cNvSpPr/>
          <p:nvPr/>
        </p:nvSpPr>
        <p:spPr>
          <a:xfrm>
            <a:off x="888694" y="4602295"/>
            <a:ext cx="2093205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Higher-order classification RQs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3272" y="4932801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44195" y="79930"/>
                </a:moveTo>
                <a:cubicBezTo>
                  <a:pt x="147781" y="76343"/>
                  <a:pt x="147781" y="70519"/>
                  <a:pt x="144195" y="66933"/>
                </a:cubicBezTo>
                <a:lnTo>
                  <a:pt x="98291" y="21030"/>
                </a:lnTo>
                <a:cubicBezTo>
                  <a:pt x="94705" y="17443"/>
                  <a:pt x="88881" y="17443"/>
                  <a:pt x="85295" y="21030"/>
                </a:cubicBezTo>
                <a:cubicBezTo>
                  <a:pt x="81708" y="24616"/>
                  <a:pt x="81708" y="30440"/>
                  <a:pt x="85295" y="34026"/>
                </a:cubicBezTo>
                <a:lnTo>
                  <a:pt x="115534" y="64265"/>
                </a:lnTo>
                <a:lnTo>
                  <a:pt x="9181" y="64265"/>
                </a:lnTo>
                <a:cubicBezTo>
                  <a:pt x="4103" y="64265"/>
                  <a:pt x="0" y="68368"/>
                  <a:pt x="0" y="73446"/>
                </a:cubicBezTo>
                <a:cubicBezTo>
                  <a:pt x="0" y="78524"/>
                  <a:pt x="4103" y="82627"/>
                  <a:pt x="9181" y="82627"/>
                </a:cubicBezTo>
                <a:lnTo>
                  <a:pt x="115534" y="82627"/>
                </a:lnTo>
                <a:lnTo>
                  <a:pt x="85295" y="112866"/>
                </a:lnTo>
                <a:cubicBezTo>
                  <a:pt x="81708" y="116452"/>
                  <a:pt x="81708" y="122276"/>
                  <a:pt x="85295" y="125862"/>
                </a:cubicBezTo>
                <a:cubicBezTo>
                  <a:pt x="88881" y="129448"/>
                  <a:pt x="94705" y="129448"/>
                  <a:pt x="98291" y="125862"/>
                </a:cubicBezTo>
                <a:lnTo>
                  <a:pt x="144195" y="7995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6"/>
          <p:cNvSpPr/>
          <p:nvPr/>
        </p:nvSpPr>
        <p:spPr>
          <a:xfrm>
            <a:off x="888694" y="4896078"/>
            <a:ext cx="1652530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efficiency RQs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63528" y="1949986"/>
            <a:ext cx="3661272" cy="4111128"/>
          </a:xfrm>
          <a:custGeom>
            <a:avLst/>
            <a:gdLst/>
            <a:ahLst/>
            <a:cxnLst/>
            <a:rect l="l" t="t" r="r" b="b"/>
            <a:pathLst>
              <a:path w="3661272" h="4111128">
                <a:moveTo>
                  <a:pt x="73445" y="0"/>
                </a:moveTo>
                <a:lnTo>
                  <a:pt x="3587827" y="0"/>
                </a:lnTo>
                <a:cubicBezTo>
                  <a:pt x="3628390" y="0"/>
                  <a:pt x="3661272" y="32883"/>
                  <a:pt x="3661272" y="73445"/>
                </a:cubicBezTo>
                <a:lnTo>
                  <a:pt x="3661272" y="4037683"/>
                </a:lnTo>
                <a:cubicBezTo>
                  <a:pt x="3661272" y="4078245"/>
                  <a:pt x="3628390" y="4111128"/>
                  <a:pt x="3587827" y="4111128"/>
                </a:cubicBezTo>
                <a:lnTo>
                  <a:pt x="73445" y="4111128"/>
                </a:lnTo>
                <a:cubicBezTo>
                  <a:pt x="32883" y="4111128"/>
                  <a:pt x="0" y="4078245"/>
                  <a:pt x="0" y="4037683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 w="10160">
            <a:solidFill>
              <a:srgbClr val="F8F7F2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7537" y="2173993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19"/>
          <p:cNvSpPr/>
          <p:nvPr/>
        </p:nvSpPr>
        <p:spPr>
          <a:xfrm>
            <a:off x="4638101" y="2302524"/>
            <a:ext cx="42231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21995" y="2320885"/>
            <a:ext cx="2001398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Decide Dataset Type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87537" y="2945174"/>
            <a:ext cx="3295880" cy="5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appropriate data sources aligned with research objectives: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87537" y="3592415"/>
            <a:ext cx="3213253" cy="697735"/>
          </a:xfrm>
          <a:custGeom>
            <a:avLst/>
            <a:gdLst/>
            <a:ahLst/>
            <a:cxnLst/>
            <a:rect l="l" t="t" r="r" b="b"/>
            <a:pathLst>
              <a:path w="3213253" h="697735">
                <a:moveTo>
                  <a:pt x="36722" y="0"/>
                </a:moveTo>
                <a:lnTo>
                  <a:pt x="3176531" y="0"/>
                </a:lnTo>
                <a:cubicBezTo>
                  <a:pt x="3196812" y="0"/>
                  <a:pt x="3213253" y="16441"/>
                  <a:pt x="3213253" y="36722"/>
                </a:cubicBezTo>
                <a:lnTo>
                  <a:pt x="3213253" y="661013"/>
                </a:lnTo>
                <a:cubicBezTo>
                  <a:pt x="3213253" y="681294"/>
                  <a:pt x="3196812" y="697735"/>
                  <a:pt x="3176531" y="697735"/>
                </a:cubicBezTo>
                <a:lnTo>
                  <a:pt x="36722" y="697735"/>
                </a:lnTo>
                <a:cubicBezTo>
                  <a:pt x="16441" y="697735"/>
                  <a:pt x="0" y="681294"/>
                  <a:pt x="0" y="661013"/>
                </a:cubicBezTo>
                <a:lnTo>
                  <a:pt x="0" y="36722"/>
                </a:lnTo>
                <a:cubicBezTo>
                  <a:pt x="0" y="16454"/>
                  <a:pt x="16454" y="0"/>
                  <a:pt x="36722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597706" y="3702584"/>
            <a:ext cx="306636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Examination Questions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97706" y="3959644"/>
            <a:ext cx="306636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assessment items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487537" y="4363596"/>
            <a:ext cx="3213253" cy="697735"/>
          </a:xfrm>
          <a:custGeom>
            <a:avLst/>
            <a:gdLst/>
            <a:ahLst/>
            <a:cxnLst/>
            <a:rect l="l" t="t" r="r" b="b"/>
            <a:pathLst>
              <a:path w="3213253" h="697735">
                <a:moveTo>
                  <a:pt x="36722" y="0"/>
                </a:moveTo>
                <a:lnTo>
                  <a:pt x="3176531" y="0"/>
                </a:lnTo>
                <a:cubicBezTo>
                  <a:pt x="3196812" y="0"/>
                  <a:pt x="3213253" y="16441"/>
                  <a:pt x="3213253" y="36722"/>
                </a:cubicBezTo>
                <a:lnTo>
                  <a:pt x="3213253" y="661013"/>
                </a:lnTo>
                <a:cubicBezTo>
                  <a:pt x="3213253" y="681294"/>
                  <a:pt x="3196812" y="697735"/>
                  <a:pt x="3176531" y="697735"/>
                </a:cubicBezTo>
                <a:lnTo>
                  <a:pt x="36722" y="697735"/>
                </a:lnTo>
                <a:cubicBezTo>
                  <a:pt x="16441" y="697735"/>
                  <a:pt x="0" y="681294"/>
                  <a:pt x="0" y="661013"/>
                </a:cubicBezTo>
                <a:lnTo>
                  <a:pt x="0" y="36722"/>
                </a:lnTo>
                <a:cubicBezTo>
                  <a:pt x="0" y="16454"/>
                  <a:pt x="16454" y="0"/>
                  <a:pt x="36722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597706" y="4473764"/>
            <a:ext cx="306636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Learning Outcomes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97706" y="4730825"/>
            <a:ext cx="306636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Curriculum documentation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87537" y="5134777"/>
            <a:ext cx="3213253" cy="697735"/>
          </a:xfrm>
          <a:custGeom>
            <a:avLst/>
            <a:gdLst/>
            <a:ahLst/>
            <a:cxnLst/>
            <a:rect l="l" t="t" r="r" b="b"/>
            <a:pathLst>
              <a:path w="3213253" h="697735">
                <a:moveTo>
                  <a:pt x="36722" y="0"/>
                </a:moveTo>
                <a:lnTo>
                  <a:pt x="3176531" y="0"/>
                </a:lnTo>
                <a:cubicBezTo>
                  <a:pt x="3196812" y="0"/>
                  <a:pt x="3213253" y="16441"/>
                  <a:pt x="3213253" y="36722"/>
                </a:cubicBezTo>
                <a:lnTo>
                  <a:pt x="3213253" y="661013"/>
                </a:lnTo>
                <a:cubicBezTo>
                  <a:pt x="3213253" y="681294"/>
                  <a:pt x="3196812" y="697735"/>
                  <a:pt x="3176531" y="697735"/>
                </a:cubicBezTo>
                <a:lnTo>
                  <a:pt x="36722" y="697735"/>
                </a:lnTo>
                <a:cubicBezTo>
                  <a:pt x="16441" y="697735"/>
                  <a:pt x="0" y="681294"/>
                  <a:pt x="0" y="661013"/>
                </a:cubicBezTo>
                <a:lnTo>
                  <a:pt x="0" y="36722"/>
                </a:lnTo>
                <a:cubicBezTo>
                  <a:pt x="0" y="16454"/>
                  <a:pt x="16454" y="0"/>
                  <a:pt x="36722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597706" y="5244945"/>
            <a:ext cx="306636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Dialogues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97706" y="5502005"/>
            <a:ext cx="306636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learning data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56154" y="1949986"/>
            <a:ext cx="3661272" cy="4111128"/>
          </a:xfrm>
          <a:custGeom>
            <a:avLst/>
            <a:gdLst/>
            <a:ahLst/>
            <a:cxnLst/>
            <a:rect l="l" t="t" r="r" b="b"/>
            <a:pathLst>
              <a:path w="3661272" h="4111128">
                <a:moveTo>
                  <a:pt x="73445" y="0"/>
                </a:moveTo>
                <a:lnTo>
                  <a:pt x="3587827" y="0"/>
                </a:lnTo>
                <a:cubicBezTo>
                  <a:pt x="3628390" y="0"/>
                  <a:pt x="3661272" y="32883"/>
                  <a:pt x="3661272" y="73445"/>
                </a:cubicBezTo>
                <a:lnTo>
                  <a:pt x="3661272" y="4037683"/>
                </a:lnTo>
                <a:cubicBezTo>
                  <a:pt x="3661272" y="4078245"/>
                  <a:pt x="3628390" y="4111128"/>
                  <a:pt x="3587827" y="4111128"/>
                </a:cubicBezTo>
                <a:lnTo>
                  <a:pt x="73445" y="4111128"/>
                </a:lnTo>
                <a:cubicBezTo>
                  <a:pt x="32883" y="4111128"/>
                  <a:pt x="0" y="4078245"/>
                  <a:pt x="0" y="4037683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8F7F2">
              <a:alpha val="10196"/>
            </a:srgbClr>
          </a:solidFill>
          <a:ln w="10160">
            <a:solidFill>
              <a:srgbClr val="F8F7F2">
                <a:alpha val="2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80164" y="2173993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3"/>
          <p:cNvSpPr/>
          <p:nvPr/>
        </p:nvSpPr>
        <p:spPr>
          <a:xfrm>
            <a:off x="8530115" y="2302524"/>
            <a:ext cx="42231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114622" y="2320885"/>
            <a:ext cx="2524699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F8F7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Define Evaluation Metrics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380164" y="3330764"/>
            <a:ext cx="3295880" cy="5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 beyond simple accuracy to capture nuanced performance: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380164" y="3978005"/>
            <a:ext cx="293783" cy="293783"/>
          </a:xfrm>
          <a:custGeom>
            <a:avLst/>
            <a:gdLst/>
            <a:ahLst/>
            <a:cxnLst/>
            <a:rect l="l" t="t" r="r" b="b"/>
            <a:pathLst>
              <a:path w="293783" h="293783">
                <a:moveTo>
                  <a:pt x="146892" y="0"/>
                </a:moveTo>
                <a:lnTo>
                  <a:pt x="146892" y="0"/>
                </a:lnTo>
                <a:cubicBezTo>
                  <a:pt x="227963" y="0"/>
                  <a:pt x="293783" y="65820"/>
                  <a:pt x="293783" y="146892"/>
                </a:cubicBezTo>
                <a:lnTo>
                  <a:pt x="293783" y="146892"/>
                </a:lnTo>
                <a:cubicBezTo>
                  <a:pt x="293783" y="227963"/>
                  <a:pt x="227963" y="293783"/>
                  <a:pt x="146892" y="293783"/>
                </a:cubicBezTo>
                <a:lnTo>
                  <a:pt x="146892" y="293783"/>
                </a:lnTo>
                <a:cubicBezTo>
                  <a:pt x="65820" y="293783"/>
                  <a:pt x="0" y="227963"/>
                  <a:pt x="0" y="146892"/>
                </a:cubicBezTo>
                <a:lnTo>
                  <a:pt x="0" y="146892"/>
                </a:lnTo>
                <a:cubicBezTo>
                  <a:pt x="0" y="65820"/>
                  <a:pt x="65820" y="0"/>
                  <a:pt x="14689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8444429" y="4051451"/>
            <a:ext cx="165253" cy="146892"/>
          </a:xfrm>
          <a:custGeom>
            <a:avLst/>
            <a:gdLst/>
            <a:ahLst/>
            <a:cxnLst/>
            <a:rect l="l" t="t" r="r" b="b"/>
            <a:pathLst>
              <a:path w="165253" h="146892">
                <a:moveTo>
                  <a:pt x="147006" y="68855"/>
                </a:moveTo>
                <a:lnTo>
                  <a:pt x="96512" y="68855"/>
                </a:lnTo>
                <a:cubicBezTo>
                  <a:pt x="91434" y="68855"/>
                  <a:pt x="87332" y="64753"/>
                  <a:pt x="87332" y="59675"/>
                </a:cubicBezTo>
                <a:lnTo>
                  <a:pt x="87332" y="9181"/>
                </a:lnTo>
                <a:cubicBezTo>
                  <a:pt x="87332" y="4103"/>
                  <a:pt x="91463" y="-57"/>
                  <a:pt x="96484" y="602"/>
                </a:cubicBezTo>
                <a:cubicBezTo>
                  <a:pt x="127182" y="4676"/>
                  <a:pt x="151511" y="29005"/>
                  <a:pt x="155585" y="59703"/>
                </a:cubicBezTo>
                <a:cubicBezTo>
                  <a:pt x="156244" y="64724"/>
                  <a:pt x="152084" y="68855"/>
                  <a:pt x="147006" y="68855"/>
                </a:cubicBezTo>
                <a:close/>
                <a:moveTo>
                  <a:pt x="63863" y="10673"/>
                </a:moveTo>
                <a:cubicBezTo>
                  <a:pt x="69056" y="9582"/>
                  <a:pt x="73561" y="13828"/>
                  <a:pt x="73561" y="19136"/>
                </a:cubicBezTo>
                <a:lnTo>
                  <a:pt x="73561" y="75741"/>
                </a:lnTo>
                <a:cubicBezTo>
                  <a:pt x="73561" y="77348"/>
                  <a:pt x="74134" y="78897"/>
                  <a:pt x="75138" y="80130"/>
                </a:cubicBezTo>
                <a:lnTo>
                  <a:pt x="113038" y="125862"/>
                </a:lnTo>
                <a:cubicBezTo>
                  <a:pt x="116394" y="129907"/>
                  <a:pt x="115677" y="136018"/>
                  <a:pt x="111058" y="138514"/>
                </a:cubicBezTo>
                <a:cubicBezTo>
                  <a:pt x="101275" y="143850"/>
                  <a:pt x="90057" y="146892"/>
                  <a:pt x="78151" y="146892"/>
                </a:cubicBezTo>
                <a:cubicBezTo>
                  <a:pt x="40137" y="146892"/>
                  <a:pt x="9295" y="116050"/>
                  <a:pt x="9295" y="78036"/>
                </a:cubicBezTo>
                <a:cubicBezTo>
                  <a:pt x="9295" y="44899"/>
                  <a:pt x="32678" y="17243"/>
                  <a:pt x="63863" y="10673"/>
                </a:cubicBezTo>
                <a:close/>
                <a:moveTo>
                  <a:pt x="137080" y="82627"/>
                </a:moveTo>
                <a:lnTo>
                  <a:pt x="155441" y="82627"/>
                </a:lnTo>
                <a:cubicBezTo>
                  <a:pt x="160749" y="82627"/>
                  <a:pt x="164995" y="87131"/>
                  <a:pt x="163905" y="92324"/>
                </a:cubicBezTo>
                <a:cubicBezTo>
                  <a:pt x="160978" y="106209"/>
                  <a:pt x="153863" y="118546"/>
                  <a:pt x="143937" y="127956"/>
                </a:cubicBezTo>
                <a:cubicBezTo>
                  <a:pt x="140408" y="131313"/>
                  <a:pt x="134871" y="130596"/>
                  <a:pt x="131772" y="126837"/>
                </a:cubicBezTo>
                <a:lnTo>
                  <a:pt x="107558" y="97660"/>
                </a:lnTo>
                <a:cubicBezTo>
                  <a:pt x="102595" y="91664"/>
                  <a:pt x="106869" y="82627"/>
                  <a:pt x="114616" y="82627"/>
                </a:cubicBezTo>
                <a:lnTo>
                  <a:pt x="137051" y="8262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8"/>
          <p:cNvSpPr/>
          <p:nvPr/>
        </p:nvSpPr>
        <p:spPr>
          <a:xfrm>
            <a:off x="8784116" y="3978005"/>
            <a:ext cx="216665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Macro-F1 Score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784116" y="4198343"/>
            <a:ext cx="216665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Per-class balanced performance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380164" y="4492126"/>
            <a:ext cx="293783" cy="293783"/>
          </a:xfrm>
          <a:custGeom>
            <a:avLst/>
            <a:gdLst/>
            <a:ahLst/>
            <a:cxnLst/>
            <a:rect l="l" t="t" r="r" b="b"/>
            <a:pathLst>
              <a:path w="293783" h="293783">
                <a:moveTo>
                  <a:pt x="146892" y="0"/>
                </a:moveTo>
                <a:lnTo>
                  <a:pt x="146892" y="0"/>
                </a:lnTo>
                <a:cubicBezTo>
                  <a:pt x="227963" y="0"/>
                  <a:pt x="293783" y="65820"/>
                  <a:pt x="293783" y="146892"/>
                </a:cubicBezTo>
                <a:lnTo>
                  <a:pt x="293783" y="146892"/>
                </a:lnTo>
                <a:cubicBezTo>
                  <a:pt x="293783" y="227963"/>
                  <a:pt x="227963" y="293783"/>
                  <a:pt x="146892" y="293783"/>
                </a:cubicBezTo>
                <a:lnTo>
                  <a:pt x="146892" y="293783"/>
                </a:lnTo>
                <a:cubicBezTo>
                  <a:pt x="65820" y="293783"/>
                  <a:pt x="0" y="227963"/>
                  <a:pt x="0" y="146892"/>
                </a:cubicBezTo>
                <a:lnTo>
                  <a:pt x="0" y="146892"/>
                </a:lnTo>
                <a:cubicBezTo>
                  <a:pt x="0" y="65820"/>
                  <a:pt x="65820" y="0"/>
                  <a:pt x="14689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8453610" y="4565572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66704" y="1492"/>
                </a:moveTo>
                <a:cubicBezTo>
                  <a:pt x="70978" y="-488"/>
                  <a:pt x="75913" y="-488"/>
                  <a:pt x="80188" y="1492"/>
                </a:cubicBezTo>
                <a:lnTo>
                  <a:pt x="142904" y="30469"/>
                </a:lnTo>
                <a:cubicBezTo>
                  <a:pt x="145342" y="31587"/>
                  <a:pt x="146892" y="34026"/>
                  <a:pt x="146892" y="36723"/>
                </a:cubicBezTo>
                <a:cubicBezTo>
                  <a:pt x="146892" y="39420"/>
                  <a:pt x="145342" y="41858"/>
                  <a:pt x="142904" y="42977"/>
                </a:cubicBezTo>
                <a:lnTo>
                  <a:pt x="80188" y="71954"/>
                </a:lnTo>
                <a:cubicBezTo>
                  <a:pt x="75913" y="73934"/>
                  <a:pt x="70978" y="73934"/>
                  <a:pt x="66704" y="71954"/>
                </a:cubicBezTo>
                <a:lnTo>
                  <a:pt x="3988" y="42977"/>
                </a:lnTo>
                <a:cubicBezTo>
                  <a:pt x="1549" y="41830"/>
                  <a:pt x="0" y="39391"/>
                  <a:pt x="0" y="36723"/>
                </a:cubicBezTo>
                <a:cubicBezTo>
                  <a:pt x="0" y="34055"/>
                  <a:pt x="1549" y="31587"/>
                  <a:pt x="3988" y="30469"/>
                </a:cubicBezTo>
                <a:lnTo>
                  <a:pt x="66704" y="1492"/>
                </a:lnTo>
                <a:close/>
                <a:moveTo>
                  <a:pt x="13800" y="62658"/>
                </a:moveTo>
                <a:lnTo>
                  <a:pt x="60937" y="84434"/>
                </a:lnTo>
                <a:cubicBezTo>
                  <a:pt x="68884" y="88106"/>
                  <a:pt x="78036" y="88106"/>
                  <a:pt x="85983" y="84434"/>
                </a:cubicBezTo>
                <a:lnTo>
                  <a:pt x="133120" y="62658"/>
                </a:lnTo>
                <a:lnTo>
                  <a:pt x="142904" y="67191"/>
                </a:lnTo>
                <a:cubicBezTo>
                  <a:pt x="145342" y="68310"/>
                  <a:pt x="146892" y="70749"/>
                  <a:pt x="146892" y="73446"/>
                </a:cubicBezTo>
                <a:cubicBezTo>
                  <a:pt x="146892" y="76143"/>
                  <a:pt x="145342" y="78581"/>
                  <a:pt x="142904" y="79700"/>
                </a:cubicBezTo>
                <a:lnTo>
                  <a:pt x="80188" y="108677"/>
                </a:lnTo>
                <a:cubicBezTo>
                  <a:pt x="75913" y="110656"/>
                  <a:pt x="70978" y="110656"/>
                  <a:pt x="66704" y="108677"/>
                </a:cubicBezTo>
                <a:lnTo>
                  <a:pt x="3988" y="79700"/>
                </a:lnTo>
                <a:cubicBezTo>
                  <a:pt x="1549" y="78553"/>
                  <a:pt x="0" y="76114"/>
                  <a:pt x="0" y="73446"/>
                </a:cubicBezTo>
                <a:cubicBezTo>
                  <a:pt x="0" y="70778"/>
                  <a:pt x="1549" y="68310"/>
                  <a:pt x="3988" y="67191"/>
                </a:cubicBezTo>
                <a:lnTo>
                  <a:pt x="13771" y="62658"/>
                </a:lnTo>
                <a:close/>
                <a:moveTo>
                  <a:pt x="3988" y="103914"/>
                </a:moveTo>
                <a:lnTo>
                  <a:pt x="13771" y="99381"/>
                </a:lnTo>
                <a:lnTo>
                  <a:pt x="60908" y="121157"/>
                </a:lnTo>
                <a:cubicBezTo>
                  <a:pt x="68855" y="124829"/>
                  <a:pt x="78007" y="124829"/>
                  <a:pt x="85955" y="121157"/>
                </a:cubicBezTo>
                <a:lnTo>
                  <a:pt x="133092" y="99381"/>
                </a:lnTo>
                <a:lnTo>
                  <a:pt x="142875" y="103914"/>
                </a:lnTo>
                <a:cubicBezTo>
                  <a:pt x="145314" y="105033"/>
                  <a:pt x="146863" y="107472"/>
                  <a:pt x="146863" y="110169"/>
                </a:cubicBezTo>
                <a:cubicBezTo>
                  <a:pt x="146863" y="112866"/>
                  <a:pt x="145314" y="115304"/>
                  <a:pt x="142875" y="116423"/>
                </a:cubicBezTo>
                <a:lnTo>
                  <a:pt x="80159" y="145400"/>
                </a:lnTo>
                <a:cubicBezTo>
                  <a:pt x="75884" y="147379"/>
                  <a:pt x="70950" y="147379"/>
                  <a:pt x="66675" y="145400"/>
                </a:cubicBezTo>
                <a:lnTo>
                  <a:pt x="3988" y="116423"/>
                </a:lnTo>
                <a:cubicBezTo>
                  <a:pt x="1549" y="115275"/>
                  <a:pt x="0" y="112837"/>
                  <a:pt x="0" y="110169"/>
                </a:cubicBezTo>
                <a:cubicBezTo>
                  <a:pt x="0" y="107501"/>
                  <a:pt x="1549" y="105033"/>
                  <a:pt x="3988" y="10391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2"/>
          <p:cNvSpPr/>
          <p:nvPr/>
        </p:nvSpPr>
        <p:spPr>
          <a:xfrm>
            <a:off x="8784116" y="4492126"/>
            <a:ext cx="1992217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Per-Level Analysis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784116" y="4712463"/>
            <a:ext cx="1992217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Bloom level metrics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380164" y="5006246"/>
            <a:ext cx="293783" cy="293783"/>
          </a:xfrm>
          <a:custGeom>
            <a:avLst/>
            <a:gdLst/>
            <a:ahLst/>
            <a:cxnLst/>
            <a:rect l="l" t="t" r="r" b="b"/>
            <a:pathLst>
              <a:path w="293783" h="293783">
                <a:moveTo>
                  <a:pt x="146892" y="0"/>
                </a:moveTo>
                <a:lnTo>
                  <a:pt x="146892" y="0"/>
                </a:lnTo>
                <a:cubicBezTo>
                  <a:pt x="227963" y="0"/>
                  <a:pt x="293783" y="65820"/>
                  <a:pt x="293783" y="146892"/>
                </a:cubicBezTo>
                <a:lnTo>
                  <a:pt x="293783" y="146892"/>
                </a:lnTo>
                <a:cubicBezTo>
                  <a:pt x="293783" y="227963"/>
                  <a:pt x="227963" y="293783"/>
                  <a:pt x="146892" y="293783"/>
                </a:cubicBezTo>
                <a:lnTo>
                  <a:pt x="146892" y="293783"/>
                </a:lnTo>
                <a:cubicBezTo>
                  <a:pt x="65820" y="293783"/>
                  <a:pt x="0" y="227963"/>
                  <a:pt x="0" y="146892"/>
                </a:cubicBezTo>
                <a:lnTo>
                  <a:pt x="0" y="146892"/>
                </a:lnTo>
                <a:cubicBezTo>
                  <a:pt x="0" y="65820"/>
                  <a:pt x="65820" y="0"/>
                  <a:pt x="14689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453610" y="5079692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73446" y="0"/>
                </a:moveTo>
                <a:cubicBezTo>
                  <a:pt x="113982" y="0"/>
                  <a:pt x="146892" y="32910"/>
                  <a:pt x="146892" y="73446"/>
                </a:cubicBezTo>
                <a:cubicBezTo>
                  <a:pt x="146892" y="113982"/>
                  <a:pt x="113982" y="146892"/>
                  <a:pt x="73446" y="146892"/>
                </a:cubicBezTo>
                <a:cubicBezTo>
                  <a:pt x="32910" y="146892"/>
                  <a:pt x="0" y="113982"/>
                  <a:pt x="0" y="73446"/>
                </a:cubicBezTo>
                <a:cubicBezTo>
                  <a:pt x="0" y="32910"/>
                  <a:pt x="32910" y="0"/>
                  <a:pt x="73446" y="0"/>
                </a:cubicBezTo>
                <a:close/>
                <a:moveTo>
                  <a:pt x="66560" y="34428"/>
                </a:moveTo>
                <a:lnTo>
                  <a:pt x="66560" y="73446"/>
                </a:lnTo>
                <a:cubicBezTo>
                  <a:pt x="66560" y="75741"/>
                  <a:pt x="67708" y="77893"/>
                  <a:pt x="69630" y="79184"/>
                </a:cubicBezTo>
                <a:lnTo>
                  <a:pt x="97172" y="97545"/>
                </a:lnTo>
                <a:cubicBezTo>
                  <a:pt x="100328" y="99668"/>
                  <a:pt x="104603" y="98808"/>
                  <a:pt x="106726" y="95623"/>
                </a:cubicBezTo>
                <a:cubicBezTo>
                  <a:pt x="108849" y="92438"/>
                  <a:pt x="107988" y="88192"/>
                  <a:pt x="104804" y="86069"/>
                </a:cubicBezTo>
                <a:lnTo>
                  <a:pt x="80331" y="69773"/>
                </a:lnTo>
                <a:lnTo>
                  <a:pt x="80331" y="34428"/>
                </a:lnTo>
                <a:cubicBezTo>
                  <a:pt x="80331" y="30612"/>
                  <a:pt x="77262" y="27542"/>
                  <a:pt x="73446" y="27542"/>
                </a:cubicBezTo>
                <a:cubicBezTo>
                  <a:pt x="69630" y="27542"/>
                  <a:pt x="66560" y="30612"/>
                  <a:pt x="66560" y="3442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6"/>
          <p:cNvSpPr/>
          <p:nvPr/>
        </p:nvSpPr>
        <p:spPr>
          <a:xfrm>
            <a:off x="8784116" y="5006246"/>
            <a:ext cx="201975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Metrics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784116" y="5226584"/>
            <a:ext cx="201975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8F7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&amp; resource consumption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751855" y="6287878"/>
            <a:ext cx="4687677" cy="565533"/>
          </a:xfrm>
          <a:custGeom>
            <a:avLst/>
            <a:gdLst/>
            <a:ahLst/>
            <a:cxnLst/>
            <a:rect l="l" t="t" r="r" b="b"/>
            <a:pathLst>
              <a:path w="4687677" h="565533">
                <a:moveTo>
                  <a:pt x="73446" y="0"/>
                </a:moveTo>
                <a:lnTo>
                  <a:pt x="4614231" y="0"/>
                </a:lnTo>
                <a:cubicBezTo>
                  <a:pt x="4654794" y="0"/>
                  <a:pt x="4687677" y="32883"/>
                  <a:pt x="4687677" y="73446"/>
                </a:cubicBezTo>
                <a:lnTo>
                  <a:pt x="4687677" y="492087"/>
                </a:lnTo>
                <a:cubicBezTo>
                  <a:pt x="4687677" y="532650"/>
                  <a:pt x="4654794" y="565533"/>
                  <a:pt x="4614231" y="565533"/>
                </a:cubicBezTo>
                <a:lnTo>
                  <a:pt x="73446" y="565533"/>
                </a:lnTo>
                <a:cubicBezTo>
                  <a:pt x="32883" y="565533"/>
                  <a:pt x="0" y="532650"/>
                  <a:pt x="0" y="492087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064459" y="6475162"/>
            <a:ext cx="206566" cy="183614"/>
          </a:xfrm>
          <a:custGeom>
            <a:avLst/>
            <a:gdLst/>
            <a:ahLst/>
            <a:cxnLst/>
            <a:rect l="l" t="t" r="r" b="b"/>
            <a:pathLst>
              <a:path w="206566" h="183614">
                <a:moveTo>
                  <a:pt x="137711" y="51642"/>
                </a:moveTo>
                <a:cubicBezTo>
                  <a:pt x="137711" y="86500"/>
                  <a:pt x="106869" y="114759"/>
                  <a:pt x="68855" y="114759"/>
                </a:cubicBezTo>
                <a:cubicBezTo>
                  <a:pt x="59280" y="114759"/>
                  <a:pt x="50171" y="112966"/>
                  <a:pt x="41887" y="109738"/>
                </a:cubicBezTo>
                <a:lnTo>
                  <a:pt x="12623" y="125231"/>
                </a:lnTo>
                <a:cubicBezTo>
                  <a:pt x="9288" y="126988"/>
                  <a:pt x="5200" y="126378"/>
                  <a:pt x="2510" y="123725"/>
                </a:cubicBezTo>
                <a:cubicBezTo>
                  <a:pt x="-179" y="121071"/>
                  <a:pt x="-789" y="116947"/>
                  <a:pt x="1004" y="113611"/>
                </a:cubicBezTo>
                <a:lnTo>
                  <a:pt x="13771" y="89512"/>
                </a:lnTo>
                <a:cubicBezTo>
                  <a:pt x="5128" y="78969"/>
                  <a:pt x="0" y="65843"/>
                  <a:pt x="0" y="51642"/>
                </a:cubicBezTo>
                <a:cubicBezTo>
                  <a:pt x="0" y="16784"/>
                  <a:pt x="30841" y="-11476"/>
                  <a:pt x="68855" y="-11476"/>
                </a:cubicBezTo>
                <a:cubicBezTo>
                  <a:pt x="106869" y="-11476"/>
                  <a:pt x="137711" y="16784"/>
                  <a:pt x="137711" y="51642"/>
                </a:cubicBezTo>
                <a:close/>
                <a:moveTo>
                  <a:pt x="137711" y="183614"/>
                </a:moveTo>
                <a:cubicBezTo>
                  <a:pt x="103965" y="183614"/>
                  <a:pt x="75884" y="161344"/>
                  <a:pt x="70003" y="131973"/>
                </a:cubicBezTo>
                <a:cubicBezTo>
                  <a:pt x="113038" y="131435"/>
                  <a:pt x="150442" y="100809"/>
                  <a:pt x="154566" y="59280"/>
                </a:cubicBezTo>
                <a:cubicBezTo>
                  <a:pt x="184439" y="66166"/>
                  <a:pt x="206566" y="90947"/>
                  <a:pt x="206566" y="120497"/>
                </a:cubicBezTo>
                <a:cubicBezTo>
                  <a:pt x="206566" y="134698"/>
                  <a:pt x="201438" y="147824"/>
                  <a:pt x="192795" y="158367"/>
                </a:cubicBezTo>
                <a:lnTo>
                  <a:pt x="205562" y="182467"/>
                </a:lnTo>
                <a:cubicBezTo>
                  <a:pt x="207319" y="185802"/>
                  <a:pt x="206710" y="189890"/>
                  <a:pt x="204056" y="192580"/>
                </a:cubicBezTo>
                <a:cubicBezTo>
                  <a:pt x="201402" y="195270"/>
                  <a:pt x="197278" y="195879"/>
                  <a:pt x="193943" y="194086"/>
                </a:cubicBezTo>
                <a:lnTo>
                  <a:pt x="164679" y="178594"/>
                </a:lnTo>
                <a:cubicBezTo>
                  <a:pt x="156395" y="181821"/>
                  <a:pt x="147286" y="183614"/>
                  <a:pt x="137711" y="18361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0"/>
          <p:cNvSpPr/>
          <p:nvPr/>
        </p:nvSpPr>
        <p:spPr>
          <a:xfrm>
            <a:off x="4383489" y="6438439"/>
            <a:ext cx="3801431" cy="26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6" b="1" dirty="0">
                <a:solidFill>
                  <a:srgbClr val="F8F7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for Discussion &amp; Supervisor Guidance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Bloom's Taxonomy Classification in the LLM Era</dc:title>
  <dc:subject>Automating Bloom's Taxonomy Classification in the LLM Era</dc:subject>
  <dc:creator>Kimi</dc:creator>
  <cp:lastModifiedBy>Kimi</cp:lastModifiedBy>
  <cp:revision>1</cp:revision>
  <dcterms:created xsi:type="dcterms:W3CDTF">2026-04-02T20:32:06Z</dcterms:created>
  <dcterms:modified xsi:type="dcterms:W3CDTF">2026-04-02T20:32:06Z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{"Label":"Automating Bloom's Taxonomy Classification in the LLM Era","ContentProducer":"001191110108MACG2KBH8F10000","ProduceID":"19c08b49-d522-8e67-8000-00007f83dd95","ReservedCode1":"","ContentPropagator":"001191110108MACG2KBH8F20000","PropagateID":"19c08b49-d522-8e67-8000-00007f83dd95","ReservedCode2":""}</vt:lpwstr>
  </property>
</Properties>
</file>
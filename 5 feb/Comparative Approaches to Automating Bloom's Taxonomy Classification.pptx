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微软雅黑" panose="020B0503020204020204" pitchFamily="34" charset="-122"/>
      <p:regular r:id="rId15"/>
      <p:bold r:id="rId16"/>
    </p:embeddedFont>
    <p:embeddedFont>
      <p:font typeface="Liter" panose="020B0604020202020204" charset="0"/>
      <p:regular r:id="rId17"/>
    </p:embeddedFont>
    <p:embeddedFont>
      <p:font typeface="Oranienbaum" panose="02000506080000020003" pitchFamily="2" charset="0"/>
      <p:regular r:id="rId18"/>
    </p:embeddedFont>
    <p:embeddedFont>
      <p:font typeface="Quattrocento Sans" panose="020B0502050000020003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848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82c301880785ab223cf56e99c68718ecb26cf483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5603" b="560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85000"/>
                </a:srgbClr>
              </a:gs>
              <a:gs pos="100000">
                <a:srgbClr val="2C3E50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04900" y="38100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Review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910590"/>
            <a:ext cx="10096500" cy="3019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Comparative Approaches to Automating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B38B5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Bloom's Taxonomy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3291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459486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 (LLMs) vs. Traditional Machine Learning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Educational Assessment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3400" y="609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66800" y="596265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 Analysis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6800" y="622935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DFDF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Key Studies • 2025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974104" y="59817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Research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974104" y="62103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DFDF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Methodology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38100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5581650" cy="1809750"/>
          </a:xfrm>
          <a:custGeom>
            <a:avLst/>
            <a:gdLst/>
            <a:ahLst/>
            <a:cxnLst/>
            <a:rect l="l" t="t" r="r" b="b"/>
            <a:pathLst>
              <a:path w="5581650" h="1809750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695446"/>
                </a:lnTo>
                <a:cubicBezTo>
                  <a:pt x="5581650" y="1758574"/>
                  <a:pt x="5530474" y="1809750"/>
                  <a:pt x="5467346" y="1809750"/>
                </a:cubicBezTo>
                <a:lnTo>
                  <a:pt x="38100" y="1809750"/>
                </a:lnTo>
                <a:cubicBezTo>
                  <a:pt x="17072" y="1809750"/>
                  <a:pt x="0" y="1792678"/>
                  <a:pt x="0" y="1771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38100" cy="1809750"/>
          </a:xfrm>
          <a:custGeom>
            <a:avLst/>
            <a:gdLst/>
            <a:ahLst/>
            <a:cxnLst/>
            <a:rect l="l" t="t" r="r" b="b"/>
            <a:pathLst>
              <a:path w="38100" h="1809750">
                <a:moveTo>
                  <a:pt x="38100" y="0"/>
                </a:moveTo>
                <a:lnTo>
                  <a:pt x="38100" y="0"/>
                </a:lnTo>
                <a:lnTo>
                  <a:pt x="38100" y="1809750"/>
                </a:lnTo>
                <a:lnTo>
                  <a:pt x="38100" y="1809750"/>
                </a:lnTo>
                <a:cubicBezTo>
                  <a:pt x="17072" y="1809750"/>
                  <a:pt x="0" y="1792678"/>
                  <a:pt x="0" y="1771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39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1895" y="19050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17907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Research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9700" y="2171581"/>
            <a:ext cx="434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landscape of automated Bloom's Taxonomy classification, the cognitive framework, and the six key studies forming this review's foundation.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447800"/>
            <a:ext cx="5581650" cy="1809750"/>
          </a:xfrm>
          <a:custGeom>
            <a:avLst/>
            <a:gdLst/>
            <a:ahLst/>
            <a:cxnLst/>
            <a:rect l="l" t="t" r="r" b="b"/>
            <a:pathLst>
              <a:path w="5581650" h="1809750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695446"/>
                </a:lnTo>
                <a:cubicBezTo>
                  <a:pt x="5581650" y="1758574"/>
                  <a:pt x="5530474" y="1809750"/>
                  <a:pt x="5467346" y="1809750"/>
                </a:cubicBezTo>
                <a:lnTo>
                  <a:pt x="38100" y="1809750"/>
                </a:lnTo>
                <a:cubicBezTo>
                  <a:pt x="17072" y="1809750"/>
                  <a:pt x="0" y="1792678"/>
                  <a:pt x="0" y="1771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29350" y="1447800"/>
            <a:ext cx="38100" cy="1809750"/>
          </a:xfrm>
          <a:custGeom>
            <a:avLst/>
            <a:gdLst/>
            <a:ahLst/>
            <a:cxnLst/>
            <a:rect l="l" t="t" r="r" b="b"/>
            <a:pathLst>
              <a:path w="38100" h="1809750">
                <a:moveTo>
                  <a:pt x="38100" y="0"/>
                </a:moveTo>
                <a:lnTo>
                  <a:pt x="38100" y="0"/>
                </a:lnTo>
                <a:lnTo>
                  <a:pt x="38100" y="1809750"/>
                </a:lnTo>
                <a:lnTo>
                  <a:pt x="38100" y="1809750"/>
                </a:lnTo>
                <a:cubicBezTo>
                  <a:pt x="17072" y="1809750"/>
                  <a:pt x="0" y="1792678"/>
                  <a:pt x="0" y="1771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532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80478" y="19050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0" y="17907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Methodologies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0" y="2171581"/>
            <a:ext cx="434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Analyzing the critical trade-offs between prompt engineering vs. fine-tuning approaches and LLMs vs. traditional machine learning methods.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86150"/>
            <a:ext cx="5581650" cy="1809750"/>
          </a:xfrm>
          <a:custGeom>
            <a:avLst/>
            <a:gdLst/>
            <a:ahLst/>
            <a:cxnLst/>
            <a:rect l="l" t="t" r="r" b="b"/>
            <a:pathLst>
              <a:path w="5581650" h="1809750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695446"/>
                </a:lnTo>
                <a:cubicBezTo>
                  <a:pt x="5581650" y="1758574"/>
                  <a:pt x="5530474" y="1809750"/>
                  <a:pt x="5467346" y="1809750"/>
                </a:cubicBezTo>
                <a:lnTo>
                  <a:pt x="38100" y="1809750"/>
                </a:lnTo>
                <a:cubicBezTo>
                  <a:pt x="17072" y="1809750"/>
                  <a:pt x="0" y="1792678"/>
                  <a:pt x="0" y="1771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0050" y="3486150"/>
            <a:ext cx="38100" cy="1809750"/>
          </a:xfrm>
          <a:custGeom>
            <a:avLst/>
            <a:gdLst/>
            <a:ahLst/>
            <a:cxnLst/>
            <a:rect l="l" t="t" r="r" b="b"/>
            <a:pathLst>
              <a:path w="38100" h="1809750">
                <a:moveTo>
                  <a:pt x="38100" y="0"/>
                </a:moveTo>
                <a:lnTo>
                  <a:pt x="38100" y="0"/>
                </a:lnTo>
                <a:lnTo>
                  <a:pt x="38100" y="1809750"/>
                </a:lnTo>
                <a:lnTo>
                  <a:pt x="38100" y="1809750"/>
                </a:lnTo>
                <a:cubicBezTo>
                  <a:pt x="17072" y="1809750"/>
                  <a:pt x="0" y="1792678"/>
                  <a:pt x="0" y="1771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3900" y="3829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0225" y="39433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09700" y="38290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Applications &amp; Tools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09700" y="4209931"/>
            <a:ext cx="434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Examining real-world implementations including Bloomify chatbot and Socratic dialogue systems, plus critical analysis of current LLM benchmarks.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486150"/>
            <a:ext cx="5581650" cy="1809750"/>
          </a:xfrm>
          <a:custGeom>
            <a:avLst/>
            <a:gdLst/>
            <a:ahLst/>
            <a:cxnLst/>
            <a:rect l="l" t="t" r="r" b="b"/>
            <a:pathLst>
              <a:path w="5581650" h="1809750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695446"/>
                </a:lnTo>
                <a:cubicBezTo>
                  <a:pt x="5581650" y="1758574"/>
                  <a:pt x="5530474" y="1809750"/>
                  <a:pt x="5467346" y="1809750"/>
                </a:cubicBezTo>
                <a:lnTo>
                  <a:pt x="38100" y="1809750"/>
                </a:lnTo>
                <a:cubicBezTo>
                  <a:pt x="17072" y="1809750"/>
                  <a:pt x="0" y="1792678"/>
                  <a:pt x="0" y="1771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29350" y="3486150"/>
            <a:ext cx="38100" cy="1809750"/>
          </a:xfrm>
          <a:custGeom>
            <a:avLst/>
            <a:gdLst/>
            <a:ahLst/>
            <a:cxnLst/>
            <a:rect l="l" t="t" r="r" b="b"/>
            <a:pathLst>
              <a:path w="38100" h="1809750">
                <a:moveTo>
                  <a:pt x="38100" y="0"/>
                </a:moveTo>
                <a:lnTo>
                  <a:pt x="38100" y="0"/>
                </a:lnTo>
                <a:lnTo>
                  <a:pt x="38100" y="1809750"/>
                </a:lnTo>
                <a:lnTo>
                  <a:pt x="38100" y="1809750"/>
                </a:lnTo>
                <a:cubicBezTo>
                  <a:pt x="17072" y="1809750"/>
                  <a:pt x="0" y="1792678"/>
                  <a:pt x="0" y="1771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53200" y="3952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9645" y="40671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9000" y="3952875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 &amp; Future Directions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39000" y="4333756"/>
            <a:ext cx="4343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Synthesizing comparative methodologies and identifying future research directions for higher-order cognitive skill assessment.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60070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114296" y="0"/>
                </a:moveTo>
                <a:lnTo>
                  <a:pt x="11315704" y="0"/>
                </a:lnTo>
                <a:cubicBezTo>
                  <a:pt x="11378828" y="0"/>
                  <a:pt x="11430000" y="51172"/>
                  <a:pt x="11430000" y="114296"/>
                </a:cubicBezTo>
                <a:lnTo>
                  <a:pt x="11430000" y="762004"/>
                </a:lnTo>
                <a:cubicBezTo>
                  <a:pt x="11430000" y="825128"/>
                  <a:pt x="11378828" y="876300"/>
                  <a:pt x="113157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419" y="58959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19188" y="5905500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Focus: Performance Trade-offs • Cost Efficiency • Educational Impact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90190" y="58293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Research Papers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99715" y="60579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universityworldnews.com/6ca8bd37066c24b97ae196d386f3796055117675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5469" b="546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50000">
                <a:srgbClr val="2C3E50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11525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4002" y="1343025"/>
            <a:ext cx="523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5144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1000" y="22193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Introduction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Context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2386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landscape of automated Bloom's Taxonomy classification in educational assessment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3863" y="54578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1050" y="5438775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Framework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8439" y="545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19914" y="5438775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Landscape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275" y="428730"/>
            <a:ext cx="357275" cy="35727"/>
          </a:xfrm>
          <a:custGeom>
            <a:avLst/>
            <a:gdLst/>
            <a:ahLst/>
            <a:cxnLst/>
            <a:rect l="l" t="t" r="r" b="b"/>
            <a:pathLst>
              <a:path w="357275" h="35727">
                <a:moveTo>
                  <a:pt x="0" y="0"/>
                </a:moveTo>
                <a:lnTo>
                  <a:pt x="357275" y="0"/>
                </a:lnTo>
                <a:lnTo>
                  <a:pt x="357275" y="35727"/>
                </a:lnTo>
                <a:lnTo>
                  <a:pt x="0" y="35727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1732" y="357275"/>
            <a:ext cx="172385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kern="0" spc="98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275" y="607367"/>
            <a:ext cx="11638224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2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Bloom's Taxonomy: The Cognitive Framework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275" y="1143279"/>
            <a:ext cx="4876800" cy="3385178"/>
          </a:xfrm>
          <a:custGeom>
            <a:avLst/>
            <a:gdLst/>
            <a:ahLst/>
            <a:cxnLst/>
            <a:rect l="l" t="t" r="r" b="b"/>
            <a:pathLst>
              <a:path w="4876800" h="3385178">
                <a:moveTo>
                  <a:pt x="107175" y="0"/>
                </a:moveTo>
                <a:lnTo>
                  <a:pt x="4769625" y="0"/>
                </a:lnTo>
                <a:cubicBezTo>
                  <a:pt x="4828816" y="0"/>
                  <a:pt x="4876800" y="47984"/>
                  <a:pt x="4876800" y="107175"/>
                </a:cubicBezTo>
                <a:lnTo>
                  <a:pt x="4876800" y="3278003"/>
                </a:lnTo>
                <a:cubicBezTo>
                  <a:pt x="4876800" y="3337194"/>
                  <a:pt x="4828816" y="3385178"/>
                  <a:pt x="4769625" y="3385178"/>
                </a:cubicBezTo>
                <a:lnTo>
                  <a:pt x="107175" y="3385178"/>
                </a:lnTo>
                <a:cubicBezTo>
                  <a:pt x="47984" y="3385178"/>
                  <a:pt x="0" y="3337194"/>
                  <a:pt x="0" y="3278003"/>
                </a:cubicBezTo>
                <a:lnTo>
                  <a:pt x="0" y="107175"/>
                </a:lnTo>
                <a:cubicBezTo>
                  <a:pt x="0" y="47984"/>
                  <a:pt x="47984" y="0"/>
                  <a:pt x="1071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978" dist="893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1640" y="1407663"/>
            <a:ext cx="453738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Revised Taxonomy (2001)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640" y="1800665"/>
            <a:ext cx="4519525" cy="139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Bloom's Taxonomy</a:t>
            </a: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a hierarchical model classifying educational learning objectives into </a:t>
            </a:r>
            <a:r>
              <a:rPr lang="en-US" sz="1125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cognitive levels </a:t>
            </a: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progressing from lower-order to higher-order thinking skills. The 2001 revision by Anderson &amp; Krathwohl restructured the original 1956 framework, emphasizing </a:t>
            </a:r>
            <a:r>
              <a:rPr lang="en-US" sz="112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verbs</a:t>
            </a: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recognizing creativity as the highest cognitive process.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640" y="3336947"/>
            <a:ext cx="4519525" cy="928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framework serves as the </a:t>
            </a:r>
            <a:r>
              <a:rPr lang="en-US" sz="1125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 for educational assessment </a:t>
            </a: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enabling educators to classify learning outcomes, design appropriate assessments, and ensure curriculum alignment across cognitive complexity levels.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7275" y="4673153"/>
            <a:ext cx="4876800" cy="2286558"/>
          </a:xfrm>
          <a:custGeom>
            <a:avLst/>
            <a:gdLst/>
            <a:ahLst/>
            <a:cxnLst/>
            <a:rect l="l" t="t" r="r" b="b"/>
            <a:pathLst>
              <a:path w="4876800" h="2286558">
                <a:moveTo>
                  <a:pt x="107194" y="0"/>
                </a:moveTo>
                <a:lnTo>
                  <a:pt x="4769606" y="0"/>
                </a:lnTo>
                <a:cubicBezTo>
                  <a:pt x="4828808" y="0"/>
                  <a:pt x="4876800" y="47992"/>
                  <a:pt x="4876800" y="107194"/>
                </a:cubicBezTo>
                <a:lnTo>
                  <a:pt x="4876800" y="2179364"/>
                </a:lnTo>
                <a:cubicBezTo>
                  <a:pt x="4876800" y="2238566"/>
                  <a:pt x="4828808" y="2286558"/>
                  <a:pt x="4769606" y="2286558"/>
                </a:cubicBezTo>
                <a:lnTo>
                  <a:pt x="107194" y="2286558"/>
                </a:lnTo>
                <a:cubicBezTo>
                  <a:pt x="47992" y="2286558"/>
                  <a:pt x="0" y="2238566"/>
                  <a:pt x="0" y="2179364"/>
                </a:cubicBezTo>
                <a:lnTo>
                  <a:pt x="0" y="107194"/>
                </a:lnTo>
                <a:cubicBezTo>
                  <a:pt x="0" y="48032"/>
                  <a:pt x="48032" y="0"/>
                  <a:pt x="107194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640" y="4887518"/>
            <a:ext cx="452845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Automate Classification?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640" y="5280520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142910"/>
                </a:moveTo>
                <a:cubicBezTo>
                  <a:pt x="110892" y="142910"/>
                  <a:pt x="142910" y="110892"/>
                  <a:pt x="142910" y="71455"/>
                </a:cubicBezTo>
                <a:cubicBezTo>
                  <a:pt x="142910" y="32018"/>
                  <a:pt x="110892" y="0"/>
                  <a:pt x="71455" y="0"/>
                </a:cubicBezTo>
                <a:cubicBezTo>
                  <a:pt x="32018" y="0"/>
                  <a:pt x="0" y="32018"/>
                  <a:pt x="0" y="71455"/>
                </a:cubicBezTo>
                <a:cubicBezTo>
                  <a:pt x="0" y="110892"/>
                  <a:pt x="32018" y="142910"/>
                  <a:pt x="71455" y="142910"/>
                </a:cubicBezTo>
                <a:close/>
                <a:moveTo>
                  <a:pt x="95013" y="59369"/>
                </a:moveTo>
                <a:lnTo>
                  <a:pt x="72683" y="95096"/>
                </a:lnTo>
                <a:cubicBezTo>
                  <a:pt x="71511" y="96967"/>
                  <a:pt x="69501" y="98139"/>
                  <a:pt x="67296" y="98251"/>
                </a:cubicBezTo>
                <a:cubicBezTo>
                  <a:pt x="65091" y="98362"/>
                  <a:pt x="62970" y="97357"/>
                  <a:pt x="61658" y="95571"/>
                </a:cubicBezTo>
                <a:lnTo>
                  <a:pt x="48260" y="77707"/>
                </a:lnTo>
                <a:cubicBezTo>
                  <a:pt x="46027" y="74749"/>
                  <a:pt x="46641" y="70562"/>
                  <a:pt x="49600" y="68329"/>
                </a:cubicBezTo>
                <a:cubicBezTo>
                  <a:pt x="52558" y="66096"/>
                  <a:pt x="56745" y="66710"/>
                  <a:pt x="58978" y="69669"/>
                </a:cubicBezTo>
                <a:lnTo>
                  <a:pt x="66515" y="79717"/>
                </a:lnTo>
                <a:lnTo>
                  <a:pt x="83653" y="52279"/>
                </a:lnTo>
                <a:cubicBezTo>
                  <a:pt x="85606" y="49153"/>
                  <a:pt x="89737" y="48176"/>
                  <a:pt x="92891" y="50158"/>
                </a:cubicBezTo>
                <a:cubicBezTo>
                  <a:pt x="96045" y="52140"/>
                  <a:pt x="96995" y="56243"/>
                  <a:pt x="95013" y="59397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3183" y="5244793"/>
            <a:ext cx="4269433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Manual classification of thousands of learning outcomes is time-intensive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105" y="5816432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142910"/>
                </a:moveTo>
                <a:cubicBezTo>
                  <a:pt x="110892" y="142910"/>
                  <a:pt x="142910" y="110892"/>
                  <a:pt x="142910" y="71455"/>
                </a:cubicBezTo>
                <a:cubicBezTo>
                  <a:pt x="142910" y="32018"/>
                  <a:pt x="110892" y="0"/>
                  <a:pt x="71455" y="0"/>
                </a:cubicBezTo>
                <a:cubicBezTo>
                  <a:pt x="32018" y="0"/>
                  <a:pt x="0" y="32018"/>
                  <a:pt x="0" y="71455"/>
                </a:cubicBezTo>
                <a:cubicBezTo>
                  <a:pt x="0" y="110892"/>
                  <a:pt x="32018" y="142910"/>
                  <a:pt x="71455" y="142910"/>
                </a:cubicBezTo>
                <a:close/>
                <a:moveTo>
                  <a:pt x="95013" y="59369"/>
                </a:moveTo>
                <a:lnTo>
                  <a:pt x="72683" y="95096"/>
                </a:lnTo>
                <a:cubicBezTo>
                  <a:pt x="71511" y="96967"/>
                  <a:pt x="69501" y="98139"/>
                  <a:pt x="67296" y="98251"/>
                </a:cubicBezTo>
                <a:cubicBezTo>
                  <a:pt x="65091" y="98362"/>
                  <a:pt x="62970" y="97357"/>
                  <a:pt x="61658" y="95571"/>
                </a:cubicBezTo>
                <a:lnTo>
                  <a:pt x="48260" y="77707"/>
                </a:lnTo>
                <a:cubicBezTo>
                  <a:pt x="46027" y="74749"/>
                  <a:pt x="46641" y="70562"/>
                  <a:pt x="49600" y="68329"/>
                </a:cubicBezTo>
                <a:cubicBezTo>
                  <a:pt x="52558" y="66096"/>
                  <a:pt x="56745" y="66710"/>
                  <a:pt x="58978" y="69669"/>
                </a:cubicBezTo>
                <a:lnTo>
                  <a:pt x="66515" y="79717"/>
                </a:lnTo>
                <a:lnTo>
                  <a:pt x="83653" y="52279"/>
                </a:lnTo>
                <a:cubicBezTo>
                  <a:pt x="85606" y="49153"/>
                  <a:pt x="89737" y="48176"/>
                  <a:pt x="92891" y="50158"/>
                </a:cubicBezTo>
                <a:cubicBezTo>
                  <a:pt x="96045" y="52140"/>
                  <a:pt x="96995" y="56243"/>
                  <a:pt x="95013" y="59397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8431" y="5780705"/>
            <a:ext cx="4260501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Consistency:</a:t>
            </a: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 annotators show inter-rater variability (60-80% agreement)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640" y="6352344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142910"/>
                </a:moveTo>
                <a:cubicBezTo>
                  <a:pt x="110892" y="142910"/>
                  <a:pt x="142910" y="110892"/>
                  <a:pt x="142910" y="71455"/>
                </a:cubicBezTo>
                <a:cubicBezTo>
                  <a:pt x="142910" y="32018"/>
                  <a:pt x="110892" y="0"/>
                  <a:pt x="71455" y="0"/>
                </a:cubicBezTo>
                <a:cubicBezTo>
                  <a:pt x="32018" y="0"/>
                  <a:pt x="0" y="32018"/>
                  <a:pt x="0" y="71455"/>
                </a:cubicBezTo>
                <a:cubicBezTo>
                  <a:pt x="0" y="110892"/>
                  <a:pt x="32018" y="142910"/>
                  <a:pt x="71455" y="142910"/>
                </a:cubicBezTo>
                <a:close/>
                <a:moveTo>
                  <a:pt x="95013" y="59369"/>
                </a:moveTo>
                <a:lnTo>
                  <a:pt x="72683" y="95096"/>
                </a:lnTo>
                <a:cubicBezTo>
                  <a:pt x="71511" y="96967"/>
                  <a:pt x="69501" y="98139"/>
                  <a:pt x="67296" y="98251"/>
                </a:cubicBezTo>
                <a:cubicBezTo>
                  <a:pt x="65091" y="98362"/>
                  <a:pt x="62970" y="97357"/>
                  <a:pt x="61658" y="95571"/>
                </a:cubicBezTo>
                <a:lnTo>
                  <a:pt x="48260" y="77707"/>
                </a:lnTo>
                <a:cubicBezTo>
                  <a:pt x="46027" y="74749"/>
                  <a:pt x="46641" y="70562"/>
                  <a:pt x="49600" y="68329"/>
                </a:cubicBezTo>
                <a:cubicBezTo>
                  <a:pt x="52558" y="66096"/>
                  <a:pt x="56745" y="66710"/>
                  <a:pt x="58978" y="69669"/>
                </a:cubicBezTo>
                <a:lnTo>
                  <a:pt x="66515" y="79717"/>
                </a:lnTo>
                <a:lnTo>
                  <a:pt x="83653" y="52279"/>
                </a:lnTo>
                <a:cubicBezTo>
                  <a:pt x="85606" y="49153"/>
                  <a:pt x="89737" y="48176"/>
                  <a:pt x="92891" y="50158"/>
                </a:cubicBezTo>
                <a:cubicBezTo>
                  <a:pt x="96045" y="52140"/>
                  <a:pt x="96995" y="56243"/>
                  <a:pt x="95013" y="59397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1397" y="6316617"/>
            <a:ext cx="4269433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Analysis:</a:t>
            </a: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assessment requires instant cognitive level identification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8440" y="1143279"/>
            <a:ext cx="6386286" cy="5814646"/>
          </a:xfrm>
          <a:custGeom>
            <a:avLst/>
            <a:gdLst/>
            <a:ahLst/>
            <a:cxnLst/>
            <a:rect l="l" t="t" r="r" b="b"/>
            <a:pathLst>
              <a:path w="6386286" h="5814646">
                <a:moveTo>
                  <a:pt x="107164" y="0"/>
                </a:moveTo>
                <a:lnTo>
                  <a:pt x="6279122" y="0"/>
                </a:lnTo>
                <a:cubicBezTo>
                  <a:pt x="6338307" y="0"/>
                  <a:pt x="6386286" y="47979"/>
                  <a:pt x="6386286" y="107164"/>
                </a:cubicBezTo>
                <a:lnTo>
                  <a:pt x="6386286" y="5707482"/>
                </a:lnTo>
                <a:cubicBezTo>
                  <a:pt x="6386286" y="5766667"/>
                  <a:pt x="6338307" y="5814646"/>
                  <a:pt x="6279122" y="5814646"/>
                </a:cubicBezTo>
                <a:lnTo>
                  <a:pt x="107164" y="5814646"/>
                </a:lnTo>
                <a:cubicBezTo>
                  <a:pt x="47979" y="5814646"/>
                  <a:pt x="0" y="5766667"/>
                  <a:pt x="0" y="5707482"/>
                </a:cubicBezTo>
                <a:lnTo>
                  <a:pt x="0" y="107164"/>
                </a:lnTo>
                <a:cubicBezTo>
                  <a:pt x="0" y="48019"/>
                  <a:pt x="48019" y="0"/>
                  <a:pt x="1071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978" dist="893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18145" y="1357644"/>
            <a:ext cx="604687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Cognitive Levels Hierarchy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2804" y="1750646"/>
            <a:ext cx="5957556" cy="678822"/>
          </a:xfrm>
          <a:custGeom>
            <a:avLst/>
            <a:gdLst/>
            <a:ahLst/>
            <a:cxnLst/>
            <a:rect l="l" t="t" r="r" b="b"/>
            <a:pathLst>
              <a:path w="5957556" h="678822">
                <a:moveTo>
                  <a:pt x="71453" y="0"/>
                </a:moveTo>
                <a:lnTo>
                  <a:pt x="5886103" y="0"/>
                </a:lnTo>
                <a:cubicBezTo>
                  <a:pt x="5925566" y="0"/>
                  <a:pt x="5957556" y="31991"/>
                  <a:pt x="5957556" y="71453"/>
                </a:cubicBezTo>
                <a:lnTo>
                  <a:pt x="5957556" y="607369"/>
                </a:lnTo>
                <a:cubicBezTo>
                  <a:pt x="5957556" y="646831"/>
                  <a:pt x="5925566" y="678822"/>
                  <a:pt x="5886103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gradFill flip="none" rotWithShape="1">
            <a:gsLst>
              <a:gs pos="0">
                <a:srgbClr val="B38B59"/>
              </a:gs>
              <a:gs pos="100000">
                <a:srgbClr val="B38B59">
                  <a:alpha val="80000"/>
                </a:srgbClr>
              </a:gs>
            </a:gsLst>
            <a:lin ang="0" scaled="1"/>
          </a:gradFill>
          <a:ln/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9987" y="191142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25327" y="1911420"/>
            <a:ext cx="446593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34444" y="1857829"/>
            <a:ext cx="209898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34444" y="2107921"/>
            <a:ext cx="209005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Generate, plan, construct, design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836589" y="1947147"/>
            <a:ext cx="678822" cy="285820"/>
          </a:xfrm>
          <a:custGeom>
            <a:avLst/>
            <a:gdLst/>
            <a:ahLst/>
            <a:cxnLst/>
            <a:rect l="l" t="t" r="r" b="b"/>
            <a:pathLst>
              <a:path w="678822" h="285820">
                <a:moveTo>
                  <a:pt x="142910" y="0"/>
                </a:moveTo>
                <a:lnTo>
                  <a:pt x="535912" y="0"/>
                </a:lnTo>
                <a:cubicBezTo>
                  <a:pt x="614839" y="0"/>
                  <a:pt x="678822" y="63983"/>
                  <a:pt x="678822" y="142910"/>
                </a:cubicBezTo>
                <a:lnTo>
                  <a:pt x="678822" y="142910"/>
                </a:lnTo>
                <a:cubicBezTo>
                  <a:pt x="678822" y="221837"/>
                  <a:pt x="614839" y="285820"/>
                  <a:pt x="535912" y="285820"/>
                </a:cubicBezTo>
                <a:lnTo>
                  <a:pt x="142910" y="285820"/>
                </a:lnTo>
                <a:cubicBezTo>
                  <a:pt x="63983" y="285820"/>
                  <a:pt x="0" y="221837"/>
                  <a:pt x="0" y="142910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836589" y="1947147"/>
            <a:ext cx="750277" cy="285820"/>
          </a:xfrm>
          <a:prstGeom prst="rect">
            <a:avLst/>
          </a:prstGeom>
          <a:noFill/>
          <a:ln/>
        </p:spPr>
        <p:txBody>
          <a:bodyPr wrap="square" lIns="107182" tIns="35727" rIns="107182" bIns="35727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2804" y="2556636"/>
            <a:ext cx="5957556" cy="678822"/>
          </a:xfrm>
          <a:custGeom>
            <a:avLst/>
            <a:gdLst/>
            <a:ahLst/>
            <a:cxnLst/>
            <a:rect l="l" t="t" r="r" b="b"/>
            <a:pathLst>
              <a:path w="5957556" h="678822">
                <a:moveTo>
                  <a:pt x="71453" y="0"/>
                </a:moveTo>
                <a:lnTo>
                  <a:pt x="5886103" y="0"/>
                </a:lnTo>
                <a:cubicBezTo>
                  <a:pt x="5925566" y="0"/>
                  <a:pt x="5957556" y="31991"/>
                  <a:pt x="5957556" y="71453"/>
                </a:cubicBezTo>
                <a:lnTo>
                  <a:pt x="5957556" y="607369"/>
                </a:lnTo>
                <a:cubicBezTo>
                  <a:pt x="5957556" y="646831"/>
                  <a:pt x="5925566" y="678822"/>
                  <a:pt x="5886103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gradFill flip="none" rotWithShape="1">
            <a:gsLst>
              <a:gs pos="0">
                <a:srgbClr val="5D737E"/>
              </a:gs>
              <a:gs pos="100000">
                <a:srgbClr val="5D737E">
                  <a:alpha val="80000"/>
                </a:srgbClr>
              </a:gs>
            </a:gsLst>
            <a:lin ang="0" scaled="1"/>
          </a:gradFill>
          <a:ln/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69987" y="271741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25327" y="2717410"/>
            <a:ext cx="446593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34444" y="2663818"/>
            <a:ext cx="181316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34444" y="2913911"/>
            <a:ext cx="180423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Judge, critique, test, monitor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2804" y="3362626"/>
            <a:ext cx="5957556" cy="678822"/>
          </a:xfrm>
          <a:custGeom>
            <a:avLst/>
            <a:gdLst/>
            <a:ahLst/>
            <a:cxnLst/>
            <a:rect l="l" t="t" r="r" b="b"/>
            <a:pathLst>
              <a:path w="5957556" h="678822">
                <a:moveTo>
                  <a:pt x="71453" y="0"/>
                </a:moveTo>
                <a:lnTo>
                  <a:pt x="5886103" y="0"/>
                </a:lnTo>
                <a:cubicBezTo>
                  <a:pt x="5925566" y="0"/>
                  <a:pt x="5957556" y="31991"/>
                  <a:pt x="5957556" y="71453"/>
                </a:cubicBezTo>
                <a:lnTo>
                  <a:pt x="5957556" y="607369"/>
                </a:lnTo>
                <a:cubicBezTo>
                  <a:pt x="5957556" y="646831"/>
                  <a:pt x="5925566" y="678822"/>
                  <a:pt x="5886103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2C3E50">
                  <a:alpha val="80000"/>
                </a:srgbClr>
              </a:gs>
            </a:gsLst>
            <a:lin ang="0" scaled="1"/>
          </a:gradFill>
          <a:ln/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769987" y="352340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25327" y="3523400"/>
            <a:ext cx="446593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34444" y="3469808"/>
            <a:ext cx="264383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34444" y="3719901"/>
            <a:ext cx="2634901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Compare, attribute, organize, deconstruct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2804" y="4168727"/>
            <a:ext cx="5957556" cy="678822"/>
          </a:xfrm>
          <a:custGeom>
            <a:avLst/>
            <a:gdLst/>
            <a:ahLst/>
            <a:cxnLst/>
            <a:rect l="l" t="t" r="r" b="b"/>
            <a:pathLst>
              <a:path w="5957556" h="678822">
                <a:moveTo>
                  <a:pt x="71453" y="0"/>
                </a:moveTo>
                <a:lnTo>
                  <a:pt x="5886103" y="0"/>
                </a:lnTo>
                <a:cubicBezTo>
                  <a:pt x="5925566" y="0"/>
                  <a:pt x="5957556" y="31991"/>
                  <a:pt x="5957556" y="71453"/>
                </a:cubicBezTo>
                <a:lnTo>
                  <a:pt x="5957556" y="607369"/>
                </a:lnTo>
                <a:cubicBezTo>
                  <a:pt x="5957556" y="646831"/>
                  <a:pt x="5925566" y="678822"/>
                  <a:pt x="5886103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gradFill flip="none" rotWithShape="1">
            <a:gsLst>
              <a:gs pos="0">
                <a:srgbClr val="5D737E"/>
              </a:gs>
              <a:gs pos="100000">
                <a:srgbClr val="5D737E">
                  <a:alpha val="80000"/>
                </a:srgbClr>
              </a:gs>
            </a:gsLst>
            <a:lin ang="0" scaled="1"/>
          </a:gradFill>
          <a:ln/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69987" y="4329501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25327" y="4329501"/>
            <a:ext cx="446593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34444" y="4275909"/>
            <a:ext cx="244733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34444" y="4526002"/>
            <a:ext cx="243840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Execute, implement, use, demonstrate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62804" y="4974717"/>
            <a:ext cx="5957556" cy="678822"/>
          </a:xfrm>
          <a:custGeom>
            <a:avLst/>
            <a:gdLst/>
            <a:ahLst/>
            <a:cxnLst/>
            <a:rect l="l" t="t" r="r" b="b"/>
            <a:pathLst>
              <a:path w="5957556" h="678822">
                <a:moveTo>
                  <a:pt x="71453" y="0"/>
                </a:moveTo>
                <a:lnTo>
                  <a:pt x="5886103" y="0"/>
                </a:lnTo>
                <a:cubicBezTo>
                  <a:pt x="5925566" y="0"/>
                  <a:pt x="5957556" y="31991"/>
                  <a:pt x="5957556" y="71453"/>
                </a:cubicBezTo>
                <a:lnTo>
                  <a:pt x="5957556" y="607369"/>
                </a:lnTo>
                <a:cubicBezTo>
                  <a:pt x="5957556" y="646831"/>
                  <a:pt x="5925566" y="678822"/>
                  <a:pt x="5886103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2C3E50">
                  <a:alpha val="80000"/>
                </a:srgbClr>
              </a:gs>
            </a:gsLst>
            <a:lin ang="0" scaled="1"/>
          </a:gradFill>
          <a:ln/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69987" y="5135491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25327" y="5135491"/>
            <a:ext cx="446593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34444" y="5081899"/>
            <a:ext cx="256344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34444" y="5331992"/>
            <a:ext cx="2554514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Interpret, exemplify, classify, summarize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62804" y="5780705"/>
            <a:ext cx="5957556" cy="678822"/>
          </a:xfrm>
          <a:custGeom>
            <a:avLst/>
            <a:gdLst/>
            <a:ahLst/>
            <a:cxnLst/>
            <a:rect l="l" t="t" r="r" b="b"/>
            <a:pathLst>
              <a:path w="5957556" h="678822">
                <a:moveTo>
                  <a:pt x="71453" y="0"/>
                </a:moveTo>
                <a:lnTo>
                  <a:pt x="5886103" y="0"/>
                </a:lnTo>
                <a:cubicBezTo>
                  <a:pt x="5925566" y="0"/>
                  <a:pt x="5957556" y="31991"/>
                  <a:pt x="5957556" y="71453"/>
                </a:cubicBezTo>
                <a:lnTo>
                  <a:pt x="5957556" y="607369"/>
                </a:lnTo>
                <a:cubicBezTo>
                  <a:pt x="5957556" y="646831"/>
                  <a:pt x="5925566" y="678822"/>
                  <a:pt x="5886103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gradFill flip="none" rotWithShape="1">
            <a:gsLst>
              <a:gs pos="0">
                <a:srgbClr val="B38B59"/>
              </a:gs>
              <a:gs pos="100000">
                <a:srgbClr val="B38B59">
                  <a:alpha val="80000"/>
                </a:srgbClr>
              </a:gs>
            </a:gsLst>
            <a:lin ang="0" scaled="1"/>
          </a:gradFill>
          <a:ln/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769987" y="5941478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725327" y="5941478"/>
            <a:ext cx="446593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34444" y="5887887"/>
            <a:ext cx="166132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34444" y="6137979"/>
            <a:ext cx="1652396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Recognize, recall, retrieve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852890" y="5977206"/>
            <a:ext cx="660958" cy="285820"/>
          </a:xfrm>
          <a:custGeom>
            <a:avLst/>
            <a:gdLst/>
            <a:ahLst/>
            <a:cxnLst/>
            <a:rect l="l" t="t" r="r" b="b"/>
            <a:pathLst>
              <a:path w="660958" h="285820">
                <a:moveTo>
                  <a:pt x="142910" y="0"/>
                </a:moveTo>
                <a:lnTo>
                  <a:pt x="518048" y="0"/>
                </a:lnTo>
                <a:cubicBezTo>
                  <a:pt x="596975" y="0"/>
                  <a:pt x="660958" y="63983"/>
                  <a:pt x="660958" y="142910"/>
                </a:cubicBezTo>
                <a:lnTo>
                  <a:pt x="660958" y="142910"/>
                </a:lnTo>
                <a:cubicBezTo>
                  <a:pt x="660958" y="221837"/>
                  <a:pt x="596975" y="285820"/>
                  <a:pt x="518048" y="285820"/>
                </a:cubicBezTo>
                <a:lnTo>
                  <a:pt x="142910" y="285820"/>
                </a:lnTo>
                <a:cubicBezTo>
                  <a:pt x="63983" y="285820"/>
                  <a:pt x="0" y="221837"/>
                  <a:pt x="0" y="142910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852890" y="5977206"/>
            <a:ext cx="732413" cy="285820"/>
          </a:xfrm>
          <a:prstGeom prst="rect">
            <a:avLst/>
          </a:prstGeom>
          <a:noFill/>
          <a:ln/>
        </p:spPr>
        <p:txBody>
          <a:bodyPr wrap="square" lIns="107182" tIns="35727" rIns="107182" bIns="35727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066971" y="6588147"/>
            <a:ext cx="125046" cy="125046"/>
          </a:xfrm>
          <a:custGeom>
            <a:avLst/>
            <a:gdLst/>
            <a:ahLst/>
            <a:cxnLst/>
            <a:rect l="l" t="t" r="r" b="b"/>
            <a:pathLst>
              <a:path w="125046" h="125046">
                <a:moveTo>
                  <a:pt x="62523" y="125046"/>
                </a:moveTo>
                <a:cubicBezTo>
                  <a:pt x="97031" y="125046"/>
                  <a:pt x="125046" y="97031"/>
                  <a:pt x="125046" y="62523"/>
                </a:cubicBezTo>
                <a:cubicBezTo>
                  <a:pt x="125046" y="28016"/>
                  <a:pt x="97031" y="0"/>
                  <a:pt x="62523" y="0"/>
                </a:cubicBezTo>
                <a:cubicBezTo>
                  <a:pt x="28016" y="0"/>
                  <a:pt x="0" y="28016"/>
                  <a:pt x="0" y="62523"/>
                </a:cubicBezTo>
                <a:cubicBezTo>
                  <a:pt x="0" y="97031"/>
                  <a:pt x="28016" y="125046"/>
                  <a:pt x="62523" y="125046"/>
                </a:cubicBezTo>
                <a:close/>
                <a:moveTo>
                  <a:pt x="54708" y="39077"/>
                </a:moveTo>
                <a:cubicBezTo>
                  <a:pt x="54708" y="34763"/>
                  <a:pt x="58210" y="31262"/>
                  <a:pt x="62523" y="31262"/>
                </a:cubicBezTo>
                <a:cubicBezTo>
                  <a:pt x="66837" y="31262"/>
                  <a:pt x="70338" y="34763"/>
                  <a:pt x="70338" y="39077"/>
                </a:cubicBezTo>
                <a:cubicBezTo>
                  <a:pt x="70338" y="43390"/>
                  <a:pt x="66837" y="46892"/>
                  <a:pt x="62523" y="46892"/>
                </a:cubicBezTo>
                <a:cubicBezTo>
                  <a:pt x="58210" y="46892"/>
                  <a:pt x="54708" y="43390"/>
                  <a:pt x="54708" y="39077"/>
                </a:cubicBezTo>
                <a:close/>
                <a:moveTo>
                  <a:pt x="52754" y="54708"/>
                </a:moveTo>
                <a:lnTo>
                  <a:pt x="64477" y="54708"/>
                </a:lnTo>
                <a:cubicBezTo>
                  <a:pt x="67725" y="54708"/>
                  <a:pt x="70338" y="57321"/>
                  <a:pt x="70338" y="60569"/>
                </a:cubicBezTo>
                <a:lnTo>
                  <a:pt x="70338" y="82062"/>
                </a:lnTo>
                <a:lnTo>
                  <a:pt x="72292" y="82062"/>
                </a:lnTo>
                <a:cubicBezTo>
                  <a:pt x="75541" y="82062"/>
                  <a:pt x="78154" y="84675"/>
                  <a:pt x="78154" y="87923"/>
                </a:cubicBezTo>
                <a:cubicBezTo>
                  <a:pt x="78154" y="91171"/>
                  <a:pt x="75541" y="93785"/>
                  <a:pt x="72292" y="93785"/>
                </a:cubicBezTo>
                <a:lnTo>
                  <a:pt x="52754" y="93785"/>
                </a:lnTo>
                <a:cubicBezTo>
                  <a:pt x="49506" y="93785"/>
                  <a:pt x="46892" y="91171"/>
                  <a:pt x="46892" y="87923"/>
                </a:cubicBezTo>
                <a:cubicBezTo>
                  <a:pt x="46892" y="84675"/>
                  <a:pt x="49506" y="82062"/>
                  <a:pt x="52754" y="82062"/>
                </a:cubicBezTo>
                <a:lnTo>
                  <a:pt x="58615" y="82062"/>
                </a:lnTo>
                <a:lnTo>
                  <a:pt x="58615" y="66431"/>
                </a:lnTo>
                <a:lnTo>
                  <a:pt x="52754" y="66431"/>
                </a:lnTo>
                <a:cubicBezTo>
                  <a:pt x="49506" y="66431"/>
                  <a:pt x="46892" y="63818"/>
                  <a:pt x="46892" y="60569"/>
                </a:cubicBezTo>
                <a:cubicBezTo>
                  <a:pt x="46892" y="57321"/>
                  <a:pt x="49506" y="54708"/>
                  <a:pt x="52754" y="54708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842571" y="6566709"/>
            <a:ext cx="580905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Anderson &amp; Krathwohl (2001) — A Taxonomy for Learning, Teaching, and Assessing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"/>
          </a:xfrm>
          <a:custGeom>
            <a:avLst/>
            <a:gdLst/>
            <a:ahLst/>
            <a:cxnLst/>
            <a:rect l="l" t="t" r="r" b="b"/>
            <a:pathLst>
              <a:path w="317500" h="31750">
                <a:moveTo>
                  <a:pt x="0" y="0"/>
                </a:moveTo>
                <a:lnTo>
                  <a:pt x="317500" y="0"/>
                </a:lnTo>
                <a:lnTo>
                  <a:pt x="3175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0250" y="317500"/>
            <a:ext cx="127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Landscape: Six Key Studies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16000"/>
            <a:ext cx="11557000" cy="9080500"/>
          </a:xfrm>
          <a:custGeom>
            <a:avLst/>
            <a:gdLst/>
            <a:ahLst/>
            <a:cxnLst/>
            <a:rect l="l" t="t" r="r" b="b"/>
            <a:pathLst>
              <a:path w="11557000" h="9080500">
                <a:moveTo>
                  <a:pt x="95254" y="0"/>
                </a:moveTo>
                <a:lnTo>
                  <a:pt x="11461746" y="0"/>
                </a:lnTo>
                <a:cubicBezTo>
                  <a:pt x="11514353" y="0"/>
                  <a:pt x="11557000" y="42647"/>
                  <a:pt x="11557000" y="95254"/>
                </a:cubicBezTo>
                <a:lnTo>
                  <a:pt x="11557000" y="8985246"/>
                </a:lnTo>
                <a:cubicBezTo>
                  <a:pt x="11557000" y="9037853"/>
                  <a:pt x="11514353" y="9080500"/>
                  <a:pt x="11461746" y="9080500"/>
                </a:cubicBezTo>
                <a:lnTo>
                  <a:pt x="95254" y="9080500"/>
                </a:lnTo>
                <a:cubicBezTo>
                  <a:pt x="42647" y="9080500"/>
                  <a:pt x="0" y="9037853"/>
                  <a:pt x="0" y="8985246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500" y="1143000"/>
          <a:ext cx="11303000" cy="701675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239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Study Focus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Methodology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Key Finding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39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Course Learning Outcomes (CLOs)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Almatrafi &amp; Johri (2025)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LLMs: GPT-4 (Zero-shot, Few-shot, CoT, Rhetorical Situation)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ML: Fine-tuned BERT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Rhetorical Situation prompts achieved highest performance; fine-tuned BERT showed superior overall performance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239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Exam Questions &amp; Learning Outcomes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Kumar, Gulwani &amp; Singh (2025)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Dataset: 600 sentences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ML: SVM, NB, Logistic Regression, LSTM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DL: BERT, RoBERTa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LLMs: GPT-4o-mini, Gemini, Llama 3.1, Claude 3.5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 with data augmentation: 94% accuracy; BERT/RoBERTa suffered from overfitting; Gemini &amp; GPT-4o-mini: 72-73% accuracy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39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Learning Objectives (LOs) from Course Descriptions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Kolagar, Zalkow &amp; Zarcone (2025)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Dataset: 35 LOs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LLM: GPT-4 (MCS, PWC, BWS, BCA, RCA)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Non-LLM: Regex, Fuzzy Matching, SpaCy, Semantic Similarity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LLM-based methods (Best-Worst Scaling) consistently outperformed non-LLM methods; GPT-4 shows minimal prompt-induced bias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239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Benchmarks Analysis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Huber &amp; Niklaus (2025)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43 benchmark tasks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Annotation: Human + LLM (GPT-4, Claude 3, Llama 3) + RoBERTa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Current benchmarks overrepresent lower-order thinking (Understand, Apply, Analyze); lack coverage of Evaluate, Create, Metacognitive levels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239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Engineering Question Papers (SPPU)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Atre et al. (2025)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Bloomify Chatbot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LLM: Mistral 7B fine-tuned with QLoRA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Mean Opinion Scores: 8-9.5 for classification, suggestion, generation; automated Bloom's Score calculation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239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Socratic Student-Chatbot Dialogues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Lee, Ang &amp; Lai (2025)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Statistics course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ML: SentenceTransformer + Logistic Regression, SVM, XGBoost, MLP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LLM: Fine-tuned GPT-4o-mini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Fine-tuned GPT-4o-mini: micro-F1 0.814; Linear SVM: macro-F1 0.630 — superior for rare higher-order labels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44500" y="9677400"/>
            <a:ext cx="11303000" cy="6350"/>
          </a:xfrm>
          <a:custGeom>
            <a:avLst/>
            <a:gdLst/>
            <a:ahLst/>
            <a:cxnLst/>
            <a:rect l="l" t="t" r="r" b="b"/>
            <a:pathLst>
              <a:path w="11303000" h="6350">
                <a:moveTo>
                  <a:pt x="0" y="0"/>
                </a:moveTo>
                <a:lnTo>
                  <a:pt x="11303000" y="0"/>
                </a:lnTo>
                <a:lnTo>
                  <a:pt x="11303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44500" y="9823453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250" y="9775828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LLM-Based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51459" y="9823453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10209" y="9775828"/>
            <a:ext cx="84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17564" y="9823453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76314" y="9775828"/>
            <a:ext cx="43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978430" y="98012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15875" y="59531"/>
                </a:moveTo>
                <a:lnTo>
                  <a:pt x="15875" y="67469"/>
                </a:lnTo>
                <a:cubicBezTo>
                  <a:pt x="15875" y="69652"/>
                  <a:pt x="17661" y="71438"/>
                  <a:pt x="19844" y="71438"/>
                </a:cubicBezTo>
                <a:lnTo>
                  <a:pt x="27781" y="71438"/>
                </a:lnTo>
                <a:cubicBezTo>
                  <a:pt x="29964" y="71438"/>
                  <a:pt x="31750" y="69652"/>
                  <a:pt x="31750" y="67469"/>
                </a:cubicBezTo>
                <a:lnTo>
                  <a:pt x="31750" y="59531"/>
                </a:lnTo>
                <a:cubicBezTo>
                  <a:pt x="31750" y="57348"/>
                  <a:pt x="29964" y="55563"/>
                  <a:pt x="27781" y="55563"/>
                </a:cubicBezTo>
                <a:lnTo>
                  <a:pt x="19844" y="55563"/>
                </a:lnTo>
                <a:cubicBezTo>
                  <a:pt x="17661" y="55563"/>
                  <a:pt x="15875" y="57348"/>
                  <a:pt x="15875" y="59531"/>
                </a:cubicBezTo>
                <a:close/>
                <a:moveTo>
                  <a:pt x="47625" y="59531"/>
                </a:moveTo>
                <a:lnTo>
                  <a:pt x="47625" y="67469"/>
                </a:lnTo>
                <a:cubicBezTo>
                  <a:pt x="47625" y="69652"/>
                  <a:pt x="49411" y="71438"/>
                  <a:pt x="51594" y="71438"/>
                </a:cubicBezTo>
                <a:lnTo>
                  <a:pt x="59531" y="71438"/>
                </a:lnTo>
                <a:cubicBezTo>
                  <a:pt x="61714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1714" y="55563"/>
                  <a:pt x="59531" y="55563"/>
                </a:cubicBezTo>
                <a:lnTo>
                  <a:pt x="51594" y="55563"/>
                </a:lnTo>
                <a:cubicBezTo>
                  <a:pt x="49411" y="55563"/>
                  <a:pt x="47625" y="57348"/>
                  <a:pt x="47625" y="59531"/>
                </a:cubicBezTo>
                <a:close/>
                <a:moveTo>
                  <a:pt x="83344" y="55563"/>
                </a:moveTo>
                <a:cubicBezTo>
                  <a:pt x="81161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81161" y="71438"/>
                  <a:pt x="83344" y="71438"/>
                </a:cubicBezTo>
                <a:lnTo>
                  <a:pt x="91281" y="71438"/>
                </a:lnTo>
                <a:cubicBezTo>
                  <a:pt x="93464" y="71438"/>
                  <a:pt x="95250" y="69652"/>
                  <a:pt x="95250" y="67469"/>
                </a:cubicBezTo>
                <a:lnTo>
                  <a:pt x="95250" y="59531"/>
                </a:lnTo>
                <a:cubicBezTo>
                  <a:pt x="95250" y="57348"/>
                  <a:pt x="93464" y="55563"/>
                  <a:pt x="91281" y="55563"/>
                </a:cubicBezTo>
                <a:lnTo>
                  <a:pt x="83344" y="55563"/>
                </a:lnTo>
                <a:close/>
                <a:moveTo>
                  <a:pt x="15875" y="91281"/>
                </a:move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27781" y="103188"/>
                </a:lnTo>
                <a:cubicBezTo>
                  <a:pt x="29964" y="103188"/>
                  <a:pt x="31750" y="101402"/>
                  <a:pt x="31750" y="99219"/>
                </a:cubicBezTo>
                <a:lnTo>
                  <a:pt x="31750" y="91281"/>
                </a:lnTo>
                <a:cubicBezTo>
                  <a:pt x="31750" y="89098"/>
                  <a:pt x="29964" y="87313"/>
                  <a:pt x="27781" y="87313"/>
                </a:cubicBezTo>
                <a:lnTo>
                  <a:pt x="19844" y="87313"/>
                </a:lnTo>
                <a:cubicBezTo>
                  <a:pt x="17661" y="87313"/>
                  <a:pt x="15875" y="89098"/>
                  <a:pt x="15875" y="91281"/>
                </a:cubicBezTo>
                <a:close/>
                <a:moveTo>
                  <a:pt x="51594" y="87313"/>
                </a:moveTo>
                <a:cubicBezTo>
                  <a:pt x="49411" y="87313"/>
                  <a:pt x="47625" y="89098"/>
                  <a:pt x="47625" y="91281"/>
                </a:cubicBezTo>
                <a:lnTo>
                  <a:pt x="47625" y="99219"/>
                </a:lnTo>
                <a:cubicBezTo>
                  <a:pt x="47625" y="101402"/>
                  <a:pt x="49411" y="103188"/>
                  <a:pt x="51594" y="103188"/>
                </a:cubicBezTo>
                <a:lnTo>
                  <a:pt x="59531" y="103188"/>
                </a:lnTo>
                <a:cubicBezTo>
                  <a:pt x="61714" y="103188"/>
                  <a:pt x="63500" y="101402"/>
                  <a:pt x="63500" y="99219"/>
                </a:cubicBezTo>
                <a:lnTo>
                  <a:pt x="63500" y="91281"/>
                </a:lnTo>
                <a:cubicBezTo>
                  <a:pt x="63500" y="89098"/>
                  <a:pt x="61714" y="87313"/>
                  <a:pt x="59531" y="87313"/>
                </a:cubicBezTo>
                <a:lnTo>
                  <a:pt x="51594" y="87313"/>
                </a:lnTo>
                <a:close/>
                <a:moveTo>
                  <a:pt x="79375" y="91281"/>
                </a:moveTo>
                <a:lnTo>
                  <a:pt x="79375" y="99219"/>
                </a:lnTo>
                <a:cubicBezTo>
                  <a:pt x="79375" y="101402"/>
                  <a:pt x="81161" y="103188"/>
                  <a:pt x="83344" y="103188"/>
                </a:cubicBezTo>
                <a:lnTo>
                  <a:pt x="91281" y="103188"/>
                </a:lnTo>
                <a:cubicBezTo>
                  <a:pt x="93464" y="103188"/>
                  <a:pt x="95250" y="101402"/>
                  <a:pt x="95250" y="99219"/>
                </a:cubicBezTo>
                <a:lnTo>
                  <a:pt x="95250" y="91281"/>
                </a:lnTo>
                <a:cubicBezTo>
                  <a:pt x="95250" y="89098"/>
                  <a:pt x="93464" y="87313"/>
                  <a:pt x="91281" y="87313"/>
                </a:cubicBezTo>
                <a:lnTo>
                  <a:pt x="83344" y="87313"/>
                </a:lnTo>
                <a:cubicBezTo>
                  <a:pt x="81161" y="87313"/>
                  <a:pt x="79375" y="89098"/>
                  <a:pt x="79375" y="91281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153055" y="9775828"/>
            <a:ext cx="165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studies published in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7b0810664f690aeeff4be4f33f0c39284eb511b9.jpg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50000">
                <a:srgbClr val="2C3E50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11525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2926" y="1343025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5144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1000" y="22193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Comparative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Methodologies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2386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Analyzing the trade-offs between different automation approaches in educational assessment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457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1050" y="5438775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38425" y="545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009900" y="5438775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Efficiency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391" y="424070"/>
            <a:ext cx="353391" cy="35339"/>
          </a:xfrm>
          <a:custGeom>
            <a:avLst/>
            <a:gdLst/>
            <a:ahLst/>
            <a:cxnLst/>
            <a:rect l="l" t="t" r="r" b="b"/>
            <a:pathLst>
              <a:path w="353391" h="35339">
                <a:moveTo>
                  <a:pt x="0" y="0"/>
                </a:moveTo>
                <a:lnTo>
                  <a:pt x="353391" y="0"/>
                </a:lnTo>
                <a:lnTo>
                  <a:pt x="353391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353391"/>
            <a:ext cx="21203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kern="0" spc="97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Methodological Trade-off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600765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Prompt Engineering vs. Fine-Tuning Trade-off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095513"/>
            <a:ext cx="5636591" cy="3374887"/>
          </a:xfrm>
          <a:custGeom>
            <a:avLst/>
            <a:gdLst/>
            <a:ahLst/>
            <a:cxnLst/>
            <a:rect l="l" t="t" r="r" b="b"/>
            <a:pathLst>
              <a:path w="5636591" h="3374887">
                <a:moveTo>
                  <a:pt x="106005" y="0"/>
                </a:moveTo>
                <a:lnTo>
                  <a:pt x="5530586" y="0"/>
                </a:lnTo>
                <a:cubicBezTo>
                  <a:pt x="5589131" y="0"/>
                  <a:pt x="5636591" y="47460"/>
                  <a:pt x="5636591" y="106005"/>
                </a:cubicBezTo>
                <a:lnTo>
                  <a:pt x="5636591" y="3268882"/>
                </a:lnTo>
                <a:cubicBezTo>
                  <a:pt x="5636591" y="3327427"/>
                  <a:pt x="5589131" y="3374887"/>
                  <a:pt x="5530586" y="3374887"/>
                </a:cubicBezTo>
                <a:lnTo>
                  <a:pt x="106005" y="3374887"/>
                </a:lnTo>
                <a:cubicBezTo>
                  <a:pt x="47460" y="3374887"/>
                  <a:pt x="0" y="3327427"/>
                  <a:pt x="0" y="3268882"/>
                </a:cubicBezTo>
                <a:lnTo>
                  <a:pt x="0" y="106005"/>
                </a:lnTo>
                <a:cubicBezTo>
                  <a:pt x="0" y="47499"/>
                  <a:pt x="47499" y="0"/>
                  <a:pt x="1060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2174" y="1397992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49799" y="0"/>
                </a:moveTo>
                <a:lnTo>
                  <a:pt x="127104" y="0"/>
                </a:lnTo>
                <a:cubicBezTo>
                  <a:pt x="136249" y="0"/>
                  <a:pt x="143703" y="7523"/>
                  <a:pt x="143358" y="16634"/>
                </a:cubicBezTo>
                <a:cubicBezTo>
                  <a:pt x="143289" y="18463"/>
                  <a:pt x="143220" y="20292"/>
                  <a:pt x="143117" y="22087"/>
                </a:cubicBezTo>
                <a:lnTo>
                  <a:pt x="160234" y="22087"/>
                </a:lnTo>
                <a:cubicBezTo>
                  <a:pt x="169241" y="22087"/>
                  <a:pt x="177179" y="29541"/>
                  <a:pt x="176489" y="39273"/>
                </a:cubicBezTo>
                <a:cubicBezTo>
                  <a:pt x="173900" y="75061"/>
                  <a:pt x="155610" y="94732"/>
                  <a:pt x="135766" y="105017"/>
                </a:cubicBezTo>
                <a:cubicBezTo>
                  <a:pt x="130313" y="107846"/>
                  <a:pt x="124757" y="109952"/>
                  <a:pt x="119477" y="111505"/>
                </a:cubicBezTo>
                <a:cubicBezTo>
                  <a:pt x="112505" y="121375"/>
                  <a:pt x="105258" y="126586"/>
                  <a:pt x="99495" y="129381"/>
                </a:cubicBezTo>
                <a:lnTo>
                  <a:pt x="99495" y="154609"/>
                </a:lnTo>
                <a:lnTo>
                  <a:pt x="121582" y="154609"/>
                </a:lnTo>
                <a:cubicBezTo>
                  <a:pt x="127690" y="154609"/>
                  <a:pt x="132625" y="159544"/>
                  <a:pt x="132625" y="165652"/>
                </a:cubicBezTo>
                <a:cubicBezTo>
                  <a:pt x="132625" y="171761"/>
                  <a:pt x="127690" y="176696"/>
                  <a:pt x="121582" y="176696"/>
                </a:cubicBezTo>
                <a:lnTo>
                  <a:pt x="55321" y="176696"/>
                </a:lnTo>
                <a:cubicBezTo>
                  <a:pt x="49213" y="176696"/>
                  <a:pt x="44277" y="171761"/>
                  <a:pt x="44277" y="165652"/>
                </a:cubicBezTo>
                <a:cubicBezTo>
                  <a:pt x="44277" y="159544"/>
                  <a:pt x="49213" y="154609"/>
                  <a:pt x="55321" y="154609"/>
                </a:cubicBezTo>
                <a:lnTo>
                  <a:pt x="77408" y="154609"/>
                </a:lnTo>
                <a:lnTo>
                  <a:pt x="77408" y="129381"/>
                </a:lnTo>
                <a:cubicBezTo>
                  <a:pt x="71886" y="126724"/>
                  <a:pt x="65018" y="121789"/>
                  <a:pt x="58323" y="112712"/>
                </a:cubicBezTo>
                <a:cubicBezTo>
                  <a:pt x="51973" y="111056"/>
                  <a:pt x="45071" y="108537"/>
                  <a:pt x="38342" y="104740"/>
                </a:cubicBezTo>
                <a:cubicBezTo>
                  <a:pt x="19671" y="94284"/>
                  <a:pt x="2830" y="74578"/>
                  <a:pt x="414" y="39204"/>
                </a:cubicBezTo>
                <a:cubicBezTo>
                  <a:pt x="-242" y="29507"/>
                  <a:pt x="7661" y="22052"/>
                  <a:pt x="16669" y="22052"/>
                </a:cubicBezTo>
                <a:lnTo>
                  <a:pt x="33786" y="22052"/>
                </a:lnTo>
                <a:cubicBezTo>
                  <a:pt x="33683" y="20258"/>
                  <a:pt x="33614" y="18463"/>
                  <a:pt x="33545" y="16600"/>
                </a:cubicBezTo>
                <a:cubicBezTo>
                  <a:pt x="33199" y="7454"/>
                  <a:pt x="40654" y="-35"/>
                  <a:pt x="49799" y="-35"/>
                </a:cubicBezTo>
                <a:close/>
                <a:moveTo>
                  <a:pt x="35029" y="38652"/>
                </a:moveTo>
                <a:lnTo>
                  <a:pt x="16945" y="38652"/>
                </a:lnTo>
                <a:cubicBezTo>
                  <a:pt x="19085" y="67883"/>
                  <a:pt x="32509" y="82515"/>
                  <a:pt x="46348" y="90280"/>
                </a:cubicBezTo>
                <a:cubicBezTo>
                  <a:pt x="41379" y="77408"/>
                  <a:pt x="37272" y="60601"/>
                  <a:pt x="35029" y="38652"/>
                </a:cubicBezTo>
                <a:close/>
                <a:moveTo>
                  <a:pt x="131141" y="88624"/>
                </a:moveTo>
                <a:cubicBezTo>
                  <a:pt x="145118" y="80410"/>
                  <a:pt x="157749" y="65812"/>
                  <a:pt x="159889" y="38652"/>
                </a:cubicBezTo>
                <a:lnTo>
                  <a:pt x="141840" y="38652"/>
                </a:lnTo>
                <a:cubicBezTo>
                  <a:pt x="139700" y="59669"/>
                  <a:pt x="135835" y="75993"/>
                  <a:pt x="131141" y="88624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0957" y="1362653"/>
            <a:ext cx="51506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 Fine-Tuned BERT Superior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087" y="1716044"/>
            <a:ext cx="5353878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Almatrafi &amp; Johri (2025)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found that </a:t>
            </a:r>
            <a:r>
              <a:rPr lang="en-US" sz="1113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BERT achieved near-perfect agreement with expert annotators 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significantly outperforming all prompt-based GPT-4 methods for Course Learning Outcomes classification.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087" y="2511175"/>
            <a:ext cx="5283200" cy="901148"/>
          </a:xfrm>
          <a:custGeom>
            <a:avLst/>
            <a:gdLst/>
            <a:ahLst/>
            <a:cxnLst/>
            <a:rect l="l" t="t" r="r" b="b"/>
            <a:pathLst>
              <a:path w="5283200" h="901148">
                <a:moveTo>
                  <a:pt x="70677" y="0"/>
                </a:moveTo>
                <a:lnTo>
                  <a:pt x="5212523" y="0"/>
                </a:lnTo>
                <a:cubicBezTo>
                  <a:pt x="5251557" y="0"/>
                  <a:pt x="5283200" y="31643"/>
                  <a:pt x="5283200" y="70677"/>
                </a:cubicBezTo>
                <a:lnTo>
                  <a:pt x="5283200" y="830471"/>
                </a:lnTo>
                <a:cubicBezTo>
                  <a:pt x="5283200" y="869505"/>
                  <a:pt x="5251557" y="901148"/>
                  <a:pt x="5212523" y="901148"/>
                </a:cubicBezTo>
                <a:lnTo>
                  <a:pt x="70677" y="901148"/>
                </a:lnTo>
                <a:cubicBezTo>
                  <a:pt x="31643" y="901148"/>
                  <a:pt x="0" y="869505"/>
                  <a:pt x="0" y="830471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6104" y="2617192"/>
            <a:ext cx="5141843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Rhetorical Situation Prompts: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Among prompting strategies, those incorporating </a:t>
            </a:r>
            <a:r>
              <a:rPr lang="en-US" sz="11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audience and contextual information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achieved the highest performance, demonstrating the importance of domain-specific framing.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087" y="3518340"/>
            <a:ext cx="5353878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 Paradox: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offering </a:t>
            </a:r>
            <a:r>
              <a:rPr lang="en-US" sz="1113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and explainability 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CoT prompting did not improve classification accuracy and led the model to "over-analyze" inputs, introducing unnecessary complexity.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3391" y="4616062"/>
            <a:ext cx="5636591" cy="2191026"/>
          </a:xfrm>
          <a:custGeom>
            <a:avLst/>
            <a:gdLst/>
            <a:ahLst/>
            <a:cxnLst/>
            <a:rect l="l" t="t" r="r" b="b"/>
            <a:pathLst>
              <a:path w="5636591" h="2191026">
                <a:moveTo>
                  <a:pt x="106024" y="0"/>
                </a:moveTo>
                <a:lnTo>
                  <a:pt x="5530568" y="0"/>
                </a:lnTo>
                <a:cubicBezTo>
                  <a:pt x="5589123" y="0"/>
                  <a:pt x="5636591" y="47468"/>
                  <a:pt x="5636591" y="106024"/>
                </a:cubicBezTo>
                <a:lnTo>
                  <a:pt x="5636591" y="2085002"/>
                </a:lnTo>
                <a:cubicBezTo>
                  <a:pt x="5636591" y="2143558"/>
                  <a:pt x="5589123" y="2191026"/>
                  <a:pt x="5530568" y="2191026"/>
                </a:cubicBezTo>
                <a:lnTo>
                  <a:pt x="106024" y="2191026"/>
                </a:lnTo>
                <a:cubicBezTo>
                  <a:pt x="47468" y="2191026"/>
                  <a:pt x="0" y="2143558"/>
                  <a:pt x="0" y="2085002"/>
                </a:cubicBezTo>
                <a:lnTo>
                  <a:pt x="0" y="106024"/>
                </a:lnTo>
                <a:cubicBezTo>
                  <a:pt x="0" y="47508"/>
                  <a:pt x="47508" y="0"/>
                  <a:pt x="106024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087" y="4792757"/>
            <a:ext cx="536271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Engineering Strategies Tested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0087" y="5199157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7445" y="5146149"/>
            <a:ext cx="2482574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Zero-shot:</a:t>
            </a:r>
            <a:r>
              <a:rPr lang="en-US" sz="11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Direct classification without examples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2537" y="5199157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6079" y="5146149"/>
            <a:ext cx="2464904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Few-shot:</a:t>
            </a:r>
            <a:r>
              <a:rPr lang="en-US" sz="11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Includes example classifications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8922" y="5729244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1360" y="5676236"/>
            <a:ext cx="2464904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Chain-of-Thought:</a:t>
            </a:r>
            <a:r>
              <a:rPr lang="en-US" sz="11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Step-by-step reasoning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28119" y="5729244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0557" y="5676236"/>
            <a:ext cx="2473739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Rhetorical Situation:</a:t>
            </a:r>
            <a:r>
              <a:rPr lang="en-US" sz="11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Context-aware prompts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087" y="6259331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353" y="6206323"/>
            <a:ext cx="2482574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Binary Questions:</a:t>
            </a:r>
            <a:r>
              <a:rPr lang="en-US" sz="11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Sequential decision tree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0030" y="1095513"/>
            <a:ext cx="5636591" cy="4258365"/>
          </a:xfrm>
          <a:custGeom>
            <a:avLst/>
            <a:gdLst/>
            <a:ahLst/>
            <a:cxnLst/>
            <a:rect l="l" t="t" r="r" b="b"/>
            <a:pathLst>
              <a:path w="5636591" h="4258365">
                <a:moveTo>
                  <a:pt x="106033" y="0"/>
                </a:moveTo>
                <a:lnTo>
                  <a:pt x="5530558" y="0"/>
                </a:lnTo>
                <a:cubicBezTo>
                  <a:pt x="5589119" y="0"/>
                  <a:pt x="5636591" y="47473"/>
                  <a:pt x="5636591" y="106033"/>
                </a:cubicBezTo>
                <a:lnTo>
                  <a:pt x="5636591" y="4152332"/>
                </a:lnTo>
                <a:cubicBezTo>
                  <a:pt x="5636591" y="4210892"/>
                  <a:pt x="5589119" y="4258365"/>
                  <a:pt x="5530558" y="4258365"/>
                </a:cubicBezTo>
                <a:lnTo>
                  <a:pt x="106033" y="4258365"/>
                </a:lnTo>
                <a:cubicBezTo>
                  <a:pt x="47473" y="4258365"/>
                  <a:pt x="0" y="4210892"/>
                  <a:pt x="0" y="4152332"/>
                </a:cubicBezTo>
                <a:lnTo>
                  <a:pt x="0" y="106033"/>
                </a:lnTo>
                <a:cubicBezTo>
                  <a:pt x="0" y="47512"/>
                  <a:pt x="47512" y="0"/>
                  <a:pt x="1060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32552" y="1272209"/>
            <a:ext cx="537154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Comparison</a:t>
            </a:r>
            <a:endParaRPr lang="en-US" sz="1600" dirty="0"/>
          </a:p>
        </p:txBody>
      </p:sp>
      <p:pic>
        <p:nvPicPr>
          <p:cNvPr id="26" name="Image 0" descr="https://kimi-img.moonshot.cn/pub/slides/26-01-29-01:11:02-d5t469m1bb2o7dt2q5u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76725" y="1625600"/>
            <a:ext cx="4841461" cy="3392557"/>
          </a:xfrm>
          <a:prstGeom prst="roundRect">
            <a:avLst>
              <a:gd name="adj" fmla="val 0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6217699" y="5499540"/>
            <a:ext cx="2729948" cy="1307548"/>
          </a:xfrm>
          <a:custGeom>
            <a:avLst/>
            <a:gdLst/>
            <a:ahLst/>
            <a:cxnLst/>
            <a:rect l="l" t="t" r="r" b="b"/>
            <a:pathLst>
              <a:path w="2729948" h="1307548">
                <a:moveTo>
                  <a:pt x="35339" y="0"/>
                </a:moveTo>
                <a:lnTo>
                  <a:pt x="2659275" y="0"/>
                </a:lnTo>
                <a:cubicBezTo>
                  <a:pt x="2698306" y="0"/>
                  <a:pt x="2729948" y="31641"/>
                  <a:pt x="2729948" y="70673"/>
                </a:cubicBezTo>
                <a:lnTo>
                  <a:pt x="2729948" y="1236875"/>
                </a:lnTo>
                <a:cubicBezTo>
                  <a:pt x="2729948" y="1275906"/>
                  <a:pt x="2698306" y="1307548"/>
                  <a:pt x="2659275" y="1307548"/>
                </a:cubicBezTo>
                <a:lnTo>
                  <a:pt x="35339" y="1307548"/>
                </a:lnTo>
                <a:cubicBezTo>
                  <a:pt x="15822" y="1307548"/>
                  <a:pt x="0" y="1291726"/>
                  <a:pt x="0" y="127220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B38B5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217699" y="5499540"/>
            <a:ext cx="35339" cy="1307548"/>
          </a:xfrm>
          <a:custGeom>
            <a:avLst/>
            <a:gdLst/>
            <a:ahLst/>
            <a:cxnLst/>
            <a:rect l="l" t="t" r="r" b="b"/>
            <a:pathLst>
              <a:path w="35339" h="1307548">
                <a:moveTo>
                  <a:pt x="35339" y="0"/>
                </a:moveTo>
                <a:lnTo>
                  <a:pt x="35339" y="0"/>
                </a:lnTo>
                <a:lnTo>
                  <a:pt x="35339" y="1307548"/>
                </a:lnTo>
                <a:lnTo>
                  <a:pt x="35339" y="1307548"/>
                </a:lnTo>
                <a:cubicBezTo>
                  <a:pt x="15822" y="1307548"/>
                  <a:pt x="0" y="1291726"/>
                  <a:pt x="0" y="127220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420899" y="5676236"/>
            <a:ext cx="88348" cy="141357"/>
          </a:xfrm>
          <a:custGeom>
            <a:avLst/>
            <a:gdLst/>
            <a:ahLst/>
            <a:cxnLst/>
            <a:rect l="l" t="t" r="r" b="b"/>
            <a:pathLst>
              <a:path w="88348" h="141357">
                <a:moveTo>
                  <a:pt x="37548" y="6626"/>
                </a:moveTo>
                <a:cubicBezTo>
                  <a:pt x="37548" y="2954"/>
                  <a:pt x="40502" y="0"/>
                  <a:pt x="44174" y="0"/>
                </a:cubicBezTo>
                <a:cubicBezTo>
                  <a:pt x="47846" y="0"/>
                  <a:pt x="50800" y="2954"/>
                  <a:pt x="50800" y="6626"/>
                </a:cubicBezTo>
                <a:lnTo>
                  <a:pt x="50800" y="17670"/>
                </a:lnTo>
                <a:lnTo>
                  <a:pt x="66261" y="17670"/>
                </a:lnTo>
                <a:cubicBezTo>
                  <a:pt x="71148" y="17670"/>
                  <a:pt x="75096" y="21618"/>
                  <a:pt x="75096" y="26504"/>
                </a:cubicBezTo>
                <a:cubicBezTo>
                  <a:pt x="75096" y="31391"/>
                  <a:pt x="71148" y="35339"/>
                  <a:pt x="66261" y="35339"/>
                </a:cubicBezTo>
                <a:lnTo>
                  <a:pt x="34538" y="35339"/>
                </a:lnTo>
                <a:cubicBezTo>
                  <a:pt x="27664" y="35339"/>
                  <a:pt x="22087" y="40916"/>
                  <a:pt x="22087" y="47791"/>
                </a:cubicBezTo>
                <a:cubicBezTo>
                  <a:pt x="22087" y="54003"/>
                  <a:pt x="26642" y="59248"/>
                  <a:pt x="32772" y="60132"/>
                </a:cubicBezTo>
                <a:lnTo>
                  <a:pt x="58061" y="63748"/>
                </a:lnTo>
                <a:cubicBezTo>
                  <a:pt x="72915" y="65874"/>
                  <a:pt x="83930" y="78574"/>
                  <a:pt x="83930" y="93566"/>
                </a:cubicBezTo>
                <a:cubicBezTo>
                  <a:pt x="83930" y="110214"/>
                  <a:pt x="70430" y="123687"/>
                  <a:pt x="53809" y="123687"/>
                </a:cubicBezTo>
                <a:lnTo>
                  <a:pt x="50800" y="123687"/>
                </a:lnTo>
                <a:lnTo>
                  <a:pt x="50800" y="134730"/>
                </a:lnTo>
                <a:cubicBezTo>
                  <a:pt x="50800" y="138402"/>
                  <a:pt x="47846" y="141357"/>
                  <a:pt x="44174" y="141357"/>
                </a:cubicBezTo>
                <a:cubicBezTo>
                  <a:pt x="40502" y="141357"/>
                  <a:pt x="37548" y="138402"/>
                  <a:pt x="37548" y="134730"/>
                </a:cubicBezTo>
                <a:lnTo>
                  <a:pt x="37548" y="123687"/>
                </a:lnTo>
                <a:lnTo>
                  <a:pt x="17670" y="123687"/>
                </a:lnTo>
                <a:cubicBezTo>
                  <a:pt x="12783" y="123687"/>
                  <a:pt x="8835" y="119739"/>
                  <a:pt x="8835" y="114852"/>
                </a:cubicBezTo>
                <a:cubicBezTo>
                  <a:pt x="8835" y="109965"/>
                  <a:pt x="12783" y="106017"/>
                  <a:pt x="17670" y="106017"/>
                </a:cubicBezTo>
                <a:lnTo>
                  <a:pt x="53809" y="106017"/>
                </a:lnTo>
                <a:cubicBezTo>
                  <a:pt x="60684" y="106017"/>
                  <a:pt x="66261" y="100440"/>
                  <a:pt x="66261" y="93566"/>
                </a:cubicBezTo>
                <a:cubicBezTo>
                  <a:pt x="66261" y="87354"/>
                  <a:pt x="61705" y="82108"/>
                  <a:pt x="55576" y="81225"/>
                </a:cubicBezTo>
                <a:lnTo>
                  <a:pt x="30287" y="77608"/>
                </a:lnTo>
                <a:cubicBezTo>
                  <a:pt x="15433" y="75510"/>
                  <a:pt x="4417" y="62782"/>
                  <a:pt x="4417" y="47791"/>
                </a:cubicBezTo>
                <a:cubicBezTo>
                  <a:pt x="4417" y="31170"/>
                  <a:pt x="17918" y="17670"/>
                  <a:pt x="34538" y="17670"/>
                </a:cubicBezTo>
                <a:lnTo>
                  <a:pt x="37548" y="17670"/>
                </a:lnTo>
                <a:lnTo>
                  <a:pt x="37548" y="6626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553421" y="5640897"/>
            <a:ext cx="23235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Analysis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76725" y="5923610"/>
            <a:ext cx="25002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Engineering: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$0-500/month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76725" y="6170983"/>
            <a:ext cx="25002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Fine-Tuning: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$5K-50K upfront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94395" y="648197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61843" y="44174"/>
                </a:moveTo>
                <a:cubicBezTo>
                  <a:pt x="61843" y="39298"/>
                  <a:pt x="65802" y="35339"/>
                  <a:pt x="70678" y="35339"/>
                </a:cubicBezTo>
                <a:cubicBezTo>
                  <a:pt x="75554" y="35339"/>
                  <a:pt x="79513" y="39298"/>
                  <a:pt x="79513" y="44174"/>
                </a:cubicBezTo>
                <a:cubicBezTo>
                  <a:pt x="79513" y="49050"/>
                  <a:pt x="75554" y="53009"/>
                  <a:pt x="70678" y="53009"/>
                </a:cubicBezTo>
                <a:cubicBezTo>
                  <a:pt x="65802" y="53009"/>
                  <a:pt x="61843" y="49050"/>
                  <a:pt x="61843" y="44174"/>
                </a:cubicBezTo>
                <a:close/>
                <a:moveTo>
                  <a:pt x="59635" y="61843"/>
                </a:moveTo>
                <a:lnTo>
                  <a:pt x="72887" y="61843"/>
                </a:lnTo>
                <a:cubicBezTo>
                  <a:pt x="76559" y="61843"/>
                  <a:pt x="79513" y="64798"/>
                  <a:pt x="79513" y="68470"/>
                </a:cubicBezTo>
                <a:lnTo>
                  <a:pt x="79513" y="92765"/>
                </a:lnTo>
                <a:lnTo>
                  <a:pt x="81722" y="92765"/>
                </a:lnTo>
                <a:cubicBezTo>
                  <a:pt x="85394" y="92765"/>
                  <a:pt x="88348" y="95719"/>
                  <a:pt x="88348" y="99391"/>
                </a:cubicBezTo>
                <a:cubicBezTo>
                  <a:pt x="88348" y="103063"/>
                  <a:pt x="85394" y="106017"/>
                  <a:pt x="81722" y="106017"/>
                </a:cubicBezTo>
                <a:lnTo>
                  <a:pt x="59635" y="106017"/>
                </a:lnTo>
                <a:cubicBezTo>
                  <a:pt x="55963" y="106017"/>
                  <a:pt x="53009" y="103063"/>
                  <a:pt x="53009" y="99391"/>
                </a:cubicBezTo>
                <a:cubicBezTo>
                  <a:pt x="53009" y="95719"/>
                  <a:pt x="55963" y="92765"/>
                  <a:pt x="59635" y="92765"/>
                </a:cubicBezTo>
                <a:lnTo>
                  <a:pt x="66261" y="92765"/>
                </a:lnTo>
                <a:lnTo>
                  <a:pt x="66261" y="75096"/>
                </a:lnTo>
                <a:lnTo>
                  <a:pt x="59635" y="75096"/>
                </a:lnTo>
                <a:cubicBezTo>
                  <a:pt x="55963" y="75096"/>
                  <a:pt x="53009" y="72142"/>
                  <a:pt x="53009" y="68470"/>
                </a:cubicBezTo>
                <a:cubicBezTo>
                  <a:pt x="53009" y="64798"/>
                  <a:pt x="55963" y="61843"/>
                  <a:pt x="59635" y="61843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578005" y="6453697"/>
            <a:ext cx="2298964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 for prototyping; FT for scale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105679" y="5499540"/>
            <a:ext cx="2729948" cy="1307548"/>
          </a:xfrm>
          <a:custGeom>
            <a:avLst/>
            <a:gdLst/>
            <a:ahLst/>
            <a:cxnLst/>
            <a:rect l="l" t="t" r="r" b="b"/>
            <a:pathLst>
              <a:path w="2729948" h="1307548">
                <a:moveTo>
                  <a:pt x="35339" y="0"/>
                </a:moveTo>
                <a:lnTo>
                  <a:pt x="2659275" y="0"/>
                </a:lnTo>
                <a:cubicBezTo>
                  <a:pt x="2698306" y="0"/>
                  <a:pt x="2729948" y="31641"/>
                  <a:pt x="2729948" y="70673"/>
                </a:cubicBezTo>
                <a:lnTo>
                  <a:pt x="2729948" y="1236875"/>
                </a:lnTo>
                <a:cubicBezTo>
                  <a:pt x="2729948" y="1275906"/>
                  <a:pt x="2698306" y="1307548"/>
                  <a:pt x="2659275" y="1307548"/>
                </a:cubicBezTo>
                <a:lnTo>
                  <a:pt x="35339" y="1307548"/>
                </a:lnTo>
                <a:cubicBezTo>
                  <a:pt x="15822" y="1307548"/>
                  <a:pt x="0" y="1291726"/>
                  <a:pt x="0" y="127220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5D737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105679" y="5499540"/>
            <a:ext cx="35339" cy="1307548"/>
          </a:xfrm>
          <a:custGeom>
            <a:avLst/>
            <a:gdLst/>
            <a:ahLst/>
            <a:cxnLst/>
            <a:rect l="l" t="t" r="r" b="b"/>
            <a:pathLst>
              <a:path w="35339" h="1307548">
                <a:moveTo>
                  <a:pt x="35339" y="0"/>
                </a:moveTo>
                <a:lnTo>
                  <a:pt x="35339" y="0"/>
                </a:lnTo>
                <a:lnTo>
                  <a:pt x="35339" y="1307548"/>
                </a:lnTo>
                <a:lnTo>
                  <a:pt x="35339" y="1307548"/>
                </a:lnTo>
                <a:cubicBezTo>
                  <a:pt x="15822" y="1307548"/>
                  <a:pt x="0" y="1291726"/>
                  <a:pt x="0" y="127220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9282375" y="5676236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0"/>
                </a:moveTo>
                <a:cubicBezTo>
                  <a:pt x="109687" y="0"/>
                  <a:pt x="141357" y="31670"/>
                  <a:pt x="141357" y="70678"/>
                </a:cubicBezTo>
                <a:cubicBezTo>
                  <a:pt x="141357" y="109687"/>
                  <a:pt x="109687" y="141357"/>
                  <a:pt x="70678" y="141357"/>
                </a:cubicBezTo>
                <a:cubicBezTo>
                  <a:pt x="31670" y="141357"/>
                  <a:pt x="0" y="109687"/>
                  <a:pt x="0" y="70678"/>
                </a:cubicBezTo>
                <a:cubicBezTo>
                  <a:pt x="0" y="31670"/>
                  <a:pt x="31670" y="0"/>
                  <a:pt x="70678" y="0"/>
                </a:cubicBezTo>
                <a:close/>
                <a:moveTo>
                  <a:pt x="64052" y="33130"/>
                </a:moveTo>
                <a:lnTo>
                  <a:pt x="64052" y="70678"/>
                </a:lnTo>
                <a:cubicBezTo>
                  <a:pt x="64052" y="72887"/>
                  <a:pt x="65157" y="74958"/>
                  <a:pt x="67006" y="76200"/>
                </a:cubicBezTo>
                <a:lnTo>
                  <a:pt x="93511" y="93870"/>
                </a:lnTo>
                <a:cubicBezTo>
                  <a:pt x="96548" y="95913"/>
                  <a:pt x="100661" y="95084"/>
                  <a:pt x="102704" y="92020"/>
                </a:cubicBezTo>
                <a:cubicBezTo>
                  <a:pt x="104747" y="88955"/>
                  <a:pt x="103919" y="84869"/>
                  <a:pt x="100855" y="82826"/>
                </a:cubicBezTo>
                <a:lnTo>
                  <a:pt x="77304" y="67144"/>
                </a:lnTo>
                <a:lnTo>
                  <a:pt x="77304" y="33130"/>
                </a:lnTo>
                <a:cubicBezTo>
                  <a:pt x="77304" y="29458"/>
                  <a:pt x="74350" y="26504"/>
                  <a:pt x="70678" y="26504"/>
                </a:cubicBezTo>
                <a:cubicBezTo>
                  <a:pt x="67006" y="26504"/>
                  <a:pt x="64052" y="29458"/>
                  <a:pt x="64052" y="33130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441401" y="5640897"/>
            <a:ext cx="23235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to Deploy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264705" y="5923610"/>
            <a:ext cx="25002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Engineering: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Hours to days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264705" y="6170983"/>
            <a:ext cx="25002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Fine-Tuning:</a:t>
            </a: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Weeks to months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282375" y="648197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61843" y="44174"/>
                </a:moveTo>
                <a:cubicBezTo>
                  <a:pt x="61843" y="39298"/>
                  <a:pt x="65802" y="35339"/>
                  <a:pt x="70678" y="35339"/>
                </a:cubicBezTo>
                <a:cubicBezTo>
                  <a:pt x="75554" y="35339"/>
                  <a:pt x="79513" y="39298"/>
                  <a:pt x="79513" y="44174"/>
                </a:cubicBezTo>
                <a:cubicBezTo>
                  <a:pt x="79513" y="49050"/>
                  <a:pt x="75554" y="53009"/>
                  <a:pt x="70678" y="53009"/>
                </a:cubicBezTo>
                <a:cubicBezTo>
                  <a:pt x="65802" y="53009"/>
                  <a:pt x="61843" y="49050"/>
                  <a:pt x="61843" y="44174"/>
                </a:cubicBezTo>
                <a:close/>
                <a:moveTo>
                  <a:pt x="59635" y="61843"/>
                </a:moveTo>
                <a:lnTo>
                  <a:pt x="72887" y="61843"/>
                </a:lnTo>
                <a:cubicBezTo>
                  <a:pt x="76559" y="61843"/>
                  <a:pt x="79513" y="64798"/>
                  <a:pt x="79513" y="68470"/>
                </a:cubicBezTo>
                <a:lnTo>
                  <a:pt x="79513" y="92765"/>
                </a:lnTo>
                <a:lnTo>
                  <a:pt x="81722" y="92765"/>
                </a:lnTo>
                <a:cubicBezTo>
                  <a:pt x="85394" y="92765"/>
                  <a:pt x="88348" y="95719"/>
                  <a:pt x="88348" y="99391"/>
                </a:cubicBezTo>
                <a:cubicBezTo>
                  <a:pt x="88348" y="103063"/>
                  <a:pt x="85394" y="106017"/>
                  <a:pt x="81722" y="106017"/>
                </a:cubicBezTo>
                <a:lnTo>
                  <a:pt x="59635" y="106017"/>
                </a:lnTo>
                <a:cubicBezTo>
                  <a:pt x="55963" y="106017"/>
                  <a:pt x="53009" y="103063"/>
                  <a:pt x="53009" y="99391"/>
                </a:cubicBezTo>
                <a:cubicBezTo>
                  <a:pt x="53009" y="95719"/>
                  <a:pt x="55963" y="92765"/>
                  <a:pt x="59635" y="92765"/>
                </a:cubicBezTo>
                <a:lnTo>
                  <a:pt x="66261" y="92765"/>
                </a:lnTo>
                <a:lnTo>
                  <a:pt x="66261" y="75096"/>
                </a:lnTo>
                <a:lnTo>
                  <a:pt x="59635" y="75096"/>
                </a:lnTo>
                <a:cubicBezTo>
                  <a:pt x="55963" y="75096"/>
                  <a:pt x="53009" y="72142"/>
                  <a:pt x="53009" y="68470"/>
                </a:cubicBezTo>
                <a:cubicBezTo>
                  <a:pt x="53009" y="64798"/>
                  <a:pt x="55963" y="61843"/>
                  <a:pt x="59635" y="61843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465984" y="6453697"/>
            <a:ext cx="2298964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 offers rapid iteration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"/>
          </a:xfrm>
          <a:custGeom>
            <a:avLst/>
            <a:gdLst/>
            <a:ahLst/>
            <a:cxnLst/>
            <a:rect l="l" t="t" r="r" b="b"/>
            <a:pathLst>
              <a:path w="317500" h="31750">
                <a:moveTo>
                  <a:pt x="0" y="0"/>
                </a:moveTo>
                <a:lnTo>
                  <a:pt x="317500" y="0"/>
                </a:lnTo>
                <a:lnTo>
                  <a:pt x="3175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0250" y="317500"/>
            <a:ext cx="224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LLMs vs. Traditional &amp; Non-LLM Methods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5683250" cy="3397250"/>
          </a:xfrm>
          <a:custGeom>
            <a:avLst/>
            <a:gdLst/>
            <a:ahLst/>
            <a:cxnLst/>
            <a:rect l="l" t="t" r="r" b="b"/>
            <a:pathLst>
              <a:path w="5683250" h="3397250">
                <a:moveTo>
                  <a:pt x="95259" y="0"/>
                </a:moveTo>
                <a:lnTo>
                  <a:pt x="5587991" y="0"/>
                </a:lnTo>
                <a:cubicBezTo>
                  <a:pt x="5640601" y="0"/>
                  <a:pt x="5683250" y="42649"/>
                  <a:pt x="5683250" y="95259"/>
                </a:cubicBezTo>
                <a:lnTo>
                  <a:pt x="5683250" y="3301991"/>
                </a:lnTo>
                <a:cubicBezTo>
                  <a:pt x="5683250" y="3354601"/>
                  <a:pt x="5640601" y="3397250"/>
                  <a:pt x="5587991" y="3397250"/>
                </a:cubicBezTo>
                <a:lnTo>
                  <a:pt x="95259" y="3397250"/>
                </a:lnTo>
                <a:cubicBezTo>
                  <a:pt x="42649" y="3397250"/>
                  <a:pt x="0" y="3354601"/>
                  <a:pt x="0" y="3301991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6094" y="16446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4688" y="1612902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Superiority: Consistent Outperformance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930402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Kolagar et al. (2025)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demonstrated that </a:t>
            </a:r>
            <a:r>
              <a:rPr lang="en-US" sz="1000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LLM-based methods (specifically GPT-4) 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consistently outperformed non-LLM approaches including Regex, fuzzy matching, SpaCy, and semantic similarity methods.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2644777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" y="2740027"/>
            <a:ext cx="5238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Resilience Against Bias: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GPT-4 showed </a:t>
            </a:r>
            <a:r>
              <a:rPr lang="en-US" sz="1000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evidence of prompt-induced bias 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(positional or verbosity), addressing a common concern in LLM deployments.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" y="3343277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Best-Worst Scaling (BWS):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Among LLM-based methods, BWS annotation technique delivered the most reliable classifications, leveraging comparative judgment rather than absolute ratings.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7500" y="4511674"/>
            <a:ext cx="5683250" cy="3397250"/>
          </a:xfrm>
          <a:custGeom>
            <a:avLst/>
            <a:gdLst/>
            <a:ahLst/>
            <a:cxnLst/>
            <a:rect l="l" t="t" r="r" b="b"/>
            <a:pathLst>
              <a:path w="5683250" h="3397250">
                <a:moveTo>
                  <a:pt x="95259" y="0"/>
                </a:moveTo>
                <a:lnTo>
                  <a:pt x="5587991" y="0"/>
                </a:lnTo>
                <a:cubicBezTo>
                  <a:pt x="5640601" y="0"/>
                  <a:pt x="5683250" y="42649"/>
                  <a:pt x="5683250" y="95259"/>
                </a:cubicBezTo>
                <a:lnTo>
                  <a:pt x="5683250" y="3301991"/>
                </a:lnTo>
                <a:cubicBezTo>
                  <a:pt x="5683250" y="3354601"/>
                  <a:pt x="5640601" y="3397250"/>
                  <a:pt x="5587991" y="3397250"/>
                </a:cubicBezTo>
                <a:lnTo>
                  <a:pt x="95259" y="3397250"/>
                </a:lnTo>
                <a:cubicBezTo>
                  <a:pt x="42649" y="3397250"/>
                  <a:pt x="0" y="3354601"/>
                  <a:pt x="0" y="3301991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6250" y="5172076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4688" y="5140326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Model Resilience: SVM Success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6250" y="5457826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Kumar et al. (2025)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revealed a surprising result: on small datasets (600 sentences), </a:t>
            </a:r>
            <a:r>
              <a:rPr lang="en-US" sz="1000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Support Vector Machine (SVM) with synonym augmentation achieved 94% accuracy 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outperforming both BERT and zero-shot LLMs.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6250" y="6172201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1500" y="6267451"/>
            <a:ext cx="5238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 Overfitting: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Deep learning models (BERT, RoBERTa, LSTM) </a:t>
            </a: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suffered from severe overfitting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the small dataset, highlighting the data efficiency advantage of traditional ML.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6250" y="6870701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Zero-Shot Limitations: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GPT-4o-mini and Gemini achieved only </a:t>
            </a: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72-73% accuracy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zero-shot settings, demonstrating the challenge of generalization without task-specific adaptation.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250" y="984250"/>
            <a:ext cx="5683250" cy="3944937"/>
          </a:xfrm>
          <a:custGeom>
            <a:avLst/>
            <a:gdLst/>
            <a:ahLst/>
            <a:cxnLst/>
            <a:rect l="l" t="t" r="r" b="b"/>
            <a:pathLst>
              <a:path w="5683250" h="3944937">
                <a:moveTo>
                  <a:pt x="95231" y="0"/>
                </a:moveTo>
                <a:lnTo>
                  <a:pt x="5588019" y="0"/>
                </a:lnTo>
                <a:cubicBezTo>
                  <a:pt x="5640614" y="0"/>
                  <a:pt x="5683250" y="42636"/>
                  <a:pt x="5683250" y="95231"/>
                </a:cubicBezTo>
                <a:lnTo>
                  <a:pt x="5683250" y="3849707"/>
                </a:lnTo>
                <a:cubicBezTo>
                  <a:pt x="5683250" y="3902301"/>
                  <a:pt x="5640614" y="3944937"/>
                  <a:pt x="5588019" y="3944937"/>
                </a:cubicBezTo>
                <a:lnTo>
                  <a:pt x="95231" y="3944937"/>
                </a:lnTo>
                <a:cubicBezTo>
                  <a:pt x="42636" y="3944937"/>
                  <a:pt x="0" y="3902301"/>
                  <a:pt x="0" y="3849707"/>
                </a:cubicBezTo>
                <a:lnTo>
                  <a:pt x="0" y="95231"/>
                </a:lnTo>
                <a:cubicBezTo>
                  <a:pt x="0" y="42671"/>
                  <a:pt x="42671" y="0"/>
                  <a:pt x="952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10313" y="1143000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Comparison: Small Dataset (600 sentences)</a:t>
            </a:r>
            <a:endParaRPr lang="en-US" sz="1600" dirty="0"/>
          </a:p>
        </p:txBody>
      </p:sp>
      <p:pic>
        <p:nvPicPr>
          <p:cNvPr id="21" name="Image 0" descr="https://kimi-img.moonshot.cn/pub/slides/26-01-29-01:11:02-d5t469m0ftls5bf5hk4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0000" y="1460500"/>
            <a:ext cx="4349750" cy="2254250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6191250" y="5054598"/>
            <a:ext cx="5683250" cy="2857500"/>
          </a:xfrm>
          <a:custGeom>
            <a:avLst/>
            <a:gdLst/>
            <a:ahLst/>
            <a:cxnLst/>
            <a:rect l="l" t="t" r="r" b="b"/>
            <a:pathLst>
              <a:path w="5683250" h="2857500">
                <a:moveTo>
                  <a:pt x="95240" y="0"/>
                </a:moveTo>
                <a:lnTo>
                  <a:pt x="5588010" y="0"/>
                </a:lnTo>
                <a:cubicBezTo>
                  <a:pt x="5640609" y="0"/>
                  <a:pt x="5683250" y="42641"/>
                  <a:pt x="5683250" y="95240"/>
                </a:cubicBezTo>
                <a:lnTo>
                  <a:pt x="5683250" y="2762260"/>
                </a:lnTo>
                <a:cubicBezTo>
                  <a:pt x="5683250" y="2814859"/>
                  <a:pt x="5640609" y="2857500"/>
                  <a:pt x="5588010" y="2857500"/>
                </a:cubicBezTo>
                <a:lnTo>
                  <a:pt x="95240" y="2857500"/>
                </a:lnTo>
                <a:cubicBezTo>
                  <a:pt x="42641" y="2857500"/>
                  <a:pt x="0" y="2814859"/>
                  <a:pt x="0" y="2762260"/>
                </a:cubicBezTo>
                <a:lnTo>
                  <a:pt x="0" y="95240"/>
                </a:lnTo>
                <a:cubicBezTo>
                  <a:pt x="0" y="42641"/>
                  <a:pt x="42641" y="0"/>
                  <a:pt x="9524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50000" y="5213348"/>
            <a:ext cx="543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Nuanced Reality: Micro vs. Macro F1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50000" y="5530848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Lee et al. (2025)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revealed critical metric-dependent performance differences in Socratic dialogue classification: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50000" y="6038848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45250" y="6134098"/>
            <a:ext cx="523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Micro-F1 (Overall Performance):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Fine-tuned GPT-4o-mini achieved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0.814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best weighted performance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50000" y="6673848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45250" y="6769098"/>
            <a:ext cx="523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Macro-F1 (Balanced Performance):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Calibrated Linear SVM achieved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0.630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superior for preserving rare higher-order labels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50000" y="7340598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Traditional ML excels at detecting </a:t>
            </a:r>
            <a:r>
              <a:rPr lang="en-US" sz="10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rare, higher-order thinking skills 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(Evaluate, Create) that are critical for educational assessment but underrepresented in training data.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astersoft.ai/c53f59b78cd29192e583b319a9ba40d349117de7.webp"/>
          <p:cNvPicPr>
            <a:picLocks noChangeAspect="1"/>
          </p:cNvPicPr>
          <p:nvPr/>
        </p:nvPicPr>
        <p:blipFill>
          <a:blip r:embed="rId3">
            <a:alphaModFix amt="25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50000">
                <a:srgbClr val="2C3E50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13382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1378" y="1528763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7002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1000" y="2405063"/>
            <a:ext cx="61245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Practical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Applications &amp; Tools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424363"/>
            <a:ext cx="5895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static classification to dynamic educational systems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27208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1050" y="5253038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Chatbots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889522" y="52720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75284" y="5253038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Socratic Dialogue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"/>
          </a:xfrm>
          <a:custGeom>
            <a:avLst/>
            <a:gdLst/>
            <a:ahLst/>
            <a:cxnLst/>
            <a:rect l="l" t="t" r="r" b="b"/>
            <a:pathLst>
              <a:path w="317500" h="31750">
                <a:moveTo>
                  <a:pt x="0" y="0"/>
                </a:moveTo>
                <a:lnTo>
                  <a:pt x="317500" y="0"/>
                </a:lnTo>
                <a:lnTo>
                  <a:pt x="3175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0250" y="317500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Real-World Implementations: Bloomify &amp; Socratic Dialogue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5683250" cy="4937125"/>
          </a:xfrm>
          <a:custGeom>
            <a:avLst/>
            <a:gdLst/>
            <a:ahLst/>
            <a:cxnLst/>
            <a:rect l="l" t="t" r="r" b="b"/>
            <a:pathLst>
              <a:path w="5683250" h="4937125">
                <a:moveTo>
                  <a:pt x="95237" y="0"/>
                </a:moveTo>
                <a:lnTo>
                  <a:pt x="5588013" y="0"/>
                </a:lnTo>
                <a:cubicBezTo>
                  <a:pt x="5640611" y="0"/>
                  <a:pt x="5683250" y="42639"/>
                  <a:pt x="5683250" y="95237"/>
                </a:cubicBezTo>
                <a:lnTo>
                  <a:pt x="5683250" y="4841888"/>
                </a:lnTo>
                <a:cubicBezTo>
                  <a:pt x="5683250" y="4894486"/>
                  <a:pt x="5640611" y="4937125"/>
                  <a:pt x="5588013" y="4937125"/>
                </a:cubicBezTo>
                <a:lnTo>
                  <a:pt x="95237" y="4937125"/>
                </a:lnTo>
                <a:cubicBezTo>
                  <a:pt x="42639" y="4937125"/>
                  <a:pt x="0" y="4894486"/>
                  <a:pt x="0" y="4841888"/>
                </a:cubicBezTo>
                <a:lnTo>
                  <a:pt x="0" y="95237"/>
                </a:lnTo>
                <a:cubicBezTo>
                  <a:pt x="0" y="42639"/>
                  <a:pt x="42639" y="0"/>
                  <a:pt x="952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6250" y="11746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7688" y="126990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2500" y="1143000"/>
            <a:ext cx="156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Bloomify Chatbot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1396903"/>
            <a:ext cx="153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Atre et al. (2025)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" y="1682653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Bloomify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represents a </a:t>
            </a:r>
            <a:r>
              <a:rPr lang="en-US" sz="1000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implementation 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automated Bloom's Taxonomy classification, deployed as an interactive chatbot for engineering question papers at SPPU (Savitribai Phule Pune University).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2397028"/>
            <a:ext cx="5365750" cy="1079500"/>
          </a:xfrm>
          <a:custGeom>
            <a:avLst/>
            <a:gdLst/>
            <a:ahLst/>
            <a:cxnLst/>
            <a:rect l="l" t="t" r="r" b="b"/>
            <a:pathLst>
              <a:path w="5365750" h="1079500">
                <a:moveTo>
                  <a:pt x="63496" y="0"/>
                </a:moveTo>
                <a:lnTo>
                  <a:pt x="5302254" y="0"/>
                </a:lnTo>
                <a:cubicBezTo>
                  <a:pt x="5337322" y="0"/>
                  <a:pt x="5365750" y="28428"/>
                  <a:pt x="5365750" y="63496"/>
                </a:cubicBezTo>
                <a:lnTo>
                  <a:pt x="5365750" y="1016004"/>
                </a:lnTo>
                <a:cubicBezTo>
                  <a:pt x="5365750" y="1051072"/>
                  <a:pt x="5337322" y="1079500"/>
                  <a:pt x="530225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" y="249227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74627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Model: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Mistral 7B (open-source LLM)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96852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QLoRA (Quantized Low-Rank Adapters)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19077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Memory-efficient adaptation without full model retraining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6250" y="3571778"/>
            <a:ext cx="5365750" cy="889000"/>
          </a:xfrm>
          <a:custGeom>
            <a:avLst/>
            <a:gdLst/>
            <a:ahLst/>
            <a:cxnLst/>
            <a:rect l="l" t="t" r="r" b="b"/>
            <a:pathLst>
              <a:path w="5365750" h="889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825499"/>
                </a:lnTo>
                <a:cubicBezTo>
                  <a:pt x="5365750" y="860570"/>
                  <a:pt x="5337320" y="889000"/>
                  <a:pt x="530224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1500" y="366702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1969" y="3921028"/>
            <a:ext cx="177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8-9.5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3719" y="4206778"/>
            <a:ext cx="171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Opinion 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68736" y="3921028"/>
            <a:ext cx="177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00486" y="4206778"/>
            <a:ext cx="171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5603" y="3921028"/>
            <a:ext cx="177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57353" y="4206778"/>
            <a:ext cx="171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 Calculation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6045201"/>
            <a:ext cx="5683250" cy="1524000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95250" y="0"/>
                </a:moveTo>
                <a:lnTo>
                  <a:pt x="5588000" y="0"/>
                </a:lnTo>
                <a:cubicBezTo>
                  <a:pt x="5640570" y="0"/>
                  <a:pt x="5683250" y="42680"/>
                  <a:pt x="5683250" y="95250"/>
                </a:cubicBezTo>
                <a:lnTo>
                  <a:pt x="5683250" y="1428750"/>
                </a:lnTo>
                <a:cubicBezTo>
                  <a:pt x="5683250" y="1481320"/>
                  <a:pt x="5640570" y="1524000"/>
                  <a:pt x="5588000" y="1524000"/>
                </a:cubicBezTo>
                <a:lnTo>
                  <a:pt x="95250" y="1524000"/>
                </a:lnTo>
                <a:cubicBezTo>
                  <a:pt x="42680" y="1524000"/>
                  <a:pt x="0" y="1481320"/>
                  <a:pt x="0" y="1428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6250" y="6203951"/>
            <a:ext cx="543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Bloomify's Three Core Capabilities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65214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4500" y="652145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5500" y="6521451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 categorizes exam questions into Bloom's levels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6250" y="68389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4500" y="683895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5500" y="6838951"/>
            <a:ext cx="41195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Suggestion: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Recommends cognitive level adjustments for better alignment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6250" y="71564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4500" y="715645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5500" y="7156451"/>
            <a:ext cx="350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new questions at specified cognitive levels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984250"/>
            <a:ext cx="5683250" cy="4826000"/>
          </a:xfrm>
          <a:custGeom>
            <a:avLst/>
            <a:gdLst/>
            <a:ahLst/>
            <a:cxnLst/>
            <a:rect l="l" t="t" r="r" b="b"/>
            <a:pathLst>
              <a:path w="5683250" h="4826000">
                <a:moveTo>
                  <a:pt x="95265" y="0"/>
                </a:moveTo>
                <a:lnTo>
                  <a:pt x="5587985" y="0"/>
                </a:lnTo>
                <a:cubicBezTo>
                  <a:pt x="5640598" y="0"/>
                  <a:pt x="5683250" y="42652"/>
                  <a:pt x="5683250" y="95265"/>
                </a:cubicBezTo>
                <a:lnTo>
                  <a:pt x="5683250" y="4730735"/>
                </a:lnTo>
                <a:cubicBezTo>
                  <a:pt x="5683250" y="4783348"/>
                  <a:pt x="5640598" y="4826000"/>
                  <a:pt x="5587985" y="4826000"/>
                </a:cubicBezTo>
                <a:lnTo>
                  <a:pt x="95265" y="4826000"/>
                </a:lnTo>
                <a:cubicBezTo>
                  <a:pt x="42652" y="4826000"/>
                  <a:pt x="0" y="4783348"/>
                  <a:pt x="0" y="4730735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50000" y="11746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33344" y="126990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26250" y="1143000"/>
            <a:ext cx="231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Socratic Dialogue Analysis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26250" y="1396903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Lee, Ang &amp; Lai (2025)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0000" y="1682653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Classification: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Moving beyond static text analysis, this study applied Bloom's Taxonomy to </a:t>
            </a:r>
            <a:r>
              <a:rPr lang="en-US" sz="1000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student-chatbot interactions 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 Statistics course, tagging conversational turns during Socratic dialogue.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0000" y="2397028"/>
            <a:ext cx="5365750" cy="1301750"/>
          </a:xfrm>
          <a:custGeom>
            <a:avLst/>
            <a:gdLst/>
            <a:ahLst/>
            <a:cxnLst/>
            <a:rect l="l" t="t" r="r" b="b"/>
            <a:pathLst>
              <a:path w="5365750" h="130175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1238251"/>
                </a:lnTo>
                <a:cubicBezTo>
                  <a:pt x="5365750" y="1273320"/>
                  <a:pt x="5337320" y="1301750"/>
                  <a:pt x="5302251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5250" y="249227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Context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45250" y="274627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Statistics education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45250" y="296852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Socratic questioning via AI chatbot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45250" y="319077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 Labeling: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students (8.8% of cohort) manually annotated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45250" y="341302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Model-based labeling for remaining dialogues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5875" y="3794028"/>
            <a:ext cx="5349875" cy="857250"/>
          </a:xfrm>
          <a:custGeom>
            <a:avLst/>
            <a:gdLst/>
            <a:ahLst/>
            <a:cxnLst/>
            <a:rect l="l" t="t" r="r" b="b"/>
            <a:pathLst>
              <a:path w="5349875" h="857250">
                <a:moveTo>
                  <a:pt x="31750" y="0"/>
                </a:moveTo>
                <a:lnTo>
                  <a:pt x="5286378" y="0"/>
                </a:lnTo>
                <a:cubicBezTo>
                  <a:pt x="5321447" y="0"/>
                  <a:pt x="5349875" y="28428"/>
                  <a:pt x="5349875" y="63497"/>
                </a:cubicBezTo>
                <a:lnTo>
                  <a:pt x="5349875" y="793753"/>
                </a:lnTo>
                <a:cubicBezTo>
                  <a:pt x="5349875" y="828822"/>
                  <a:pt x="5321447" y="857250"/>
                  <a:pt x="528637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D737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365875" y="3794028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77000" y="3889278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Methodological Approaches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77000" y="4143278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ML: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SentenceTransformer + Logistic Regression, SVM, XGBoost, MLP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77000" y="4365528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LLM:</a:t>
            </a: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Fine-tuned GPT-4o-mini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1250" y="5934076"/>
            <a:ext cx="5683250" cy="1635125"/>
          </a:xfrm>
          <a:custGeom>
            <a:avLst/>
            <a:gdLst/>
            <a:ahLst/>
            <a:cxnLst/>
            <a:rect l="l" t="t" r="r" b="b"/>
            <a:pathLst>
              <a:path w="5683250" h="1635125">
                <a:moveTo>
                  <a:pt x="95246" y="0"/>
                </a:moveTo>
                <a:lnTo>
                  <a:pt x="5588004" y="0"/>
                </a:lnTo>
                <a:cubicBezTo>
                  <a:pt x="5640607" y="0"/>
                  <a:pt x="5683250" y="42643"/>
                  <a:pt x="5683250" y="95246"/>
                </a:cubicBezTo>
                <a:lnTo>
                  <a:pt x="5683250" y="1539879"/>
                </a:lnTo>
                <a:cubicBezTo>
                  <a:pt x="5683250" y="1592482"/>
                  <a:pt x="5640607" y="1635125"/>
                  <a:pt x="5588004" y="1635125"/>
                </a:cubicBezTo>
                <a:lnTo>
                  <a:pt x="95246" y="1635125"/>
                </a:lnTo>
                <a:cubicBezTo>
                  <a:pt x="42643" y="1635125"/>
                  <a:pt x="0" y="1592482"/>
                  <a:pt x="0" y="1539879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50000" y="6092826"/>
            <a:ext cx="543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Evolution: Static → Dynamic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65875" y="64420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04000" y="6410326"/>
            <a:ext cx="346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Analysis: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Classifying learning outcomes, exam questions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5875" y="66960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04000" y="6664326"/>
            <a:ext cx="3516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Systems: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chatbot classification (Bloomify)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65875" y="69500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04000" y="6918326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Dialogue: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Socratic conversation tagging (Lee et al.)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50000" y="7204076"/>
            <a:ext cx="5429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Direction: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of </a:t>
            </a:r>
            <a:r>
              <a:rPr lang="en-US" sz="10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r>
              <a:rPr lang="en-US" sz="10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Diffusion 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diagram generation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780" y="434136"/>
            <a:ext cx="361780" cy="36178"/>
          </a:xfrm>
          <a:custGeom>
            <a:avLst/>
            <a:gdLst/>
            <a:ahLst/>
            <a:cxnLst/>
            <a:rect l="l" t="t" r="r" b="b"/>
            <a:pathLst>
              <a:path w="361780" h="36178">
                <a:moveTo>
                  <a:pt x="0" y="0"/>
                </a:moveTo>
                <a:lnTo>
                  <a:pt x="361780" y="0"/>
                </a:lnTo>
                <a:lnTo>
                  <a:pt x="361780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095" y="361780"/>
            <a:ext cx="138381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kern="0" spc="100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1780" y="615027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2C3E5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Critique of Current LLM Benchmarks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780" y="1121519"/>
            <a:ext cx="5625685" cy="3274113"/>
          </a:xfrm>
          <a:custGeom>
            <a:avLst/>
            <a:gdLst/>
            <a:ahLst/>
            <a:cxnLst/>
            <a:rect l="l" t="t" r="r" b="b"/>
            <a:pathLst>
              <a:path w="5625685" h="3274113">
                <a:moveTo>
                  <a:pt x="108537" y="0"/>
                </a:moveTo>
                <a:lnTo>
                  <a:pt x="5517149" y="0"/>
                </a:lnTo>
                <a:cubicBezTo>
                  <a:pt x="5577092" y="0"/>
                  <a:pt x="5625685" y="48594"/>
                  <a:pt x="5625685" y="108537"/>
                </a:cubicBezTo>
                <a:lnTo>
                  <a:pt x="5625685" y="3165576"/>
                </a:lnTo>
                <a:cubicBezTo>
                  <a:pt x="5625685" y="3225519"/>
                  <a:pt x="5577092" y="3274113"/>
                  <a:pt x="5517149" y="3274113"/>
                </a:cubicBezTo>
                <a:lnTo>
                  <a:pt x="108537" y="3274113"/>
                </a:lnTo>
                <a:cubicBezTo>
                  <a:pt x="48594" y="3274113"/>
                  <a:pt x="0" y="3225519"/>
                  <a:pt x="0" y="3165576"/>
                </a:cubicBezTo>
                <a:lnTo>
                  <a:pt x="0" y="108537"/>
                </a:lnTo>
                <a:cubicBezTo>
                  <a:pt x="0" y="48634"/>
                  <a:pt x="48634" y="0"/>
                  <a:pt x="1085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5282" y="1338588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90445" y="0"/>
                </a:moveTo>
                <a:cubicBezTo>
                  <a:pt x="95639" y="0"/>
                  <a:pt x="100408" y="2862"/>
                  <a:pt x="102881" y="7419"/>
                </a:cubicBezTo>
                <a:lnTo>
                  <a:pt x="179194" y="148740"/>
                </a:lnTo>
                <a:cubicBezTo>
                  <a:pt x="181561" y="153121"/>
                  <a:pt x="181455" y="158420"/>
                  <a:pt x="178912" y="162695"/>
                </a:cubicBezTo>
                <a:cubicBezTo>
                  <a:pt x="176368" y="166970"/>
                  <a:pt x="171740" y="169585"/>
                  <a:pt x="166758" y="169585"/>
                </a:cubicBezTo>
                <a:lnTo>
                  <a:pt x="14132" y="169585"/>
                </a:lnTo>
                <a:cubicBezTo>
                  <a:pt x="9151" y="169585"/>
                  <a:pt x="4558" y="166970"/>
                  <a:pt x="1978" y="162695"/>
                </a:cubicBezTo>
                <a:cubicBezTo>
                  <a:pt x="-601" y="158420"/>
                  <a:pt x="-671" y="153121"/>
                  <a:pt x="1696" y="148740"/>
                </a:cubicBezTo>
                <a:lnTo>
                  <a:pt x="78009" y="7419"/>
                </a:lnTo>
                <a:cubicBezTo>
                  <a:pt x="80482" y="2862"/>
                  <a:pt x="85252" y="0"/>
                  <a:pt x="90445" y="0"/>
                </a:cubicBezTo>
                <a:close/>
                <a:moveTo>
                  <a:pt x="90445" y="59355"/>
                </a:moveTo>
                <a:cubicBezTo>
                  <a:pt x="85746" y="59355"/>
                  <a:pt x="81966" y="63135"/>
                  <a:pt x="81966" y="67834"/>
                </a:cubicBezTo>
                <a:lnTo>
                  <a:pt x="81966" y="107404"/>
                </a:lnTo>
                <a:cubicBezTo>
                  <a:pt x="81966" y="112102"/>
                  <a:pt x="85746" y="115883"/>
                  <a:pt x="90445" y="115883"/>
                </a:cubicBezTo>
                <a:cubicBezTo>
                  <a:pt x="95144" y="115883"/>
                  <a:pt x="98924" y="112102"/>
                  <a:pt x="98924" y="107404"/>
                </a:cubicBezTo>
                <a:lnTo>
                  <a:pt x="98924" y="67834"/>
                </a:lnTo>
                <a:cubicBezTo>
                  <a:pt x="98924" y="63135"/>
                  <a:pt x="95144" y="59355"/>
                  <a:pt x="90445" y="59355"/>
                </a:cubicBezTo>
                <a:close/>
                <a:moveTo>
                  <a:pt x="99878" y="135668"/>
                </a:moveTo>
                <a:cubicBezTo>
                  <a:pt x="100093" y="132166"/>
                  <a:pt x="98347" y="128835"/>
                  <a:pt x="95345" y="127019"/>
                </a:cubicBezTo>
                <a:cubicBezTo>
                  <a:pt x="92343" y="125204"/>
                  <a:pt x="88582" y="125204"/>
                  <a:pt x="85581" y="127019"/>
                </a:cubicBezTo>
                <a:cubicBezTo>
                  <a:pt x="82579" y="128835"/>
                  <a:pt x="80833" y="132166"/>
                  <a:pt x="81047" y="135668"/>
                </a:cubicBezTo>
                <a:cubicBezTo>
                  <a:pt x="80833" y="139169"/>
                  <a:pt x="82579" y="142500"/>
                  <a:pt x="85581" y="144316"/>
                </a:cubicBezTo>
                <a:cubicBezTo>
                  <a:pt x="88582" y="146132"/>
                  <a:pt x="92343" y="146132"/>
                  <a:pt x="95345" y="144316"/>
                </a:cubicBezTo>
                <a:cubicBezTo>
                  <a:pt x="98347" y="142500"/>
                  <a:pt x="100093" y="139169"/>
                  <a:pt x="99878" y="135668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783" y="1302409"/>
            <a:ext cx="5128237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Benchmark Gap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671" y="1664190"/>
            <a:ext cx="5336261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Huber &amp; Niklaus (2025)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conducted a critical analysis of popular LLM benchmarks (MMLU, AGIEval, BIG-Bench Hard) and discovered a </a:t>
            </a:r>
            <a:r>
              <a:rPr lang="en-US" sz="1139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bias toward lower-order thinking skills 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671" y="2478196"/>
            <a:ext cx="5263905" cy="922540"/>
          </a:xfrm>
          <a:custGeom>
            <a:avLst/>
            <a:gdLst/>
            <a:ahLst/>
            <a:cxnLst/>
            <a:rect l="l" t="t" r="r" b="b"/>
            <a:pathLst>
              <a:path w="5263905" h="922540">
                <a:moveTo>
                  <a:pt x="72355" y="0"/>
                </a:moveTo>
                <a:lnTo>
                  <a:pt x="5191550" y="0"/>
                </a:lnTo>
                <a:cubicBezTo>
                  <a:pt x="5231511" y="0"/>
                  <a:pt x="5263905" y="32394"/>
                  <a:pt x="5263905" y="72355"/>
                </a:cubicBezTo>
                <a:lnTo>
                  <a:pt x="5263905" y="850185"/>
                </a:lnTo>
                <a:cubicBezTo>
                  <a:pt x="5263905" y="890146"/>
                  <a:pt x="5231511" y="922540"/>
                  <a:pt x="5191550" y="922540"/>
                </a:cubicBezTo>
                <a:lnTo>
                  <a:pt x="72355" y="922540"/>
                </a:lnTo>
                <a:cubicBezTo>
                  <a:pt x="32394" y="922540"/>
                  <a:pt x="0" y="890146"/>
                  <a:pt x="0" y="850185"/>
                </a:cubicBezTo>
                <a:lnTo>
                  <a:pt x="0" y="72355"/>
                </a:lnTo>
                <a:cubicBezTo>
                  <a:pt x="0" y="32394"/>
                  <a:pt x="32394" y="0"/>
                  <a:pt x="72355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205" y="2586730"/>
            <a:ext cx="5119193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Current benchmarks </a:t>
            </a: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heavily overrepresent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Remember, Understand, and Apply levels while </a:t>
            </a: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lacking sufficient coverage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Evaluate, Create, and Metacognitive levels.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671" y="3509270"/>
            <a:ext cx="5336261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Implication: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Our evaluation metrics may </a:t>
            </a:r>
            <a:r>
              <a:rPr lang="en-US" sz="1139" dirty="0">
                <a:solidFill>
                  <a:srgbClr val="2C3E50"/>
                </a:solidFill>
                <a:highlight>
                  <a:srgbClr val="B38B5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accurately reflect LLMs' true capabilities 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complex cognitive tasks, creating a disconnect between benchmark performance and educational needs.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1780" y="4540344"/>
            <a:ext cx="5625685" cy="2315395"/>
          </a:xfrm>
          <a:custGeom>
            <a:avLst/>
            <a:gdLst/>
            <a:ahLst/>
            <a:cxnLst/>
            <a:rect l="l" t="t" r="r" b="b"/>
            <a:pathLst>
              <a:path w="5625685" h="2315395">
                <a:moveTo>
                  <a:pt x="108546" y="0"/>
                </a:moveTo>
                <a:lnTo>
                  <a:pt x="5517140" y="0"/>
                </a:lnTo>
                <a:cubicBezTo>
                  <a:pt x="5577088" y="0"/>
                  <a:pt x="5625685" y="48598"/>
                  <a:pt x="5625685" y="108546"/>
                </a:cubicBezTo>
                <a:lnTo>
                  <a:pt x="5625685" y="2206849"/>
                </a:lnTo>
                <a:cubicBezTo>
                  <a:pt x="5625685" y="2266797"/>
                  <a:pt x="5577088" y="2315395"/>
                  <a:pt x="5517140" y="2315395"/>
                </a:cubicBezTo>
                <a:lnTo>
                  <a:pt x="108546" y="2315395"/>
                </a:lnTo>
                <a:cubicBezTo>
                  <a:pt x="48598" y="2315395"/>
                  <a:pt x="0" y="2266797"/>
                  <a:pt x="0" y="2206849"/>
                </a:cubicBezTo>
                <a:lnTo>
                  <a:pt x="0" y="108546"/>
                </a:lnTo>
                <a:cubicBezTo>
                  <a:pt x="0" y="48598"/>
                  <a:pt x="48598" y="0"/>
                  <a:pt x="108546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2671" y="4721234"/>
            <a:ext cx="5345306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Methodology: Multi-Source Annotation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671" y="5083015"/>
            <a:ext cx="5336261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study mapped 43 benchmark tasks to Bloom's Taxonomy using three annotation approaches: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671" y="5661864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lnTo>
                  <a:pt x="144712" y="0"/>
                </a:lnTo>
                <a:cubicBezTo>
                  <a:pt x="224581" y="0"/>
                  <a:pt x="289424" y="64843"/>
                  <a:pt x="289424" y="144712"/>
                </a:cubicBezTo>
                <a:lnTo>
                  <a:pt x="289424" y="144712"/>
                </a:lnTo>
                <a:cubicBezTo>
                  <a:pt x="289424" y="224581"/>
                  <a:pt x="224581" y="289424"/>
                  <a:pt x="144712" y="289424"/>
                </a:cubicBezTo>
                <a:lnTo>
                  <a:pt x="144712" y="289424"/>
                </a:lnTo>
                <a:cubicBezTo>
                  <a:pt x="64843" y="289424"/>
                  <a:pt x="0" y="224581"/>
                  <a:pt x="0" y="144712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6493" y="5661864"/>
            <a:ext cx="36178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0629" y="5661864"/>
            <a:ext cx="334646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Annotation:</a:t>
            </a:r>
            <a:r>
              <a:rPr lang="en-US" sz="113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Expert educators classified tasks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671" y="6023644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lnTo>
                  <a:pt x="144712" y="0"/>
                </a:lnTo>
                <a:cubicBezTo>
                  <a:pt x="224581" y="0"/>
                  <a:pt x="289424" y="64843"/>
                  <a:pt x="289424" y="144712"/>
                </a:cubicBezTo>
                <a:lnTo>
                  <a:pt x="289424" y="144712"/>
                </a:lnTo>
                <a:cubicBezTo>
                  <a:pt x="289424" y="224581"/>
                  <a:pt x="224581" y="289424"/>
                  <a:pt x="144712" y="289424"/>
                </a:cubicBezTo>
                <a:lnTo>
                  <a:pt x="144712" y="289424"/>
                </a:lnTo>
                <a:cubicBezTo>
                  <a:pt x="64843" y="289424"/>
                  <a:pt x="0" y="224581"/>
                  <a:pt x="0" y="144712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493" y="6023644"/>
            <a:ext cx="36178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0629" y="6023644"/>
            <a:ext cx="359971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Annotation:</a:t>
            </a:r>
            <a:r>
              <a:rPr lang="en-US" sz="113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GPT-4, Claude 3, Llama 3 classifications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671" y="6385424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lnTo>
                  <a:pt x="144712" y="0"/>
                </a:lnTo>
                <a:cubicBezTo>
                  <a:pt x="224581" y="0"/>
                  <a:pt x="289424" y="64843"/>
                  <a:pt x="289424" y="144712"/>
                </a:cubicBezTo>
                <a:lnTo>
                  <a:pt x="289424" y="144712"/>
                </a:lnTo>
                <a:cubicBezTo>
                  <a:pt x="289424" y="224581"/>
                  <a:pt x="224581" y="289424"/>
                  <a:pt x="144712" y="289424"/>
                </a:cubicBezTo>
                <a:lnTo>
                  <a:pt x="144712" y="289424"/>
                </a:lnTo>
                <a:cubicBezTo>
                  <a:pt x="64843" y="289424"/>
                  <a:pt x="0" y="224581"/>
                  <a:pt x="0" y="144712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6493" y="6385424"/>
            <a:ext cx="36178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0629" y="6385424"/>
            <a:ext cx="358162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RoBERTa:</a:t>
            </a:r>
            <a:r>
              <a:rPr lang="en-US" sz="113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Fine-tuned model for automated classification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2499" y="1121519"/>
            <a:ext cx="5625685" cy="3744427"/>
          </a:xfrm>
          <a:custGeom>
            <a:avLst/>
            <a:gdLst/>
            <a:ahLst/>
            <a:cxnLst/>
            <a:rect l="l" t="t" r="r" b="b"/>
            <a:pathLst>
              <a:path w="5625685" h="3744427">
                <a:moveTo>
                  <a:pt x="108551" y="0"/>
                </a:moveTo>
                <a:lnTo>
                  <a:pt x="5517135" y="0"/>
                </a:lnTo>
                <a:cubicBezTo>
                  <a:pt x="5577086" y="0"/>
                  <a:pt x="5625685" y="48600"/>
                  <a:pt x="5625685" y="108551"/>
                </a:cubicBezTo>
                <a:lnTo>
                  <a:pt x="5625685" y="3635876"/>
                </a:lnTo>
                <a:cubicBezTo>
                  <a:pt x="5625685" y="3695827"/>
                  <a:pt x="5577086" y="3744427"/>
                  <a:pt x="5517135" y="3744427"/>
                </a:cubicBezTo>
                <a:lnTo>
                  <a:pt x="108551" y="3744427"/>
                </a:lnTo>
                <a:cubicBezTo>
                  <a:pt x="48600" y="3744427"/>
                  <a:pt x="0" y="3695827"/>
                  <a:pt x="0" y="3635876"/>
                </a:cubicBezTo>
                <a:lnTo>
                  <a:pt x="0" y="108551"/>
                </a:lnTo>
                <a:cubicBezTo>
                  <a:pt x="0" y="48640"/>
                  <a:pt x="48640" y="0"/>
                  <a:pt x="1085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38167" y="1302409"/>
            <a:ext cx="535435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 Task Distribution Across Bloom's Levels</a:t>
            </a:r>
            <a:endParaRPr lang="en-US" sz="1600" dirty="0"/>
          </a:p>
        </p:txBody>
      </p:sp>
      <p:pic>
        <p:nvPicPr>
          <p:cNvPr id="26" name="Image 0" descr="https://kimi-img.moonshot.cn/pub/slides/26-01-29-01:11:05-d5t46aaebk486o7t6rjg.png"/>
          <p:cNvPicPr>
            <a:picLocks noChangeAspect="1"/>
          </p:cNvPicPr>
          <p:nvPr/>
        </p:nvPicPr>
        <p:blipFill>
          <a:blip r:embed="rId3"/>
          <a:srcRect l="65" r="64"/>
          <a:stretch/>
        </p:blipFill>
        <p:spPr>
          <a:xfrm>
            <a:off x="6383390" y="1664190"/>
            <a:ext cx="4956392" cy="2803798"/>
          </a:xfrm>
          <a:prstGeom prst="roundRect">
            <a:avLst>
              <a:gd name="adj" fmla="val 0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6220588" y="5010659"/>
            <a:ext cx="2722398" cy="1845080"/>
          </a:xfrm>
          <a:custGeom>
            <a:avLst/>
            <a:gdLst/>
            <a:ahLst/>
            <a:cxnLst/>
            <a:rect l="l" t="t" r="r" b="b"/>
            <a:pathLst>
              <a:path w="2722398" h="1845080">
                <a:moveTo>
                  <a:pt x="36178" y="0"/>
                </a:moveTo>
                <a:lnTo>
                  <a:pt x="2650034" y="0"/>
                </a:lnTo>
                <a:cubicBezTo>
                  <a:pt x="2689999" y="0"/>
                  <a:pt x="2722398" y="32398"/>
                  <a:pt x="2722398" y="72364"/>
                </a:cubicBezTo>
                <a:lnTo>
                  <a:pt x="2722398" y="1772716"/>
                </a:lnTo>
                <a:cubicBezTo>
                  <a:pt x="2722398" y="1812682"/>
                  <a:pt x="2689999" y="1845080"/>
                  <a:pt x="2650034" y="1845080"/>
                </a:cubicBezTo>
                <a:lnTo>
                  <a:pt x="36178" y="1845080"/>
                </a:lnTo>
                <a:cubicBezTo>
                  <a:pt x="16197" y="1845080"/>
                  <a:pt x="0" y="1828883"/>
                  <a:pt x="0" y="1808902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B38B5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220588" y="5010659"/>
            <a:ext cx="36178" cy="1845080"/>
          </a:xfrm>
          <a:custGeom>
            <a:avLst/>
            <a:gdLst/>
            <a:ahLst/>
            <a:cxnLst/>
            <a:rect l="l" t="t" r="r" b="b"/>
            <a:pathLst>
              <a:path w="36178" h="1845080">
                <a:moveTo>
                  <a:pt x="36178" y="0"/>
                </a:moveTo>
                <a:lnTo>
                  <a:pt x="36178" y="0"/>
                </a:lnTo>
                <a:lnTo>
                  <a:pt x="36178" y="1845080"/>
                </a:lnTo>
                <a:lnTo>
                  <a:pt x="36178" y="1845080"/>
                </a:lnTo>
                <a:cubicBezTo>
                  <a:pt x="16197" y="1845080"/>
                  <a:pt x="0" y="1828883"/>
                  <a:pt x="0" y="1808902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83390" y="5155371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Lower-Order Overrepresentation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83390" y="5444795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~15%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83390" y="5698042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~35%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83390" y="5951288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~30%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83390" y="6269656"/>
            <a:ext cx="817850" cy="15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~80%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104770" y="5010659"/>
            <a:ext cx="2722398" cy="1845080"/>
          </a:xfrm>
          <a:custGeom>
            <a:avLst/>
            <a:gdLst/>
            <a:ahLst/>
            <a:cxnLst/>
            <a:rect l="l" t="t" r="r" b="b"/>
            <a:pathLst>
              <a:path w="2722398" h="1845080">
                <a:moveTo>
                  <a:pt x="36178" y="0"/>
                </a:moveTo>
                <a:lnTo>
                  <a:pt x="2650034" y="0"/>
                </a:lnTo>
                <a:cubicBezTo>
                  <a:pt x="2689999" y="0"/>
                  <a:pt x="2722398" y="32398"/>
                  <a:pt x="2722398" y="72364"/>
                </a:cubicBezTo>
                <a:lnTo>
                  <a:pt x="2722398" y="1772716"/>
                </a:lnTo>
                <a:cubicBezTo>
                  <a:pt x="2722398" y="1812682"/>
                  <a:pt x="2689999" y="1845080"/>
                  <a:pt x="2650034" y="1845080"/>
                </a:cubicBezTo>
                <a:lnTo>
                  <a:pt x="36178" y="1845080"/>
                </a:lnTo>
                <a:cubicBezTo>
                  <a:pt x="16197" y="1845080"/>
                  <a:pt x="0" y="1828883"/>
                  <a:pt x="0" y="1808902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5D737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104770" y="5010659"/>
            <a:ext cx="36178" cy="1845080"/>
          </a:xfrm>
          <a:custGeom>
            <a:avLst/>
            <a:gdLst/>
            <a:ahLst/>
            <a:cxnLst/>
            <a:rect l="l" t="t" r="r" b="b"/>
            <a:pathLst>
              <a:path w="36178" h="1845080">
                <a:moveTo>
                  <a:pt x="36178" y="0"/>
                </a:moveTo>
                <a:lnTo>
                  <a:pt x="36178" y="0"/>
                </a:lnTo>
                <a:lnTo>
                  <a:pt x="36178" y="1845080"/>
                </a:lnTo>
                <a:lnTo>
                  <a:pt x="36178" y="1845080"/>
                </a:lnTo>
                <a:cubicBezTo>
                  <a:pt x="16197" y="1845080"/>
                  <a:pt x="0" y="1828883"/>
                  <a:pt x="0" y="1808902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5D7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267570" y="5155371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Higher-Order Underrepresentation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267570" y="5444795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~12%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267570" y="5698042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~5%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267570" y="5951288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~2%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267570" y="6204534"/>
            <a:ext cx="24872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Metacognitive:</a:t>
            </a: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~1%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267570" y="6522903"/>
            <a:ext cx="810727" cy="15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5D73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~20%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8acd69e4ba1ddaaa6e24d1ba9e4c1a0ceead5fc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233" b="7233"/>
          <a:stretch/>
        </p:blipFill>
        <p:spPr>
          <a:xfrm>
            <a:off x="0" y="0"/>
            <a:ext cx="12192000" cy="737350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373502"/>
          </a:xfrm>
          <a:custGeom>
            <a:avLst/>
            <a:gdLst/>
            <a:ahLst/>
            <a:cxnLst/>
            <a:rect l="l" t="t" r="r" b="b"/>
            <a:pathLst>
              <a:path w="12192000" h="7373502">
                <a:moveTo>
                  <a:pt x="0" y="0"/>
                </a:moveTo>
                <a:lnTo>
                  <a:pt x="12192000" y="0"/>
                </a:lnTo>
                <a:lnTo>
                  <a:pt x="12192000" y="7373502"/>
                </a:lnTo>
                <a:lnTo>
                  <a:pt x="0" y="737350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2C3E50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42954" y="428692"/>
            <a:ext cx="548726" cy="34295"/>
          </a:xfrm>
          <a:custGeom>
            <a:avLst/>
            <a:gdLst/>
            <a:ahLst/>
            <a:cxnLst/>
            <a:rect l="l" t="t" r="r" b="b"/>
            <a:pathLst>
              <a:path w="548726" h="34295">
                <a:moveTo>
                  <a:pt x="0" y="0"/>
                </a:moveTo>
                <a:lnTo>
                  <a:pt x="548726" y="0"/>
                </a:lnTo>
                <a:lnTo>
                  <a:pt x="548726" y="34295"/>
                </a:lnTo>
                <a:lnTo>
                  <a:pt x="0" y="34295"/>
                </a:lnTo>
                <a:lnTo>
                  <a:pt x="0" y="0"/>
                </a:ln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94565" y="342954"/>
            <a:ext cx="1680473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108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Synthesis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2954" y="651612"/>
            <a:ext cx="11711865" cy="51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41" b="1" dirty="0">
                <a:solidFill>
                  <a:srgbClr val="FDFD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Synthesis &amp; Future Directions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6383" y="1306653"/>
            <a:ext cx="6205745" cy="2784783"/>
          </a:xfrm>
          <a:custGeom>
            <a:avLst/>
            <a:gdLst/>
            <a:ahLst/>
            <a:cxnLst/>
            <a:rect l="l" t="t" r="r" b="b"/>
            <a:pathLst>
              <a:path w="6205745" h="2784783">
                <a:moveTo>
                  <a:pt x="102898" y="0"/>
                </a:moveTo>
                <a:lnTo>
                  <a:pt x="6102847" y="0"/>
                </a:lnTo>
                <a:cubicBezTo>
                  <a:pt x="6159676" y="0"/>
                  <a:pt x="6205745" y="46069"/>
                  <a:pt x="6205745" y="102898"/>
                </a:cubicBezTo>
                <a:lnTo>
                  <a:pt x="6205745" y="2681885"/>
                </a:lnTo>
                <a:cubicBezTo>
                  <a:pt x="6205745" y="2738714"/>
                  <a:pt x="6159676" y="2784783"/>
                  <a:pt x="6102847" y="2784783"/>
                </a:cubicBezTo>
                <a:lnTo>
                  <a:pt x="102898" y="2784783"/>
                </a:lnTo>
                <a:cubicBezTo>
                  <a:pt x="46069" y="2784783"/>
                  <a:pt x="0" y="2738714"/>
                  <a:pt x="0" y="2681885"/>
                </a:cubicBezTo>
                <a:lnTo>
                  <a:pt x="0" y="102898"/>
                </a:lnTo>
                <a:cubicBezTo>
                  <a:pt x="0" y="46069"/>
                  <a:pt x="46069" y="0"/>
                  <a:pt x="1028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1289" y="1689046"/>
            <a:ext cx="595881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Synthesis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1289" y="2066187"/>
            <a:ext cx="5924523" cy="66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field must synthesize comparative methodologies to determine </a:t>
            </a:r>
            <a:r>
              <a:rPr lang="en-US" sz="1080" dirty="0">
                <a:solidFill>
                  <a:srgbClr val="FDFDFD"/>
                </a:solidFill>
                <a:highlight>
                  <a:srgbClr val="B38B59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resource-heavy LLMs are appropriate versus efficient traditional models </a:t>
            </a:r>
            <a:r>
              <a:rPr lang="en-US" sz="108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particularly for identifying higher-order cognitive skills which remain challenging for current automated systems.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1289" y="2837832"/>
            <a:ext cx="5855932" cy="874532"/>
          </a:xfrm>
          <a:custGeom>
            <a:avLst/>
            <a:gdLst/>
            <a:ahLst/>
            <a:cxnLst/>
            <a:rect l="l" t="t" r="r" b="b"/>
            <a:pathLst>
              <a:path w="5855932" h="874532">
                <a:moveTo>
                  <a:pt x="68590" y="0"/>
                </a:moveTo>
                <a:lnTo>
                  <a:pt x="5787343" y="0"/>
                </a:lnTo>
                <a:cubicBezTo>
                  <a:pt x="5825224" y="0"/>
                  <a:pt x="5855932" y="30709"/>
                  <a:pt x="5855932" y="68590"/>
                </a:cubicBezTo>
                <a:lnTo>
                  <a:pt x="5855932" y="805942"/>
                </a:lnTo>
                <a:cubicBezTo>
                  <a:pt x="5855932" y="843823"/>
                  <a:pt x="5825224" y="874532"/>
                  <a:pt x="5787343" y="874532"/>
                </a:cubicBezTo>
                <a:lnTo>
                  <a:pt x="68590" y="874532"/>
                </a:lnTo>
                <a:cubicBezTo>
                  <a:pt x="30734" y="874532"/>
                  <a:pt x="0" y="843798"/>
                  <a:pt x="0" y="805942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4176" y="2940718"/>
            <a:ext cx="5718751" cy="66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b="1" dirty="0">
                <a:solidFill>
                  <a:srgbClr val="B38B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08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single approach dominates. The optimal method depends on dataset size, performance metrics (micro vs. macro F1), cost constraints, and the specific cognitive levels being targeted.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6383" y="4238906"/>
            <a:ext cx="6205745" cy="2784783"/>
          </a:xfrm>
          <a:custGeom>
            <a:avLst/>
            <a:gdLst/>
            <a:ahLst/>
            <a:cxnLst/>
            <a:rect l="l" t="t" r="r" b="b"/>
            <a:pathLst>
              <a:path w="6205745" h="2784783">
                <a:moveTo>
                  <a:pt x="102898" y="0"/>
                </a:moveTo>
                <a:lnTo>
                  <a:pt x="6102847" y="0"/>
                </a:lnTo>
                <a:cubicBezTo>
                  <a:pt x="6159676" y="0"/>
                  <a:pt x="6205745" y="46069"/>
                  <a:pt x="6205745" y="102898"/>
                </a:cubicBezTo>
                <a:lnTo>
                  <a:pt x="6205745" y="2681885"/>
                </a:lnTo>
                <a:cubicBezTo>
                  <a:pt x="6205745" y="2738714"/>
                  <a:pt x="6159676" y="2784783"/>
                  <a:pt x="6102847" y="2784783"/>
                </a:cubicBezTo>
                <a:lnTo>
                  <a:pt x="102898" y="2784783"/>
                </a:lnTo>
                <a:cubicBezTo>
                  <a:pt x="46069" y="2784783"/>
                  <a:pt x="0" y="2738714"/>
                  <a:pt x="0" y="2681885"/>
                </a:cubicBezTo>
                <a:lnTo>
                  <a:pt x="0" y="102898"/>
                </a:lnTo>
                <a:cubicBezTo>
                  <a:pt x="0" y="46069"/>
                  <a:pt x="46069" y="0"/>
                  <a:pt x="1028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1289" y="4535561"/>
            <a:ext cx="594167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Research Gaps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7003" y="4947105"/>
            <a:ext cx="102886" cy="102886"/>
          </a:xfrm>
          <a:custGeom>
            <a:avLst/>
            <a:gdLst/>
            <a:ahLst/>
            <a:cxnLst/>
            <a:rect l="l" t="t" r="r" b="b"/>
            <a:pathLst>
              <a:path w="102886" h="102886">
                <a:moveTo>
                  <a:pt x="0" y="51443"/>
                </a:moveTo>
                <a:cubicBezTo>
                  <a:pt x="0" y="23051"/>
                  <a:pt x="23051" y="0"/>
                  <a:pt x="51443" y="0"/>
                </a:cubicBezTo>
                <a:cubicBezTo>
                  <a:pt x="79835" y="0"/>
                  <a:pt x="102886" y="23051"/>
                  <a:pt x="102886" y="51443"/>
                </a:cubicBezTo>
                <a:cubicBezTo>
                  <a:pt x="102886" y="79835"/>
                  <a:pt x="79835" y="102886"/>
                  <a:pt x="51443" y="102886"/>
                </a:cubicBezTo>
                <a:cubicBezTo>
                  <a:pt x="23051" y="102886"/>
                  <a:pt x="0" y="79835"/>
                  <a:pt x="0" y="51443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8059" y="4878515"/>
            <a:ext cx="5727325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Higher-Order Skills:</a:t>
            </a:r>
            <a:r>
              <a:rPr lang="en-US" sz="108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Evaluate and Create levels remain underrepresented in both benchmarks and automated classification systems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17003" y="5427241"/>
            <a:ext cx="102886" cy="102886"/>
          </a:xfrm>
          <a:custGeom>
            <a:avLst/>
            <a:gdLst/>
            <a:ahLst/>
            <a:cxnLst/>
            <a:rect l="l" t="t" r="r" b="b"/>
            <a:pathLst>
              <a:path w="102886" h="102886">
                <a:moveTo>
                  <a:pt x="0" y="51443"/>
                </a:moveTo>
                <a:cubicBezTo>
                  <a:pt x="0" y="23051"/>
                  <a:pt x="23051" y="0"/>
                  <a:pt x="51443" y="0"/>
                </a:cubicBezTo>
                <a:cubicBezTo>
                  <a:pt x="79835" y="0"/>
                  <a:pt x="102886" y="23051"/>
                  <a:pt x="102886" y="51443"/>
                </a:cubicBezTo>
                <a:cubicBezTo>
                  <a:pt x="102886" y="79835"/>
                  <a:pt x="79835" y="102886"/>
                  <a:pt x="51443" y="102886"/>
                </a:cubicBezTo>
                <a:cubicBezTo>
                  <a:pt x="23051" y="102886"/>
                  <a:pt x="0" y="79835"/>
                  <a:pt x="0" y="51443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1381" y="5358650"/>
            <a:ext cx="5727325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Data Efficiency:</a:t>
            </a:r>
            <a:r>
              <a:rPr lang="en-US" sz="108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Traditional ML (SVM) outperforms deep learning on limited datasets, yet this advantage is underexplored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25576" y="5907376"/>
            <a:ext cx="102886" cy="102886"/>
          </a:xfrm>
          <a:custGeom>
            <a:avLst/>
            <a:gdLst/>
            <a:ahLst/>
            <a:cxnLst/>
            <a:rect l="l" t="t" r="r" b="b"/>
            <a:pathLst>
              <a:path w="102886" h="102886">
                <a:moveTo>
                  <a:pt x="0" y="51443"/>
                </a:moveTo>
                <a:cubicBezTo>
                  <a:pt x="0" y="23051"/>
                  <a:pt x="23051" y="0"/>
                  <a:pt x="51443" y="0"/>
                </a:cubicBezTo>
                <a:cubicBezTo>
                  <a:pt x="79835" y="0"/>
                  <a:pt x="102886" y="23051"/>
                  <a:pt x="102886" y="51443"/>
                </a:cubicBezTo>
                <a:cubicBezTo>
                  <a:pt x="102886" y="79835"/>
                  <a:pt x="79835" y="102886"/>
                  <a:pt x="51443" y="102886"/>
                </a:cubicBezTo>
                <a:cubicBezTo>
                  <a:pt x="23051" y="102886"/>
                  <a:pt x="0" y="79835"/>
                  <a:pt x="0" y="51443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3814" y="5838785"/>
            <a:ext cx="5718751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Support:</a:t>
            </a:r>
            <a:r>
              <a:rPr lang="en-US" sz="108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Current research focuses predominantly on English; expansion to other languages is critical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5576" y="6387511"/>
            <a:ext cx="102886" cy="102886"/>
          </a:xfrm>
          <a:custGeom>
            <a:avLst/>
            <a:gdLst/>
            <a:ahLst/>
            <a:cxnLst/>
            <a:rect l="l" t="t" r="r" b="b"/>
            <a:pathLst>
              <a:path w="102886" h="102886">
                <a:moveTo>
                  <a:pt x="0" y="51443"/>
                </a:moveTo>
                <a:cubicBezTo>
                  <a:pt x="0" y="23051"/>
                  <a:pt x="23051" y="0"/>
                  <a:pt x="51443" y="0"/>
                </a:cubicBezTo>
                <a:cubicBezTo>
                  <a:pt x="79835" y="0"/>
                  <a:pt x="102886" y="23051"/>
                  <a:pt x="102886" y="51443"/>
                </a:cubicBezTo>
                <a:cubicBezTo>
                  <a:pt x="102886" y="79835"/>
                  <a:pt x="79835" y="102886"/>
                  <a:pt x="51443" y="102886"/>
                </a:cubicBezTo>
                <a:cubicBezTo>
                  <a:pt x="23051" y="102886"/>
                  <a:pt x="0" y="79835"/>
                  <a:pt x="0" y="51443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2313" y="6318920"/>
            <a:ext cx="5718751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Content:</a:t>
            </a:r>
            <a:r>
              <a:rPr lang="en-US" sz="1080" dirty="0">
                <a:solidFill>
                  <a:srgbClr val="FDFD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Mathematical formulae and coding questions pose unique challenges for classification systems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768296" y="1306653"/>
            <a:ext cx="5082572" cy="4859652"/>
          </a:xfrm>
          <a:custGeom>
            <a:avLst/>
            <a:gdLst/>
            <a:ahLst/>
            <a:cxnLst/>
            <a:rect l="l" t="t" r="r" b="b"/>
            <a:pathLst>
              <a:path w="5082572" h="4859652">
                <a:moveTo>
                  <a:pt x="102879" y="0"/>
                </a:moveTo>
                <a:lnTo>
                  <a:pt x="4979693" y="0"/>
                </a:lnTo>
                <a:cubicBezTo>
                  <a:pt x="5036512" y="0"/>
                  <a:pt x="5082572" y="46060"/>
                  <a:pt x="5082572" y="102879"/>
                </a:cubicBezTo>
                <a:lnTo>
                  <a:pt x="5082572" y="4756773"/>
                </a:lnTo>
                <a:cubicBezTo>
                  <a:pt x="5082572" y="4813592"/>
                  <a:pt x="5036512" y="4859652"/>
                  <a:pt x="4979693" y="4859652"/>
                </a:cubicBezTo>
                <a:lnTo>
                  <a:pt x="102879" y="4859652"/>
                </a:lnTo>
                <a:cubicBezTo>
                  <a:pt x="46060" y="4859652"/>
                  <a:pt x="0" y="4813592"/>
                  <a:pt x="0" y="4756773"/>
                </a:cubicBezTo>
                <a:lnTo>
                  <a:pt x="0" y="102879"/>
                </a:lnTo>
                <a:cubicBezTo>
                  <a:pt x="0" y="46098"/>
                  <a:pt x="46098" y="0"/>
                  <a:pt x="10287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43203" y="1481558"/>
            <a:ext cx="4818498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B38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Research Directions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43203" y="1874246"/>
            <a:ext cx="4732759" cy="891679"/>
          </a:xfrm>
          <a:custGeom>
            <a:avLst/>
            <a:gdLst/>
            <a:ahLst/>
            <a:cxnLst/>
            <a:rect l="l" t="t" r="r" b="b"/>
            <a:pathLst>
              <a:path w="4732759" h="891679">
                <a:moveTo>
                  <a:pt x="68588" y="0"/>
                </a:moveTo>
                <a:lnTo>
                  <a:pt x="4664172" y="0"/>
                </a:lnTo>
                <a:cubicBezTo>
                  <a:pt x="4702052" y="0"/>
                  <a:pt x="4732759" y="30708"/>
                  <a:pt x="4732759" y="68588"/>
                </a:cubicBezTo>
                <a:lnTo>
                  <a:pt x="4732759" y="823091"/>
                </a:lnTo>
                <a:cubicBezTo>
                  <a:pt x="4732759" y="860971"/>
                  <a:pt x="4702052" y="891679"/>
                  <a:pt x="4664172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046089" y="1977132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0"/>
                </a:moveTo>
                <a:lnTo>
                  <a:pt x="137181" y="0"/>
                </a:lnTo>
                <a:cubicBezTo>
                  <a:pt x="212945" y="0"/>
                  <a:pt x="274363" y="61418"/>
                  <a:pt x="274363" y="137181"/>
                </a:cubicBezTo>
                <a:lnTo>
                  <a:pt x="274363" y="137181"/>
                </a:lnTo>
                <a:cubicBezTo>
                  <a:pt x="274363" y="212945"/>
                  <a:pt x="212945" y="274363"/>
                  <a:pt x="137181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11793" y="1977132"/>
            <a:ext cx="34295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23338" y="2011428"/>
            <a:ext cx="144897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Benchmarks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046089" y="2285791"/>
            <a:ext cx="4595578" cy="37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FDFDFD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evaluation frameworks with balanced coverage of all cognitive levels, especially Evaluate and Create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943203" y="2933970"/>
            <a:ext cx="4732759" cy="891679"/>
          </a:xfrm>
          <a:custGeom>
            <a:avLst/>
            <a:gdLst/>
            <a:ahLst/>
            <a:cxnLst/>
            <a:rect l="l" t="t" r="r" b="b"/>
            <a:pathLst>
              <a:path w="4732759" h="891679">
                <a:moveTo>
                  <a:pt x="68588" y="0"/>
                </a:moveTo>
                <a:lnTo>
                  <a:pt x="4664172" y="0"/>
                </a:lnTo>
                <a:cubicBezTo>
                  <a:pt x="4702052" y="0"/>
                  <a:pt x="4732759" y="30708"/>
                  <a:pt x="4732759" y="68588"/>
                </a:cubicBezTo>
                <a:lnTo>
                  <a:pt x="4732759" y="823091"/>
                </a:lnTo>
                <a:cubicBezTo>
                  <a:pt x="4732759" y="860971"/>
                  <a:pt x="4702052" y="891679"/>
                  <a:pt x="4664172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046089" y="3036856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0"/>
                </a:moveTo>
                <a:lnTo>
                  <a:pt x="137181" y="0"/>
                </a:lnTo>
                <a:cubicBezTo>
                  <a:pt x="212945" y="0"/>
                  <a:pt x="274363" y="61418"/>
                  <a:pt x="274363" y="137181"/>
                </a:cubicBezTo>
                <a:lnTo>
                  <a:pt x="274363" y="137181"/>
                </a:lnTo>
                <a:cubicBezTo>
                  <a:pt x="274363" y="212945"/>
                  <a:pt x="212945" y="274363"/>
                  <a:pt x="137181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011793" y="3036856"/>
            <a:ext cx="34295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423338" y="3071151"/>
            <a:ext cx="132894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Architectures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046089" y="3345514"/>
            <a:ext cx="4595578" cy="37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FDFDFD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LLM capabilities with traditional ML efficiency, leveraging strengths of each approach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943203" y="3993693"/>
            <a:ext cx="4732759" cy="891679"/>
          </a:xfrm>
          <a:custGeom>
            <a:avLst/>
            <a:gdLst/>
            <a:ahLst/>
            <a:cxnLst/>
            <a:rect l="l" t="t" r="r" b="b"/>
            <a:pathLst>
              <a:path w="4732759" h="891679">
                <a:moveTo>
                  <a:pt x="68588" y="0"/>
                </a:moveTo>
                <a:lnTo>
                  <a:pt x="4664172" y="0"/>
                </a:lnTo>
                <a:cubicBezTo>
                  <a:pt x="4702052" y="0"/>
                  <a:pt x="4732759" y="30708"/>
                  <a:pt x="4732759" y="68588"/>
                </a:cubicBezTo>
                <a:lnTo>
                  <a:pt x="4732759" y="823091"/>
                </a:lnTo>
                <a:cubicBezTo>
                  <a:pt x="4732759" y="860971"/>
                  <a:pt x="4702052" y="891679"/>
                  <a:pt x="4664172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046089" y="4096579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0"/>
                </a:moveTo>
                <a:lnTo>
                  <a:pt x="137181" y="0"/>
                </a:lnTo>
                <a:cubicBezTo>
                  <a:pt x="212945" y="0"/>
                  <a:pt x="274363" y="61418"/>
                  <a:pt x="274363" y="137181"/>
                </a:cubicBezTo>
                <a:lnTo>
                  <a:pt x="274363" y="137181"/>
                </a:lnTo>
                <a:cubicBezTo>
                  <a:pt x="274363" y="212945"/>
                  <a:pt x="212945" y="274363"/>
                  <a:pt x="137181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011793" y="4096579"/>
            <a:ext cx="34295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423338" y="4130874"/>
            <a:ext cx="143183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Multilingual Expansion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046089" y="4405237"/>
            <a:ext cx="4595578" cy="37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FDFDFD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 automated classification to German, Spanish, Chinese, and other major educational languages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943203" y="5053424"/>
            <a:ext cx="4732759" cy="891679"/>
          </a:xfrm>
          <a:custGeom>
            <a:avLst/>
            <a:gdLst/>
            <a:ahLst/>
            <a:cxnLst/>
            <a:rect l="l" t="t" r="r" b="b"/>
            <a:pathLst>
              <a:path w="4732759" h="891679">
                <a:moveTo>
                  <a:pt x="68588" y="0"/>
                </a:moveTo>
                <a:lnTo>
                  <a:pt x="4664172" y="0"/>
                </a:lnTo>
                <a:cubicBezTo>
                  <a:pt x="4702052" y="0"/>
                  <a:pt x="4732759" y="30708"/>
                  <a:pt x="4732759" y="68588"/>
                </a:cubicBezTo>
                <a:lnTo>
                  <a:pt x="4732759" y="823091"/>
                </a:lnTo>
                <a:cubicBezTo>
                  <a:pt x="4732759" y="860971"/>
                  <a:pt x="4702052" y="891679"/>
                  <a:pt x="4664172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046089" y="5156311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0"/>
                </a:moveTo>
                <a:lnTo>
                  <a:pt x="137181" y="0"/>
                </a:lnTo>
                <a:cubicBezTo>
                  <a:pt x="212945" y="0"/>
                  <a:pt x="274363" y="61418"/>
                  <a:pt x="274363" y="137181"/>
                </a:cubicBezTo>
                <a:lnTo>
                  <a:pt x="274363" y="137181"/>
                </a:lnTo>
                <a:cubicBezTo>
                  <a:pt x="274363" y="212945"/>
                  <a:pt x="212945" y="274363"/>
                  <a:pt x="137181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011793" y="5156311"/>
            <a:ext cx="34295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423338" y="5190606"/>
            <a:ext cx="174048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Content Handling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046089" y="5464969"/>
            <a:ext cx="4595578" cy="37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FDFDFD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 mathematical notation, code syntax, and diagram interpretation in classification pipelines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764867" y="6310346"/>
            <a:ext cx="5084287" cy="720203"/>
          </a:xfrm>
          <a:custGeom>
            <a:avLst/>
            <a:gdLst/>
            <a:ahLst/>
            <a:cxnLst/>
            <a:rect l="l" t="t" r="r" b="b"/>
            <a:pathLst>
              <a:path w="5084287" h="720203">
                <a:moveTo>
                  <a:pt x="102888" y="0"/>
                </a:moveTo>
                <a:lnTo>
                  <a:pt x="4981399" y="0"/>
                </a:lnTo>
                <a:cubicBezTo>
                  <a:pt x="5038222" y="0"/>
                  <a:pt x="5084287" y="46065"/>
                  <a:pt x="5084287" y="102888"/>
                </a:cubicBezTo>
                <a:lnTo>
                  <a:pt x="5084287" y="617314"/>
                </a:lnTo>
                <a:cubicBezTo>
                  <a:pt x="5084287" y="674138"/>
                  <a:pt x="5038222" y="720203"/>
                  <a:pt x="4981399" y="720203"/>
                </a:cubicBezTo>
                <a:lnTo>
                  <a:pt x="102888" y="720203"/>
                </a:lnTo>
                <a:cubicBezTo>
                  <a:pt x="46065" y="720203"/>
                  <a:pt x="0" y="674138"/>
                  <a:pt x="0" y="617314"/>
                </a:cubicBezTo>
                <a:lnTo>
                  <a:pt x="0" y="102888"/>
                </a:lnTo>
                <a:cubicBezTo>
                  <a:pt x="0" y="46065"/>
                  <a:pt x="46065" y="0"/>
                  <a:pt x="102888" y="0"/>
                </a:cubicBezTo>
                <a:close/>
              </a:path>
            </a:pathLst>
          </a:custGeom>
          <a:solidFill>
            <a:srgbClr val="B38B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7127540" y="6481823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0" y="57873"/>
                </a:moveTo>
                <a:cubicBezTo>
                  <a:pt x="0" y="40109"/>
                  <a:pt x="14388" y="25722"/>
                  <a:pt x="32152" y="25722"/>
                </a:cubicBezTo>
                <a:lnTo>
                  <a:pt x="34295" y="25722"/>
                </a:lnTo>
                <a:cubicBezTo>
                  <a:pt x="39038" y="25722"/>
                  <a:pt x="42869" y="29553"/>
                  <a:pt x="42869" y="34295"/>
                </a:cubicBezTo>
                <a:cubicBezTo>
                  <a:pt x="42869" y="39038"/>
                  <a:pt x="39038" y="42869"/>
                  <a:pt x="34295" y="42869"/>
                </a:cubicBezTo>
                <a:lnTo>
                  <a:pt x="32152" y="42869"/>
                </a:lnTo>
                <a:cubicBezTo>
                  <a:pt x="23873" y="42869"/>
                  <a:pt x="17148" y="49594"/>
                  <a:pt x="17148" y="57873"/>
                </a:cubicBezTo>
                <a:lnTo>
                  <a:pt x="17148" y="60017"/>
                </a:lnTo>
                <a:lnTo>
                  <a:pt x="34295" y="60017"/>
                </a:lnTo>
                <a:cubicBezTo>
                  <a:pt x="43753" y="60017"/>
                  <a:pt x="51443" y="67707"/>
                  <a:pt x="51443" y="77165"/>
                </a:cubicBezTo>
                <a:lnTo>
                  <a:pt x="51443" y="94312"/>
                </a:lnTo>
                <a:cubicBezTo>
                  <a:pt x="51443" y="103770"/>
                  <a:pt x="43753" y="111460"/>
                  <a:pt x="34295" y="111460"/>
                </a:cubicBezTo>
                <a:lnTo>
                  <a:pt x="17148" y="111460"/>
                </a:lnTo>
                <a:cubicBezTo>
                  <a:pt x="7690" y="111460"/>
                  <a:pt x="0" y="103770"/>
                  <a:pt x="0" y="94312"/>
                </a:cubicBezTo>
                <a:lnTo>
                  <a:pt x="0" y="57873"/>
                </a:lnTo>
                <a:close/>
                <a:moveTo>
                  <a:pt x="68591" y="57873"/>
                </a:moveTo>
                <a:cubicBezTo>
                  <a:pt x="68591" y="40109"/>
                  <a:pt x="82979" y="25722"/>
                  <a:pt x="100743" y="25722"/>
                </a:cubicBezTo>
                <a:lnTo>
                  <a:pt x="102886" y="25722"/>
                </a:lnTo>
                <a:cubicBezTo>
                  <a:pt x="107628" y="25722"/>
                  <a:pt x="111460" y="29553"/>
                  <a:pt x="111460" y="34295"/>
                </a:cubicBezTo>
                <a:cubicBezTo>
                  <a:pt x="111460" y="39038"/>
                  <a:pt x="107628" y="42869"/>
                  <a:pt x="102886" y="42869"/>
                </a:cubicBezTo>
                <a:lnTo>
                  <a:pt x="100743" y="42869"/>
                </a:lnTo>
                <a:cubicBezTo>
                  <a:pt x="92464" y="42869"/>
                  <a:pt x="85738" y="49594"/>
                  <a:pt x="85738" y="57873"/>
                </a:cubicBezTo>
                <a:lnTo>
                  <a:pt x="85738" y="60017"/>
                </a:lnTo>
                <a:lnTo>
                  <a:pt x="102886" y="60017"/>
                </a:lnTo>
                <a:cubicBezTo>
                  <a:pt x="112344" y="60017"/>
                  <a:pt x="120034" y="67707"/>
                  <a:pt x="120034" y="77165"/>
                </a:cubicBezTo>
                <a:lnTo>
                  <a:pt x="120034" y="94312"/>
                </a:lnTo>
                <a:cubicBezTo>
                  <a:pt x="120034" y="103770"/>
                  <a:pt x="112344" y="111460"/>
                  <a:pt x="102886" y="111460"/>
                </a:cubicBezTo>
                <a:lnTo>
                  <a:pt x="85738" y="111460"/>
                </a:lnTo>
                <a:cubicBezTo>
                  <a:pt x="76280" y="111460"/>
                  <a:pt x="68591" y="103770"/>
                  <a:pt x="68591" y="94312"/>
                </a:cubicBezTo>
                <a:lnTo>
                  <a:pt x="68591" y="5787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085536" y="6447527"/>
            <a:ext cx="4660732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lies not in choosing between LLMs and traditional ML, but in intelligently orchestrating both to achieve educational assessment at scale.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1916</Words>
  <Application>Microsoft Office PowerPoint</Application>
  <PresentationFormat>Widescreen</PresentationFormat>
  <Paragraphs>264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Liter</vt:lpstr>
      <vt:lpstr>Quattrocento Sans</vt:lpstr>
      <vt:lpstr>Oranienbaum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Approaches to Automating Bloom's Taxonomy Classification</dc:title>
  <dc:subject>Comparative Approaches to Automating Bloom's Taxonomy Classification</dc:subject>
  <dc:creator>Kimi</dc:creator>
  <cp:lastModifiedBy>Muhammad Daniyal Qureshi</cp:lastModifiedBy>
  <cp:revision>1</cp:revision>
  <dcterms:created xsi:type="dcterms:W3CDTF">2026-04-02T20:32:26Z</dcterms:created>
  <dcterms:modified xsi:type="dcterms:W3CDTF">2026-04-02T21:00:51Z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{"Label":"Comparative Approaches to Automating Bloom's Taxonomy Classification","ContentProducer":"001191110108MACG2KBH8F10000","ProduceID":"19c037bb-7342-8a58-8000-000015a7d023","ReservedCode1":"","ContentPropagator":"001191110108MACG2KBH8F20000","PropagateID":"19c037bb-7342-8a58-8000-000015a7d023","ReservedCode2":""}</vt:lpwstr>
  </property>
</Properties>
</file>
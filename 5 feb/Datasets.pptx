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12192000" cy="6858000"/>
  <p:notesSz cx="6858000" cy="12192000"/>
  <p:embeddedFontLst>
    <p:embeddedFont>
      <p:font typeface="微软雅黑" panose="020B0503020204020204" pitchFamily="34" charset="-122"/>
      <p:regular r:id="rId14"/>
      <p:bold r:id="rId15"/>
    </p:embeddedFont>
    <p:embeddedFont>
      <p:font typeface="Sorts Mill Goudy"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385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web-img.moonshot.cn/img/www.lib.usf.edu/bb63890f86d0e72a6b6d27b703ffcfb7e4f32e4f.jpg"/>
          <p:cNvPicPr>
            <a:picLocks noChangeAspect="1"/>
          </p:cNvPicPr>
          <p:nvPr/>
        </p:nvPicPr>
        <p:blipFill>
          <a:blip r:embed="rId3">
            <a:alphaModFix amt="20000"/>
          </a:blip>
          <a:srcRect t="5000" b="500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F2937">
                  <a:alpha val="90000"/>
                </a:srgbClr>
              </a:gs>
              <a:gs pos="50000">
                <a:srgbClr val="1F2937">
                  <a:alpha val="70000"/>
                </a:srgbClr>
              </a:gs>
              <a:gs pos="100000">
                <a:srgbClr val="000000">
                  <a:alpha val="0"/>
                </a:srgbClr>
              </a:gs>
            </a:gsLst>
            <a:lin ang="2700000" scaled="1"/>
          </a:gradFill>
          <a:ln/>
        </p:spPr>
        <p:txBody>
          <a:bodyPr/>
          <a:lstStyle/>
          <a:p>
            <a:endParaRPr lang="en-US"/>
          </a:p>
        </p:txBody>
      </p:sp>
      <p:sp>
        <p:nvSpPr>
          <p:cNvPr id="4" name="Shape 1"/>
          <p:cNvSpPr/>
          <p:nvPr/>
        </p:nvSpPr>
        <p:spPr>
          <a:xfrm>
            <a:off x="381000" y="1566863"/>
            <a:ext cx="1885950" cy="342900"/>
          </a:xfrm>
          <a:custGeom>
            <a:avLst/>
            <a:gdLst/>
            <a:ahLst/>
            <a:cxnLst/>
            <a:rect l="l" t="t" r="r" b="b"/>
            <a:pathLst>
              <a:path w="1885950" h="342900">
                <a:moveTo>
                  <a:pt x="0" y="0"/>
                </a:moveTo>
                <a:lnTo>
                  <a:pt x="1885950" y="0"/>
                </a:lnTo>
                <a:lnTo>
                  <a:pt x="1885950" y="342900"/>
                </a:lnTo>
                <a:lnTo>
                  <a:pt x="0" y="342900"/>
                </a:lnTo>
                <a:lnTo>
                  <a:pt x="0" y="0"/>
                </a:lnTo>
                <a:close/>
              </a:path>
            </a:pathLst>
          </a:custGeom>
          <a:solidFill>
            <a:srgbClr val="8B0000"/>
          </a:solidFill>
          <a:ln/>
        </p:spPr>
        <p:txBody>
          <a:bodyPr/>
          <a:lstStyle/>
          <a:p>
            <a:endParaRPr lang="en-US"/>
          </a:p>
        </p:txBody>
      </p:sp>
      <p:sp>
        <p:nvSpPr>
          <p:cNvPr id="5" name="Text 2"/>
          <p:cNvSpPr/>
          <p:nvPr/>
        </p:nvSpPr>
        <p:spPr>
          <a:xfrm>
            <a:off x="381000" y="1566863"/>
            <a:ext cx="1952625" cy="342900"/>
          </a:xfrm>
          <a:prstGeom prst="rect">
            <a:avLst/>
          </a:prstGeom>
          <a:noFill/>
          <a:ln/>
        </p:spPr>
        <p:txBody>
          <a:bodyPr wrap="square" lIns="152400" tIns="76200" rIns="152400" bIns="76200" rtlCol="0" anchor="ctr"/>
          <a:lstStyle/>
          <a:p>
            <a:pPr>
              <a:lnSpc>
                <a:spcPct val="120000"/>
              </a:lnSpc>
            </a:pPr>
            <a:r>
              <a:rPr lang="en-US" sz="1050" b="1" kern="0" spc="105" dirty="0">
                <a:solidFill>
                  <a:srgbClr val="F9FAFB"/>
                </a:solidFill>
                <a:latin typeface="Sorts Mill Goudy" pitchFamily="34" charset="0"/>
                <a:ea typeface="Sorts Mill Goudy" pitchFamily="34" charset="-122"/>
                <a:cs typeface="Sorts Mill Goudy" pitchFamily="34" charset="-120"/>
              </a:rPr>
              <a:t>ACADEMIC SURVEY</a:t>
            </a:r>
            <a:endParaRPr lang="en-US" sz="1600" dirty="0"/>
          </a:p>
        </p:txBody>
      </p:sp>
      <p:sp>
        <p:nvSpPr>
          <p:cNvPr id="6" name="Text 3"/>
          <p:cNvSpPr/>
          <p:nvPr/>
        </p:nvSpPr>
        <p:spPr>
          <a:xfrm>
            <a:off x="381000" y="2138363"/>
            <a:ext cx="8820150" cy="1428750"/>
          </a:xfrm>
          <a:prstGeom prst="rect">
            <a:avLst/>
          </a:prstGeom>
          <a:noFill/>
          <a:ln/>
        </p:spPr>
        <p:txBody>
          <a:bodyPr wrap="square" lIns="0" tIns="0" rIns="0" bIns="0" rtlCol="0" anchor="ctr"/>
          <a:lstStyle/>
          <a:p>
            <a:pPr>
              <a:lnSpc>
                <a:spcPct val="100000"/>
              </a:lnSpc>
            </a:pPr>
            <a:r>
              <a:rPr lang="en-US" sz="4500" b="1" dirty="0">
                <a:solidFill>
                  <a:srgbClr val="F9FAFB"/>
                </a:solidFill>
                <a:latin typeface="Sorts Mill Goudy" pitchFamily="34" charset="0"/>
                <a:ea typeface="Sorts Mill Goudy" pitchFamily="34" charset="-122"/>
                <a:cs typeface="Sorts Mill Goudy" pitchFamily="34" charset="-120"/>
              </a:rPr>
              <a:t>LLM-Based Bloom's Taxonomy Classification Studies</a:t>
            </a:r>
            <a:endParaRPr lang="en-US" sz="1600" dirty="0"/>
          </a:p>
        </p:txBody>
      </p:sp>
      <p:sp>
        <p:nvSpPr>
          <p:cNvPr id="7" name="Shape 4"/>
          <p:cNvSpPr/>
          <p:nvPr/>
        </p:nvSpPr>
        <p:spPr>
          <a:xfrm>
            <a:off x="381000" y="3948112"/>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a:ln/>
        </p:spPr>
        <p:txBody>
          <a:bodyPr/>
          <a:lstStyle/>
          <a:p>
            <a:endParaRPr lang="en-US"/>
          </a:p>
        </p:txBody>
      </p:sp>
      <p:sp>
        <p:nvSpPr>
          <p:cNvPr id="8" name="Text 5"/>
          <p:cNvSpPr/>
          <p:nvPr/>
        </p:nvSpPr>
        <p:spPr>
          <a:xfrm>
            <a:off x="1447800" y="3795713"/>
            <a:ext cx="1885950" cy="342900"/>
          </a:xfrm>
          <a:prstGeom prst="rect">
            <a:avLst/>
          </a:prstGeom>
          <a:noFill/>
          <a:ln/>
        </p:spPr>
        <p:txBody>
          <a:bodyPr wrap="square" lIns="0" tIns="0" rIns="0" bIns="0" rtlCol="0" anchor="ctr"/>
          <a:lstStyle/>
          <a:p>
            <a:pPr>
              <a:lnSpc>
                <a:spcPct val="100000"/>
              </a:lnSpc>
            </a:pPr>
            <a:r>
              <a:rPr lang="en-US" sz="2250" dirty="0">
                <a:solidFill>
                  <a:srgbClr val="F9FAFB">
                    <a:alpha val="90000"/>
                  </a:srgbClr>
                </a:solidFill>
                <a:latin typeface="Sorts Mill Goudy" pitchFamily="34" charset="0"/>
                <a:ea typeface="Sorts Mill Goudy" pitchFamily="34" charset="-122"/>
                <a:cs typeface="Sorts Mill Goudy" pitchFamily="34" charset="-120"/>
              </a:rPr>
              <a:t>Datasets Used</a:t>
            </a:r>
            <a:endParaRPr lang="en-US" sz="1600" dirty="0"/>
          </a:p>
        </p:txBody>
      </p:sp>
      <p:sp>
        <p:nvSpPr>
          <p:cNvPr id="9" name="Text 6"/>
          <p:cNvSpPr/>
          <p:nvPr/>
        </p:nvSpPr>
        <p:spPr>
          <a:xfrm>
            <a:off x="381000" y="4443413"/>
            <a:ext cx="7410450" cy="619125"/>
          </a:xfrm>
          <a:prstGeom prst="rect">
            <a:avLst/>
          </a:prstGeom>
          <a:noFill/>
          <a:ln/>
        </p:spPr>
        <p:txBody>
          <a:bodyPr wrap="square" lIns="0" tIns="0" rIns="0" bIns="0" rtlCol="0" anchor="ctr"/>
          <a:lstStyle/>
          <a:p>
            <a:pPr>
              <a:lnSpc>
                <a:spcPct val="140000"/>
              </a:lnSpc>
            </a:pPr>
            <a:r>
              <a:rPr lang="en-US" sz="1500" dirty="0">
                <a:solidFill>
                  <a:srgbClr val="F9FAFB">
                    <a:alpha val="80000"/>
                  </a:srgbClr>
                </a:solidFill>
                <a:latin typeface="Sorts Mill Goudy" pitchFamily="34" charset="0"/>
                <a:ea typeface="Sorts Mill Goudy" pitchFamily="34" charset="-122"/>
                <a:cs typeface="Sorts Mill Goudy" pitchFamily="34" charset="-120"/>
              </a:rPr>
              <a:t>A Comprehensive Survey of Training and Evaluation Datasets for Automated Educational Content Classification</a:t>
            </a:r>
            <a:endParaRPr lang="en-US" sz="1600" dirty="0"/>
          </a:p>
        </p:txBody>
      </p:sp>
      <p:sp>
        <p:nvSpPr>
          <p:cNvPr id="10" name="Shape 7"/>
          <p:cNvSpPr/>
          <p:nvPr/>
        </p:nvSpPr>
        <p:spPr>
          <a:xfrm>
            <a:off x="409575" y="6286500"/>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8B0000"/>
          </a:solidFill>
          <a:ln/>
        </p:spPr>
        <p:txBody>
          <a:bodyPr/>
          <a:lstStyle/>
          <a:p>
            <a:endParaRPr lang="en-US"/>
          </a:p>
        </p:txBody>
      </p:sp>
      <p:sp>
        <p:nvSpPr>
          <p:cNvPr id="11" name="Text 8"/>
          <p:cNvSpPr/>
          <p:nvPr/>
        </p:nvSpPr>
        <p:spPr>
          <a:xfrm>
            <a:off x="647700" y="6248400"/>
            <a:ext cx="990600"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Sorts Mill Goudy" pitchFamily="34" charset="0"/>
                <a:ea typeface="Sorts Mill Goudy" pitchFamily="34" charset="-122"/>
                <a:cs typeface="Sorts Mill Goudy" pitchFamily="34" charset="-120"/>
              </a:rPr>
              <a:t>February 2026</a:t>
            </a:r>
            <a:endParaRPr lang="en-US" sz="1600" dirty="0"/>
          </a:p>
        </p:txBody>
      </p:sp>
      <p:sp>
        <p:nvSpPr>
          <p:cNvPr id="12" name="Shape 9"/>
          <p:cNvSpPr/>
          <p:nvPr/>
        </p:nvSpPr>
        <p:spPr>
          <a:xfrm>
            <a:off x="1899642" y="6286500"/>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8B0000"/>
          </a:solidFill>
          <a:ln/>
        </p:spPr>
        <p:txBody>
          <a:bodyPr/>
          <a:lstStyle/>
          <a:p>
            <a:endParaRPr lang="en-US"/>
          </a:p>
        </p:txBody>
      </p:sp>
      <p:sp>
        <p:nvSpPr>
          <p:cNvPr id="13" name="Text 10"/>
          <p:cNvSpPr/>
          <p:nvPr/>
        </p:nvSpPr>
        <p:spPr>
          <a:xfrm>
            <a:off x="2137767" y="6248400"/>
            <a:ext cx="1171575"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Sorts Mill Goudy" pitchFamily="34" charset="0"/>
                <a:ea typeface="Sorts Mill Goudy" pitchFamily="34" charset="-122"/>
                <a:cs typeface="Sorts Mill Goudy" pitchFamily="34" charset="-120"/>
              </a:rPr>
              <a:t>Dataset Analysis</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B0000"/>
                </a:solidFill>
                <a:latin typeface="Sorts Mill Goudy" pitchFamily="34" charset="0"/>
                <a:ea typeface="Sorts Mill Goudy" pitchFamily="34" charset="-122"/>
                <a:cs typeface="Sorts Mill Goudy" pitchFamily="34" charset="-120"/>
              </a:rPr>
              <a:t>OVERVIEW</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Contents</a:t>
            </a:r>
            <a:endParaRPr lang="en-US" sz="1600" dirty="0"/>
          </a:p>
        </p:txBody>
      </p:sp>
      <p:sp>
        <p:nvSpPr>
          <p:cNvPr id="4" name="Shape 2"/>
          <p:cNvSpPr/>
          <p:nvPr/>
        </p:nvSpPr>
        <p:spPr>
          <a:xfrm>
            <a:off x="381000" y="1257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0000"/>
          </a:solidFill>
          <a:ln/>
        </p:spPr>
        <p:txBody>
          <a:bodyPr/>
          <a:lstStyle/>
          <a:p>
            <a:endParaRPr lang="en-US"/>
          </a:p>
        </p:txBody>
      </p:sp>
      <p:sp>
        <p:nvSpPr>
          <p:cNvPr id="5" name="Shape 3"/>
          <p:cNvSpPr/>
          <p:nvPr/>
        </p:nvSpPr>
        <p:spPr>
          <a:xfrm>
            <a:off x="400050" y="160020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6" name="Shape 4"/>
          <p:cNvSpPr/>
          <p:nvPr/>
        </p:nvSpPr>
        <p:spPr>
          <a:xfrm>
            <a:off x="400050" y="160020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7" name="Shape 5"/>
          <p:cNvSpPr/>
          <p:nvPr/>
        </p:nvSpPr>
        <p:spPr>
          <a:xfrm>
            <a:off x="609600" y="17907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8" name="Text 6"/>
          <p:cNvSpPr/>
          <p:nvPr/>
        </p:nvSpPr>
        <p:spPr>
          <a:xfrm>
            <a:off x="561975" y="179070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01</a:t>
            </a:r>
            <a:endParaRPr lang="en-US" sz="1600" dirty="0"/>
          </a:p>
        </p:txBody>
      </p:sp>
      <p:sp>
        <p:nvSpPr>
          <p:cNvPr id="9" name="Text 7"/>
          <p:cNvSpPr/>
          <p:nvPr/>
        </p:nvSpPr>
        <p:spPr>
          <a:xfrm>
            <a:off x="1219200" y="179070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Introduction to Bloom's Taxonomy Classification</a:t>
            </a:r>
            <a:endParaRPr lang="en-US" sz="1600" dirty="0"/>
          </a:p>
        </p:txBody>
      </p:sp>
      <p:sp>
        <p:nvSpPr>
          <p:cNvPr id="10" name="Text 8"/>
          <p:cNvSpPr/>
          <p:nvPr/>
        </p:nvSpPr>
        <p:spPr>
          <a:xfrm>
            <a:off x="1219200" y="213360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Hierarchical model and LLM-based automation</a:t>
            </a:r>
            <a:endParaRPr lang="en-US" sz="1600" dirty="0"/>
          </a:p>
        </p:txBody>
      </p:sp>
      <p:sp>
        <p:nvSpPr>
          <p:cNvPr id="11" name="Shape 9"/>
          <p:cNvSpPr/>
          <p:nvPr/>
        </p:nvSpPr>
        <p:spPr>
          <a:xfrm>
            <a:off x="6343650" y="160020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12" name="Shape 10"/>
          <p:cNvSpPr/>
          <p:nvPr/>
        </p:nvSpPr>
        <p:spPr>
          <a:xfrm>
            <a:off x="6343650" y="160020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13" name="Shape 11"/>
          <p:cNvSpPr/>
          <p:nvPr/>
        </p:nvSpPr>
        <p:spPr>
          <a:xfrm>
            <a:off x="6553200" y="17907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14" name="Text 12"/>
          <p:cNvSpPr/>
          <p:nvPr/>
        </p:nvSpPr>
        <p:spPr>
          <a:xfrm>
            <a:off x="6505575" y="179070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02</a:t>
            </a:r>
            <a:endParaRPr lang="en-US" sz="1600" dirty="0"/>
          </a:p>
        </p:txBody>
      </p:sp>
      <p:sp>
        <p:nvSpPr>
          <p:cNvPr id="15" name="Text 13"/>
          <p:cNvSpPr/>
          <p:nvPr/>
        </p:nvSpPr>
        <p:spPr>
          <a:xfrm>
            <a:off x="7162800" y="179070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Dataset Overview and Taxonomy</a:t>
            </a:r>
            <a:endParaRPr lang="en-US" sz="1600" dirty="0"/>
          </a:p>
        </p:txBody>
      </p:sp>
      <p:sp>
        <p:nvSpPr>
          <p:cNvPr id="16" name="Text 14"/>
          <p:cNvSpPr/>
          <p:nvPr/>
        </p:nvSpPr>
        <p:spPr>
          <a:xfrm>
            <a:off x="7162800" y="213360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Scope, distribution, and categorization</a:t>
            </a:r>
            <a:endParaRPr lang="en-US" sz="1600" dirty="0"/>
          </a:p>
        </p:txBody>
      </p:sp>
      <p:sp>
        <p:nvSpPr>
          <p:cNvPr id="17" name="Shape 15"/>
          <p:cNvSpPr/>
          <p:nvPr/>
        </p:nvSpPr>
        <p:spPr>
          <a:xfrm>
            <a:off x="400050" y="287655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18" name="Shape 16"/>
          <p:cNvSpPr/>
          <p:nvPr/>
        </p:nvSpPr>
        <p:spPr>
          <a:xfrm>
            <a:off x="400050" y="287655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19" name="Shape 17"/>
          <p:cNvSpPr/>
          <p:nvPr/>
        </p:nvSpPr>
        <p:spPr>
          <a:xfrm>
            <a:off x="609600" y="30670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20" name="Text 18"/>
          <p:cNvSpPr/>
          <p:nvPr/>
        </p:nvSpPr>
        <p:spPr>
          <a:xfrm>
            <a:off x="561975" y="306705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03</a:t>
            </a:r>
            <a:endParaRPr lang="en-US" sz="1600" dirty="0"/>
          </a:p>
        </p:txBody>
      </p:sp>
      <p:sp>
        <p:nvSpPr>
          <p:cNvPr id="21" name="Text 19"/>
          <p:cNvSpPr/>
          <p:nvPr/>
        </p:nvSpPr>
        <p:spPr>
          <a:xfrm>
            <a:off x="1219200" y="306705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Large-Scale Private Datasets</a:t>
            </a:r>
            <a:endParaRPr lang="en-US" sz="1600" dirty="0"/>
          </a:p>
        </p:txBody>
      </p:sp>
      <p:sp>
        <p:nvSpPr>
          <p:cNvPr id="22" name="Text 20"/>
          <p:cNvSpPr/>
          <p:nvPr/>
        </p:nvSpPr>
        <p:spPr>
          <a:xfrm>
            <a:off x="1219200" y="340995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Learning objectives and exam questions</a:t>
            </a:r>
            <a:endParaRPr lang="en-US" sz="1600" dirty="0"/>
          </a:p>
        </p:txBody>
      </p:sp>
      <p:sp>
        <p:nvSpPr>
          <p:cNvPr id="23" name="Shape 21"/>
          <p:cNvSpPr/>
          <p:nvPr/>
        </p:nvSpPr>
        <p:spPr>
          <a:xfrm>
            <a:off x="6343650" y="287655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24" name="Shape 22"/>
          <p:cNvSpPr/>
          <p:nvPr/>
        </p:nvSpPr>
        <p:spPr>
          <a:xfrm>
            <a:off x="6343650" y="287655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25" name="Shape 23"/>
          <p:cNvSpPr/>
          <p:nvPr/>
        </p:nvSpPr>
        <p:spPr>
          <a:xfrm>
            <a:off x="6553200" y="30670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26" name="Text 24"/>
          <p:cNvSpPr/>
          <p:nvPr/>
        </p:nvSpPr>
        <p:spPr>
          <a:xfrm>
            <a:off x="6505575" y="306705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04</a:t>
            </a:r>
            <a:endParaRPr lang="en-US" sz="1600" dirty="0"/>
          </a:p>
        </p:txBody>
      </p:sp>
      <p:sp>
        <p:nvSpPr>
          <p:cNvPr id="27" name="Text 25"/>
          <p:cNvSpPr/>
          <p:nvPr/>
        </p:nvSpPr>
        <p:spPr>
          <a:xfrm>
            <a:off x="7162800" y="306705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Public Benchmark Datasets</a:t>
            </a:r>
            <a:endParaRPr lang="en-US" sz="1600" dirty="0"/>
          </a:p>
        </p:txBody>
      </p:sp>
      <p:sp>
        <p:nvSpPr>
          <p:cNvPr id="28" name="Text 26"/>
          <p:cNvSpPr/>
          <p:nvPr/>
        </p:nvSpPr>
        <p:spPr>
          <a:xfrm>
            <a:off x="7162800" y="340995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BloomNet and combined collections</a:t>
            </a:r>
            <a:endParaRPr lang="en-US" sz="1600" dirty="0"/>
          </a:p>
        </p:txBody>
      </p:sp>
      <p:sp>
        <p:nvSpPr>
          <p:cNvPr id="29" name="Shape 27"/>
          <p:cNvSpPr/>
          <p:nvPr/>
        </p:nvSpPr>
        <p:spPr>
          <a:xfrm>
            <a:off x="400050" y="415290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30" name="Shape 28"/>
          <p:cNvSpPr/>
          <p:nvPr/>
        </p:nvSpPr>
        <p:spPr>
          <a:xfrm>
            <a:off x="400050" y="415290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31" name="Shape 29"/>
          <p:cNvSpPr/>
          <p:nvPr/>
        </p:nvSpPr>
        <p:spPr>
          <a:xfrm>
            <a:off x="609600" y="43434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32" name="Text 30"/>
          <p:cNvSpPr/>
          <p:nvPr/>
        </p:nvSpPr>
        <p:spPr>
          <a:xfrm>
            <a:off x="561975" y="434340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05</a:t>
            </a:r>
            <a:endParaRPr lang="en-US" sz="1600" dirty="0"/>
          </a:p>
        </p:txBody>
      </p:sp>
      <p:sp>
        <p:nvSpPr>
          <p:cNvPr id="33" name="Text 31"/>
          <p:cNvSpPr/>
          <p:nvPr/>
        </p:nvSpPr>
        <p:spPr>
          <a:xfrm>
            <a:off x="1219200" y="434340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Classic Public Datasets</a:t>
            </a:r>
            <a:endParaRPr lang="en-US" sz="1600" dirty="0"/>
          </a:p>
        </p:txBody>
      </p:sp>
      <p:sp>
        <p:nvSpPr>
          <p:cNvPr id="34" name="Text 32"/>
          <p:cNvSpPr/>
          <p:nvPr/>
        </p:nvSpPr>
        <p:spPr>
          <a:xfrm>
            <a:off x="1219200" y="468630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Foundational resources and benchmarks</a:t>
            </a:r>
            <a:endParaRPr lang="en-US" sz="1600" dirty="0"/>
          </a:p>
        </p:txBody>
      </p:sp>
      <p:sp>
        <p:nvSpPr>
          <p:cNvPr id="35" name="Shape 33"/>
          <p:cNvSpPr/>
          <p:nvPr/>
        </p:nvSpPr>
        <p:spPr>
          <a:xfrm>
            <a:off x="6343650" y="415290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36" name="Shape 34"/>
          <p:cNvSpPr/>
          <p:nvPr/>
        </p:nvSpPr>
        <p:spPr>
          <a:xfrm>
            <a:off x="6343650" y="415290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37" name="Shape 35"/>
          <p:cNvSpPr/>
          <p:nvPr/>
        </p:nvSpPr>
        <p:spPr>
          <a:xfrm>
            <a:off x="6553200" y="43434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38" name="Text 36"/>
          <p:cNvSpPr/>
          <p:nvPr/>
        </p:nvSpPr>
        <p:spPr>
          <a:xfrm>
            <a:off x="6505575" y="434340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06</a:t>
            </a:r>
            <a:endParaRPr lang="en-US" sz="1600" dirty="0"/>
          </a:p>
        </p:txBody>
      </p:sp>
      <p:sp>
        <p:nvSpPr>
          <p:cNvPr id="39" name="Text 37"/>
          <p:cNvSpPr/>
          <p:nvPr/>
        </p:nvSpPr>
        <p:spPr>
          <a:xfrm>
            <a:off x="7162800" y="434340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Additional Public Resources</a:t>
            </a:r>
            <a:endParaRPr lang="en-US" sz="1600" dirty="0"/>
          </a:p>
        </p:txBody>
      </p:sp>
      <p:sp>
        <p:nvSpPr>
          <p:cNvPr id="40" name="Text 38"/>
          <p:cNvSpPr/>
          <p:nvPr/>
        </p:nvSpPr>
        <p:spPr>
          <a:xfrm>
            <a:off x="7162800" y="468630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Kaggle datasets and community resources</a:t>
            </a:r>
            <a:endParaRPr lang="en-US" sz="1600" dirty="0"/>
          </a:p>
        </p:txBody>
      </p:sp>
      <p:sp>
        <p:nvSpPr>
          <p:cNvPr id="41" name="Shape 39"/>
          <p:cNvSpPr/>
          <p:nvPr/>
        </p:nvSpPr>
        <p:spPr>
          <a:xfrm>
            <a:off x="400050" y="542925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42" name="Shape 40"/>
          <p:cNvSpPr/>
          <p:nvPr/>
        </p:nvSpPr>
        <p:spPr>
          <a:xfrm>
            <a:off x="400050" y="542925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43" name="Shape 41"/>
          <p:cNvSpPr/>
          <p:nvPr/>
        </p:nvSpPr>
        <p:spPr>
          <a:xfrm>
            <a:off x="609600" y="56197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44" name="Text 42"/>
          <p:cNvSpPr/>
          <p:nvPr/>
        </p:nvSpPr>
        <p:spPr>
          <a:xfrm>
            <a:off x="561975" y="561975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07</a:t>
            </a:r>
            <a:endParaRPr lang="en-US" sz="1600" dirty="0"/>
          </a:p>
        </p:txBody>
      </p:sp>
      <p:sp>
        <p:nvSpPr>
          <p:cNvPr id="45" name="Text 43"/>
          <p:cNvSpPr/>
          <p:nvPr/>
        </p:nvSpPr>
        <p:spPr>
          <a:xfrm>
            <a:off x="1219200" y="561975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Dataset Comparison and Analysis</a:t>
            </a:r>
            <a:endParaRPr lang="en-US" sz="1600" dirty="0"/>
          </a:p>
        </p:txBody>
      </p:sp>
      <p:sp>
        <p:nvSpPr>
          <p:cNvPr id="46" name="Text 44"/>
          <p:cNvSpPr/>
          <p:nvPr/>
        </p:nvSpPr>
        <p:spPr>
          <a:xfrm>
            <a:off x="1219200" y="596265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Size, type, and availability comparison</a:t>
            </a:r>
            <a:endParaRPr lang="en-US" sz="1600" dirty="0"/>
          </a:p>
        </p:txBody>
      </p:sp>
      <p:sp>
        <p:nvSpPr>
          <p:cNvPr id="47" name="Shape 45"/>
          <p:cNvSpPr/>
          <p:nvPr/>
        </p:nvSpPr>
        <p:spPr>
          <a:xfrm>
            <a:off x="6343650" y="5429250"/>
            <a:ext cx="5467350" cy="1047750"/>
          </a:xfrm>
          <a:custGeom>
            <a:avLst/>
            <a:gdLst/>
            <a:ahLst/>
            <a:cxnLst/>
            <a:rect l="l" t="t" r="r" b="b"/>
            <a:pathLst>
              <a:path w="5467350" h="1047750">
                <a:moveTo>
                  <a:pt x="0" y="0"/>
                </a:moveTo>
                <a:lnTo>
                  <a:pt x="5391147" y="0"/>
                </a:lnTo>
                <a:cubicBezTo>
                  <a:pt x="5433205" y="0"/>
                  <a:pt x="5467350" y="34145"/>
                  <a:pt x="5467350" y="76203"/>
                </a:cubicBezTo>
                <a:lnTo>
                  <a:pt x="5467350" y="971547"/>
                </a:lnTo>
                <a:cubicBezTo>
                  <a:pt x="5467350" y="1013605"/>
                  <a:pt x="5433205" y="1047750"/>
                  <a:pt x="5391147" y="1047750"/>
                </a:cubicBezTo>
                <a:lnTo>
                  <a:pt x="0" y="1047750"/>
                </a:lnTo>
                <a:lnTo>
                  <a:pt x="0" y="0"/>
                </a:lnTo>
                <a:close/>
              </a:path>
            </a:pathLst>
          </a:custGeom>
          <a:solidFill>
            <a:srgbClr val="F9FAFB"/>
          </a:solidFill>
          <a:ln/>
        </p:spPr>
        <p:txBody>
          <a:bodyPr/>
          <a:lstStyle/>
          <a:p>
            <a:endParaRPr lang="en-US"/>
          </a:p>
        </p:txBody>
      </p:sp>
      <p:sp>
        <p:nvSpPr>
          <p:cNvPr id="48" name="Shape 46"/>
          <p:cNvSpPr/>
          <p:nvPr/>
        </p:nvSpPr>
        <p:spPr>
          <a:xfrm>
            <a:off x="6343650" y="5429250"/>
            <a:ext cx="38100" cy="1047750"/>
          </a:xfrm>
          <a:custGeom>
            <a:avLst/>
            <a:gdLst/>
            <a:ahLst/>
            <a:cxnLst/>
            <a:rect l="l" t="t" r="r" b="b"/>
            <a:pathLst>
              <a:path w="38100" h="1047750">
                <a:moveTo>
                  <a:pt x="0" y="0"/>
                </a:moveTo>
                <a:lnTo>
                  <a:pt x="38100" y="0"/>
                </a:lnTo>
                <a:lnTo>
                  <a:pt x="38100" y="1047750"/>
                </a:lnTo>
                <a:lnTo>
                  <a:pt x="0" y="1047750"/>
                </a:lnTo>
                <a:lnTo>
                  <a:pt x="0" y="0"/>
                </a:lnTo>
                <a:close/>
              </a:path>
            </a:pathLst>
          </a:custGeom>
          <a:solidFill>
            <a:srgbClr val="8B0000"/>
          </a:solidFill>
          <a:ln/>
        </p:spPr>
        <p:txBody>
          <a:bodyPr/>
          <a:lstStyle/>
          <a:p>
            <a:endParaRPr lang="en-US"/>
          </a:p>
        </p:txBody>
      </p:sp>
      <p:sp>
        <p:nvSpPr>
          <p:cNvPr id="49" name="Shape 47"/>
          <p:cNvSpPr/>
          <p:nvPr/>
        </p:nvSpPr>
        <p:spPr>
          <a:xfrm>
            <a:off x="6553200" y="56197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solidFill>
          <a:ln/>
        </p:spPr>
        <p:txBody>
          <a:bodyPr/>
          <a:lstStyle/>
          <a:p>
            <a:endParaRPr lang="en-US"/>
          </a:p>
        </p:txBody>
      </p:sp>
      <p:sp>
        <p:nvSpPr>
          <p:cNvPr id="50" name="Text 48"/>
          <p:cNvSpPr/>
          <p:nvPr/>
        </p:nvSpPr>
        <p:spPr>
          <a:xfrm>
            <a:off x="6505575" y="5619750"/>
            <a:ext cx="552450" cy="457200"/>
          </a:xfrm>
          <a:prstGeom prst="rect">
            <a:avLst/>
          </a:prstGeom>
          <a:noFill/>
          <a:ln/>
        </p:spPr>
        <p:txBody>
          <a:bodyPr wrap="square" lIns="0" tIns="0" rIns="0" bIns="0" rtlCol="0" anchor="ctr"/>
          <a:lstStyle/>
          <a:p>
            <a:pPr algn="ctr">
              <a:lnSpc>
                <a:spcPct val="120000"/>
              </a:lnSpc>
            </a:pPr>
            <a:r>
              <a:rPr lang="en-US" sz="1500" b="1" dirty="0">
                <a:solidFill>
                  <a:srgbClr val="F9FAFB"/>
                </a:solidFill>
                <a:latin typeface="Sorts Mill Goudy" pitchFamily="34" charset="0"/>
                <a:ea typeface="Sorts Mill Goudy" pitchFamily="34" charset="-122"/>
                <a:cs typeface="Sorts Mill Goudy" pitchFamily="34" charset="-120"/>
              </a:rPr>
              <a:t>08</a:t>
            </a:r>
            <a:endParaRPr lang="en-US" sz="1600" dirty="0"/>
          </a:p>
        </p:txBody>
      </p:sp>
      <p:sp>
        <p:nvSpPr>
          <p:cNvPr id="51" name="Text 49"/>
          <p:cNvSpPr/>
          <p:nvPr/>
        </p:nvSpPr>
        <p:spPr>
          <a:xfrm>
            <a:off x="7162800" y="5619750"/>
            <a:ext cx="4552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Key Findings and Implications</a:t>
            </a:r>
            <a:endParaRPr lang="en-US" sz="1600" dirty="0"/>
          </a:p>
        </p:txBody>
      </p:sp>
      <p:sp>
        <p:nvSpPr>
          <p:cNvPr id="52" name="Text 50"/>
          <p:cNvSpPr/>
          <p:nvPr/>
        </p:nvSpPr>
        <p:spPr>
          <a:xfrm>
            <a:off x="7162800" y="5962650"/>
            <a:ext cx="4533900" cy="247650"/>
          </a:xfrm>
          <a:prstGeom prst="rect">
            <a:avLst/>
          </a:prstGeom>
          <a:noFill/>
          <a:ln/>
        </p:spPr>
        <p:txBody>
          <a:bodyPr wrap="square" lIns="0" tIns="0" rIns="0" bIns="0" rtlCol="0" anchor="ctr"/>
          <a:lstStyle/>
          <a:p>
            <a:pPr>
              <a:lnSpc>
                <a:spcPct val="140000"/>
              </a:lnSpc>
            </a:pPr>
            <a:r>
              <a:rPr lang="en-US" sz="1200" dirty="0">
                <a:solidFill>
                  <a:srgbClr val="6B7280"/>
                </a:solidFill>
                <a:latin typeface="Sorts Mill Goudy" pitchFamily="34" charset="0"/>
                <a:ea typeface="Sorts Mill Goudy" pitchFamily="34" charset="-122"/>
                <a:cs typeface="Sorts Mill Goudy" pitchFamily="34" charset="-120"/>
              </a:rPr>
              <a:t>Future directions and recommendations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B0000"/>
                </a:solidFill>
                <a:latin typeface="Sorts Mill Goudy" pitchFamily="34" charset="0"/>
                <a:ea typeface="Sorts Mill Goudy" pitchFamily="34" charset="-122"/>
                <a:cs typeface="Sorts Mill Goudy" pitchFamily="34" charset="-120"/>
              </a:rPr>
              <a:t>1.1 BACKGROUND</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Introduction to Bloom's Taxonomy Classification</a:t>
            </a:r>
            <a:endParaRPr lang="en-US" sz="1600" dirty="0"/>
          </a:p>
        </p:txBody>
      </p:sp>
      <p:sp>
        <p:nvSpPr>
          <p:cNvPr id="4" name="Shape 2"/>
          <p:cNvSpPr/>
          <p:nvPr/>
        </p:nvSpPr>
        <p:spPr>
          <a:xfrm>
            <a:off x="381000" y="11430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0000"/>
          </a:solidFill>
          <a:ln/>
        </p:spPr>
        <p:txBody>
          <a:bodyPr/>
          <a:lstStyle/>
          <a:p>
            <a:endParaRPr lang="en-US"/>
          </a:p>
        </p:txBody>
      </p:sp>
      <p:sp>
        <p:nvSpPr>
          <p:cNvPr id="5" name="Shape 3"/>
          <p:cNvSpPr/>
          <p:nvPr/>
        </p:nvSpPr>
        <p:spPr>
          <a:xfrm>
            <a:off x="400050" y="1409700"/>
            <a:ext cx="5581650" cy="2962275"/>
          </a:xfrm>
          <a:custGeom>
            <a:avLst/>
            <a:gdLst/>
            <a:ahLst/>
            <a:cxnLst/>
            <a:rect l="l" t="t" r="r" b="b"/>
            <a:pathLst>
              <a:path w="5581650" h="2962275">
                <a:moveTo>
                  <a:pt x="0" y="0"/>
                </a:moveTo>
                <a:lnTo>
                  <a:pt x="5581650" y="0"/>
                </a:lnTo>
                <a:lnTo>
                  <a:pt x="5581650" y="2962275"/>
                </a:lnTo>
                <a:lnTo>
                  <a:pt x="0" y="2962275"/>
                </a:lnTo>
                <a:lnTo>
                  <a:pt x="0" y="0"/>
                </a:lnTo>
                <a:close/>
              </a:path>
            </a:pathLst>
          </a:custGeom>
          <a:solidFill>
            <a:srgbClr val="F9FAFB"/>
          </a:solidFill>
          <a:ln/>
        </p:spPr>
        <p:txBody>
          <a:bodyPr/>
          <a:lstStyle/>
          <a:p>
            <a:endParaRPr lang="en-US"/>
          </a:p>
        </p:txBody>
      </p:sp>
      <p:sp>
        <p:nvSpPr>
          <p:cNvPr id="6" name="Shape 4"/>
          <p:cNvSpPr/>
          <p:nvPr/>
        </p:nvSpPr>
        <p:spPr>
          <a:xfrm>
            <a:off x="400050" y="1409700"/>
            <a:ext cx="38100" cy="2962275"/>
          </a:xfrm>
          <a:custGeom>
            <a:avLst/>
            <a:gdLst/>
            <a:ahLst/>
            <a:cxnLst/>
            <a:rect l="l" t="t" r="r" b="b"/>
            <a:pathLst>
              <a:path w="38100" h="2962275">
                <a:moveTo>
                  <a:pt x="0" y="0"/>
                </a:moveTo>
                <a:lnTo>
                  <a:pt x="38100" y="0"/>
                </a:lnTo>
                <a:lnTo>
                  <a:pt x="38100" y="2962275"/>
                </a:lnTo>
                <a:lnTo>
                  <a:pt x="0" y="2962275"/>
                </a:lnTo>
                <a:lnTo>
                  <a:pt x="0" y="0"/>
                </a:lnTo>
                <a:close/>
              </a:path>
            </a:pathLst>
          </a:custGeom>
          <a:solidFill>
            <a:srgbClr val="8B0000"/>
          </a:solidFill>
          <a:ln/>
        </p:spPr>
        <p:txBody>
          <a:bodyPr/>
          <a:lstStyle/>
          <a:p>
            <a:endParaRPr lang="en-US"/>
          </a:p>
        </p:txBody>
      </p:sp>
      <p:sp>
        <p:nvSpPr>
          <p:cNvPr id="7" name="Shape 5"/>
          <p:cNvSpPr/>
          <p:nvPr/>
        </p:nvSpPr>
        <p:spPr>
          <a:xfrm>
            <a:off x="633413" y="16383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8B0000"/>
          </a:solidFill>
          <a:ln/>
        </p:spPr>
        <p:txBody>
          <a:bodyPr/>
          <a:lstStyle/>
          <a:p>
            <a:endParaRPr lang="en-US"/>
          </a:p>
        </p:txBody>
      </p:sp>
      <p:sp>
        <p:nvSpPr>
          <p:cNvPr id="8" name="Text 6"/>
          <p:cNvSpPr/>
          <p:nvPr/>
        </p:nvSpPr>
        <p:spPr>
          <a:xfrm>
            <a:off x="847725" y="1600200"/>
            <a:ext cx="5038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Bloom's Taxonomy Framework</a:t>
            </a:r>
            <a:endParaRPr lang="en-US" sz="1600" dirty="0"/>
          </a:p>
        </p:txBody>
      </p:sp>
      <p:sp>
        <p:nvSpPr>
          <p:cNvPr id="9" name="Text 7"/>
          <p:cNvSpPr/>
          <p:nvPr/>
        </p:nvSpPr>
        <p:spPr>
          <a:xfrm>
            <a:off x="609600" y="1981200"/>
            <a:ext cx="5257800" cy="742950"/>
          </a:xfrm>
          <a:prstGeom prst="rect">
            <a:avLst/>
          </a:prstGeom>
          <a:noFill/>
          <a:ln/>
        </p:spPr>
        <p:txBody>
          <a:bodyPr wrap="square" lIns="0" tIns="0" rIns="0" bIns="0" rtlCol="0" anchor="ctr"/>
          <a:lstStyle/>
          <a:p>
            <a:pPr>
              <a:lnSpc>
                <a:spcPct val="140000"/>
              </a:lnSpc>
            </a:pPr>
            <a:r>
              <a:rPr lang="en-US" sz="1200" b="1" dirty="0">
                <a:solidFill>
                  <a:srgbClr val="8B0000"/>
                </a:solidFill>
                <a:latin typeface="Sorts Mill Goudy" pitchFamily="34" charset="0"/>
                <a:ea typeface="Sorts Mill Goudy" pitchFamily="34" charset="-122"/>
                <a:cs typeface="Sorts Mill Goudy" pitchFamily="34" charset="-120"/>
              </a:rPr>
              <a:t>Bloom's Taxonomy</a:t>
            </a:r>
            <a:r>
              <a:rPr lang="en-US" sz="1200" dirty="0">
                <a:solidFill>
                  <a:srgbClr val="1F2937"/>
                </a:solidFill>
                <a:latin typeface="Sorts Mill Goudy" pitchFamily="34" charset="0"/>
                <a:ea typeface="Sorts Mill Goudy" pitchFamily="34" charset="-122"/>
                <a:cs typeface="Sorts Mill Goudy" pitchFamily="34" charset="-120"/>
              </a:rPr>
              <a:t> is a hierarchical model that categorizes educational learning objectives into six cognitive levels, ranging from lower-order thinking skills to higher-order thinking skills.</a:t>
            </a:r>
            <a:endParaRPr lang="en-US" sz="1600" dirty="0"/>
          </a:p>
        </p:txBody>
      </p:sp>
      <p:sp>
        <p:nvSpPr>
          <p:cNvPr id="10" name="Shape 8"/>
          <p:cNvSpPr/>
          <p:nvPr/>
        </p:nvSpPr>
        <p:spPr>
          <a:xfrm>
            <a:off x="613410" y="2842260"/>
            <a:ext cx="2541270" cy="388620"/>
          </a:xfrm>
          <a:custGeom>
            <a:avLst/>
            <a:gdLst/>
            <a:ahLst/>
            <a:cxnLst/>
            <a:rect l="l" t="t" r="r" b="b"/>
            <a:pathLst>
              <a:path w="2541270" h="388620">
                <a:moveTo>
                  <a:pt x="0" y="0"/>
                </a:moveTo>
                <a:lnTo>
                  <a:pt x="2541270" y="0"/>
                </a:lnTo>
                <a:lnTo>
                  <a:pt x="2541270" y="388620"/>
                </a:lnTo>
                <a:lnTo>
                  <a:pt x="0" y="38862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1" name="Shape 9"/>
          <p:cNvSpPr/>
          <p:nvPr/>
        </p:nvSpPr>
        <p:spPr>
          <a:xfrm>
            <a:off x="693420" y="292227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8B0000"/>
          </a:solidFill>
          <a:ln/>
        </p:spPr>
        <p:txBody>
          <a:bodyPr/>
          <a:lstStyle/>
          <a:p>
            <a:endParaRPr lang="en-US"/>
          </a:p>
        </p:txBody>
      </p:sp>
      <p:sp>
        <p:nvSpPr>
          <p:cNvPr id="12" name="Text 10"/>
          <p:cNvSpPr/>
          <p:nvPr/>
        </p:nvSpPr>
        <p:spPr>
          <a:xfrm>
            <a:off x="664845" y="2922270"/>
            <a:ext cx="285750" cy="228600"/>
          </a:xfrm>
          <a:prstGeom prst="rect">
            <a:avLst/>
          </a:prstGeom>
          <a:noFill/>
          <a:ln/>
        </p:spPr>
        <p:txBody>
          <a:bodyPr wrap="square" lIns="0" tIns="0" rIns="0" bIns="0" rtlCol="0" anchor="ctr"/>
          <a:lstStyle/>
          <a:p>
            <a:pPr algn="ctr">
              <a:lnSpc>
                <a:spcPct val="110000"/>
              </a:lnSpc>
            </a:pPr>
            <a:r>
              <a:rPr lang="en-US" sz="900" b="1" dirty="0">
                <a:solidFill>
                  <a:srgbClr val="F9FAFB"/>
                </a:solidFill>
                <a:latin typeface="Sorts Mill Goudy" pitchFamily="34" charset="0"/>
                <a:ea typeface="Sorts Mill Goudy" pitchFamily="34" charset="-122"/>
                <a:cs typeface="Sorts Mill Goudy" pitchFamily="34" charset="-120"/>
              </a:rPr>
              <a:t>1</a:t>
            </a:r>
            <a:endParaRPr lang="en-US" sz="1600" dirty="0"/>
          </a:p>
        </p:txBody>
      </p:sp>
      <p:sp>
        <p:nvSpPr>
          <p:cNvPr id="13" name="Text 11"/>
          <p:cNvSpPr/>
          <p:nvPr/>
        </p:nvSpPr>
        <p:spPr>
          <a:xfrm>
            <a:off x="998220" y="2941320"/>
            <a:ext cx="695325" cy="190500"/>
          </a:xfrm>
          <a:prstGeom prst="rect">
            <a:avLst/>
          </a:prstGeom>
          <a:noFill/>
          <a:ln/>
        </p:spPr>
        <p:txBody>
          <a:bodyPr wrap="square" lIns="0" tIns="0" rIns="0" bIns="0" rtlCol="0" anchor="ctr"/>
          <a:lstStyle/>
          <a:p>
            <a:pPr>
              <a:lnSpc>
                <a:spcPct val="120000"/>
              </a:lnSpc>
            </a:pPr>
            <a:r>
              <a:rPr lang="en-US" sz="1050" dirty="0">
                <a:solidFill>
                  <a:srgbClr val="1F2937"/>
                </a:solidFill>
                <a:latin typeface="Sorts Mill Goudy" pitchFamily="34" charset="0"/>
                <a:ea typeface="Sorts Mill Goudy" pitchFamily="34" charset="-122"/>
                <a:cs typeface="Sorts Mill Goudy" pitchFamily="34" charset="-120"/>
              </a:rPr>
              <a:t>Remember</a:t>
            </a:r>
            <a:endParaRPr lang="en-US" sz="1600" dirty="0"/>
          </a:p>
        </p:txBody>
      </p:sp>
      <p:sp>
        <p:nvSpPr>
          <p:cNvPr id="14" name="Shape 12"/>
          <p:cNvSpPr/>
          <p:nvPr/>
        </p:nvSpPr>
        <p:spPr>
          <a:xfrm>
            <a:off x="3242310" y="2842260"/>
            <a:ext cx="2541270" cy="388620"/>
          </a:xfrm>
          <a:custGeom>
            <a:avLst/>
            <a:gdLst/>
            <a:ahLst/>
            <a:cxnLst/>
            <a:rect l="l" t="t" r="r" b="b"/>
            <a:pathLst>
              <a:path w="2541270" h="388620">
                <a:moveTo>
                  <a:pt x="0" y="0"/>
                </a:moveTo>
                <a:lnTo>
                  <a:pt x="2541270" y="0"/>
                </a:lnTo>
                <a:lnTo>
                  <a:pt x="2541270" y="388620"/>
                </a:lnTo>
                <a:lnTo>
                  <a:pt x="0" y="38862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5" name="Shape 13"/>
          <p:cNvSpPr/>
          <p:nvPr/>
        </p:nvSpPr>
        <p:spPr>
          <a:xfrm>
            <a:off x="3322320" y="292227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8B0000"/>
          </a:solidFill>
          <a:ln/>
        </p:spPr>
        <p:txBody>
          <a:bodyPr/>
          <a:lstStyle/>
          <a:p>
            <a:endParaRPr lang="en-US"/>
          </a:p>
        </p:txBody>
      </p:sp>
      <p:sp>
        <p:nvSpPr>
          <p:cNvPr id="16" name="Text 14"/>
          <p:cNvSpPr/>
          <p:nvPr/>
        </p:nvSpPr>
        <p:spPr>
          <a:xfrm>
            <a:off x="3293745" y="2922270"/>
            <a:ext cx="285750" cy="228600"/>
          </a:xfrm>
          <a:prstGeom prst="rect">
            <a:avLst/>
          </a:prstGeom>
          <a:noFill/>
          <a:ln/>
        </p:spPr>
        <p:txBody>
          <a:bodyPr wrap="square" lIns="0" tIns="0" rIns="0" bIns="0" rtlCol="0" anchor="ctr"/>
          <a:lstStyle/>
          <a:p>
            <a:pPr algn="ctr">
              <a:lnSpc>
                <a:spcPct val="110000"/>
              </a:lnSpc>
            </a:pPr>
            <a:r>
              <a:rPr lang="en-US" sz="900" b="1" dirty="0">
                <a:solidFill>
                  <a:srgbClr val="F9FAFB"/>
                </a:solidFill>
                <a:latin typeface="Sorts Mill Goudy" pitchFamily="34" charset="0"/>
                <a:ea typeface="Sorts Mill Goudy" pitchFamily="34" charset="-122"/>
                <a:cs typeface="Sorts Mill Goudy" pitchFamily="34" charset="-120"/>
              </a:rPr>
              <a:t>2</a:t>
            </a:r>
            <a:endParaRPr lang="en-US" sz="1600" dirty="0"/>
          </a:p>
        </p:txBody>
      </p:sp>
      <p:sp>
        <p:nvSpPr>
          <p:cNvPr id="17" name="Text 15"/>
          <p:cNvSpPr/>
          <p:nvPr/>
        </p:nvSpPr>
        <p:spPr>
          <a:xfrm>
            <a:off x="3627120" y="2941320"/>
            <a:ext cx="752475" cy="190500"/>
          </a:xfrm>
          <a:prstGeom prst="rect">
            <a:avLst/>
          </a:prstGeom>
          <a:noFill/>
          <a:ln/>
        </p:spPr>
        <p:txBody>
          <a:bodyPr wrap="square" lIns="0" tIns="0" rIns="0" bIns="0" rtlCol="0" anchor="ctr"/>
          <a:lstStyle/>
          <a:p>
            <a:pPr>
              <a:lnSpc>
                <a:spcPct val="120000"/>
              </a:lnSpc>
            </a:pPr>
            <a:r>
              <a:rPr lang="en-US" sz="1050" dirty="0">
                <a:solidFill>
                  <a:srgbClr val="1F2937"/>
                </a:solidFill>
                <a:latin typeface="Sorts Mill Goudy" pitchFamily="34" charset="0"/>
                <a:ea typeface="Sorts Mill Goudy" pitchFamily="34" charset="-122"/>
                <a:cs typeface="Sorts Mill Goudy" pitchFamily="34" charset="-120"/>
              </a:rPr>
              <a:t>Understand</a:t>
            </a:r>
            <a:endParaRPr lang="en-US" sz="1600" dirty="0"/>
          </a:p>
        </p:txBody>
      </p:sp>
      <p:sp>
        <p:nvSpPr>
          <p:cNvPr id="18" name="Shape 16"/>
          <p:cNvSpPr/>
          <p:nvPr/>
        </p:nvSpPr>
        <p:spPr>
          <a:xfrm>
            <a:off x="613410" y="3314700"/>
            <a:ext cx="2541270" cy="388620"/>
          </a:xfrm>
          <a:custGeom>
            <a:avLst/>
            <a:gdLst/>
            <a:ahLst/>
            <a:cxnLst/>
            <a:rect l="l" t="t" r="r" b="b"/>
            <a:pathLst>
              <a:path w="2541270" h="388620">
                <a:moveTo>
                  <a:pt x="0" y="0"/>
                </a:moveTo>
                <a:lnTo>
                  <a:pt x="2541270" y="0"/>
                </a:lnTo>
                <a:lnTo>
                  <a:pt x="2541270" y="388620"/>
                </a:lnTo>
                <a:lnTo>
                  <a:pt x="0" y="38862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9" name="Shape 17"/>
          <p:cNvSpPr/>
          <p:nvPr/>
        </p:nvSpPr>
        <p:spPr>
          <a:xfrm>
            <a:off x="693420" y="339471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8B0000"/>
          </a:solidFill>
          <a:ln/>
        </p:spPr>
        <p:txBody>
          <a:bodyPr/>
          <a:lstStyle/>
          <a:p>
            <a:endParaRPr lang="en-US"/>
          </a:p>
        </p:txBody>
      </p:sp>
      <p:sp>
        <p:nvSpPr>
          <p:cNvPr id="20" name="Text 18"/>
          <p:cNvSpPr/>
          <p:nvPr/>
        </p:nvSpPr>
        <p:spPr>
          <a:xfrm>
            <a:off x="664845" y="3394710"/>
            <a:ext cx="285750" cy="228600"/>
          </a:xfrm>
          <a:prstGeom prst="rect">
            <a:avLst/>
          </a:prstGeom>
          <a:noFill/>
          <a:ln/>
        </p:spPr>
        <p:txBody>
          <a:bodyPr wrap="square" lIns="0" tIns="0" rIns="0" bIns="0" rtlCol="0" anchor="ctr"/>
          <a:lstStyle/>
          <a:p>
            <a:pPr algn="ctr">
              <a:lnSpc>
                <a:spcPct val="110000"/>
              </a:lnSpc>
            </a:pPr>
            <a:r>
              <a:rPr lang="en-US" sz="900" b="1" dirty="0">
                <a:solidFill>
                  <a:srgbClr val="F9FAFB"/>
                </a:solidFill>
                <a:latin typeface="Sorts Mill Goudy" pitchFamily="34" charset="0"/>
                <a:ea typeface="Sorts Mill Goudy" pitchFamily="34" charset="-122"/>
                <a:cs typeface="Sorts Mill Goudy" pitchFamily="34" charset="-120"/>
              </a:rPr>
              <a:t>3</a:t>
            </a:r>
            <a:endParaRPr lang="en-US" sz="1600" dirty="0"/>
          </a:p>
        </p:txBody>
      </p:sp>
      <p:sp>
        <p:nvSpPr>
          <p:cNvPr id="21" name="Text 19"/>
          <p:cNvSpPr/>
          <p:nvPr/>
        </p:nvSpPr>
        <p:spPr>
          <a:xfrm>
            <a:off x="998220" y="3413760"/>
            <a:ext cx="428625" cy="190500"/>
          </a:xfrm>
          <a:prstGeom prst="rect">
            <a:avLst/>
          </a:prstGeom>
          <a:noFill/>
          <a:ln/>
        </p:spPr>
        <p:txBody>
          <a:bodyPr wrap="square" lIns="0" tIns="0" rIns="0" bIns="0" rtlCol="0" anchor="ctr"/>
          <a:lstStyle/>
          <a:p>
            <a:pPr>
              <a:lnSpc>
                <a:spcPct val="120000"/>
              </a:lnSpc>
            </a:pPr>
            <a:r>
              <a:rPr lang="en-US" sz="1050" dirty="0">
                <a:solidFill>
                  <a:srgbClr val="1F2937"/>
                </a:solidFill>
                <a:latin typeface="Sorts Mill Goudy" pitchFamily="34" charset="0"/>
                <a:ea typeface="Sorts Mill Goudy" pitchFamily="34" charset="-122"/>
                <a:cs typeface="Sorts Mill Goudy" pitchFamily="34" charset="-120"/>
              </a:rPr>
              <a:t>Apply</a:t>
            </a:r>
            <a:endParaRPr lang="en-US" sz="1600" dirty="0"/>
          </a:p>
        </p:txBody>
      </p:sp>
      <p:sp>
        <p:nvSpPr>
          <p:cNvPr id="22" name="Shape 20"/>
          <p:cNvSpPr/>
          <p:nvPr/>
        </p:nvSpPr>
        <p:spPr>
          <a:xfrm>
            <a:off x="3242310" y="3314700"/>
            <a:ext cx="2541270" cy="388620"/>
          </a:xfrm>
          <a:custGeom>
            <a:avLst/>
            <a:gdLst/>
            <a:ahLst/>
            <a:cxnLst/>
            <a:rect l="l" t="t" r="r" b="b"/>
            <a:pathLst>
              <a:path w="2541270" h="388620">
                <a:moveTo>
                  <a:pt x="0" y="0"/>
                </a:moveTo>
                <a:lnTo>
                  <a:pt x="2541270" y="0"/>
                </a:lnTo>
                <a:lnTo>
                  <a:pt x="2541270" y="388620"/>
                </a:lnTo>
                <a:lnTo>
                  <a:pt x="0" y="38862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3" name="Shape 21"/>
          <p:cNvSpPr/>
          <p:nvPr/>
        </p:nvSpPr>
        <p:spPr>
          <a:xfrm>
            <a:off x="3322320" y="339471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8B0000"/>
          </a:solidFill>
          <a:ln/>
        </p:spPr>
        <p:txBody>
          <a:bodyPr/>
          <a:lstStyle/>
          <a:p>
            <a:endParaRPr lang="en-US"/>
          </a:p>
        </p:txBody>
      </p:sp>
      <p:sp>
        <p:nvSpPr>
          <p:cNvPr id="24" name="Text 22"/>
          <p:cNvSpPr/>
          <p:nvPr/>
        </p:nvSpPr>
        <p:spPr>
          <a:xfrm>
            <a:off x="3293745" y="3394710"/>
            <a:ext cx="285750" cy="228600"/>
          </a:xfrm>
          <a:prstGeom prst="rect">
            <a:avLst/>
          </a:prstGeom>
          <a:noFill/>
          <a:ln/>
        </p:spPr>
        <p:txBody>
          <a:bodyPr wrap="square" lIns="0" tIns="0" rIns="0" bIns="0" rtlCol="0" anchor="ctr"/>
          <a:lstStyle/>
          <a:p>
            <a:pPr algn="ctr">
              <a:lnSpc>
                <a:spcPct val="110000"/>
              </a:lnSpc>
            </a:pPr>
            <a:r>
              <a:rPr lang="en-US" sz="900" b="1" dirty="0">
                <a:solidFill>
                  <a:srgbClr val="F9FAFB"/>
                </a:solidFill>
                <a:latin typeface="Sorts Mill Goudy" pitchFamily="34" charset="0"/>
                <a:ea typeface="Sorts Mill Goudy" pitchFamily="34" charset="-122"/>
                <a:cs typeface="Sorts Mill Goudy" pitchFamily="34" charset="-120"/>
              </a:rPr>
              <a:t>4</a:t>
            </a:r>
            <a:endParaRPr lang="en-US" sz="1600" dirty="0"/>
          </a:p>
        </p:txBody>
      </p:sp>
      <p:sp>
        <p:nvSpPr>
          <p:cNvPr id="25" name="Text 23"/>
          <p:cNvSpPr/>
          <p:nvPr/>
        </p:nvSpPr>
        <p:spPr>
          <a:xfrm>
            <a:off x="3627120" y="3413760"/>
            <a:ext cx="533400" cy="190500"/>
          </a:xfrm>
          <a:prstGeom prst="rect">
            <a:avLst/>
          </a:prstGeom>
          <a:noFill/>
          <a:ln/>
        </p:spPr>
        <p:txBody>
          <a:bodyPr wrap="square" lIns="0" tIns="0" rIns="0" bIns="0" rtlCol="0" anchor="ctr"/>
          <a:lstStyle/>
          <a:p>
            <a:pPr>
              <a:lnSpc>
                <a:spcPct val="120000"/>
              </a:lnSpc>
            </a:pPr>
            <a:r>
              <a:rPr lang="en-US" sz="1050" dirty="0">
                <a:solidFill>
                  <a:srgbClr val="1F2937"/>
                </a:solidFill>
                <a:latin typeface="Sorts Mill Goudy" pitchFamily="34" charset="0"/>
                <a:ea typeface="Sorts Mill Goudy" pitchFamily="34" charset="-122"/>
                <a:cs typeface="Sorts Mill Goudy" pitchFamily="34" charset="-120"/>
              </a:rPr>
              <a:t>Analyze</a:t>
            </a:r>
            <a:endParaRPr lang="en-US" sz="1600" dirty="0"/>
          </a:p>
        </p:txBody>
      </p:sp>
      <p:sp>
        <p:nvSpPr>
          <p:cNvPr id="26" name="Shape 24"/>
          <p:cNvSpPr/>
          <p:nvPr/>
        </p:nvSpPr>
        <p:spPr>
          <a:xfrm>
            <a:off x="613410" y="3787141"/>
            <a:ext cx="2541270" cy="388620"/>
          </a:xfrm>
          <a:custGeom>
            <a:avLst/>
            <a:gdLst/>
            <a:ahLst/>
            <a:cxnLst/>
            <a:rect l="l" t="t" r="r" b="b"/>
            <a:pathLst>
              <a:path w="2541270" h="388620">
                <a:moveTo>
                  <a:pt x="0" y="0"/>
                </a:moveTo>
                <a:lnTo>
                  <a:pt x="2541270" y="0"/>
                </a:lnTo>
                <a:lnTo>
                  <a:pt x="2541270" y="388620"/>
                </a:lnTo>
                <a:lnTo>
                  <a:pt x="0" y="38862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7" name="Shape 25"/>
          <p:cNvSpPr/>
          <p:nvPr/>
        </p:nvSpPr>
        <p:spPr>
          <a:xfrm>
            <a:off x="693420" y="386715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8B0000"/>
          </a:solidFill>
          <a:ln/>
        </p:spPr>
        <p:txBody>
          <a:bodyPr/>
          <a:lstStyle/>
          <a:p>
            <a:endParaRPr lang="en-US"/>
          </a:p>
        </p:txBody>
      </p:sp>
      <p:sp>
        <p:nvSpPr>
          <p:cNvPr id="28" name="Text 26"/>
          <p:cNvSpPr/>
          <p:nvPr/>
        </p:nvSpPr>
        <p:spPr>
          <a:xfrm>
            <a:off x="664845" y="3867150"/>
            <a:ext cx="285750" cy="228600"/>
          </a:xfrm>
          <a:prstGeom prst="rect">
            <a:avLst/>
          </a:prstGeom>
          <a:noFill/>
          <a:ln/>
        </p:spPr>
        <p:txBody>
          <a:bodyPr wrap="square" lIns="0" tIns="0" rIns="0" bIns="0" rtlCol="0" anchor="ctr"/>
          <a:lstStyle/>
          <a:p>
            <a:pPr algn="ctr">
              <a:lnSpc>
                <a:spcPct val="110000"/>
              </a:lnSpc>
            </a:pPr>
            <a:r>
              <a:rPr lang="en-US" sz="900" b="1" dirty="0">
                <a:solidFill>
                  <a:srgbClr val="F9FAFB"/>
                </a:solidFill>
                <a:latin typeface="Sorts Mill Goudy" pitchFamily="34" charset="0"/>
                <a:ea typeface="Sorts Mill Goudy" pitchFamily="34" charset="-122"/>
                <a:cs typeface="Sorts Mill Goudy" pitchFamily="34" charset="-120"/>
              </a:rPr>
              <a:t>5</a:t>
            </a:r>
            <a:endParaRPr lang="en-US" sz="1600" dirty="0"/>
          </a:p>
        </p:txBody>
      </p:sp>
      <p:sp>
        <p:nvSpPr>
          <p:cNvPr id="29" name="Text 27"/>
          <p:cNvSpPr/>
          <p:nvPr/>
        </p:nvSpPr>
        <p:spPr>
          <a:xfrm>
            <a:off x="998220" y="3886200"/>
            <a:ext cx="561975" cy="190500"/>
          </a:xfrm>
          <a:prstGeom prst="rect">
            <a:avLst/>
          </a:prstGeom>
          <a:noFill/>
          <a:ln/>
        </p:spPr>
        <p:txBody>
          <a:bodyPr wrap="square" lIns="0" tIns="0" rIns="0" bIns="0" rtlCol="0" anchor="ctr"/>
          <a:lstStyle/>
          <a:p>
            <a:pPr>
              <a:lnSpc>
                <a:spcPct val="120000"/>
              </a:lnSpc>
            </a:pPr>
            <a:r>
              <a:rPr lang="en-US" sz="1050" dirty="0">
                <a:solidFill>
                  <a:srgbClr val="1F2937"/>
                </a:solidFill>
                <a:latin typeface="Sorts Mill Goudy" pitchFamily="34" charset="0"/>
                <a:ea typeface="Sorts Mill Goudy" pitchFamily="34" charset="-122"/>
                <a:cs typeface="Sorts Mill Goudy" pitchFamily="34" charset="-120"/>
              </a:rPr>
              <a:t>Evaluate</a:t>
            </a:r>
            <a:endParaRPr lang="en-US" sz="1600" dirty="0"/>
          </a:p>
        </p:txBody>
      </p:sp>
      <p:sp>
        <p:nvSpPr>
          <p:cNvPr id="30" name="Shape 28"/>
          <p:cNvSpPr/>
          <p:nvPr/>
        </p:nvSpPr>
        <p:spPr>
          <a:xfrm>
            <a:off x="3242310" y="3787141"/>
            <a:ext cx="2541270" cy="388620"/>
          </a:xfrm>
          <a:custGeom>
            <a:avLst/>
            <a:gdLst/>
            <a:ahLst/>
            <a:cxnLst/>
            <a:rect l="l" t="t" r="r" b="b"/>
            <a:pathLst>
              <a:path w="2541270" h="388620">
                <a:moveTo>
                  <a:pt x="0" y="0"/>
                </a:moveTo>
                <a:lnTo>
                  <a:pt x="2541270" y="0"/>
                </a:lnTo>
                <a:lnTo>
                  <a:pt x="2541270" y="388620"/>
                </a:lnTo>
                <a:lnTo>
                  <a:pt x="0" y="38862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31" name="Shape 29"/>
          <p:cNvSpPr/>
          <p:nvPr/>
        </p:nvSpPr>
        <p:spPr>
          <a:xfrm>
            <a:off x="3322320" y="3867150"/>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8B0000"/>
          </a:solidFill>
          <a:ln/>
        </p:spPr>
        <p:txBody>
          <a:bodyPr/>
          <a:lstStyle/>
          <a:p>
            <a:endParaRPr lang="en-US"/>
          </a:p>
        </p:txBody>
      </p:sp>
      <p:sp>
        <p:nvSpPr>
          <p:cNvPr id="32" name="Text 30"/>
          <p:cNvSpPr/>
          <p:nvPr/>
        </p:nvSpPr>
        <p:spPr>
          <a:xfrm>
            <a:off x="3293745" y="3867150"/>
            <a:ext cx="285750" cy="228600"/>
          </a:xfrm>
          <a:prstGeom prst="rect">
            <a:avLst/>
          </a:prstGeom>
          <a:noFill/>
          <a:ln/>
        </p:spPr>
        <p:txBody>
          <a:bodyPr wrap="square" lIns="0" tIns="0" rIns="0" bIns="0" rtlCol="0" anchor="ctr"/>
          <a:lstStyle/>
          <a:p>
            <a:pPr algn="ctr">
              <a:lnSpc>
                <a:spcPct val="110000"/>
              </a:lnSpc>
            </a:pPr>
            <a:r>
              <a:rPr lang="en-US" sz="900" b="1" dirty="0">
                <a:solidFill>
                  <a:srgbClr val="F9FAFB"/>
                </a:solidFill>
                <a:latin typeface="Sorts Mill Goudy" pitchFamily="34" charset="0"/>
                <a:ea typeface="Sorts Mill Goudy" pitchFamily="34" charset="-122"/>
                <a:cs typeface="Sorts Mill Goudy" pitchFamily="34" charset="-120"/>
              </a:rPr>
              <a:t>6</a:t>
            </a:r>
            <a:endParaRPr lang="en-US" sz="1600" dirty="0"/>
          </a:p>
        </p:txBody>
      </p:sp>
      <p:sp>
        <p:nvSpPr>
          <p:cNvPr id="33" name="Text 31"/>
          <p:cNvSpPr/>
          <p:nvPr/>
        </p:nvSpPr>
        <p:spPr>
          <a:xfrm>
            <a:off x="3627120" y="3886200"/>
            <a:ext cx="457200" cy="190500"/>
          </a:xfrm>
          <a:prstGeom prst="rect">
            <a:avLst/>
          </a:prstGeom>
          <a:noFill/>
          <a:ln/>
        </p:spPr>
        <p:txBody>
          <a:bodyPr wrap="square" lIns="0" tIns="0" rIns="0" bIns="0" rtlCol="0" anchor="ctr"/>
          <a:lstStyle/>
          <a:p>
            <a:pPr>
              <a:lnSpc>
                <a:spcPct val="120000"/>
              </a:lnSpc>
            </a:pPr>
            <a:r>
              <a:rPr lang="en-US" sz="1050" dirty="0">
                <a:solidFill>
                  <a:srgbClr val="1F2937"/>
                </a:solidFill>
                <a:latin typeface="Sorts Mill Goudy" pitchFamily="34" charset="0"/>
                <a:ea typeface="Sorts Mill Goudy" pitchFamily="34" charset="-122"/>
                <a:cs typeface="Sorts Mill Goudy" pitchFamily="34" charset="-120"/>
              </a:rPr>
              <a:t>Create</a:t>
            </a:r>
            <a:endParaRPr lang="en-US" sz="1600" dirty="0"/>
          </a:p>
        </p:txBody>
      </p:sp>
      <p:sp>
        <p:nvSpPr>
          <p:cNvPr id="34" name="Shape 32"/>
          <p:cNvSpPr/>
          <p:nvPr/>
        </p:nvSpPr>
        <p:spPr>
          <a:xfrm>
            <a:off x="400050" y="4560570"/>
            <a:ext cx="5581650" cy="1752600"/>
          </a:xfrm>
          <a:custGeom>
            <a:avLst/>
            <a:gdLst/>
            <a:ahLst/>
            <a:cxnLst/>
            <a:rect l="l" t="t" r="r" b="b"/>
            <a:pathLst>
              <a:path w="5581650" h="1752600">
                <a:moveTo>
                  <a:pt x="0" y="0"/>
                </a:moveTo>
                <a:lnTo>
                  <a:pt x="5581650" y="0"/>
                </a:lnTo>
                <a:lnTo>
                  <a:pt x="5581650" y="1752600"/>
                </a:lnTo>
                <a:lnTo>
                  <a:pt x="0" y="1752600"/>
                </a:lnTo>
                <a:lnTo>
                  <a:pt x="0" y="0"/>
                </a:lnTo>
                <a:close/>
              </a:path>
            </a:pathLst>
          </a:custGeom>
          <a:solidFill>
            <a:srgbClr val="F9FAFB"/>
          </a:solidFill>
          <a:ln/>
        </p:spPr>
        <p:txBody>
          <a:bodyPr/>
          <a:lstStyle/>
          <a:p>
            <a:endParaRPr lang="en-US"/>
          </a:p>
        </p:txBody>
      </p:sp>
      <p:sp>
        <p:nvSpPr>
          <p:cNvPr id="35" name="Shape 33"/>
          <p:cNvSpPr/>
          <p:nvPr/>
        </p:nvSpPr>
        <p:spPr>
          <a:xfrm>
            <a:off x="400050" y="4560570"/>
            <a:ext cx="38100" cy="1752600"/>
          </a:xfrm>
          <a:custGeom>
            <a:avLst/>
            <a:gdLst/>
            <a:ahLst/>
            <a:cxnLst/>
            <a:rect l="l" t="t" r="r" b="b"/>
            <a:pathLst>
              <a:path w="38100" h="1752600">
                <a:moveTo>
                  <a:pt x="0" y="0"/>
                </a:moveTo>
                <a:lnTo>
                  <a:pt x="38100" y="0"/>
                </a:lnTo>
                <a:lnTo>
                  <a:pt x="38100" y="1752600"/>
                </a:lnTo>
                <a:lnTo>
                  <a:pt x="0" y="1752600"/>
                </a:lnTo>
                <a:lnTo>
                  <a:pt x="0" y="0"/>
                </a:lnTo>
                <a:close/>
              </a:path>
            </a:pathLst>
          </a:custGeom>
          <a:solidFill>
            <a:srgbClr val="1F2937"/>
          </a:solidFill>
          <a:ln/>
        </p:spPr>
        <p:txBody>
          <a:bodyPr/>
          <a:lstStyle/>
          <a:p>
            <a:endParaRPr lang="en-US"/>
          </a:p>
        </p:txBody>
      </p:sp>
      <p:sp>
        <p:nvSpPr>
          <p:cNvPr id="36" name="Shape 34"/>
          <p:cNvSpPr/>
          <p:nvPr/>
        </p:nvSpPr>
        <p:spPr>
          <a:xfrm>
            <a:off x="609600" y="4789170"/>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1F2937"/>
          </a:solidFill>
          <a:ln/>
        </p:spPr>
        <p:txBody>
          <a:bodyPr/>
          <a:lstStyle/>
          <a:p>
            <a:endParaRPr lang="en-US"/>
          </a:p>
        </p:txBody>
      </p:sp>
      <p:sp>
        <p:nvSpPr>
          <p:cNvPr id="37" name="Text 35"/>
          <p:cNvSpPr/>
          <p:nvPr/>
        </p:nvSpPr>
        <p:spPr>
          <a:xfrm>
            <a:off x="847725" y="4751070"/>
            <a:ext cx="50387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LLM-Based Classification</a:t>
            </a:r>
            <a:endParaRPr lang="en-US" sz="1600" dirty="0"/>
          </a:p>
        </p:txBody>
      </p:sp>
      <p:sp>
        <p:nvSpPr>
          <p:cNvPr id="38" name="Text 36"/>
          <p:cNvSpPr/>
          <p:nvPr/>
        </p:nvSpPr>
        <p:spPr>
          <a:xfrm>
            <a:off x="609600" y="5132070"/>
            <a:ext cx="5257800" cy="990600"/>
          </a:xfrm>
          <a:prstGeom prst="rect">
            <a:avLst/>
          </a:prstGeom>
          <a:noFill/>
          <a:ln/>
        </p:spPr>
        <p:txBody>
          <a:bodyPr wrap="square" lIns="0" tIns="0" rIns="0" bIns="0" rtlCol="0" anchor="ctr"/>
          <a:lstStyle/>
          <a:p>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Large Language Models (LLMs)</a:t>
            </a:r>
            <a:r>
              <a:rPr lang="en-US" sz="1200" dirty="0">
                <a:solidFill>
                  <a:srgbClr val="1F2937"/>
                </a:solidFill>
                <a:latin typeface="Sorts Mill Goudy" pitchFamily="34" charset="0"/>
                <a:ea typeface="Sorts Mill Goudy" pitchFamily="34" charset="-122"/>
                <a:cs typeface="Sorts Mill Goudy" pitchFamily="34" charset="-120"/>
              </a:rPr>
              <a:t> enable automated classification of educational content according to Bloom's cognitive levels. This automation facilitates large-scale analysis of learning objectives, exam questions, and assessment quality across diverse educational contexts.</a:t>
            </a:r>
            <a:endParaRPr lang="en-US" sz="1600" dirty="0"/>
          </a:p>
        </p:txBody>
      </p:sp>
      <p:sp>
        <p:nvSpPr>
          <p:cNvPr id="39" name="Shape 37"/>
          <p:cNvSpPr/>
          <p:nvPr/>
        </p:nvSpPr>
        <p:spPr>
          <a:xfrm>
            <a:off x="6210300" y="1409700"/>
            <a:ext cx="5600700" cy="3505200"/>
          </a:xfrm>
          <a:custGeom>
            <a:avLst/>
            <a:gdLst/>
            <a:ahLst/>
            <a:cxnLst/>
            <a:rect l="l" t="t" r="r" b="b"/>
            <a:pathLst>
              <a:path w="5600700" h="3505200">
                <a:moveTo>
                  <a:pt x="0" y="0"/>
                </a:moveTo>
                <a:lnTo>
                  <a:pt x="5600700" y="0"/>
                </a:lnTo>
                <a:lnTo>
                  <a:pt x="5600700" y="3505200"/>
                </a:lnTo>
                <a:lnTo>
                  <a:pt x="0" y="3505200"/>
                </a:lnTo>
                <a:lnTo>
                  <a:pt x="0" y="0"/>
                </a:lnTo>
                <a:close/>
              </a:path>
            </a:pathLst>
          </a:custGeom>
          <a:solidFill>
            <a:srgbClr val="F9FAFB"/>
          </a:solidFill>
          <a:ln/>
        </p:spPr>
        <p:txBody>
          <a:bodyPr/>
          <a:lstStyle/>
          <a:p>
            <a:endParaRPr lang="en-US"/>
          </a:p>
        </p:txBody>
      </p:sp>
      <p:sp>
        <p:nvSpPr>
          <p:cNvPr id="40" name="Text 38"/>
          <p:cNvSpPr/>
          <p:nvPr/>
        </p:nvSpPr>
        <p:spPr>
          <a:xfrm>
            <a:off x="6400800" y="1600200"/>
            <a:ext cx="5314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Applications in Educational Technology</a:t>
            </a:r>
            <a:endParaRPr lang="en-US" sz="1600" dirty="0"/>
          </a:p>
        </p:txBody>
      </p:sp>
      <p:sp>
        <p:nvSpPr>
          <p:cNvPr id="41" name="Shape 39"/>
          <p:cNvSpPr/>
          <p:nvPr/>
        </p:nvSpPr>
        <p:spPr>
          <a:xfrm>
            <a:off x="6400800" y="20193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8B0000"/>
          </a:solidFill>
          <a:ln/>
        </p:spPr>
        <p:txBody>
          <a:bodyPr/>
          <a:lstStyle/>
          <a:p>
            <a:endParaRPr lang="en-US"/>
          </a:p>
        </p:txBody>
      </p:sp>
      <p:sp>
        <p:nvSpPr>
          <p:cNvPr id="42" name="Shape 40"/>
          <p:cNvSpPr/>
          <p:nvPr/>
        </p:nvSpPr>
        <p:spPr>
          <a:xfrm>
            <a:off x="6524625" y="21336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F9FAFB"/>
          </a:solidFill>
          <a:ln/>
        </p:spPr>
        <p:txBody>
          <a:bodyPr/>
          <a:lstStyle/>
          <a:p>
            <a:endParaRPr lang="en-US"/>
          </a:p>
        </p:txBody>
      </p:sp>
      <p:sp>
        <p:nvSpPr>
          <p:cNvPr id="43" name="Text 41"/>
          <p:cNvSpPr/>
          <p:nvPr/>
        </p:nvSpPr>
        <p:spPr>
          <a:xfrm>
            <a:off x="6896100" y="2019300"/>
            <a:ext cx="30003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Learning Objective Analysis</a:t>
            </a:r>
            <a:endParaRPr lang="en-US" sz="1600" dirty="0"/>
          </a:p>
        </p:txBody>
      </p:sp>
      <p:sp>
        <p:nvSpPr>
          <p:cNvPr id="44" name="Text 42"/>
          <p:cNvSpPr/>
          <p:nvPr/>
        </p:nvSpPr>
        <p:spPr>
          <a:xfrm>
            <a:off x="6896100" y="2247900"/>
            <a:ext cx="29908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Automated evaluation of course learning outcomes</a:t>
            </a:r>
            <a:endParaRPr lang="en-US" sz="1600" dirty="0"/>
          </a:p>
        </p:txBody>
      </p:sp>
      <p:sp>
        <p:nvSpPr>
          <p:cNvPr id="45" name="Shape 43"/>
          <p:cNvSpPr/>
          <p:nvPr/>
        </p:nvSpPr>
        <p:spPr>
          <a:xfrm>
            <a:off x="6400800" y="25527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8B0000"/>
          </a:solidFill>
          <a:ln/>
        </p:spPr>
        <p:txBody>
          <a:bodyPr/>
          <a:lstStyle/>
          <a:p>
            <a:endParaRPr lang="en-US"/>
          </a:p>
        </p:txBody>
      </p:sp>
      <p:sp>
        <p:nvSpPr>
          <p:cNvPr id="46" name="Shape 44"/>
          <p:cNvSpPr/>
          <p:nvPr/>
        </p:nvSpPr>
        <p:spPr>
          <a:xfrm>
            <a:off x="6524625" y="26670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F9FAFB"/>
          </a:solidFill>
          <a:ln/>
        </p:spPr>
        <p:txBody>
          <a:bodyPr/>
          <a:lstStyle/>
          <a:p>
            <a:endParaRPr lang="en-US"/>
          </a:p>
        </p:txBody>
      </p:sp>
      <p:sp>
        <p:nvSpPr>
          <p:cNvPr id="47" name="Text 45"/>
          <p:cNvSpPr/>
          <p:nvPr/>
        </p:nvSpPr>
        <p:spPr>
          <a:xfrm>
            <a:off x="6896100" y="2552700"/>
            <a:ext cx="25622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Exam Question Classification</a:t>
            </a:r>
            <a:endParaRPr lang="en-US" sz="1600" dirty="0"/>
          </a:p>
        </p:txBody>
      </p:sp>
      <p:sp>
        <p:nvSpPr>
          <p:cNvPr id="48" name="Text 46"/>
          <p:cNvSpPr/>
          <p:nvPr/>
        </p:nvSpPr>
        <p:spPr>
          <a:xfrm>
            <a:off x="6896100" y="2781300"/>
            <a:ext cx="25527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Assessment of cognitive complexity in tests</a:t>
            </a:r>
            <a:endParaRPr lang="en-US" sz="1600" dirty="0"/>
          </a:p>
        </p:txBody>
      </p:sp>
      <p:sp>
        <p:nvSpPr>
          <p:cNvPr id="49" name="Shape 47"/>
          <p:cNvSpPr/>
          <p:nvPr/>
        </p:nvSpPr>
        <p:spPr>
          <a:xfrm>
            <a:off x="6400800" y="30861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8B0000"/>
          </a:solidFill>
          <a:ln/>
        </p:spPr>
        <p:txBody>
          <a:bodyPr/>
          <a:lstStyle/>
          <a:p>
            <a:endParaRPr lang="en-US"/>
          </a:p>
        </p:txBody>
      </p:sp>
      <p:sp>
        <p:nvSpPr>
          <p:cNvPr id="50" name="Shape 48"/>
          <p:cNvSpPr/>
          <p:nvPr/>
        </p:nvSpPr>
        <p:spPr>
          <a:xfrm>
            <a:off x="6524625" y="3200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F9FAFB"/>
          </a:solidFill>
          <a:ln/>
        </p:spPr>
        <p:txBody>
          <a:bodyPr/>
          <a:lstStyle/>
          <a:p>
            <a:endParaRPr lang="en-US"/>
          </a:p>
        </p:txBody>
      </p:sp>
      <p:sp>
        <p:nvSpPr>
          <p:cNvPr id="51" name="Text 49"/>
          <p:cNvSpPr/>
          <p:nvPr/>
        </p:nvSpPr>
        <p:spPr>
          <a:xfrm>
            <a:off x="6896100" y="3086100"/>
            <a:ext cx="22288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Curriculum Alignment</a:t>
            </a:r>
            <a:endParaRPr lang="en-US" sz="1600" dirty="0"/>
          </a:p>
        </p:txBody>
      </p:sp>
      <p:sp>
        <p:nvSpPr>
          <p:cNvPr id="52" name="Text 50"/>
          <p:cNvSpPr/>
          <p:nvPr/>
        </p:nvSpPr>
        <p:spPr>
          <a:xfrm>
            <a:off x="6896100" y="3314700"/>
            <a:ext cx="22193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Ensuring balanced cognitive coverage</a:t>
            </a:r>
            <a:endParaRPr lang="en-US" sz="1600" dirty="0"/>
          </a:p>
        </p:txBody>
      </p:sp>
      <p:sp>
        <p:nvSpPr>
          <p:cNvPr id="53" name="Shape 51"/>
          <p:cNvSpPr/>
          <p:nvPr/>
        </p:nvSpPr>
        <p:spPr>
          <a:xfrm>
            <a:off x="6400800" y="36195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8B0000"/>
          </a:solidFill>
          <a:ln/>
        </p:spPr>
        <p:txBody>
          <a:bodyPr/>
          <a:lstStyle/>
          <a:p>
            <a:endParaRPr lang="en-US"/>
          </a:p>
        </p:txBody>
      </p:sp>
      <p:sp>
        <p:nvSpPr>
          <p:cNvPr id="54" name="Shape 52"/>
          <p:cNvSpPr/>
          <p:nvPr/>
        </p:nvSpPr>
        <p:spPr>
          <a:xfrm>
            <a:off x="6524625" y="37338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F9FAFB"/>
          </a:solidFill>
          <a:ln/>
        </p:spPr>
        <p:txBody>
          <a:bodyPr/>
          <a:lstStyle/>
          <a:p>
            <a:endParaRPr lang="en-US"/>
          </a:p>
        </p:txBody>
      </p:sp>
      <p:sp>
        <p:nvSpPr>
          <p:cNvPr id="55" name="Text 53"/>
          <p:cNvSpPr/>
          <p:nvPr/>
        </p:nvSpPr>
        <p:spPr>
          <a:xfrm>
            <a:off x="6896100" y="3619500"/>
            <a:ext cx="27241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Quality Assurance</a:t>
            </a:r>
            <a:endParaRPr lang="en-US" sz="1600" dirty="0"/>
          </a:p>
        </p:txBody>
      </p:sp>
      <p:sp>
        <p:nvSpPr>
          <p:cNvPr id="56" name="Text 54"/>
          <p:cNvSpPr/>
          <p:nvPr/>
        </p:nvSpPr>
        <p:spPr>
          <a:xfrm>
            <a:off x="6896100" y="3848100"/>
            <a:ext cx="27146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Systematic evaluation of educational materials</a:t>
            </a:r>
            <a:endParaRPr lang="en-US" sz="1600" dirty="0"/>
          </a:p>
        </p:txBody>
      </p:sp>
      <p:sp>
        <p:nvSpPr>
          <p:cNvPr id="57" name="Shape 55"/>
          <p:cNvSpPr/>
          <p:nvPr/>
        </p:nvSpPr>
        <p:spPr>
          <a:xfrm>
            <a:off x="6210300" y="5105400"/>
            <a:ext cx="5600700" cy="1371600"/>
          </a:xfrm>
          <a:custGeom>
            <a:avLst/>
            <a:gdLst/>
            <a:ahLst/>
            <a:cxnLst/>
            <a:rect l="l" t="t" r="r" b="b"/>
            <a:pathLst>
              <a:path w="5600700" h="1371600">
                <a:moveTo>
                  <a:pt x="0" y="0"/>
                </a:moveTo>
                <a:lnTo>
                  <a:pt x="5600700" y="0"/>
                </a:lnTo>
                <a:lnTo>
                  <a:pt x="5600700" y="1371600"/>
                </a:lnTo>
                <a:lnTo>
                  <a:pt x="0" y="1371600"/>
                </a:lnTo>
                <a:lnTo>
                  <a:pt x="0" y="0"/>
                </a:lnTo>
                <a:close/>
              </a:path>
            </a:pathLst>
          </a:custGeom>
          <a:solidFill>
            <a:srgbClr val="1F2937"/>
          </a:solidFill>
          <a:ln/>
        </p:spPr>
        <p:txBody>
          <a:bodyPr/>
          <a:lstStyle/>
          <a:p>
            <a:endParaRPr lang="en-US"/>
          </a:p>
        </p:txBody>
      </p:sp>
      <p:sp>
        <p:nvSpPr>
          <p:cNvPr id="58" name="Shape 56"/>
          <p:cNvSpPr/>
          <p:nvPr/>
        </p:nvSpPr>
        <p:spPr>
          <a:xfrm>
            <a:off x="6429375" y="5318761"/>
            <a:ext cx="133350" cy="152400"/>
          </a:xfrm>
          <a:custGeom>
            <a:avLst/>
            <a:gdLst/>
            <a:ahLst/>
            <a:cxnLst/>
            <a:rect l="l" t="t" r="r" b="b"/>
            <a:pathLst>
              <a:path w="133350" h="152400">
                <a:moveTo>
                  <a:pt x="0" y="64294"/>
                </a:moveTo>
                <a:cubicBezTo>
                  <a:pt x="0" y="44559"/>
                  <a:pt x="15984" y="28575"/>
                  <a:pt x="35719" y="28575"/>
                </a:cubicBezTo>
                <a:lnTo>
                  <a:pt x="38100" y="28575"/>
                </a:lnTo>
                <a:cubicBezTo>
                  <a:pt x="43369" y="28575"/>
                  <a:pt x="47625" y="32831"/>
                  <a:pt x="47625" y="38100"/>
                </a:cubicBezTo>
                <a:cubicBezTo>
                  <a:pt x="47625" y="43369"/>
                  <a:pt x="43369" y="47625"/>
                  <a:pt x="38100" y="47625"/>
                </a:cubicBezTo>
                <a:lnTo>
                  <a:pt x="35719" y="47625"/>
                </a:lnTo>
                <a:cubicBezTo>
                  <a:pt x="26521" y="47625"/>
                  <a:pt x="19050" y="55096"/>
                  <a:pt x="19050" y="64294"/>
                </a:cubicBezTo>
                <a:lnTo>
                  <a:pt x="19050" y="66675"/>
                </a:lnTo>
                <a:lnTo>
                  <a:pt x="38100" y="66675"/>
                </a:lnTo>
                <a:cubicBezTo>
                  <a:pt x="48607" y="66675"/>
                  <a:pt x="57150" y="75218"/>
                  <a:pt x="57150" y="85725"/>
                </a:cubicBezTo>
                <a:lnTo>
                  <a:pt x="57150" y="104775"/>
                </a:lnTo>
                <a:cubicBezTo>
                  <a:pt x="57150" y="115282"/>
                  <a:pt x="48607" y="123825"/>
                  <a:pt x="38100" y="123825"/>
                </a:cubicBezTo>
                <a:lnTo>
                  <a:pt x="19050" y="123825"/>
                </a:lnTo>
                <a:cubicBezTo>
                  <a:pt x="8543" y="123825"/>
                  <a:pt x="0" y="115282"/>
                  <a:pt x="0" y="104775"/>
                </a:cubicBezTo>
                <a:lnTo>
                  <a:pt x="0" y="64294"/>
                </a:lnTo>
                <a:close/>
                <a:moveTo>
                  <a:pt x="76200" y="64294"/>
                </a:moveTo>
                <a:cubicBezTo>
                  <a:pt x="76200" y="44559"/>
                  <a:pt x="92184" y="28575"/>
                  <a:pt x="111919" y="28575"/>
                </a:cubicBezTo>
                <a:lnTo>
                  <a:pt x="114300" y="28575"/>
                </a:lnTo>
                <a:cubicBezTo>
                  <a:pt x="119569" y="28575"/>
                  <a:pt x="123825" y="32831"/>
                  <a:pt x="123825" y="38100"/>
                </a:cubicBezTo>
                <a:cubicBezTo>
                  <a:pt x="123825" y="43369"/>
                  <a:pt x="119569" y="47625"/>
                  <a:pt x="114300" y="47625"/>
                </a:cubicBezTo>
                <a:lnTo>
                  <a:pt x="111919" y="47625"/>
                </a:lnTo>
                <a:cubicBezTo>
                  <a:pt x="102721" y="47625"/>
                  <a:pt x="95250" y="55096"/>
                  <a:pt x="95250" y="64294"/>
                </a:cubicBezTo>
                <a:lnTo>
                  <a:pt x="95250" y="66675"/>
                </a:lnTo>
                <a:lnTo>
                  <a:pt x="114300" y="66675"/>
                </a:lnTo>
                <a:cubicBezTo>
                  <a:pt x="124807" y="66675"/>
                  <a:pt x="133350" y="75218"/>
                  <a:pt x="133350" y="85725"/>
                </a:cubicBezTo>
                <a:lnTo>
                  <a:pt x="133350" y="104775"/>
                </a:lnTo>
                <a:cubicBezTo>
                  <a:pt x="133350" y="115282"/>
                  <a:pt x="124807" y="123825"/>
                  <a:pt x="114300" y="123825"/>
                </a:cubicBezTo>
                <a:lnTo>
                  <a:pt x="95250" y="123825"/>
                </a:lnTo>
                <a:cubicBezTo>
                  <a:pt x="84743" y="123825"/>
                  <a:pt x="76200" y="115282"/>
                  <a:pt x="76200" y="104775"/>
                </a:cubicBezTo>
                <a:lnTo>
                  <a:pt x="76200" y="64294"/>
                </a:lnTo>
                <a:close/>
              </a:path>
            </a:pathLst>
          </a:custGeom>
          <a:solidFill>
            <a:srgbClr val="8B0000"/>
          </a:solidFill>
          <a:ln/>
        </p:spPr>
        <p:txBody>
          <a:bodyPr/>
          <a:lstStyle/>
          <a:p>
            <a:endParaRPr lang="en-US"/>
          </a:p>
        </p:txBody>
      </p:sp>
      <p:sp>
        <p:nvSpPr>
          <p:cNvPr id="59" name="Text 57"/>
          <p:cNvSpPr/>
          <p:nvPr/>
        </p:nvSpPr>
        <p:spPr>
          <a:xfrm>
            <a:off x="6648450" y="5295900"/>
            <a:ext cx="5048250" cy="990600"/>
          </a:xfrm>
          <a:prstGeom prst="rect">
            <a:avLst/>
          </a:prstGeom>
          <a:noFill/>
          <a:ln/>
        </p:spPr>
        <p:txBody>
          <a:bodyPr wrap="square" lIns="0" tIns="0" rIns="0" bIns="0" rtlCol="0" anchor="ctr"/>
          <a:lstStyle/>
          <a:p>
            <a:pPr>
              <a:lnSpc>
                <a:spcPct val="140000"/>
              </a:lnSpc>
            </a:pPr>
            <a:r>
              <a:rPr lang="en-US" sz="1200" b="1" dirty="0">
                <a:solidFill>
                  <a:srgbClr val="F9FAFB"/>
                </a:solidFill>
                <a:latin typeface="Sorts Mill Goudy" pitchFamily="34" charset="0"/>
                <a:ea typeface="Sorts Mill Goudy" pitchFamily="34" charset="-122"/>
                <a:cs typeface="Sorts Mill Goudy" pitchFamily="34" charset="-120"/>
              </a:rPr>
              <a:t>Objective:</a:t>
            </a:r>
            <a:r>
              <a:rPr lang="en-US" sz="1200" dirty="0">
                <a:solidFill>
                  <a:srgbClr val="F9FAFB"/>
                </a:solidFill>
                <a:latin typeface="Sorts Mill Goudy" pitchFamily="34" charset="0"/>
                <a:ea typeface="Sorts Mill Goudy" pitchFamily="34" charset="-122"/>
                <a:cs typeface="Sorts Mill Goudy" pitchFamily="34" charset="-120"/>
              </a:rPr>
              <a:t> This survey examines the datasets used to train and evaluate LLM-based Bloom's taxonomy classification systems, providing insights into data availability, quality, and accessibility for researchers and practitioners.</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0977" y="360977"/>
            <a:ext cx="11533217" cy="180489"/>
          </a:xfrm>
          <a:prstGeom prst="rect">
            <a:avLst/>
          </a:prstGeom>
          <a:noFill/>
          <a:ln/>
        </p:spPr>
        <p:txBody>
          <a:bodyPr wrap="square" lIns="0" tIns="0" rIns="0" bIns="0" rtlCol="0" anchor="ctr"/>
          <a:lstStyle/>
          <a:p>
            <a:pPr>
              <a:lnSpc>
                <a:spcPct val="120000"/>
              </a:lnSpc>
            </a:pPr>
            <a:r>
              <a:rPr lang="en-US" sz="995" b="1" kern="0" spc="99" dirty="0">
                <a:solidFill>
                  <a:srgbClr val="8B0000"/>
                </a:solidFill>
                <a:latin typeface="Sorts Mill Goudy" pitchFamily="34" charset="0"/>
                <a:ea typeface="Sorts Mill Goudy" pitchFamily="34" charset="-122"/>
                <a:cs typeface="Sorts Mill Goudy" pitchFamily="34" charset="-120"/>
              </a:rPr>
              <a:t>1.2 DATASET LANDSCAPE</a:t>
            </a:r>
            <a:endParaRPr lang="en-US" sz="1600" dirty="0"/>
          </a:p>
        </p:txBody>
      </p:sp>
      <p:sp>
        <p:nvSpPr>
          <p:cNvPr id="3" name="Text 1"/>
          <p:cNvSpPr/>
          <p:nvPr/>
        </p:nvSpPr>
        <p:spPr>
          <a:xfrm>
            <a:off x="360977" y="613661"/>
            <a:ext cx="11632486" cy="360977"/>
          </a:xfrm>
          <a:prstGeom prst="rect">
            <a:avLst/>
          </a:prstGeom>
          <a:noFill/>
          <a:ln/>
        </p:spPr>
        <p:txBody>
          <a:bodyPr wrap="square" lIns="0" tIns="0" rIns="0" bIns="0" rtlCol="0" anchor="ctr"/>
          <a:lstStyle/>
          <a:p>
            <a:pPr>
              <a:lnSpc>
                <a:spcPct val="90000"/>
              </a:lnSpc>
            </a:pPr>
            <a:r>
              <a:rPr lang="en-US" sz="2558" b="1" dirty="0">
                <a:solidFill>
                  <a:srgbClr val="1F2937"/>
                </a:solidFill>
                <a:latin typeface="Sorts Mill Goudy" pitchFamily="34" charset="0"/>
                <a:ea typeface="Sorts Mill Goudy" pitchFamily="34" charset="-122"/>
                <a:cs typeface="Sorts Mill Goudy" pitchFamily="34" charset="-120"/>
              </a:rPr>
              <a:t>Dataset Overview: Scope and Distribution</a:t>
            </a:r>
            <a:endParaRPr lang="en-US" sz="1600" dirty="0"/>
          </a:p>
        </p:txBody>
      </p:sp>
      <p:sp>
        <p:nvSpPr>
          <p:cNvPr id="4" name="Shape 2"/>
          <p:cNvSpPr/>
          <p:nvPr/>
        </p:nvSpPr>
        <p:spPr>
          <a:xfrm>
            <a:off x="360977" y="1082931"/>
            <a:ext cx="721954" cy="36098"/>
          </a:xfrm>
          <a:custGeom>
            <a:avLst/>
            <a:gdLst/>
            <a:ahLst/>
            <a:cxnLst/>
            <a:rect l="l" t="t" r="r" b="b"/>
            <a:pathLst>
              <a:path w="721954" h="36098">
                <a:moveTo>
                  <a:pt x="0" y="0"/>
                </a:moveTo>
                <a:lnTo>
                  <a:pt x="721954" y="0"/>
                </a:lnTo>
                <a:lnTo>
                  <a:pt x="721954" y="36098"/>
                </a:lnTo>
                <a:lnTo>
                  <a:pt x="0" y="36098"/>
                </a:lnTo>
                <a:lnTo>
                  <a:pt x="0" y="0"/>
                </a:lnTo>
                <a:close/>
              </a:path>
            </a:pathLst>
          </a:custGeom>
          <a:solidFill>
            <a:srgbClr val="8B0000"/>
          </a:solidFill>
          <a:ln/>
        </p:spPr>
        <p:txBody>
          <a:bodyPr/>
          <a:lstStyle/>
          <a:p>
            <a:endParaRPr lang="en-US"/>
          </a:p>
        </p:txBody>
      </p:sp>
      <p:sp>
        <p:nvSpPr>
          <p:cNvPr id="5" name="Shape 3"/>
          <p:cNvSpPr/>
          <p:nvPr/>
        </p:nvSpPr>
        <p:spPr>
          <a:xfrm>
            <a:off x="360977" y="1281469"/>
            <a:ext cx="3727088" cy="1281469"/>
          </a:xfrm>
          <a:custGeom>
            <a:avLst/>
            <a:gdLst/>
            <a:ahLst/>
            <a:cxnLst/>
            <a:rect l="l" t="t" r="r" b="b"/>
            <a:pathLst>
              <a:path w="3727088" h="1281469">
                <a:moveTo>
                  <a:pt x="0" y="0"/>
                </a:moveTo>
                <a:lnTo>
                  <a:pt x="3727088" y="0"/>
                </a:lnTo>
                <a:lnTo>
                  <a:pt x="3727088" y="1281469"/>
                </a:lnTo>
                <a:lnTo>
                  <a:pt x="0" y="1281469"/>
                </a:lnTo>
                <a:lnTo>
                  <a:pt x="0" y="0"/>
                </a:lnTo>
                <a:close/>
              </a:path>
            </a:pathLst>
          </a:custGeom>
          <a:solidFill>
            <a:srgbClr val="F9FAFB"/>
          </a:solidFill>
          <a:ln/>
        </p:spPr>
        <p:txBody>
          <a:bodyPr/>
          <a:lstStyle/>
          <a:p>
            <a:endParaRPr lang="en-US"/>
          </a:p>
        </p:txBody>
      </p:sp>
      <p:sp>
        <p:nvSpPr>
          <p:cNvPr id="6" name="Shape 4"/>
          <p:cNvSpPr/>
          <p:nvPr/>
        </p:nvSpPr>
        <p:spPr>
          <a:xfrm>
            <a:off x="360977" y="1281469"/>
            <a:ext cx="3727088" cy="36098"/>
          </a:xfrm>
          <a:custGeom>
            <a:avLst/>
            <a:gdLst/>
            <a:ahLst/>
            <a:cxnLst/>
            <a:rect l="l" t="t" r="r" b="b"/>
            <a:pathLst>
              <a:path w="3727088" h="36098">
                <a:moveTo>
                  <a:pt x="0" y="0"/>
                </a:moveTo>
                <a:lnTo>
                  <a:pt x="3727088" y="0"/>
                </a:lnTo>
                <a:lnTo>
                  <a:pt x="3727088" y="36098"/>
                </a:lnTo>
                <a:lnTo>
                  <a:pt x="0" y="36098"/>
                </a:lnTo>
                <a:lnTo>
                  <a:pt x="0" y="0"/>
                </a:lnTo>
                <a:close/>
              </a:path>
            </a:pathLst>
          </a:custGeom>
          <a:solidFill>
            <a:srgbClr val="8B0000"/>
          </a:solidFill>
          <a:ln/>
        </p:spPr>
        <p:txBody>
          <a:bodyPr/>
          <a:lstStyle/>
          <a:p>
            <a:endParaRPr lang="en-US"/>
          </a:p>
        </p:txBody>
      </p:sp>
      <p:sp>
        <p:nvSpPr>
          <p:cNvPr id="7" name="Text 5"/>
          <p:cNvSpPr/>
          <p:nvPr/>
        </p:nvSpPr>
        <p:spPr>
          <a:xfrm>
            <a:off x="505368" y="1443908"/>
            <a:ext cx="1091956" cy="252684"/>
          </a:xfrm>
          <a:prstGeom prst="rect">
            <a:avLst/>
          </a:prstGeom>
          <a:noFill/>
          <a:ln/>
        </p:spPr>
        <p:txBody>
          <a:bodyPr wrap="square" lIns="0" tIns="0" rIns="0" bIns="0" rtlCol="0" anchor="ctr"/>
          <a:lstStyle/>
          <a:p>
            <a:pPr>
              <a:lnSpc>
                <a:spcPct val="130000"/>
              </a:lnSpc>
            </a:pPr>
            <a:r>
              <a:rPr lang="en-US" sz="1279" b="1" dirty="0">
                <a:solidFill>
                  <a:srgbClr val="1F2937"/>
                </a:solidFill>
                <a:latin typeface="Sorts Mill Goudy" pitchFamily="34" charset="0"/>
                <a:ea typeface="Sorts Mill Goudy" pitchFamily="34" charset="-122"/>
                <a:cs typeface="Sorts Mill Goudy" pitchFamily="34" charset="-120"/>
              </a:rPr>
              <a:t>Total Datasets</a:t>
            </a:r>
            <a:endParaRPr lang="en-US" sz="1600" dirty="0"/>
          </a:p>
        </p:txBody>
      </p:sp>
      <p:sp>
        <p:nvSpPr>
          <p:cNvPr id="8" name="Shape 6"/>
          <p:cNvSpPr/>
          <p:nvPr/>
        </p:nvSpPr>
        <p:spPr>
          <a:xfrm>
            <a:off x="3713777" y="1461957"/>
            <a:ext cx="189513" cy="216586"/>
          </a:xfrm>
          <a:custGeom>
            <a:avLst/>
            <a:gdLst/>
            <a:ahLst/>
            <a:cxnLst/>
            <a:rect l="l" t="t" r="r" b="b"/>
            <a:pathLst>
              <a:path w="189513" h="216586">
                <a:moveTo>
                  <a:pt x="189513" y="87058"/>
                </a:moveTo>
                <a:cubicBezTo>
                  <a:pt x="183252" y="91203"/>
                  <a:pt x="176061" y="94545"/>
                  <a:pt x="168573" y="97210"/>
                </a:cubicBezTo>
                <a:cubicBezTo>
                  <a:pt x="148692" y="104317"/>
                  <a:pt x="122591" y="108293"/>
                  <a:pt x="94756" y="108293"/>
                </a:cubicBezTo>
                <a:cubicBezTo>
                  <a:pt x="66922" y="108293"/>
                  <a:pt x="40779" y="104274"/>
                  <a:pt x="20939" y="97210"/>
                </a:cubicBezTo>
                <a:cubicBezTo>
                  <a:pt x="13494" y="94545"/>
                  <a:pt x="6261" y="91203"/>
                  <a:pt x="0" y="87058"/>
                </a:cubicBezTo>
                <a:lnTo>
                  <a:pt x="0" y="121830"/>
                </a:lnTo>
                <a:cubicBezTo>
                  <a:pt x="0" y="140527"/>
                  <a:pt x="42429" y="155671"/>
                  <a:pt x="94756" y="155671"/>
                </a:cubicBezTo>
                <a:cubicBezTo>
                  <a:pt x="147084" y="155671"/>
                  <a:pt x="189513" y="140527"/>
                  <a:pt x="189513" y="121830"/>
                </a:cubicBezTo>
                <a:lnTo>
                  <a:pt x="189513" y="87058"/>
                </a:lnTo>
                <a:close/>
                <a:moveTo>
                  <a:pt x="189513" y="54147"/>
                </a:moveTo>
                <a:lnTo>
                  <a:pt x="189513" y="33842"/>
                </a:lnTo>
                <a:cubicBezTo>
                  <a:pt x="189513" y="15144"/>
                  <a:pt x="147084" y="0"/>
                  <a:pt x="94756" y="0"/>
                </a:cubicBezTo>
                <a:cubicBezTo>
                  <a:pt x="42429" y="0"/>
                  <a:pt x="0" y="15144"/>
                  <a:pt x="0" y="33842"/>
                </a:cubicBezTo>
                <a:lnTo>
                  <a:pt x="0" y="54147"/>
                </a:lnTo>
                <a:cubicBezTo>
                  <a:pt x="0" y="72844"/>
                  <a:pt x="42429" y="87988"/>
                  <a:pt x="94756" y="87988"/>
                </a:cubicBezTo>
                <a:cubicBezTo>
                  <a:pt x="147084" y="87988"/>
                  <a:pt x="189513" y="72844"/>
                  <a:pt x="189513" y="54147"/>
                </a:cubicBezTo>
                <a:close/>
                <a:moveTo>
                  <a:pt x="168573" y="164893"/>
                </a:moveTo>
                <a:cubicBezTo>
                  <a:pt x="148734" y="171958"/>
                  <a:pt x="122633" y="175976"/>
                  <a:pt x="94756" y="175976"/>
                </a:cubicBezTo>
                <a:cubicBezTo>
                  <a:pt x="66879" y="175976"/>
                  <a:pt x="40779" y="171958"/>
                  <a:pt x="20939" y="164893"/>
                </a:cubicBezTo>
                <a:cubicBezTo>
                  <a:pt x="13494" y="162228"/>
                  <a:pt x="6261" y="158886"/>
                  <a:pt x="0" y="154741"/>
                </a:cubicBezTo>
                <a:lnTo>
                  <a:pt x="0" y="182745"/>
                </a:lnTo>
                <a:cubicBezTo>
                  <a:pt x="0" y="201442"/>
                  <a:pt x="42429" y="216586"/>
                  <a:pt x="94756" y="216586"/>
                </a:cubicBezTo>
                <a:cubicBezTo>
                  <a:pt x="147084" y="216586"/>
                  <a:pt x="189513" y="201442"/>
                  <a:pt x="189513" y="182745"/>
                </a:cubicBezTo>
                <a:lnTo>
                  <a:pt x="189513" y="154741"/>
                </a:lnTo>
                <a:cubicBezTo>
                  <a:pt x="183252" y="158886"/>
                  <a:pt x="176061" y="162228"/>
                  <a:pt x="168573" y="164893"/>
                </a:cubicBezTo>
                <a:close/>
              </a:path>
            </a:pathLst>
          </a:custGeom>
          <a:solidFill>
            <a:srgbClr val="8B0000"/>
          </a:solidFill>
          <a:ln/>
        </p:spPr>
        <p:txBody>
          <a:bodyPr/>
          <a:lstStyle/>
          <a:p>
            <a:endParaRPr lang="en-US"/>
          </a:p>
        </p:txBody>
      </p:sp>
      <p:sp>
        <p:nvSpPr>
          <p:cNvPr id="9" name="Text 7"/>
          <p:cNvSpPr/>
          <p:nvPr/>
        </p:nvSpPr>
        <p:spPr>
          <a:xfrm>
            <a:off x="505368" y="1804885"/>
            <a:ext cx="3600746" cy="360977"/>
          </a:xfrm>
          <a:prstGeom prst="rect">
            <a:avLst/>
          </a:prstGeom>
          <a:noFill/>
          <a:ln/>
        </p:spPr>
        <p:txBody>
          <a:bodyPr wrap="square" lIns="0" tIns="0" rIns="0" bIns="0" rtlCol="0" anchor="ctr"/>
          <a:lstStyle/>
          <a:p>
            <a:pPr>
              <a:lnSpc>
                <a:spcPct val="90000"/>
              </a:lnSpc>
            </a:pPr>
            <a:r>
              <a:rPr lang="en-US" sz="2558" b="1" dirty="0">
                <a:solidFill>
                  <a:srgbClr val="8B0000"/>
                </a:solidFill>
                <a:latin typeface="Sorts Mill Goudy" pitchFamily="34" charset="0"/>
                <a:ea typeface="Sorts Mill Goudy" pitchFamily="34" charset="-122"/>
                <a:cs typeface="Sorts Mill Goudy" pitchFamily="34" charset="-120"/>
              </a:rPr>
              <a:t>9+</a:t>
            </a:r>
            <a:endParaRPr lang="en-US" sz="1600" dirty="0"/>
          </a:p>
        </p:txBody>
      </p:sp>
      <p:sp>
        <p:nvSpPr>
          <p:cNvPr id="10" name="Text 8"/>
          <p:cNvSpPr/>
          <p:nvPr/>
        </p:nvSpPr>
        <p:spPr>
          <a:xfrm>
            <a:off x="505368" y="2238058"/>
            <a:ext cx="3501477" cy="180489"/>
          </a:xfrm>
          <a:prstGeom prst="rect">
            <a:avLst/>
          </a:prstGeom>
          <a:noFill/>
          <a:ln/>
        </p:spPr>
        <p:txBody>
          <a:bodyPr wrap="square" lIns="0" tIns="0" rIns="0" bIns="0" rtlCol="0" anchor="ctr"/>
          <a:lstStyle/>
          <a:p>
            <a:pPr>
              <a:lnSpc>
                <a:spcPct val="120000"/>
              </a:lnSpc>
            </a:pPr>
            <a:r>
              <a:rPr lang="en-US" sz="995" dirty="0">
                <a:solidFill>
                  <a:srgbClr val="6B7280"/>
                </a:solidFill>
                <a:latin typeface="Sorts Mill Goudy" pitchFamily="34" charset="0"/>
                <a:ea typeface="Sorts Mill Goudy" pitchFamily="34" charset="-122"/>
                <a:cs typeface="Sorts Mill Goudy" pitchFamily="34" charset="-120"/>
              </a:rPr>
              <a:t>Major datasets identified in literature</a:t>
            </a:r>
            <a:endParaRPr lang="en-US" sz="1600" dirty="0"/>
          </a:p>
        </p:txBody>
      </p:sp>
      <p:sp>
        <p:nvSpPr>
          <p:cNvPr id="11" name="Shape 9"/>
          <p:cNvSpPr/>
          <p:nvPr/>
        </p:nvSpPr>
        <p:spPr>
          <a:xfrm>
            <a:off x="4232682" y="1281469"/>
            <a:ext cx="3727088" cy="1281469"/>
          </a:xfrm>
          <a:custGeom>
            <a:avLst/>
            <a:gdLst/>
            <a:ahLst/>
            <a:cxnLst/>
            <a:rect l="l" t="t" r="r" b="b"/>
            <a:pathLst>
              <a:path w="3727088" h="1281469">
                <a:moveTo>
                  <a:pt x="0" y="0"/>
                </a:moveTo>
                <a:lnTo>
                  <a:pt x="3727088" y="0"/>
                </a:lnTo>
                <a:lnTo>
                  <a:pt x="3727088" y="1281469"/>
                </a:lnTo>
                <a:lnTo>
                  <a:pt x="0" y="1281469"/>
                </a:lnTo>
                <a:lnTo>
                  <a:pt x="0" y="0"/>
                </a:lnTo>
                <a:close/>
              </a:path>
            </a:pathLst>
          </a:custGeom>
          <a:solidFill>
            <a:srgbClr val="F9FAFB"/>
          </a:solidFill>
          <a:ln/>
        </p:spPr>
        <p:txBody>
          <a:bodyPr/>
          <a:lstStyle/>
          <a:p>
            <a:endParaRPr lang="en-US"/>
          </a:p>
        </p:txBody>
      </p:sp>
      <p:sp>
        <p:nvSpPr>
          <p:cNvPr id="12" name="Shape 10"/>
          <p:cNvSpPr/>
          <p:nvPr/>
        </p:nvSpPr>
        <p:spPr>
          <a:xfrm>
            <a:off x="4232682" y="1281469"/>
            <a:ext cx="3727088" cy="36098"/>
          </a:xfrm>
          <a:custGeom>
            <a:avLst/>
            <a:gdLst/>
            <a:ahLst/>
            <a:cxnLst/>
            <a:rect l="l" t="t" r="r" b="b"/>
            <a:pathLst>
              <a:path w="3727088" h="36098">
                <a:moveTo>
                  <a:pt x="0" y="0"/>
                </a:moveTo>
                <a:lnTo>
                  <a:pt x="3727088" y="0"/>
                </a:lnTo>
                <a:lnTo>
                  <a:pt x="3727088" y="36098"/>
                </a:lnTo>
                <a:lnTo>
                  <a:pt x="0" y="36098"/>
                </a:lnTo>
                <a:lnTo>
                  <a:pt x="0" y="0"/>
                </a:lnTo>
                <a:close/>
              </a:path>
            </a:pathLst>
          </a:custGeom>
          <a:solidFill>
            <a:srgbClr val="1F2937"/>
          </a:solidFill>
          <a:ln/>
        </p:spPr>
        <p:txBody>
          <a:bodyPr/>
          <a:lstStyle/>
          <a:p>
            <a:endParaRPr lang="en-US"/>
          </a:p>
        </p:txBody>
      </p:sp>
      <p:sp>
        <p:nvSpPr>
          <p:cNvPr id="13" name="Text 11"/>
          <p:cNvSpPr/>
          <p:nvPr/>
        </p:nvSpPr>
        <p:spPr>
          <a:xfrm>
            <a:off x="4377072" y="1443908"/>
            <a:ext cx="839272" cy="252684"/>
          </a:xfrm>
          <a:prstGeom prst="rect">
            <a:avLst/>
          </a:prstGeom>
          <a:noFill/>
          <a:ln/>
        </p:spPr>
        <p:txBody>
          <a:bodyPr wrap="square" lIns="0" tIns="0" rIns="0" bIns="0" rtlCol="0" anchor="ctr"/>
          <a:lstStyle/>
          <a:p>
            <a:pPr>
              <a:lnSpc>
                <a:spcPct val="130000"/>
              </a:lnSpc>
            </a:pPr>
            <a:r>
              <a:rPr lang="en-US" sz="1279" b="1" dirty="0">
                <a:solidFill>
                  <a:srgbClr val="1F2937"/>
                </a:solidFill>
                <a:latin typeface="Sorts Mill Goudy" pitchFamily="34" charset="0"/>
                <a:ea typeface="Sorts Mill Goudy" pitchFamily="34" charset="-122"/>
                <a:cs typeface="Sorts Mill Goudy" pitchFamily="34" charset="-120"/>
              </a:rPr>
              <a:t>Size Range</a:t>
            </a:r>
            <a:endParaRPr lang="en-US" sz="1600" dirty="0"/>
          </a:p>
        </p:txBody>
      </p:sp>
      <p:sp>
        <p:nvSpPr>
          <p:cNvPr id="14" name="Shape 12"/>
          <p:cNvSpPr/>
          <p:nvPr/>
        </p:nvSpPr>
        <p:spPr>
          <a:xfrm>
            <a:off x="7558521" y="1461957"/>
            <a:ext cx="243660" cy="216586"/>
          </a:xfrm>
          <a:custGeom>
            <a:avLst/>
            <a:gdLst/>
            <a:ahLst/>
            <a:cxnLst/>
            <a:rect l="l" t="t" r="r" b="b"/>
            <a:pathLst>
              <a:path w="243660" h="216586">
                <a:moveTo>
                  <a:pt x="88453" y="218363"/>
                </a:moveTo>
                <a:cubicBezTo>
                  <a:pt x="80543" y="226273"/>
                  <a:pt x="67683" y="226273"/>
                  <a:pt x="59730" y="218363"/>
                </a:cubicBezTo>
                <a:lnTo>
                  <a:pt x="11887" y="170519"/>
                </a:lnTo>
                <a:cubicBezTo>
                  <a:pt x="3976" y="162609"/>
                  <a:pt x="3976" y="149749"/>
                  <a:pt x="11887" y="141796"/>
                </a:cubicBezTo>
                <a:lnTo>
                  <a:pt x="19078" y="134605"/>
                </a:lnTo>
                <a:lnTo>
                  <a:pt x="50170" y="165697"/>
                </a:lnTo>
                <a:cubicBezTo>
                  <a:pt x="54147" y="169673"/>
                  <a:pt x="60576" y="169673"/>
                  <a:pt x="64511" y="165697"/>
                </a:cubicBezTo>
                <a:cubicBezTo>
                  <a:pt x="68445" y="161721"/>
                  <a:pt x="68487" y="155291"/>
                  <a:pt x="64511" y="151357"/>
                </a:cubicBezTo>
                <a:lnTo>
                  <a:pt x="33419" y="120265"/>
                </a:lnTo>
                <a:lnTo>
                  <a:pt x="47759" y="105924"/>
                </a:lnTo>
                <a:lnTo>
                  <a:pt x="69291" y="127456"/>
                </a:lnTo>
                <a:cubicBezTo>
                  <a:pt x="73267" y="131432"/>
                  <a:pt x="79697" y="131432"/>
                  <a:pt x="83631" y="127456"/>
                </a:cubicBezTo>
                <a:cubicBezTo>
                  <a:pt x="87565" y="123480"/>
                  <a:pt x="87607" y="117050"/>
                  <a:pt x="83631" y="113116"/>
                </a:cubicBezTo>
                <a:lnTo>
                  <a:pt x="62099" y="91584"/>
                </a:lnTo>
                <a:lnTo>
                  <a:pt x="76440" y="77243"/>
                </a:lnTo>
                <a:lnTo>
                  <a:pt x="107532" y="108335"/>
                </a:lnTo>
                <a:cubicBezTo>
                  <a:pt x="111508" y="112312"/>
                  <a:pt x="117938" y="112312"/>
                  <a:pt x="121872" y="108335"/>
                </a:cubicBezTo>
                <a:cubicBezTo>
                  <a:pt x="125806" y="104359"/>
                  <a:pt x="125848" y="97929"/>
                  <a:pt x="121872" y="93995"/>
                </a:cubicBezTo>
                <a:lnTo>
                  <a:pt x="90780" y="62903"/>
                </a:lnTo>
                <a:lnTo>
                  <a:pt x="105120" y="48563"/>
                </a:lnTo>
                <a:lnTo>
                  <a:pt x="126652" y="70094"/>
                </a:lnTo>
                <a:cubicBezTo>
                  <a:pt x="130629" y="74071"/>
                  <a:pt x="137058" y="74071"/>
                  <a:pt x="140993" y="70094"/>
                </a:cubicBezTo>
                <a:cubicBezTo>
                  <a:pt x="144927" y="66118"/>
                  <a:pt x="144969" y="59688"/>
                  <a:pt x="140993" y="55754"/>
                </a:cubicBezTo>
                <a:lnTo>
                  <a:pt x="119461" y="34222"/>
                </a:lnTo>
                <a:lnTo>
                  <a:pt x="133801" y="19882"/>
                </a:lnTo>
                <a:lnTo>
                  <a:pt x="164893" y="50974"/>
                </a:lnTo>
                <a:cubicBezTo>
                  <a:pt x="168870" y="54950"/>
                  <a:pt x="175299" y="54950"/>
                  <a:pt x="179234" y="50974"/>
                </a:cubicBezTo>
                <a:cubicBezTo>
                  <a:pt x="183168" y="46998"/>
                  <a:pt x="183210" y="40568"/>
                  <a:pt x="179234" y="36634"/>
                </a:cubicBezTo>
                <a:lnTo>
                  <a:pt x="148142" y="5542"/>
                </a:lnTo>
                <a:lnTo>
                  <a:pt x="155333" y="-1650"/>
                </a:lnTo>
                <a:cubicBezTo>
                  <a:pt x="163243" y="-9560"/>
                  <a:pt x="176103" y="-9560"/>
                  <a:pt x="184056" y="-1650"/>
                </a:cubicBezTo>
                <a:lnTo>
                  <a:pt x="232026" y="46067"/>
                </a:lnTo>
                <a:cubicBezTo>
                  <a:pt x="239937" y="53977"/>
                  <a:pt x="239937" y="66837"/>
                  <a:pt x="232026" y="74790"/>
                </a:cubicBezTo>
                <a:lnTo>
                  <a:pt x="88453" y="218363"/>
                </a:lnTo>
                <a:close/>
              </a:path>
            </a:pathLst>
          </a:custGeom>
          <a:solidFill>
            <a:srgbClr val="1F2937"/>
          </a:solidFill>
          <a:ln/>
        </p:spPr>
        <p:txBody>
          <a:bodyPr/>
          <a:lstStyle/>
          <a:p>
            <a:endParaRPr lang="en-US"/>
          </a:p>
        </p:txBody>
      </p:sp>
      <p:sp>
        <p:nvSpPr>
          <p:cNvPr id="15" name="Text 13"/>
          <p:cNvSpPr/>
          <p:nvPr/>
        </p:nvSpPr>
        <p:spPr>
          <a:xfrm>
            <a:off x="4377072" y="1804885"/>
            <a:ext cx="3600746" cy="360977"/>
          </a:xfrm>
          <a:prstGeom prst="rect">
            <a:avLst/>
          </a:prstGeom>
          <a:noFill/>
          <a:ln/>
        </p:spPr>
        <p:txBody>
          <a:bodyPr wrap="square" lIns="0" tIns="0" rIns="0" bIns="0" rtlCol="0" anchor="ctr"/>
          <a:lstStyle/>
          <a:p>
            <a:pPr>
              <a:lnSpc>
                <a:spcPct val="90000"/>
              </a:lnSpc>
            </a:pPr>
            <a:r>
              <a:rPr lang="en-US" sz="2558" b="1" dirty="0">
                <a:solidFill>
                  <a:srgbClr val="1F2937"/>
                </a:solidFill>
                <a:latin typeface="Sorts Mill Goudy" pitchFamily="34" charset="0"/>
                <a:ea typeface="Sorts Mill Goudy" pitchFamily="34" charset="-122"/>
                <a:cs typeface="Sorts Mill Goudy" pitchFamily="34" charset="-120"/>
              </a:rPr>
              <a:t>141-21K</a:t>
            </a:r>
            <a:endParaRPr lang="en-US" sz="1600" dirty="0"/>
          </a:p>
        </p:txBody>
      </p:sp>
      <p:sp>
        <p:nvSpPr>
          <p:cNvPr id="16" name="Text 14"/>
          <p:cNvSpPr/>
          <p:nvPr/>
        </p:nvSpPr>
        <p:spPr>
          <a:xfrm>
            <a:off x="4377072" y="2238058"/>
            <a:ext cx="3501477" cy="180489"/>
          </a:xfrm>
          <a:prstGeom prst="rect">
            <a:avLst/>
          </a:prstGeom>
          <a:noFill/>
          <a:ln/>
        </p:spPr>
        <p:txBody>
          <a:bodyPr wrap="square" lIns="0" tIns="0" rIns="0" bIns="0" rtlCol="0" anchor="ctr"/>
          <a:lstStyle/>
          <a:p>
            <a:pPr>
              <a:lnSpc>
                <a:spcPct val="120000"/>
              </a:lnSpc>
            </a:pPr>
            <a:r>
              <a:rPr lang="en-US" sz="995" dirty="0">
                <a:solidFill>
                  <a:srgbClr val="6B7280"/>
                </a:solidFill>
                <a:latin typeface="Sorts Mill Goudy" pitchFamily="34" charset="0"/>
                <a:ea typeface="Sorts Mill Goudy" pitchFamily="34" charset="-122"/>
                <a:cs typeface="Sorts Mill Goudy" pitchFamily="34" charset="-120"/>
              </a:rPr>
              <a:t>Items per dataset</a:t>
            </a:r>
            <a:endParaRPr lang="en-US" sz="1600" dirty="0"/>
          </a:p>
        </p:txBody>
      </p:sp>
      <p:sp>
        <p:nvSpPr>
          <p:cNvPr id="17" name="Shape 15"/>
          <p:cNvSpPr/>
          <p:nvPr/>
        </p:nvSpPr>
        <p:spPr>
          <a:xfrm>
            <a:off x="8104499" y="1281469"/>
            <a:ext cx="3727088" cy="1281469"/>
          </a:xfrm>
          <a:custGeom>
            <a:avLst/>
            <a:gdLst/>
            <a:ahLst/>
            <a:cxnLst/>
            <a:rect l="l" t="t" r="r" b="b"/>
            <a:pathLst>
              <a:path w="3727088" h="1281469">
                <a:moveTo>
                  <a:pt x="0" y="0"/>
                </a:moveTo>
                <a:lnTo>
                  <a:pt x="3727088" y="0"/>
                </a:lnTo>
                <a:lnTo>
                  <a:pt x="3727088" y="1281469"/>
                </a:lnTo>
                <a:lnTo>
                  <a:pt x="0" y="1281469"/>
                </a:lnTo>
                <a:lnTo>
                  <a:pt x="0" y="0"/>
                </a:lnTo>
                <a:close/>
              </a:path>
            </a:pathLst>
          </a:custGeom>
          <a:solidFill>
            <a:srgbClr val="F9FAFB"/>
          </a:solidFill>
          <a:ln/>
        </p:spPr>
        <p:txBody>
          <a:bodyPr/>
          <a:lstStyle/>
          <a:p>
            <a:endParaRPr lang="en-US"/>
          </a:p>
        </p:txBody>
      </p:sp>
      <p:sp>
        <p:nvSpPr>
          <p:cNvPr id="18" name="Shape 16"/>
          <p:cNvSpPr/>
          <p:nvPr/>
        </p:nvSpPr>
        <p:spPr>
          <a:xfrm>
            <a:off x="8104499" y="1281469"/>
            <a:ext cx="3727088" cy="36098"/>
          </a:xfrm>
          <a:custGeom>
            <a:avLst/>
            <a:gdLst/>
            <a:ahLst/>
            <a:cxnLst/>
            <a:rect l="l" t="t" r="r" b="b"/>
            <a:pathLst>
              <a:path w="3727088" h="36098">
                <a:moveTo>
                  <a:pt x="0" y="0"/>
                </a:moveTo>
                <a:lnTo>
                  <a:pt x="3727088" y="0"/>
                </a:lnTo>
                <a:lnTo>
                  <a:pt x="3727088" y="36098"/>
                </a:lnTo>
                <a:lnTo>
                  <a:pt x="0" y="36098"/>
                </a:lnTo>
                <a:lnTo>
                  <a:pt x="0" y="0"/>
                </a:lnTo>
                <a:close/>
              </a:path>
            </a:pathLst>
          </a:custGeom>
          <a:solidFill>
            <a:srgbClr val="6B7280"/>
          </a:solidFill>
          <a:ln/>
        </p:spPr>
        <p:txBody>
          <a:bodyPr/>
          <a:lstStyle/>
          <a:p>
            <a:endParaRPr lang="en-US"/>
          </a:p>
        </p:txBody>
      </p:sp>
      <p:sp>
        <p:nvSpPr>
          <p:cNvPr id="19" name="Text 17"/>
          <p:cNvSpPr/>
          <p:nvPr/>
        </p:nvSpPr>
        <p:spPr>
          <a:xfrm>
            <a:off x="8248890" y="1443908"/>
            <a:ext cx="902443" cy="252684"/>
          </a:xfrm>
          <a:prstGeom prst="rect">
            <a:avLst/>
          </a:prstGeom>
          <a:noFill/>
          <a:ln/>
        </p:spPr>
        <p:txBody>
          <a:bodyPr wrap="square" lIns="0" tIns="0" rIns="0" bIns="0" rtlCol="0" anchor="ctr"/>
          <a:lstStyle/>
          <a:p>
            <a:pPr>
              <a:lnSpc>
                <a:spcPct val="130000"/>
              </a:lnSpc>
            </a:pPr>
            <a:r>
              <a:rPr lang="en-US" sz="1279" b="1" dirty="0">
                <a:solidFill>
                  <a:srgbClr val="1F2937"/>
                </a:solidFill>
                <a:latin typeface="Sorts Mill Goudy" pitchFamily="34" charset="0"/>
                <a:ea typeface="Sorts Mill Goudy" pitchFamily="34" charset="-122"/>
                <a:cs typeface="Sorts Mill Goudy" pitchFamily="34" charset="-120"/>
              </a:rPr>
              <a:t>Availability</a:t>
            </a:r>
            <a:endParaRPr lang="en-US" sz="1600" dirty="0"/>
          </a:p>
        </p:txBody>
      </p:sp>
      <p:sp>
        <p:nvSpPr>
          <p:cNvPr id="20" name="Shape 18"/>
          <p:cNvSpPr/>
          <p:nvPr/>
        </p:nvSpPr>
        <p:spPr>
          <a:xfrm>
            <a:off x="11470948" y="1461957"/>
            <a:ext cx="162440" cy="216586"/>
          </a:xfrm>
          <a:custGeom>
            <a:avLst/>
            <a:gdLst/>
            <a:ahLst/>
            <a:cxnLst/>
            <a:rect l="l" t="t" r="r" b="b"/>
            <a:pathLst>
              <a:path w="162440" h="216586">
                <a:moveTo>
                  <a:pt x="81220" y="13537"/>
                </a:moveTo>
                <a:cubicBezTo>
                  <a:pt x="66287" y="13537"/>
                  <a:pt x="54147" y="25677"/>
                  <a:pt x="54147" y="40610"/>
                </a:cubicBezTo>
                <a:lnTo>
                  <a:pt x="54147" y="67683"/>
                </a:lnTo>
                <a:lnTo>
                  <a:pt x="135366" y="67683"/>
                </a:lnTo>
                <a:cubicBezTo>
                  <a:pt x="150299" y="67683"/>
                  <a:pt x="162440" y="79824"/>
                  <a:pt x="162440" y="94756"/>
                </a:cubicBezTo>
                <a:lnTo>
                  <a:pt x="162440" y="189513"/>
                </a:lnTo>
                <a:cubicBezTo>
                  <a:pt x="162440" y="204446"/>
                  <a:pt x="150299" y="216586"/>
                  <a:pt x="135366" y="216586"/>
                </a:cubicBezTo>
                <a:lnTo>
                  <a:pt x="27073" y="216586"/>
                </a:lnTo>
                <a:cubicBezTo>
                  <a:pt x="12141" y="216586"/>
                  <a:pt x="0" y="204446"/>
                  <a:pt x="0" y="189513"/>
                </a:cubicBezTo>
                <a:lnTo>
                  <a:pt x="0" y="94756"/>
                </a:lnTo>
                <a:cubicBezTo>
                  <a:pt x="0" y="79824"/>
                  <a:pt x="12141" y="67683"/>
                  <a:pt x="27073" y="67683"/>
                </a:cubicBezTo>
                <a:lnTo>
                  <a:pt x="27073" y="40610"/>
                </a:lnTo>
                <a:cubicBezTo>
                  <a:pt x="27073" y="10702"/>
                  <a:pt x="51312" y="-13537"/>
                  <a:pt x="81220" y="-13537"/>
                </a:cubicBezTo>
                <a:cubicBezTo>
                  <a:pt x="108082" y="-13537"/>
                  <a:pt x="130332" y="5965"/>
                  <a:pt x="134605" y="31600"/>
                </a:cubicBezTo>
                <a:cubicBezTo>
                  <a:pt x="135832" y="38960"/>
                  <a:pt x="130882" y="45940"/>
                  <a:pt x="123480" y="47209"/>
                </a:cubicBezTo>
                <a:cubicBezTo>
                  <a:pt x="116077" y="48478"/>
                  <a:pt x="109139" y="43486"/>
                  <a:pt x="107870" y="36084"/>
                </a:cubicBezTo>
                <a:cubicBezTo>
                  <a:pt x="105755" y="23308"/>
                  <a:pt x="94630" y="13537"/>
                  <a:pt x="81220" y="13537"/>
                </a:cubicBezTo>
                <a:close/>
                <a:moveTo>
                  <a:pt x="98141" y="152287"/>
                </a:moveTo>
                <a:cubicBezTo>
                  <a:pt x="103767" y="152287"/>
                  <a:pt x="108293" y="147761"/>
                  <a:pt x="108293" y="142135"/>
                </a:cubicBezTo>
                <a:cubicBezTo>
                  <a:pt x="108293" y="136509"/>
                  <a:pt x="103767" y="131982"/>
                  <a:pt x="98141" y="131982"/>
                </a:cubicBezTo>
                <a:lnTo>
                  <a:pt x="64299" y="131982"/>
                </a:lnTo>
                <a:cubicBezTo>
                  <a:pt x="58673" y="131982"/>
                  <a:pt x="54147" y="136509"/>
                  <a:pt x="54147" y="142135"/>
                </a:cubicBezTo>
                <a:cubicBezTo>
                  <a:pt x="54147" y="147761"/>
                  <a:pt x="58673" y="152287"/>
                  <a:pt x="64299" y="152287"/>
                </a:cubicBezTo>
                <a:lnTo>
                  <a:pt x="98141" y="152287"/>
                </a:lnTo>
                <a:close/>
              </a:path>
            </a:pathLst>
          </a:custGeom>
          <a:solidFill>
            <a:srgbClr val="6B7280"/>
          </a:solidFill>
          <a:ln/>
        </p:spPr>
        <p:txBody>
          <a:bodyPr/>
          <a:lstStyle/>
          <a:p>
            <a:endParaRPr lang="en-US"/>
          </a:p>
        </p:txBody>
      </p:sp>
      <p:sp>
        <p:nvSpPr>
          <p:cNvPr id="21" name="Text 19"/>
          <p:cNvSpPr/>
          <p:nvPr/>
        </p:nvSpPr>
        <p:spPr>
          <a:xfrm>
            <a:off x="8248890" y="1804885"/>
            <a:ext cx="3600746" cy="360977"/>
          </a:xfrm>
          <a:prstGeom prst="rect">
            <a:avLst/>
          </a:prstGeom>
          <a:noFill/>
          <a:ln/>
        </p:spPr>
        <p:txBody>
          <a:bodyPr wrap="square" lIns="0" tIns="0" rIns="0" bIns="0" rtlCol="0" anchor="ctr"/>
          <a:lstStyle/>
          <a:p>
            <a:pPr>
              <a:lnSpc>
                <a:spcPct val="90000"/>
              </a:lnSpc>
            </a:pPr>
            <a:r>
              <a:rPr lang="en-US" sz="2558" b="1" dirty="0">
                <a:solidFill>
                  <a:srgbClr val="6B7280"/>
                </a:solidFill>
                <a:latin typeface="Sorts Mill Goudy" pitchFamily="34" charset="0"/>
                <a:ea typeface="Sorts Mill Goudy" pitchFamily="34" charset="-122"/>
                <a:cs typeface="Sorts Mill Goudy" pitchFamily="34" charset="-120"/>
              </a:rPr>
              <a:t>50%</a:t>
            </a:r>
            <a:endParaRPr lang="en-US" sz="1600" dirty="0"/>
          </a:p>
        </p:txBody>
      </p:sp>
      <p:sp>
        <p:nvSpPr>
          <p:cNvPr id="22" name="Text 20"/>
          <p:cNvSpPr/>
          <p:nvPr/>
        </p:nvSpPr>
        <p:spPr>
          <a:xfrm>
            <a:off x="8248890" y="2238058"/>
            <a:ext cx="3501477" cy="180489"/>
          </a:xfrm>
          <a:prstGeom prst="rect">
            <a:avLst/>
          </a:prstGeom>
          <a:noFill/>
          <a:ln/>
        </p:spPr>
        <p:txBody>
          <a:bodyPr wrap="square" lIns="0" tIns="0" rIns="0" bIns="0" rtlCol="0" anchor="ctr"/>
          <a:lstStyle/>
          <a:p>
            <a:pPr>
              <a:lnSpc>
                <a:spcPct val="120000"/>
              </a:lnSpc>
            </a:pPr>
            <a:r>
              <a:rPr lang="en-US" sz="995" dirty="0">
                <a:solidFill>
                  <a:srgbClr val="6B7280"/>
                </a:solidFill>
                <a:latin typeface="Sorts Mill Goudy" pitchFamily="34" charset="0"/>
                <a:ea typeface="Sorts Mill Goudy" pitchFamily="34" charset="-122"/>
                <a:cs typeface="Sorts Mill Goudy" pitchFamily="34" charset="-120"/>
              </a:rPr>
              <a:t>Publicly accessible</a:t>
            </a:r>
            <a:endParaRPr lang="en-US" sz="1600" dirty="0"/>
          </a:p>
        </p:txBody>
      </p:sp>
      <p:sp>
        <p:nvSpPr>
          <p:cNvPr id="23" name="Shape 21"/>
          <p:cNvSpPr/>
          <p:nvPr/>
        </p:nvSpPr>
        <p:spPr>
          <a:xfrm>
            <a:off x="360977" y="2707328"/>
            <a:ext cx="5667340" cy="3302940"/>
          </a:xfrm>
          <a:custGeom>
            <a:avLst/>
            <a:gdLst/>
            <a:ahLst/>
            <a:cxnLst/>
            <a:rect l="l" t="t" r="r" b="b"/>
            <a:pathLst>
              <a:path w="5667340" h="3302940">
                <a:moveTo>
                  <a:pt x="0" y="0"/>
                </a:moveTo>
                <a:lnTo>
                  <a:pt x="5667340" y="0"/>
                </a:lnTo>
                <a:lnTo>
                  <a:pt x="5667340" y="3302940"/>
                </a:lnTo>
                <a:lnTo>
                  <a:pt x="0" y="3302940"/>
                </a:lnTo>
                <a:lnTo>
                  <a:pt x="0" y="0"/>
                </a:lnTo>
                <a:close/>
              </a:path>
            </a:pathLst>
          </a:custGeom>
          <a:solidFill>
            <a:srgbClr val="F9FAFB"/>
          </a:solidFill>
          <a:ln/>
        </p:spPr>
        <p:txBody>
          <a:bodyPr/>
          <a:lstStyle/>
          <a:p>
            <a:endParaRPr lang="en-US"/>
          </a:p>
        </p:txBody>
      </p:sp>
      <p:sp>
        <p:nvSpPr>
          <p:cNvPr id="24" name="Text 22"/>
          <p:cNvSpPr/>
          <p:nvPr/>
        </p:nvSpPr>
        <p:spPr>
          <a:xfrm>
            <a:off x="541466" y="2887816"/>
            <a:ext cx="5387583" cy="252684"/>
          </a:xfrm>
          <a:prstGeom prst="rect">
            <a:avLst/>
          </a:prstGeom>
          <a:noFill/>
          <a:ln/>
        </p:spPr>
        <p:txBody>
          <a:bodyPr wrap="square" lIns="0" tIns="0" rIns="0" bIns="0" rtlCol="0" anchor="ctr"/>
          <a:lstStyle/>
          <a:p>
            <a:pPr>
              <a:lnSpc>
                <a:spcPct val="130000"/>
              </a:lnSpc>
            </a:pPr>
            <a:r>
              <a:rPr lang="en-US" sz="1279" b="1" dirty="0">
                <a:solidFill>
                  <a:srgbClr val="1F2937"/>
                </a:solidFill>
                <a:latin typeface="Sorts Mill Goudy" pitchFamily="34" charset="0"/>
                <a:ea typeface="Sorts Mill Goudy" pitchFamily="34" charset="-122"/>
                <a:cs typeface="Sorts Mill Goudy" pitchFamily="34" charset="-120"/>
              </a:rPr>
              <a:t>Dataset Type Distribution</a:t>
            </a:r>
            <a:endParaRPr lang="en-US" sz="1600" dirty="0"/>
          </a:p>
        </p:txBody>
      </p:sp>
      <p:pic>
        <p:nvPicPr>
          <p:cNvPr id="25" name="Image 0" descr="https://kimi-img.moonshot.cn/pub/slides/26-02-05-17:13:42-d625uhljqed432um45m0.png"/>
          <p:cNvPicPr>
            <a:picLocks noChangeAspect="1"/>
          </p:cNvPicPr>
          <p:nvPr/>
        </p:nvPicPr>
        <p:blipFill>
          <a:blip r:embed="rId3"/>
          <a:srcRect/>
          <a:stretch/>
        </p:blipFill>
        <p:spPr>
          <a:xfrm>
            <a:off x="541466" y="3284891"/>
            <a:ext cx="4981483" cy="2526839"/>
          </a:xfrm>
          <a:prstGeom prst="roundRect">
            <a:avLst>
              <a:gd name="adj" fmla="val 0"/>
            </a:avLst>
          </a:prstGeom>
        </p:spPr>
      </p:pic>
      <p:sp>
        <p:nvSpPr>
          <p:cNvPr id="26" name="Shape 23"/>
          <p:cNvSpPr/>
          <p:nvPr/>
        </p:nvSpPr>
        <p:spPr>
          <a:xfrm>
            <a:off x="6168647" y="2707328"/>
            <a:ext cx="5667340" cy="3302940"/>
          </a:xfrm>
          <a:custGeom>
            <a:avLst/>
            <a:gdLst/>
            <a:ahLst/>
            <a:cxnLst/>
            <a:rect l="l" t="t" r="r" b="b"/>
            <a:pathLst>
              <a:path w="5667340" h="3302940">
                <a:moveTo>
                  <a:pt x="0" y="0"/>
                </a:moveTo>
                <a:lnTo>
                  <a:pt x="5667340" y="0"/>
                </a:lnTo>
                <a:lnTo>
                  <a:pt x="5667340" y="3302940"/>
                </a:lnTo>
                <a:lnTo>
                  <a:pt x="0" y="3302940"/>
                </a:lnTo>
                <a:lnTo>
                  <a:pt x="0" y="0"/>
                </a:lnTo>
                <a:close/>
              </a:path>
            </a:pathLst>
          </a:custGeom>
          <a:solidFill>
            <a:srgbClr val="F9FAFB"/>
          </a:solidFill>
          <a:ln/>
        </p:spPr>
        <p:txBody>
          <a:bodyPr/>
          <a:lstStyle/>
          <a:p>
            <a:endParaRPr lang="en-US"/>
          </a:p>
        </p:txBody>
      </p:sp>
      <p:sp>
        <p:nvSpPr>
          <p:cNvPr id="27" name="Text 24"/>
          <p:cNvSpPr/>
          <p:nvPr/>
        </p:nvSpPr>
        <p:spPr>
          <a:xfrm>
            <a:off x="6349135" y="2887816"/>
            <a:ext cx="5387583" cy="252684"/>
          </a:xfrm>
          <a:prstGeom prst="rect">
            <a:avLst/>
          </a:prstGeom>
          <a:noFill/>
          <a:ln/>
        </p:spPr>
        <p:txBody>
          <a:bodyPr wrap="square" lIns="0" tIns="0" rIns="0" bIns="0" rtlCol="0" anchor="ctr"/>
          <a:lstStyle/>
          <a:p>
            <a:pPr>
              <a:lnSpc>
                <a:spcPct val="130000"/>
              </a:lnSpc>
            </a:pPr>
            <a:r>
              <a:rPr lang="en-US" sz="1279" b="1" dirty="0">
                <a:solidFill>
                  <a:srgbClr val="1F2937"/>
                </a:solidFill>
                <a:latin typeface="Sorts Mill Goudy" pitchFamily="34" charset="0"/>
                <a:ea typeface="Sorts Mill Goudy" pitchFamily="34" charset="-122"/>
                <a:cs typeface="Sorts Mill Goudy" pitchFamily="34" charset="-120"/>
              </a:rPr>
              <a:t>Availability by Dataset Size</a:t>
            </a:r>
            <a:endParaRPr lang="en-US" sz="1600" dirty="0"/>
          </a:p>
        </p:txBody>
      </p:sp>
      <p:pic>
        <p:nvPicPr>
          <p:cNvPr id="28" name="Image 1" descr="https://kimi-img.moonshot.cn/pub/slides/26-02-05-17:13:46-d625uij67tie36oica6g.png"/>
          <p:cNvPicPr>
            <a:picLocks noChangeAspect="1"/>
          </p:cNvPicPr>
          <p:nvPr/>
        </p:nvPicPr>
        <p:blipFill>
          <a:blip r:embed="rId4"/>
          <a:srcRect/>
          <a:stretch/>
        </p:blipFill>
        <p:spPr>
          <a:xfrm>
            <a:off x="6349135" y="3284891"/>
            <a:ext cx="4981483" cy="2526839"/>
          </a:xfrm>
          <a:prstGeom prst="roundRect">
            <a:avLst>
              <a:gd name="adj" fmla="val 0"/>
            </a:avLst>
          </a:prstGeom>
        </p:spPr>
      </p:pic>
      <p:sp>
        <p:nvSpPr>
          <p:cNvPr id="29" name="Shape 25"/>
          <p:cNvSpPr/>
          <p:nvPr/>
        </p:nvSpPr>
        <p:spPr>
          <a:xfrm>
            <a:off x="379026" y="6156578"/>
            <a:ext cx="5649291" cy="721954"/>
          </a:xfrm>
          <a:custGeom>
            <a:avLst/>
            <a:gdLst/>
            <a:ahLst/>
            <a:cxnLst/>
            <a:rect l="l" t="t" r="r" b="b"/>
            <a:pathLst>
              <a:path w="5649291" h="721954">
                <a:moveTo>
                  <a:pt x="0" y="0"/>
                </a:moveTo>
                <a:lnTo>
                  <a:pt x="5649291" y="0"/>
                </a:lnTo>
                <a:lnTo>
                  <a:pt x="5649291" y="721954"/>
                </a:lnTo>
                <a:lnTo>
                  <a:pt x="0" y="721954"/>
                </a:lnTo>
                <a:lnTo>
                  <a:pt x="0" y="0"/>
                </a:lnTo>
                <a:close/>
              </a:path>
            </a:pathLst>
          </a:custGeom>
          <a:solidFill>
            <a:srgbClr val="F9FAFB"/>
          </a:solidFill>
          <a:ln/>
        </p:spPr>
        <p:txBody>
          <a:bodyPr/>
          <a:lstStyle/>
          <a:p>
            <a:endParaRPr lang="en-US"/>
          </a:p>
        </p:txBody>
      </p:sp>
      <p:sp>
        <p:nvSpPr>
          <p:cNvPr id="30" name="Shape 26"/>
          <p:cNvSpPr/>
          <p:nvPr/>
        </p:nvSpPr>
        <p:spPr>
          <a:xfrm>
            <a:off x="379026" y="6156578"/>
            <a:ext cx="36098" cy="721954"/>
          </a:xfrm>
          <a:custGeom>
            <a:avLst/>
            <a:gdLst/>
            <a:ahLst/>
            <a:cxnLst/>
            <a:rect l="l" t="t" r="r" b="b"/>
            <a:pathLst>
              <a:path w="36098" h="721954">
                <a:moveTo>
                  <a:pt x="0" y="0"/>
                </a:moveTo>
                <a:lnTo>
                  <a:pt x="36098" y="0"/>
                </a:lnTo>
                <a:lnTo>
                  <a:pt x="36098" y="721954"/>
                </a:lnTo>
                <a:lnTo>
                  <a:pt x="0" y="721954"/>
                </a:lnTo>
                <a:lnTo>
                  <a:pt x="0" y="0"/>
                </a:lnTo>
                <a:close/>
              </a:path>
            </a:pathLst>
          </a:custGeom>
          <a:solidFill>
            <a:srgbClr val="8B0000"/>
          </a:solidFill>
          <a:ln/>
        </p:spPr>
        <p:txBody>
          <a:bodyPr/>
          <a:lstStyle/>
          <a:p>
            <a:endParaRPr lang="en-US"/>
          </a:p>
        </p:txBody>
      </p:sp>
      <p:sp>
        <p:nvSpPr>
          <p:cNvPr id="31" name="Text 27"/>
          <p:cNvSpPr/>
          <p:nvPr/>
        </p:nvSpPr>
        <p:spPr>
          <a:xfrm>
            <a:off x="541466" y="6300969"/>
            <a:ext cx="5414656" cy="433172"/>
          </a:xfrm>
          <a:prstGeom prst="rect">
            <a:avLst/>
          </a:prstGeom>
          <a:noFill/>
          <a:ln/>
        </p:spPr>
        <p:txBody>
          <a:bodyPr wrap="square" lIns="0" tIns="0" rIns="0" bIns="0" rtlCol="0" anchor="ctr"/>
          <a:lstStyle/>
          <a:p>
            <a:pPr>
              <a:lnSpc>
                <a:spcPct val="130000"/>
              </a:lnSpc>
            </a:pPr>
            <a:r>
              <a:rPr lang="en-US" sz="1137" b="1" dirty="0">
                <a:solidFill>
                  <a:srgbClr val="8B0000"/>
                </a:solidFill>
                <a:latin typeface="Sorts Mill Goudy" pitchFamily="34" charset="0"/>
                <a:ea typeface="Sorts Mill Goudy" pitchFamily="34" charset="-122"/>
                <a:cs typeface="Sorts Mill Goudy" pitchFamily="34" charset="-120"/>
              </a:rPr>
              <a:t>Learning Objectives:</a:t>
            </a:r>
            <a:r>
              <a:rPr lang="en-US" sz="1137" dirty="0">
                <a:solidFill>
                  <a:srgbClr val="1F2937"/>
                </a:solidFill>
                <a:latin typeface="Sorts Mill Goudy" pitchFamily="34" charset="0"/>
                <a:ea typeface="Sorts Mill Goudy" pitchFamily="34" charset="-122"/>
                <a:cs typeface="Sorts Mill Goudy" pitchFamily="34" charset="-120"/>
              </a:rPr>
              <a:t> Course-level educational goals describing intended learning outcomes</a:t>
            </a:r>
            <a:endParaRPr lang="en-US" sz="1600" dirty="0"/>
          </a:p>
        </p:txBody>
      </p:sp>
      <p:sp>
        <p:nvSpPr>
          <p:cNvPr id="32" name="Shape 28"/>
          <p:cNvSpPr/>
          <p:nvPr/>
        </p:nvSpPr>
        <p:spPr>
          <a:xfrm>
            <a:off x="6186695" y="6156578"/>
            <a:ext cx="5649291" cy="721954"/>
          </a:xfrm>
          <a:custGeom>
            <a:avLst/>
            <a:gdLst/>
            <a:ahLst/>
            <a:cxnLst/>
            <a:rect l="l" t="t" r="r" b="b"/>
            <a:pathLst>
              <a:path w="5649291" h="721954">
                <a:moveTo>
                  <a:pt x="0" y="0"/>
                </a:moveTo>
                <a:lnTo>
                  <a:pt x="5649291" y="0"/>
                </a:lnTo>
                <a:lnTo>
                  <a:pt x="5649291" y="721954"/>
                </a:lnTo>
                <a:lnTo>
                  <a:pt x="0" y="721954"/>
                </a:lnTo>
                <a:lnTo>
                  <a:pt x="0" y="0"/>
                </a:lnTo>
                <a:close/>
              </a:path>
            </a:pathLst>
          </a:custGeom>
          <a:solidFill>
            <a:srgbClr val="F9FAFB"/>
          </a:solidFill>
          <a:ln/>
        </p:spPr>
        <p:txBody>
          <a:bodyPr/>
          <a:lstStyle/>
          <a:p>
            <a:endParaRPr lang="en-US"/>
          </a:p>
        </p:txBody>
      </p:sp>
      <p:sp>
        <p:nvSpPr>
          <p:cNvPr id="33" name="Shape 29"/>
          <p:cNvSpPr/>
          <p:nvPr/>
        </p:nvSpPr>
        <p:spPr>
          <a:xfrm>
            <a:off x="6186695" y="6156578"/>
            <a:ext cx="36098" cy="721954"/>
          </a:xfrm>
          <a:custGeom>
            <a:avLst/>
            <a:gdLst/>
            <a:ahLst/>
            <a:cxnLst/>
            <a:rect l="l" t="t" r="r" b="b"/>
            <a:pathLst>
              <a:path w="36098" h="721954">
                <a:moveTo>
                  <a:pt x="0" y="0"/>
                </a:moveTo>
                <a:lnTo>
                  <a:pt x="36098" y="0"/>
                </a:lnTo>
                <a:lnTo>
                  <a:pt x="36098" y="721954"/>
                </a:lnTo>
                <a:lnTo>
                  <a:pt x="0" y="721954"/>
                </a:lnTo>
                <a:lnTo>
                  <a:pt x="0" y="0"/>
                </a:lnTo>
                <a:close/>
              </a:path>
            </a:pathLst>
          </a:custGeom>
          <a:solidFill>
            <a:srgbClr val="1F2937"/>
          </a:solidFill>
          <a:ln/>
        </p:spPr>
        <p:txBody>
          <a:bodyPr/>
          <a:lstStyle/>
          <a:p>
            <a:endParaRPr lang="en-US"/>
          </a:p>
        </p:txBody>
      </p:sp>
      <p:sp>
        <p:nvSpPr>
          <p:cNvPr id="34" name="Text 30"/>
          <p:cNvSpPr/>
          <p:nvPr/>
        </p:nvSpPr>
        <p:spPr>
          <a:xfrm>
            <a:off x="6349135" y="6300969"/>
            <a:ext cx="5414656" cy="433172"/>
          </a:xfrm>
          <a:prstGeom prst="rect">
            <a:avLst/>
          </a:prstGeom>
          <a:noFill/>
          <a:ln/>
        </p:spPr>
        <p:txBody>
          <a:bodyPr wrap="square" lIns="0" tIns="0" rIns="0" bIns="0" rtlCol="0" anchor="ctr"/>
          <a:lstStyle/>
          <a:p>
            <a:pPr>
              <a:lnSpc>
                <a:spcPct val="130000"/>
              </a:lnSpc>
            </a:pPr>
            <a:r>
              <a:rPr lang="en-US" sz="1137" b="1" dirty="0">
                <a:solidFill>
                  <a:srgbClr val="1F2937"/>
                </a:solidFill>
                <a:latin typeface="Sorts Mill Goudy" pitchFamily="34" charset="0"/>
                <a:ea typeface="Sorts Mill Goudy" pitchFamily="34" charset="-122"/>
                <a:cs typeface="Sorts Mill Goudy" pitchFamily="34" charset="-120"/>
              </a:rPr>
              <a:t>Exam Questions:</a:t>
            </a:r>
            <a:r>
              <a:rPr lang="en-US" sz="1137" dirty="0">
                <a:solidFill>
                  <a:srgbClr val="1F2937"/>
                </a:solidFill>
                <a:latin typeface="Sorts Mill Goudy" pitchFamily="34" charset="0"/>
                <a:ea typeface="Sorts Mill Goudy" pitchFamily="34" charset="-122"/>
                <a:cs typeface="Sorts Mill Goudy" pitchFamily="34" charset="-120"/>
              </a:rPr>
              <a:t> Assessment items including essays, short answers, and multiple-choice questions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B0000"/>
                </a:solidFill>
                <a:latin typeface="Sorts Mill Goudy" pitchFamily="34" charset="0"/>
                <a:ea typeface="Sorts Mill Goudy" pitchFamily="34" charset="-122"/>
                <a:cs typeface="Sorts Mill Goudy" pitchFamily="34" charset="-120"/>
              </a:rPr>
              <a:t>2.1 PRIVATE DATASETS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Large-Scale Private Datasets (I): Learning Objectives</a:t>
            </a:r>
            <a:endParaRPr lang="en-US" sz="1600" dirty="0"/>
          </a:p>
        </p:txBody>
      </p:sp>
      <p:sp>
        <p:nvSpPr>
          <p:cNvPr id="4" name="Shape 2"/>
          <p:cNvSpPr/>
          <p:nvPr/>
        </p:nvSpPr>
        <p:spPr>
          <a:xfrm>
            <a:off x="381000" y="11430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0000"/>
          </a:solidFill>
          <a:ln/>
        </p:spPr>
        <p:txBody>
          <a:bodyPr/>
          <a:lstStyle/>
          <a:p>
            <a:endParaRPr lang="en-US"/>
          </a:p>
        </p:txBody>
      </p:sp>
      <p:sp>
        <p:nvSpPr>
          <p:cNvPr id="5" name="Shape 3"/>
          <p:cNvSpPr/>
          <p:nvPr/>
        </p:nvSpPr>
        <p:spPr>
          <a:xfrm>
            <a:off x="400050" y="1333500"/>
            <a:ext cx="5600700" cy="3629025"/>
          </a:xfrm>
          <a:custGeom>
            <a:avLst/>
            <a:gdLst/>
            <a:ahLst/>
            <a:cxnLst/>
            <a:rect l="l" t="t" r="r" b="b"/>
            <a:pathLst>
              <a:path w="5600700" h="3629025">
                <a:moveTo>
                  <a:pt x="0" y="0"/>
                </a:moveTo>
                <a:lnTo>
                  <a:pt x="5600700" y="0"/>
                </a:lnTo>
                <a:lnTo>
                  <a:pt x="5600700" y="3629025"/>
                </a:lnTo>
                <a:lnTo>
                  <a:pt x="0" y="3629025"/>
                </a:lnTo>
                <a:lnTo>
                  <a:pt x="0" y="0"/>
                </a:lnTo>
                <a:close/>
              </a:path>
            </a:pathLst>
          </a:custGeom>
          <a:solidFill>
            <a:srgbClr val="F9FAFB"/>
          </a:solidFill>
          <a:ln/>
        </p:spPr>
        <p:txBody>
          <a:bodyPr/>
          <a:lstStyle/>
          <a:p>
            <a:endParaRPr lang="en-US"/>
          </a:p>
        </p:txBody>
      </p:sp>
      <p:sp>
        <p:nvSpPr>
          <p:cNvPr id="6" name="Shape 4"/>
          <p:cNvSpPr/>
          <p:nvPr/>
        </p:nvSpPr>
        <p:spPr>
          <a:xfrm>
            <a:off x="400050" y="1333500"/>
            <a:ext cx="38100" cy="3629025"/>
          </a:xfrm>
          <a:custGeom>
            <a:avLst/>
            <a:gdLst/>
            <a:ahLst/>
            <a:cxnLst/>
            <a:rect l="l" t="t" r="r" b="b"/>
            <a:pathLst>
              <a:path w="38100" h="3629025">
                <a:moveTo>
                  <a:pt x="0" y="0"/>
                </a:moveTo>
                <a:lnTo>
                  <a:pt x="38100" y="0"/>
                </a:lnTo>
                <a:lnTo>
                  <a:pt x="38100" y="3629025"/>
                </a:lnTo>
                <a:lnTo>
                  <a:pt x="0" y="3629025"/>
                </a:lnTo>
                <a:lnTo>
                  <a:pt x="0" y="0"/>
                </a:lnTo>
                <a:close/>
              </a:path>
            </a:pathLst>
          </a:custGeom>
          <a:solidFill>
            <a:srgbClr val="8B0000"/>
          </a:solidFill>
          <a:ln/>
        </p:spPr>
        <p:txBody>
          <a:bodyPr/>
          <a:lstStyle/>
          <a:p>
            <a:endParaRPr lang="en-US"/>
          </a:p>
        </p:txBody>
      </p:sp>
      <p:sp>
        <p:nvSpPr>
          <p:cNvPr id="7" name="Text 5"/>
          <p:cNvSpPr/>
          <p:nvPr/>
        </p:nvSpPr>
        <p:spPr>
          <a:xfrm>
            <a:off x="609600" y="1524000"/>
            <a:ext cx="14668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Li et al. (2022)</a:t>
            </a:r>
            <a:endParaRPr lang="en-US" sz="1600" dirty="0"/>
          </a:p>
        </p:txBody>
      </p:sp>
      <p:sp>
        <p:nvSpPr>
          <p:cNvPr id="8" name="Shape 6"/>
          <p:cNvSpPr/>
          <p:nvPr/>
        </p:nvSpPr>
        <p:spPr>
          <a:xfrm>
            <a:off x="4934308" y="1542929"/>
            <a:ext cx="876300" cy="266700"/>
          </a:xfrm>
          <a:custGeom>
            <a:avLst/>
            <a:gdLst/>
            <a:ahLst/>
            <a:cxnLst/>
            <a:rect l="l" t="t" r="r" b="b"/>
            <a:pathLst>
              <a:path w="876300" h="266700">
                <a:moveTo>
                  <a:pt x="0" y="0"/>
                </a:moveTo>
                <a:lnTo>
                  <a:pt x="876300" y="0"/>
                </a:lnTo>
                <a:lnTo>
                  <a:pt x="876300" y="266700"/>
                </a:lnTo>
                <a:lnTo>
                  <a:pt x="0" y="266700"/>
                </a:lnTo>
                <a:lnTo>
                  <a:pt x="0" y="0"/>
                </a:lnTo>
                <a:close/>
              </a:path>
            </a:pathLst>
          </a:custGeom>
          <a:solidFill>
            <a:srgbClr val="8B0000"/>
          </a:solidFill>
          <a:ln/>
        </p:spPr>
        <p:txBody>
          <a:bodyPr/>
          <a:lstStyle/>
          <a:p>
            <a:endParaRPr lang="en-US"/>
          </a:p>
        </p:txBody>
      </p:sp>
      <p:sp>
        <p:nvSpPr>
          <p:cNvPr id="9" name="Text 7"/>
          <p:cNvSpPr/>
          <p:nvPr/>
        </p:nvSpPr>
        <p:spPr>
          <a:xfrm>
            <a:off x="4934308" y="1542929"/>
            <a:ext cx="942975" cy="266700"/>
          </a:xfrm>
          <a:prstGeom prst="rect">
            <a:avLst/>
          </a:prstGeom>
          <a:noFill/>
          <a:ln/>
        </p:spPr>
        <p:txBody>
          <a:bodyPr wrap="square" lIns="114300" tIns="38100" rIns="114300" bIns="38100" rtlCol="0" anchor="ctr"/>
          <a:lstStyle/>
          <a:p>
            <a:pPr>
              <a:lnSpc>
                <a:spcPct val="120000"/>
              </a:lnSpc>
            </a:pPr>
            <a:r>
              <a:rPr lang="en-US" sz="1050" b="1" dirty="0">
                <a:solidFill>
                  <a:srgbClr val="F9FAFB"/>
                </a:solidFill>
                <a:latin typeface="Sorts Mill Goudy" pitchFamily="34" charset="0"/>
                <a:ea typeface="Sorts Mill Goudy" pitchFamily="34" charset="-122"/>
                <a:cs typeface="Sorts Mill Goudy" pitchFamily="34" charset="-120"/>
              </a:rPr>
              <a:t>LARGEST</a:t>
            </a:r>
            <a:endParaRPr lang="en-US" sz="1600" dirty="0"/>
          </a:p>
        </p:txBody>
      </p:sp>
      <p:sp>
        <p:nvSpPr>
          <p:cNvPr id="10" name="Shape 8"/>
          <p:cNvSpPr/>
          <p:nvPr/>
        </p:nvSpPr>
        <p:spPr>
          <a:xfrm>
            <a:off x="638175" y="2019179"/>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8B0000"/>
          </a:solidFill>
          <a:ln/>
        </p:spPr>
        <p:txBody>
          <a:bodyPr/>
          <a:lstStyle/>
          <a:p>
            <a:endParaRPr lang="en-US"/>
          </a:p>
        </p:txBody>
      </p:sp>
      <p:sp>
        <p:nvSpPr>
          <p:cNvPr id="11" name="Text 9"/>
          <p:cNvSpPr/>
          <p:nvPr/>
        </p:nvSpPr>
        <p:spPr>
          <a:xfrm>
            <a:off x="914400" y="1981079"/>
            <a:ext cx="22288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Dataset Size</a:t>
            </a:r>
            <a:endParaRPr lang="en-US" sz="1600" dirty="0"/>
          </a:p>
        </p:txBody>
      </p:sp>
      <p:sp>
        <p:nvSpPr>
          <p:cNvPr id="12" name="Text 10"/>
          <p:cNvSpPr/>
          <p:nvPr/>
        </p:nvSpPr>
        <p:spPr>
          <a:xfrm>
            <a:off x="914400" y="2209679"/>
            <a:ext cx="2295525" cy="342900"/>
          </a:xfrm>
          <a:prstGeom prst="rect">
            <a:avLst/>
          </a:prstGeom>
          <a:noFill/>
          <a:ln/>
        </p:spPr>
        <p:txBody>
          <a:bodyPr wrap="square" lIns="0" tIns="0" rIns="0" bIns="0" rtlCol="0" anchor="ctr"/>
          <a:lstStyle/>
          <a:p>
            <a:pPr>
              <a:lnSpc>
                <a:spcPct val="100000"/>
              </a:lnSpc>
            </a:pPr>
            <a:r>
              <a:rPr lang="en-US" sz="2250" b="1" dirty="0">
                <a:solidFill>
                  <a:srgbClr val="8B0000"/>
                </a:solidFill>
                <a:latin typeface="Sorts Mill Goudy" pitchFamily="34" charset="0"/>
                <a:ea typeface="Sorts Mill Goudy" pitchFamily="34" charset="-122"/>
                <a:cs typeface="Sorts Mill Goudy" pitchFamily="34" charset="-120"/>
              </a:rPr>
              <a:t>21,380 </a:t>
            </a:r>
            <a:r>
              <a:rPr lang="en-US" sz="1350" dirty="0">
                <a:solidFill>
                  <a:srgbClr val="6B7280"/>
                </a:solidFill>
                <a:latin typeface="Sorts Mill Goudy" pitchFamily="34" charset="0"/>
                <a:ea typeface="Sorts Mill Goudy" pitchFamily="34" charset="-122"/>
                <a:cs typeface="Sorts Mill Goudy" pitchFamily="34" charset="-120"/>
              </a:rPr>
              <a:t>learning objectives</a:t>
            </a:r>
            <a:endParaRPr lang="en-US" sz="1600" dirty="0"/>
          </a:p>
        </p:txBody>
      </p:sp>
      <p:sp>
        <p:nvSpPr>
          <p:cNvPr id="13" name="Shape 11"/>
          <p:cNvSpPr/>
          <p:nvPr/>
        </p:nvSpPr>
        <p:spPr>
          <a:xfrm>
            <a:off x="628650" y="2704979"/>
            <a:ext cx="152400" cy="152400"/>
          </a:xfrm>
          <a:custGeom>
            <a:avLst/>
            <a:gdLst/>
            <a:ahLst/>
            <a:cxnLst/>
            <a:rect l="l" t="t" r="r" b="b"/>
            <a:pathLst>
              <a:path w="152400" h="152400">
                <a:moveTo>
                  <a:pt x="80933" y="6013"/>
                </a:moveTo>
                <a:cubicBezTo>
                  <a:pt x="78016" y="4346"/>
                  <a:pt x="74414" y="4346"/>
                  <a:pt x="71467" y="6013"/>
                </a:cubicBezTo>
                <a:lnTo>
                  <a:pt x="4792" y="44113"/>
                </a:lnTo>
                <a:cubicBezTo>
                  <a:pt x="1042" y="46256"/>
                  <a:pt x="-804" y="50661"/>
                  <a:pt x="298" y="54828"/>
                </a:cubicBezTo>
                <a:cubicBezTo>
                  <a:pt x="1399" y="58995"/>
                  <a:pt x="5209" y="61912"/>
                  <a:pt x="9525" y="61912"/>
                </a:cubicBezTo>
                <a:lnTo>
                  <a:pt x="19050" y="61912"/>
                </a:lnTo>
                <a:lnTo>
                  <a:pt x="19050" y="123825"/>
                </a:lnTo>
                <a:lnTo>
                  <a:pt x="19050" y="123825"/>
                </a:lnTo>
                <a:lnTo>
                  <a:pt x="3810" y="135255"/>
                </a:lnTo>
                <a:cubicBezTo>
                  <a:pt x="1399" y="137041"/>
                  <a:pt x="0" y="139869"/>
                  <a:pt x="0" y="142875"/>
                </a:cubicBezTo>
                <a:cubicBezTo>
                  <a:pt x="0" y="148144"/>
                  <a:pt x="4256" y="152400"/>
                  <a:pt x="9525" y="152400"/>
                </a:cubicBezTo>
                <a:lnTo>
                  <a:pt x="142875" y="152400"/>
                </a:lnTo>
                <a:cubicBezTo>
                  <a:pt x="148144" y="152400"/>
                  <a:pt x="152400" y="148144"/>
                  <a:pt x="152400" y="142875"/>
                </a:cubicBezTo>
                <a:cubicBezTo>
                  <a:pt x="152400" y="139869"/>
                  <a:pt x="151001" y="137041"/>
                  <a:pt x="148590" y="135255"/>
                </a:cubicBezTo>
                <a:lnTo>
                  <a:pt x="133350" y="123825"/>
                </a:lnTo>
                <a:lnTo>
                  <a:pt x="133350" y="61912"/>
                </a:lnTo>
                <a:lnTo>
                  <a:pt x="142875" y="61912"/>
                </a:lnTo>
                <a:cubicBezTo>
                  <a:pt x="147191" y="61912"/>
                  <a:pt x="150971" y="58995"/>
                  <a:pt x="152073" y="54828"/>
                </a:cubicBezTo>
                <a:cubicBezTo>
                  <a:pt x="153174" y="50661"/>
                  <a:pt x="151328" y="46256"/>
                  <a:pt x="147578" y="44113"/>
                </a:cubicBezTo>
                <a:lnTo>
                  <a:pt x="80903" y="6013"/>
                </a:lnTo>
                <a:close/>
                <a:moveTo>
                  <a:pt x="119062" y="61912"/>
                </a:moveTo>
                <a:lnTo>
                  <a:pt x="119062" y="123825"/>
                </a:lnTo>
                <a:lnTo>
                  <a:pt x="100013" y="123825"/>
                </a:lnTo>
                <a:lnTo>
                  <a:pt x="100013" y="61912"/>
                </a:lnTo>
                <a:lnTo>
                  <a:pt x="119062" y="61912"/>
                </a:lnTo>
                <a:close/>
                <a:moveTo>
                  <a:pt x="85725" y="61912"/>
                </a:moveTo>
                <a:lnTo>
                  <a:pt x="85725" y="123825"/>
                </a:lnTo>
                <a:lnTo>
                  <a:pt x="66675" y="123825"/>
                </a:lnTo>
                <a:lnTo>
                  <a:pt x="66675" y="61912"/>
                </a:lnTo>
                <a:lnTo>
                  <a:pt x="85725" y="61912"/>
                </a:lnTo>
                <a:close/>
                <a:moveTo>
                  <a:pt x="52388" y="61912"/>
                </a:moveTo>
                <a:lnTo>
                  <a:pt x="52388" y="123825"/>
                </a:lnTo>
                <a:lnTo>
                  <a:pt x="33338" y="123825"/>
                </a:lnTo>
                <a:lnTo>
                  <a:pt x="33338" y="61912"/>
                </a:lnTo>
                <a:lnTo>
                  <a:pt x="52388" y="61912"/>
                </a:lnTo>
                <a:close/>
                <a:moveTo>
                  <a:pt x="76200" y="28575"/>
                </a:moveTo>
                <a:cubicBezTo>
                  <a:pt x="81457" y="28575"/>
                  <a:pt x="85725" y="32843"/>
                  <a:pt x="85725" y="38100"/>
                </a:cubicBezTo>
                <a:cubicBezTo>
                  <a:pt x="85725" y="43357"/>
                  <a:pt x="81457" y="47625"/>
                  <a:pt x="76200" y="47625"/>
                </a:cubicBezTo>
                <a:cubicBezTo>
                  <a:pt x="70943" y="47625"/>
                  <a:pt x="66675" y="43357"/>
                  <a:pt x="66675" y="38100"/>
                </a:cubicBezTo>
                <a:cubicBezTo>
                  <a:pt x="66675" y="32843"/>
                  <a:pt x="70943" y="28575"/>
                  <a:pt x="76200" y="28575"/>
                </a:cubicBezTo>
                <a:close/>
              </a:path>
            </a:pathLst>
          </a:custGeom>
          <a:solidFill>
            <a:srgbClr val="8B0000"/>
          </a:solidFill>
          <a:ln/>
        </p:spPr>
        <p:txBody>
          <a:bodyPr/>
          <a:lstStyle/>
          <a:p>
            <a:endParaRPr lang="en-US"/>
          </a:p>
        </p:txBody>
      </p:sp>
      <p:sp>
        <p:nvSpPr>
          <p:cNvPr id="14" name="Text 12"/>
          <p:cNvSpPr/>
          <p:nvPr/>
        </p:nvSpPr>
        <p:spPr>
          <a:xfrm>
            <a:off x="914400" y="2666879"/>
            <a:ext cx="31623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Source</a:t>
            </a:r>
            <a:endParaRPr lang="en-US" sz="1600" dirty="0"/>
          </a:p>
        </p:txBody>
      </p:sp>
      <p:sp>
        <p:nvSpPr>
          <p:cNvPr id="15" name="Text 13"/>
          <p:cNvSpPr/>
          <p:nvPr/>
        </p:nvSpPr>
        <p:spPr>
          <a:xfrm>
            <a:off x="914400" y="2895479"/>
            <a:ext cx="31623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5,558 university courses across multiple domains</a:t>
            </a:r>
            <a:endParaRPr lang="en-US" sz="1600" dirty="0"/>
          </a:p>
        </p:txBody>
      </p:sp>
      <p:sp>
        <p:nvSpPr>
          <p:cNvPr id="16" name="Shape 14"/>
          <p:cNvSpPr/>
          <p:nvPr/>
        </p:nvSpPr>
        <p:spPr>
          <a:xfrm>
            <a:off x="619125" y="3276479"/>
            <a:ext cx="171450" cy="152400"/>
          </a:xfrm>
          <a:custGeom>
            <a:avLst/>
            <a:gdLst/>
            <a:ahLst/>
            <a:cxnLst/>
            <a:rect l="l" t="t" r="r" b="b"/>
            <a:pathLst>
              <a:path w="171450" h="152400">
                <a:moveTo>
                  <a:pt x="119420" y="11638"/>
                </a:moveTo>
                <a:lnTo>
                  <a:pt x="163532" y="56376"/>
                </a:lnTo>
                <a:cubicBezTo>
                  <a:pt x="171777" y="64740"/>
                  <a:pt x="171777" y="78135"/>
                  <a:pt x="163532" y="86499"/>
                </a:cubicBezTo>
                <a:lnTo>
                  <a:pt x="116979" y="133618"/>
                </a:lnTo>
                <a:cubicBezTo>
                  <a:pt x="114211" y="136416"/>
                  <a:pt x="109686" y="136446"/>
                  <a:pt x="106888" y="133677"/>
                </a:cubicBezTo>
                <a:cubicBezTo>
                  <a:pt x="104090" y="130909"/>
                  <a:pt x="104061" y="126385"/>
                  <a:pt x="106829" y="123587"/>
                </a:cubicBezTo>
                <a:lnTo>
                  <a:pt x="153382" y="76438"/>
                </a:lnTo>
                <a:cubicBezTo>
                  <a:pt x="156121" y="73670"/>
                  <a:pt x="156121" y="69175"/>
                  <a:pt x="153382" y="66407"/>
                </a:cubicBezTo>
                <a:lnTo>
                  <a:pt x="109240" y="21699"/>
                </a:lnTo>
                <a:cubicBezTo>
                  <a:pt x="106472" y="18901"/>
                  <a:pt x="106501" y="14377"/>
                  <a:pt x="109299" y="11609"/>
                </a:cubicBezTo>
                <a:cubicBezTo>
                  <a:pt x="112097" y="8840"/>
                  <a:pt x="116622" y="8870"/>
                  <a:pt x="119390" y="11668"/>
                </a:cubicBezTo>
                <a:close/>
                <a:moveTo>
                  <a:pt x="9555" y="68312"/>
                </a:moveTo>
                <a:lnTo>
                  <a:pt x="9555" y="28575"/>
                </a:lnTo>
                <a:cubicBezTo>
                  <a:pt x="9555" y="18068"/>
                  <a:pt x="18098" y="9525"/>
                  <a:pt x="28605" y="9525"/>
                </a:cubicBezTo>
                <a:lnTo>
                  <a:pt x="68342" y="9525"/>
                </a:lnTo>
                <a:cubicBezTo>
                  <a:pt x="73402" y="9525"/>
                  <a:pt x="78254" y="11519"/>
                  <a:pt x="81826" y="15091"/>
                </a:cubicBezTo>
                <a:lnTo>
                  <a:pt x="124688" y="57954"/>
                </a:lnTo>
                <a:cubicBezTo>
                  <a:pt x="132130" y="65395"/>
                  <a:pt x="132130" y="77450"/>
                  <a:pt x="124688" y="84892"/>
                </a:cubicBezTo>
                <a:lnTo>
                  <a:pt x="84951" y="124629"/>
                </a:lnTo>
                <a:cubicBezTo>
                  <a:pt x="77510" y="132070"/>
                  <a:pt x="65455" y="132070"/>
                  <a:pt x="58013" y="124629"/>
                </a:cubicBezTo>
                <a:lnTo>
                  <a:pt x="15151" y="81766"/>
                </a:lnTo>
                <a:cubicBezTo>
                  <a:pt x="11579" y="78194"/>
                  <a:pt x="9585" y="73343"/>
                  <a:pt x="9585" y="68282"/>
                </a:cubicBezTo>
                <a:close/>
                <a:moveTo>
                  <a:pt x="52417" y="42863"/>
                </a:moveTo>
                <a:cubicBezTo>
                  <a:pt x="52417" y="37606"/>
                  <a:pt x="48149" y="33338"/>
                  <a:pt x="42892" y="33338"/>
                </a:cubicBezTo>
                <a:cubicBezTo>
                  <a:pt x="37635" y="33338"/>
                  <a:pt x="33367" y="37606"/>
                  <a:pt x="33367" y="42863"/>
                </a:cubicBezTo>
                <a:cubicBezTo>
                  <a:pt x="33367" y="48119"/>
                  <a:pt x="37635" y="52388"/>
                  <a:pt x="42892" y="52388"/>
                </a:cubicBezTo>
                <a:cubicBezTo>
                  <a:pt x="48149" y="52388"/>
                  <a:pt x="52417" y="48119"/>
                  <a:pt x="52417" y="42863"/>
                </a:cubicBezTo>
                <a:close/>
              </a:path>
            </a:pathLst>
          </a:custGeom>
          <a:solidFill>
            <a:srgbClr val="8B0000"/>
          </a:solidFill>
          <a:ln/>
        </p:spPr>
        <p:txBody>
          <a:bodyPr/>
          <a:lstStyle/>
          <a:p>
            <a:endParaRPr lang="en-US"/>
          </a:p>
        </p:txBody>
      </p:sp>
      <p:sp>
        <p:nvSpPr>
          <p:cNvPr id="17" name="Text 15"/>
          <p:cNvSpPr/>
          <p:nvPr/>
        </p:nvSpPr>
        <p:spPr>
          <a:xfrm>
            <a:off x="914400" y="3238379"/>
            <a:ext cx="33432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Annotation</a:t>
            </a:r>
            <a:endParaRPr lang="en-US" sz="1600" dirty="0"/>
          </a:p>
        </p:txBody>
      </p:sp>
      <p:sp>
        <p:nvSpPr>
          <p:cNvPr id="18" name="Text 16"/>
          <p:cNvSpPr/>
          <p:nvPr/>
        </p:nvSpPr>
        <p:spPr>
          <a:xfrm>
            <a:off x="914400" y="3466979"/>
            <a:ext cx="334327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Manually labeled with Bloom's six cognitive levels</a:t>
            </a:r>
            <a:endParaRPr lang="en-US" sz="1600" dirty="0"/>
          </a:p>
        </p:txBody>
      </p:sp>
      <p:sp>
        <p:nvSpPr>
          <p:cNvPr id="19" name="Shape 17"/>
          <p:cNvSpPr/>
          <p:nvPr/>
        </p:nvSpPr>
        <p:spPr>
          <a:xfrm>
            <a:off x="647700" y="3847979"/>
            <a:ext cx="114300" cy="152400"/>
          </a:xfrm>
          <a:custGeom>
            <a:avLst/>
            <a:gdLst/>
            <a:ahLst/>
            <a:cxnLst/>
            <a:rect l="l" t="t" r="r" b="b"/>
            <a:pathLst>
              <a:path w="114300" h="152400">
                <a:moveTo>
                  <a:pt x="38100" y="28575"/>
                </a:moveTo>
                <a:lnTo>
                  <a:pt x="38100" y="47625"/>
                </a:lnTo>
                <a:lnTo>
                  <a:pt x="76200" y="47625"/>
                </a:lnTo>
                <a:lnTo>
                  <a:pt x="76200" y="28575"/>
                </a:lnTo>
                <a:cubicBezTo>
                  <a:pt x="76200" y="18068"/>
                  <a:pt x="67657" y="9525"/>
                  <a:pt x="57150" y="9525"/>
                </a:cubicBezTo>
                <a:cubicBezTo>
                  <a:pt x="46643" y="9525"/>
                  <a:pt x="38100" y="18068"/>
                  <a:pt x="38100" y="28575"/>
                </a:cubicBezTo>
                <a:close/>
                <a:moveTo>
                  <a:pt x="19050" y="47625"/>
                </a:moveTo>
                <a:lnTo>
                  <a:pt x="19050" y="28575"/>
                </a:lnTo>
                <a:cubicBezTo>
                  <a:pt x="19050" y="7531"/>
                  <a:pt x="36106" y="-9525"/>
                  <a:pt x="57150" y="-9525"/>
                </a:cubicBezTo>
                <a:cubicBezTo>
                  <a:pt x="78194" y="-9525"/>
                  <a:pt x="95250" y="7531"/>
                  <a:pt x="95250" y="28575"/>
                </a:cubicBezTo>
                <a:lnTo>
                  <a:pt x="95250" y="47625"/>
                </a:lnTo>
                <a:cubicBezTo>
                  <a:pt x="105757" y="47625"/>
                  <a:pt x="114300" y="56168"/>
                  <a:pt x="114300" y="66675"/>
                </a:cubicBezTo>
                <a:lnTo>
                  <a:pt x="114300" y="133350"/>
                </a:lnTo>
                <a:cubicBezTo>
                  <a:pt x="114300" y="143857"/>
                  <a:pt x="105757" y="152400"/>
                  <a:pt x="95250" y="152400"/>
                </a:cubicBezTo>
                <a:lnTo>
                  <a:pt x="19050" y="152400"/>
                </a:lnTo>
                <a:cubicBezTo>
                  <a:pt x="8543" y="152400"/>
                  <a:pt x="0" y="143857"/>
                  <a:pt x="0" y="133350"/>
                </a:cubicBezTo>
                <a:lnTo>
                  <a:pt x="0" y="66675"/>
                </a:lnTo>
                <a:cubicBezTo>
                  <a:pt x="0" y="56168"/>
                  <a:pt x="8543" y="47625"/>
                  <a:pt x="19050" y="47625"/>
                </a:cubicBezTo>
                <a:close/>
              </a:path>
            </a:pathLst>
          </a:custGeom>
          <a:solidFill>
            <a:srgbClr val="8B0000"/>
          </a:solidFill>
          <a:ln/>
        </p:spPr>
        <p:txBody>
          <a:bodyPr/>
          <a:lstStyle/>
          <a:p>
            <a:endParaRPr lang="en-US"/>
          </a:p>
        </p:txBody>
      </p:sp>
      <p:sp>
        <p:nvSpPr>
          <p:cNvPr id="20" name="Text 18"/>
          <p:cNvSpPr/>
          <p:nvPr/>
        </p:nvSpPr>
        <p:spPr>
          <a:xfrm>
            <a:off x="914400" y="3809879"/>
            <a:ext cx="39338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Status</a:t>
            </a:r>
            <a:endParaRPr lang="en-US" sz="1600" dirty="0"/>
          </a:p>
        </p:txBody>
      </p:sp>
      <p:sp>
        <p:nvSpPr>
          <p:cNvPr id="21" name="Text 19"/>
          <p:cNvSpPr/>
          <p:nvPr/>
        </p:nvSpPr>
        <p:spPr>
          <a:xfrm>
            <a:off x="914400" y="4038479"/>
            <a:ext cx="393382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Private</a:t>
            </a:r>
            <a:r>
              <a:rPr lang="en-US" sz="1200" dirty="0">
                <a:solidFill>
                  <a:srgbClr val="6B7280"/>
                </a:solidFill>
                <a:latin typeface="Sorts Mill Goudy" pitchFamily="34" charset="0"/>
                <a:ea typeface="Sorts Mill Goudy" pitchFamily="34" charset="-122"/>
                <a:cs typeface="Sorts Mill Goudy" pitchFamily="34" charset="-120"/>
              </a:rPr>
              <a:t> - Institution-specific data scraped from course pages</a:t>
            </a:r>
            <a:endParaRPr lang="en-US" sz="1600" dirty="0"/>
          </a:p>
        </p:txBody>
      </p:sp>
      <p:sp>
        <p:nvSpPr>
          <p:cNvPr id="22" name="Shape 20"/>
          <p:cNvSpPr/>
          <p:nvPr/>
        </p:nvSpPr>
        <p:spPr>
          <a:xfrm>
            <a:off x="609600" y="4423289"/>
            <a:ext cx="5200650" cy="7620"/>
          </a:xfrm>
          <a:custGeom>
            <a:avLst/>
            <a:gdLst/>
            <a:ahLst/>
            <a:cxnLst/>
            <a:rect l="l" t="t" r="r" b="b"/>
            <a:pathLst>
              <a:path w="5200650" h="7620">
                <a:moveTo>
                  <a:pt x="0" y="0"/>
                </a:moveTo>
                <a:lnTo>
                  <a:pt x="5200650" y="0"/>
                </a:lnTo>
                <a:lnTo>
                  <a:pt x="5200650" y="7620"/>
                </a:lnTo>
                <a:lnTo>
                  <a:pt x="0" y="7620"/>
                </a:lnTo>
                <a:lnTo>
                  <a:pt x="0" y="0"/>
                </a:lnTo>
                <a:close/>
              </a:path>
            </a:pathLst>
          </a:custGeom>
          <a:solidFill>
            <a:srgbClr val="6B7280">
              <a:alpha val="20000"/>
            </a:srgbClr>
          </a:solidFill>
          <a:ln/>
        </p:spPr>
        <p:txBody>
          <a:bodyPr/>
          <a:lstStyle/>
          <a:p>
            <a:endParaRPr lang="en-US"/>
          </a:p>
        </p:txBody>
      </p:sp>
      <p:sp>
        <p:nvSpPr>
          <p:cNvPr id="23" name="Shape 21"/>
          <p:cNvSpPr/>
          <p:nvPr/>
        </p:nvSpPr>
        <p:spPr>
          <a:xfrm>
            <a:off x="628650" y="4602361"/>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8B0000"/>
          </a:solidFill>
          <a:ln/>
        </p:spPr>
        <p:txBody>
          <a:bodyPr/>
          <a:lstStyle/>
          <a:p>
            <a:endParaRPr lang="en-US"/>
          </a:p>
        </p:txBody>
      </p:sp>
      <p:sp>
        <p:nvSpPr>
          <p:cNvPr id="24" name="Text 22"/>
          <p:cNvSpPr/>
          <p:nvPr/>
        </p:nvSpPr>
        <p:spPr>
          <a:xfrm>
            <a:off x="838200" y="4579500"/>
            <a:ext cx="50387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Authors indicated plans to open-source, but no public repository is currently available</a:t>
            </a:r>
            <a:endParaRPr lang="en-US" sz="1600" dirty="0"/>
          </a:p>
        </p:txBody>
      </p:sp>
      <p:sp>
        <p:nvSpPr>
          <p:cNvPr id="25" name="Shape 23"/>
          <p:cNvSpPr/>
          <p:nvPr/>
        </p:nvSpPr>
        <p:spPr>
          <a:xfrm>
            <a:off x="6210300" y="1333500"/>
            <a:ext cx="5600700" cy="3629025"/>
          </a:xfrm>
          <a:custGeom>
            <a:avLst/>
            <a:gdLst/>
            <a:ahLst/>
            <a:cxnLst/>
            <a:rect l="l" t="t" r="r" b="b"/>
            <a:pathLst>
              <a:path w="5600700" h="3629025">
                <a:moveTo>
                  <a:pt x="0" y="0"/>
                </a:moveTo>
                <a:lnTo>
                  <a:pt x="5600700" y="0"/>
                </a:lnTo>
                <a:lnTo>
                  <a:pt x="5600700" y="3629025"/>
                </a:lnTo>
                <a:lnTo>
                  <a:pt x="0" y="3629025"/>
                </a:lnTo>
                <a:lnTo>
                  <a:pt x="0" y="0"/>
                </a:lnTo>
                <a:close/>
              </a:path>
            </a:pathLst>
          </a:custGeom>
          <a:solidFill>
            <a:srgbClr val="F9FAFB"/>
          </a:solidFill>
          <a:ln/>
        </p:spPr>
        <p:txBody>
          <a:bodyPr/>
          <a:lstStyle/>
          <a:p>
            <a:endParaRPr lang="en-US"/>
          </a:p>
        </p:txBody>
      </p:sp>
      <p:sp>
        <p:nvSpPr>
          <p:cNvPr id="26" name="Shape 24"/>
          <p:cNvSpPr/>
          <p:nvPr/>
        </p:nvSpPr>
        <p:spPr>
          <a:xfrm>
            <a:off x="6210300" y="1333500"/>
            <a:ext cx="38100" cy="3629025"/>
          </a:xfrm>
          <a:custGeom>
            <a:avLst/>
            <a:gdLst/>
            <a:ahLst/>
            <a:cxnLst/>
            <a:rect l="l" t="t" r="r" b="b"/>
            <a:pathLst>
              <a:path w="38100" h="3629025">
                <a:moveTo>
                  <a:pt x="0" y="0"/>
                </a:moveTo>
                <a:lnTo>
                  <a:pt x="38100" y="0"/>
                </a:lnTo>
                <a:lnTo>
                  <a:pt x="38100" y="3629025"/>
                </a:lnTo>
                <a:lnTo>
                  <a:pt x="0" y="3629025"/>
                </a:lnTo>
                <a:lnTo>
                  <a:pt x="0" y="0"/>
                </a:lnTo>
                <a:close/>
              </a:path>
            </a:pathLst>
          </a:custGeom>
          <a:solidFill>
            <a:srgbClr val="1F2937"/>
          </a:solidFill>
          <a:ln/>
        </p:spPr>
        <p:txBody>
          <a:bodyPr/>
          <a:lstStyle/>
          <a:p>
            <a:endParaRPr lang="en-US"/>
          </a:p>
        </p:txBody>
      </p:sp>
      <p:sp>
        <p:nvSpPr>
          <p:cNvPr id="27" name="Text 25"/>
          <p:cNvSpPr/>
          <p:nvPr/>
        </p:nvSpPr>
        <p:spPr>
          <a:xfrm>
            <a:off x="6419850" y="1524000"/>
            <a:ext cx="292417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Sebbaq &amp; El Faddouli (2022)</a:t>
            </a:r>
            <a:endParaRPr lang="en-US" sz="1600" dirty="0"/>
          </a:p>
        </p:txBody>
      </p:sp>
      <p:sp>
        <p:nvSpPr>
          <p:cNvPr id="28" name="Shape 26"/>
          <p:cNvSpPr/>
          <p:nvPr/>
        </p:nvSpPr>
        <p:spPr>
          <a:xfrm>
            <a:off x="10934224" y="1542929"/>
            <a:ext cx="685800" cy="266700"/>
          </a:xfrm>
          <a:custGeom>
            <a:avLst/>
            <a:gdLst/>
            <a:ahLst/>
            <a:cxnLst/>
            <a:rect l="l" t="t" r="r" b="b"/>
            <a:pathLst>
              <a:path w="685800" h="266700">
                <a:moveTo>
                  <a:pt x="0" y="0"/>
                </a:moveTo>
                <a:lnTo>
                  <a:pt x="685800" y="0"/>
                </a:lnTo>
                <a:lnTo>
                  <a:pt x="685800" y="266700"/>
                </a:lnTo>
                <a:lnTo>
                  <a:pt x="0" y="266700"/>
                </a:lnTo>
                <a:lnTo>
                  <a:pt x="0" y="0"/>
                </a:lnTo>
                <a:close/>
              </a:path>
            </a:pathLst>
          </a:custGeom>
          <a:solidFill>
            <a:srgbClr val="1F2937"/>
          </a:solidFill>
          <a:ln/>
        </p:spPr>
        <p:txBody>
          <a:bodyPr/>
          <a:lstStyle/>
          <a:p>
            <a:endParaRPr lang="en-US"/>
          </a:p>
        </p:txBody>
      </p:sp>
      <p:sp>
        <p:nvSpPr>
          <p:cNvPr id="29" name="Text 27"/>
          <p:cNvSpPr/>
          <p:nvPr/>
        </p:nvSpPr>
        <p:spPr>
          <a:xfrm>
            <a:off x="10934224" y="1542929"/>
            <a:ext cx="752475" cy="266700"/>
          </a:xfrm>
          <a:prstGeom prst="rect">
            <a:avLst/>
          </a:prstGeom>
          <a:noFill/>
          <a:ln/>
        </p:spPr>
        <p:txBody>
          <a:bodyPr wrap="square" lIns="114300" tIns="38100" rIns="114300" bIns="38100" rtlCol="0" anchor="ctr"/>
          <a:lstStyle/>
          <a:p>
            <a:pPr>
              <a:lnSpc>
                <a:spcPct val="120000"/>
              </a:lnSpc>
            </a:pPr>
            <a:r>
              <a:rPr lang="en-US" sz="1050" b="1" dirty="0">
                <a:solidFill>
                  <a:srgbClr val="F9FAFB"/>
                </a:solidFill>
                <a:latin typeface="Sorts Mill Goudy" pitchFamily="34" charset="0"/>
                <a:ea typeface="Sorts Mill Goudy" pitchFamily="34" charset="-122"/>
                <a:cs typeface="Sorts Mill Goudy" pitchFamily="34" charset="-120"/>
              </a:rPr>
              <a:t>MOOC</a:t>
            </a:r>
            <a:endParaRPr lang="en-US" sz="1600" dirty="0"/>
          </a:p>
        </p:txBody>
      </p:sp>
      <p:sp>
        <p:nvSpPr>
          <p:cNvPr id="30" name="Shape 28"/>
          <p:cNvSpPr/>
          <p:nvPr/>
        </p:nvSpPr>
        <p:spPr>
          <a:xfrm>
            <a:off x="6448425" y="2019179"/>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1F2937"/>
          </a:solidFill>
          <a:ln/>
        </p:spPr>
        <p:txBody>
          <a:bodyPr/>
          <a:lstStyle/>
          <a:p>
            <a:endParaRPr lang="en-US"/>
          </a:p>
        </p:txBody>
      </p:sp>
      <p:sp>
        <p:nvSpPr>
          <p:cNvPr id="31" name="Text 29"/>
          <p:cNvSpPr/>
          <p:nvPr/>
        </p:nvSpPr>
        <p:spPr>
          <a:xfrm>
            <a:off x="6724650" y="1981079"/>
            <a:ext cx="21240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Dataset Size</a:t>
            </a:r>
            <a:endParaRPr lang="en-US" sz="1600" dirty="0"/>
          </a:p>
        </p:txBody>
      </p:sp>
      <p:sp>
        <p:nvSpPr>
          <p:cNvPr id="32" name="Text 30"/>
          <p:cNvSpPr/>
          <p:nvPr/>
        </p:nvSpPr>
        <p:spPr>
          <a:xfrm>
            <a:off x="6724650" y="2209679"/>
            <a:ext cx="2190750" cy="342900"/>
          </a:xfrm>
          <a:prstGeom prst="rect">
            <a:avLst/>
          </a:prstGeom>
          <a:noFill/>
          <a:ln/>
        </p:spPr>
        <p:txBody>
          <a:bodyPr wrap="square" lIns="0" tIns="0" rIns="0" bIns="0" rtlCol="0" anchor="ctr"/>
          <a:lstStyle/>
          <a:p>
            <a:pPr>
              <a:lnSpc>
                <a:spcPct val="100000"/>
              </a:lnSpc>
            </a:pPr>
            <a:r>
              <a:rPr lang="en-US" sz="2250" b="1" dirty="0">
                <a:solidFill>
                  <a:srgbClr val="1F2937"/>
                </a:solidFill>
                <a:latin typeface="Sorts Mill Goudy" pitchFamily="34" charset="0"/>
                <a:ea typeface="Sorts Mill Goudy" pitchFamily="34" charset="-122"/>
                <a:cs typeface="Sorts Mill Goudy" pitchFamily="34" charset="-120"/>
              </a:rPr>
              <a:t>2,394 </a:t>
            </a:r>
            <a:r>
              <a:rPr lang="en-US" sz="1350" dirty="0">
                <a:solidFill>
                  <a:srgbClr val="6B7280"/>
                </a:solidFill>
                <a:latin typeface="Sorts Mill Goudy" pitchFamily="34" charset="0"/>
                <a:ea typeface="Sorts Mill Goudy" pitchFamily="34" charset="-122"/>
                <a:cs typeface="Sorts Mill Goudy" pitchFamily="34" charset="-120"/>
              </a:rPr>
              <a:t>learning objectives</a:t>
            </a:r>
            <a:endParaRPr lang="en-US" sz="1600" dirty="0"/>
          </a:p>
        </p:txBody>
      </p:sp>
      <p:sp>
        <p:nvSpPr>
          <p:cNvPr id="33" name="Shape 31"/>
          <p:cNvSpPr/>
          <p:nvPr/>
        </p:nvSpPr>
        <p:spPr>
          <a:xfrm>
            <a:off x="6438900" y="2704979"/>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1F2937"/>
          </a:solidFill>
          <a:ln/>
        </p:spPr>
        <p:txBody>
          <a:bodyPr/>
          <a:lstStyle/>
          <a:p>
            <a:endParaRPr lang="en-US"/>
          </a:p>
        </p:txBody>
      </p:sp>
      <p:sp>
        <p:nvSpPr>
          <p:cNvPr id="34" name="Text 32"/>
          <p:cNvSpPr/>
          <p:nvPr/>
        </p:nvSpPr>
        <p:spPr>
          <a:xfrm>
            <a:off x="6724650" y="2666879"/>
            <a:ext cx="33528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Source</a:t>
            </a:r>
            <a:endParaRPr lang="en-US" sz="1600" dirty="0"/>
          </a:p>
        </p:txBody>
      </p:sp>
      <p:sp>
        <p:nvSpPr>
          <p:cNvPr id="35" name="Text 33"/>
          <p:cNvSpPr/>
          <p:nvPr/>
        </p:nvSpPr>
        <p:spPr>
          <a:xfrm>
            <a:off x="6724650" y="2895479"/>
            <a:ext cx="33528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Various Massive Open Online Courses (MOOCs)</a:t>
            </a:r>
            <a:endParaRPr lang="en-US" sz="1600" dirty="0"/>
          </a:p>
        </p:txBody>
      </p:sp>
      <p:sp>
        <p:nvSpPr>
          <p:cNvPr id="36" name="Shape 34"/>
          <p:cNvSpPr/>
          <p:nvPr/>
        </p:nvSpPr>
        <p:spPr>
          <a:xfrm>
            <a:off x="6438900" y="3276479"/>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1F2937"/>
          </a:solidFill>
          <a:ln/>
        </p:spPr>
        <p:txBody>
          <a:bodyPr/>
          <a:lstStyle/>
          <a:p>
            <a:endParaRPr lang="en-US"/>
          </a:p>
        </p:txBody>
      </p:sp>
      <p:sp>
        <p:nvSpPr>
          <p:cNvPr id="37" name="Text 35"/>
          <p:cNvSpPr/>
          <p:nvPr/>
        </p:nvSpPr>
        <p:spPr>
          <a:xfrm>
            <a:off x="6724650" y="3238379"/>
            <a:ext cx="37433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Application</a:t>
            </a:r>
            <a:endParaRPr lang="en-US" sz="1600" dirty="0"/>
          </a:p>
        </p:txBody>
      </p:sp>
      <p:sp>
        <p:nvSpPr>
          <p:cNvPr id="38" name="Text 36"/>
          <p:cNvSpPr/>
          <p:nvPr/>
        </p:nvSpPr>
        <p:spPr>
          <a:xfrm>
            <a:off x="6724650" y="3466979"/>
            <a:ext cx="37433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Used to fine-tune BERT for cognitive-level classification</a:t>
            </a:r>
            <a:endParaRPr lang="en-US" sz="1600" dirty="0"/>
          </a:p>
        </p:txBody>
      </p:sp>
      <p:sp>
        <p:nvSpPr>
          <p:cNvPr id="39" name="Shape 37"/>
          <p:cNvSpPr/>
          <p:nvPr/>
        </p:nvSpPr>
        <p:spPr>
          <a:xfrm>
            <a:off x="6457950" y="3847979"/>
            <a:ext cx="114300" cy="152400"/>
          </a:xfrm>
          <a:custGeom>
            <a:avLst/>
            <a:gdLst/>
            <a:ahLst/>
            <a:cxnLst/>
            <a:rect l="l" t="t" r="r" b="b"/>
            <a:pathLst>
              <a:path w="114300" h="152400">
                <a:moveTo>
                  <a:pt x="38100" y="28575"/>
                </a:moveTo>
                <a:lnTo>
                  <a:pt x="38100" y="47625"/>
                </a:lnTo>
                <a:lnTo>
                  <a:pt x="76200" y="47625"/>
                </a:lnTo>
                <a:lnTo>
                  <a:pt x="76200" y="28575"/>
                </a:lnTo>
                <a:cubicBezTo>
                  <a:pt x="76200" y="18068"/>
                  <a:pt x="67657" y="9525"/>
                  <a:pt x="57150" y="9525"/>
                </a:cubicBezTo>
                <a:cubicBezTo>
                  <a:pt x="46643" y="9525"/>
                  <a:pt x="38100" y="18068"/>
                  <a:pt x="38100" y="28575"/>
                </a:cubicBezTo>
                <a:close/>
                <a:moveTo>
                  <a:pt x="19050" y="47625"/>
                </a:moveTo>
                <a:lnTo>
                  <a:pt x="19050" y="28575"/>
                </a:lnTo>
                <a:cubicBezTo>
                  <a:pt x="19050" y="7531"/>
                  <a:pt x="36106" y="-9525"/>
                  <a:pt x="57150" y="-9525"/>
                </a:cubicBezTo>
                <a:cubicBezTo>
                  <a:pt x="78194" y="-9525"/>
                  <a:pt x="95250" y="7531"/>
                  <a:pt x="95250" y="28575"/>
                </a:cubicBezTo>
                <a:lnTo>
                  <a:pt x="95250" y="47625"/>
                </a:lnTo>
                <a:cubicBezTo>
                  <a:pt x="105757" y="47625"/>
                  <a:pt x="114300" y="56168"/>
                  <a:pt x="114300" y="66675"/>
                </a:cubicBezTo>
                <a:lnTo>
                  <a:pt x="114300" y="133350"/>
                </a:lnTo>
                <a:cubicBezTo>
                  <a:pt x="114300" y="143857"/>
                  <a:pt x="105757" y="152400"/>
                  <a:pt x="95250" y="152400"/>
                </a:cubicBezTo>
                <a:lnTo>
                  <a:pt x="19050" y="152400"/>
                </a:lnTo>
                <a:cubicBezTo>
                  <a:pt x="8543" y="152400"/>
                  <a:pt x="0" y="143857"/>
                  <a:pt x="0" y="133350"/>
                </a:cubicBezTo>
                <a:lnTo>
                  <a:pt x="0" y="66675"/>
                </a:lnTo>
                <a:cubicBezTo>
                  <a:pt x="0" y="56168"/>
                  <a:pt x="8543" y="47625"/>
                  <a:pt x="19050" y="47625"/>
                </a:cubicBezTo>
                <a:close/>
              </a:path>
            </a:pathLst>
          </a:custGeom>
          <a:solidFill>
            <a:srgbClr val="1F2937"/>
          </a:solidFill>
          <a:ln/>
        </p:spPr>
        <p:txBody>
          <a:bodyPr/>
          <a:lstStyle/>
          <a:p>
            <a:endParaRPr lang="en-US"/>
          </a:p>
        </p:txBody>
      </p:sp>
      <p:sp>
        <p:nvSpPr>
          <p:cNvPr id="40" name="Text 38"/>
          <p:cNvSpPr/>
          <p:nvPr/>
        </p:nvSpPr>
        <p:spPr>
          <a:xfrm>
            <a:off x="6724650" y="3809879"/>
            <a:ext cx="37147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Status</a:t>
            </a:r>
            <a:endParaRPr lang="en-US" sz="1600" dirty="0"/>
          </a:p>
        </p:txBody>
      </p:sp>
      <p:sp>
        <p:nvSpPr>
          <p:cNvPr id="41" name="Text 39"/>
          <p:cNvSpPr/>
          <p:nvPr/>
        </p:nvSpPr>
        <p:spPr>
          <a:xfrm>
            <a:off x="6724650" y="4038479"/>
            <a:ext cx="37147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Private</a:t>
            </a:r>
            <a:r>
              <a:rPr lang="en-US" sz="1200" dirty="0">
                <a:solidFill>
                  <a:srgbClr val="6B7280"/>
                </a:solidFill>
                <a:latin typeface="Sorts Mill Goudy" pitchFamily="34" charset="0"/>
                <a:ea typeface="Sorts Mill Goudy" pitchFamily="34" charset="-122"/>
                <a:cs typeface="Sorts Mill Goudy" pitchFamily="34" charset="-120"/>
              </a:rPr>
              <a:t> - Created for the study, not published separately</a:t>
            </a:r>
            <a:endParaRPr lang="en-US" sz="1600" dirty="0"/>
          </a:p>
        </p:txBody>
      </p:sp>
      <p:sp>
        <p:nvSpPr>
          <p:cNvPr id="42" name="Shape 40"/>
          <p:cNvSpPr/>
          <p:nvPr/>
        </p:nvSpPr>
        <p:spPr>
          <a:xfrm>
            <a:off x="6419850" y="4423289"/>
            <a:ext cx="5200650" cy="7620"/>
          </a:xfrm>
          <a:custGeom>
            <a:avLst/>
            <a:gdLst/>
            <a:ahLst/>
            <a:cxnLst/>
            <a:rect l="l" t="t" r="r" b="b"/>
            <a:pathLst>
              <a:path w="5200650" h="7620">
                <a:moveTo>
                  <a:pt x="0" y="0"/>
                </a:moveTo>
                <a:lnTo>
                  <a:pt x="5200650" y="0"/>
                </a:lnTo>
                <a:lnTo>
                  <a:pt x="5200650" y="7620"/>
                </a:lnTo>
                <a:lnTo>
                  <a:pt x="0" y="7620"/>
                </a:lnTo>
                <a:lnTo>
                  <a:pt x="0" y="0"/>
                </a:lnTo>
                <a:close/>
              </a:path>
            </a:pathLst>
          </a:custGeom>
          <a:solidFill>
            <a:srgbClr val="6B7280">
              <a:alpha val="20000"/>
            </a:srgbClr>
          </a:solidFill>
          <a:ln/>
        </p:spPr>
        <p:txBody>
          <a:bodyPr/>
          <a:lstStyle/>
          <a:p>
            <a:endParaRPr lang="en-US"/>
          </a:p>
        </p:txBody>
      </p:sp>
      <p:sp>
        <p:nvSpPr>
          <p:cNvPr id="43" name="Shape 41"/>
          <p:cNvSpPr/>
          <p:nvPr/>
        </p:nvSpPr>
        <p:spPr>
          <a:xfrm>
            <a:off x="6455569" y="4602361"/>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1F2937"/>
          </a:solidFill>
          <a:ln/>
        </p:spPr>
        <p:txBody>
          <a:bodyPr/>
          <a:lstStyle/>
          <a:p>
            <a:endParaRPr lang="en-US"/>
          </a:p>
        </p:txBody>
      </p:sp>
      <p:sp>
        <p:nvSpPr>
          <p:cNvPr id="44" name="Text 42"/>
          <p:cNvSpPr/>
          <p:nvPr/>
        </p:nvSpPr>
        <p:spPr>
          <a:xfrm>
            <a:off x="6648450" y="4579500"/>
            <a:ext cx="50387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Demonstrates effectiveness of BERT on MOOC learning objective classification</a:t>
            </a:r>
            <a:endParaRPr lang="en-US" sz="1600" dirty="0"/>
          </a:p>
        </p:txBody>
      </p:sp>
      <p:sp>
        <p:nvSpPr>
          <p:cNvPr id="45" name="Shape 43"/>
          <p:cNvSpPr/>
          <p:nvPr/>
        </p:nvSpPr>
        <p:spPr>
          <a:xfrm>
            <a:off x="381000" y="5112900"/>
            <a:ext cx="11430000" cy="1219200"/>
          </a:xfrm>
          <a:custGeom>
            <a:avLst/>
            <a:gdLst/>
            <a:ahLst/>
            <a:cxnLst/>
            <a:rect l="l" t="t" r="r" b="b"/>
            <a:pathLst>
              <a:path w="11430000" h="1219200">
                <a:moveTo>
                  <a:pt x="0" y="0"/>
                </a:moveTo>
                <a:lnTo>
                  <a:pt x="11430000" y="0"/>
                </a:lnTo>
                <a:lnTo>
                  <a:pt x="11430000" y="1219200"/>
                </a:lnTo>
                <a:lnTo>
                  <a:pt x="0" y="1219200"/>
                </a:lnTo>
                <a:lnTo>
                  <a:pt x="0" y="0"/>
                </a:lnTo>
                <a:close/>
              </a:path>
            </a:pathLst>
          </a:custGeom>
          <a:solidFill>
            <a:srgbClr val="1F2937"/>
          </a:solidFill>
          <a:ln/>
        </p:spPr>
        <p:txBody>
          <a:bodyPr/>
          <a:lstStyle/>
          <a:p>
            <a:endParaRPr lang="en-US"/>
          </a:p>
        </p:txBody>
      </p:sp>
      <p:sp>
        <p:nvSpPr>
          <p:cNvPr id="46" name="Shape 44"/>
          <p:cNvSpPr/>
          <p:nvPr/>
        </p:nvSpPr>
        <p:spPr>
          <a:xfrm>
            <a:off x="557213" y="5303400"/>
            <a:ext cx="228600" cy="228600"/>
          </a:xfrm>
          <a:custGeom>
            <a:avLst/>
            <a:gdLst/>
            <a:ahLst/>
            <a:cxnLst/>
            <a:rect l="l" t="t" r="r" b="b"/>
            <a:pathLst>
              <a:path w="228600" h="228600">
                <a:moveTo>
                  <a:pt x="114300" y="0"/>
                </a:moveTo>
                <a:cubicBezTo>
                  <a:pt x="120863" y="0"/>
                  <a:pt x="126891" y="3617"/>
                  <a:pt x="130016" y="9376"/>
                </a:cubicBezTo>
                <a:lnTo>
                  <a:pt x="226457" y="187970"/>
                </a:lnTo>
                <a:cubicBezTo>
                  <a:pt x="229448" y="193506"/>
                  <a:pt x="229314" y="200204"/>
                  <a:pt x="226100" y="205606"/>
                </a:cubicBezTo>
                <a:cubicBezTo>
                  <a:pt x="222885" y="211009"/>
                  <a:pt x="217036" y="214313"/>
                  <a:pt x="210741" y="214313"/>
                </a:cubicBezTo>
                <a:lnTo>
                  <a:pt x="17859" y="214313"/>
                </a:lnTo>
                <a:cubicBezTo>
                  <a:pt x="11564" y="214313"/>
                  <a:pt x="5760" y="211009"/>
                  <a:pt x="2500" y="205606"/>
                </a:cubicBezTo>
                <a:cubicBezTo>
                  <a:pt x="-759" y="200204"/>
                  <a:pt x="-848" y="193506"/>
                  <a:pt x="2143" y="187970"/>
                </a:cubicBezTo>
                <a:lnTo>
                  <a:pt x="98584" y="9376"/>
                </a:lnTo>
                <a:cubicBezTo>
                  <a:pt x="101709" y="3617"/>
                  <a:pt x="107737" y="0"/>
                  <a:pt x="114300" y="0"/>
                </a:cubicBezTo>
                <a:close/>
                <a:moveTo>
                  <a:pt x="114300" y="75009"/>
                </a:moveTo>
                <a:cubicBezTo>
                  <a:pt x="108362" y="75009"/>
                  <a:pt x="103584" y="79787"/>
                  <a:pt x="103584" y="85725"/>
                </a:cubicBezTo>
                <a:lnTo>
                  <a:pt x="103584" y="135731"/>
                </a:lnTo>
                <a:cubicBezTo>
                  <a:pt x="103584" y="141669"/>
                  <a:pt x="108362" y="146447"/>
                  <a:pt x="114300" y="146447"/>
                </a:cubicBezTo>
                <a:cubicBezTo>
                  <a:pt x="120238" y="146447"/>
                  <a:pt x="125016" y="141669"/>
                  <a:pt x="125016" y="135731"/>
                </a:cubicBezTo>
                <a:lnTo>
                  <a:pt x="125016" y="85725"/>
                </a:lnTo>
                <a:cubicBezTo>
                  <a:pt x="125016" y="79787"/>
                  <a:pt x="120238" y="75009"/>
                  <a:pt x="114300" y="75009"/>
                </a:cubicBezTo>
                <a:close/>
                <a:moveTo>
                  <a:pt x="126221" y="171450"/>
                </a:moveTo>
                <a:cubicBezTo>
                  <a:pt x="126492" y="167025"/>
                  <a:pt x="124286" y="162815"/>
                  <a:pt x="120492" y="160521"/>
                </a:cubicBezTo>
                <a:cubicBezTo>
                  <a:pt x="116699" y="158226"/>
                  <a:pt x="111946" y="158226"/>
                  <a:pt x="108152" y="160521"/>
                </a:cubicBezTo>
                <a:cubicBezTo>
                  <a:pt x="104359" y="162815"/>
                  <a:pt x="102152" y="167025"/>
                  <a:pt x="102424" y="171450"/>
                </a:cubicBezTo>
                <a:cubicBezTo>
                  <a:pt x="102152" y="175875"/>
                  <a:pt x="104359" y="180085"/>
                  <a:pt x="108152" y="182379"/>
                </a:cubicBezTo>
                <a:cubicBezTo>
                  <a:pt x="111946" y="184674"/>
                  <a:pt x="116699" y="184674"/>
                  <a:pt x="120492" y="182379"/>
                </a:cubicBezTo>
                <a:cubicBezTo>
                  <a:pt x="124286" y="180085"/>
                  <a:pt x="126492" y="175875"/>
                  <a:pt x="126221" y="171450"/>
                </a:cubicBezTo>
                <a:close/>
              </a:path>
            </a:pathLst>
          </a:custGeom>
          <a:solidFill>
            <a:srgbClr val="8B0000"/>
          </a:solidFill>
          <a:ln/>
        </p:spPr>
        <p:txBody>
          <a:bodyPr/>
          <a:lstStyle/>
          <a:p>
            <a:endParaRPr lang="en-US"/>
          </a:p>
        </p:txBody>
      </p:sp>
      <p:sp>
        <p:nvSpPr>
          <p:cNvPr id="47" name="Text 45"/>
          <p:cNvSpPr/>
          <p:nvPr/>
        </p:nvSpPr>
        <p:spPr>
          <a:xfrm>
            <a:off x="919639" y="5303400"/>
            <a:ext cx="10782300"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Sorts Mill Goudy" pitchFamily="34" charset="0"/>
                <a:ea typeface="Sorts Mill Goudy" pitchFamily="34" charset="-122"/>
                <a:cs typeface="Sorts Mill Goudy" pitchFamily="34" charset="-120"/>
              </a:rPr>
              <a:t>Key Challenge: Data Accessibility</a:t>
            </a:r>
            <a:endParaRPr lang="en-US" sz="1600" dirty="0"/>
          </a:p>
        </p:txBody>
      </p:sp>
      <p:sp>
        <p:nvSpPr>
          <p:cNvPr id="48" name="Text 46"/>
          <p:cNvSpPr/>
          <p:nvPr/>
        </p:nvSpPr>
        <p:spPr>
          <a:xfrm>
            <a:off x="919639" y="5646300"/>
            <a:ext cx="10772775" cy="495300"/>
          </a:xfrm>
          <a:prstGeom prst="rect">
            <a:avLst/>
          </a:prstGeom>
          <a:noFill/>
          <a:ln/>
        </p:spPr>
        <p:txBody>
          <a:bodyPr wrap="square" lIns="0" tIns="0" rIns="0" bIns="0" rtlCol="0" anchor="ctr"/>
          <a:lstStyle/>
          <a:p>
            <a:pPr>
              <a:lnSpc>
                <a:spcPct val="140000"/>
              </a:lnSpc>
            </a:pPr>
            <a:r>
              <a:rPr lang="en-US" sz="1200" dirty="0">
                <a:solidFill>
                  <a:srgbClr val="F9FAFB"/>
                </a:solidFill>
                <a:latin typeface="Sorts Mill Goudy" pitchFamily="34" charset="0"/>
                <a:ea typeface="Sorts Mill Goudy" pitchFamily="34" charset="-122"/>
                <a:cs typeface="Sorts Mill Goudy" pitchFamily="34" charset="-120"/>
              </a:rPr>
              <a:t>Both datasets represent significant contributions to the field but remain inaccessible to the broader research community due to institutional constraints and privacy concerns. This limits reproducibility and comparative analysis across studies.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8340" y="378340"/>
            <a:ext cx="11501530" cy="189170"/>
          </a:xfrm>
          <a:prstGeom prst="rect">
            <a:avLst/>
          </a:prstGeom>
          <a:noFill/>
          <a:ln/>
        </p:spPr>
        <p:txBody>
          <a:bodyPr wrap="square" lIns="0" tIns="0" rIns="0" bIns="0" rtlCol="0" anchor="ctr"/>
          <a:lstStyle/>
          <a:p>
            <a:pPr>
              <a:lnSpc>
                <a:spcPct val="120000"/>
              </a:lnSpc>
            </a:pPr>
            <a:r>
              <a:rPr lang="en-US" sz="1043" b="1" kern="0" spc="104" dirty="0">
                <a:solidFill>
                  <a:srgbClr val="8B0000"/>
                </a:solidFill>
                <a:latin typeface="Sorts Mill Goudy" pitchFamily="34" charset="0"/>
                <a:ea typeface="Sorts Mill Goudy" pitchFamily="34" charset="-122"/>
                <a:cs typeface="Sorts Mill Goudy" pitchFamily="34" charset="-120"/>
              </a:rPr>
              <a:t>2.2 PRIVATE DATASETS</a:t>
            </a:r>
            <a:endParaRPr lang="en-US" sz="1600" dirty="0"/>
          </a:p>
        </p:txBody>
      </p:sp>
      <p:sp>
        <p:nvSpPr>
          <p:cNvPr id="3" name="Text 1"/>
          <p:cNvSpPr/>
          <p:nvPr/>
        </p:nvSpPr>
        <p:spPr>
          <a:xfrm>
            <a:off x="378340" y="643178"/>
            <a:ext cx="11605573" cy="378340"/>
          </a:xfrm>
          <a:prstGeom prst="rect">
            <a:avLst/>
          </a:prstGeom>
          <a:noFill/>
          <a:ln/>
        </p:spPr>
        <p:txBody>
          <a:bodyPr wrap="square" lIns="0" tIns="0" rIns="0" bIns="0" rtlCol="0" anchor="ctr"/>
          <a:lstStyle/>
          <a:p>
            <a:pPr>
              <a:lnSpc>
                <a:spcPct val="90000"/>
              </a:lnSpc>
            </a:pPr>
            <a:r>
              <a:rPr lang="en-US" sz="2681" b="1" dirty="0">
                <a:solidFill>
                  <a:srgbClr val="1F2937"/>
                </a:solidFill>
                <a:latin typeface="Sorts Mill Goudy" pitchFamily="34" charset="0"/>
                <a:ea typeface="Sorts Mill Goudy" pitchFamily="34" charset="-122"/>
                <a:cs typeface="Sorts Mill Goudy" pitchFamily="34" charset="-120"/>
              </a:rPr>
              <a:t>Large-Scale Private Datasets (II): Exam Questions</a:t>
            </a:r>
            <a:endParaRPr lang="en-US" sz="1600" dirty="0"/>
          </a:p>
        </p:txBody>
      </p:sp>
      <p:sp>
        <p:nvSpPr>
          <p:cNvPr id="4" name="Shape 2"/>
          <p:cNvSpPr/>
          <p:nvPr/>
        </p:nvSpPr>
        <p:spPr>
          <a:xfrm>
            <a:off x="378340" y="1135019"/>
            <a:ext cx="756680" cy="37834"/>
          </a:xfrm>
          <a:custGeom>
            <a:avLst/>
            <a:gdLst/>
            <a:ahLst/>
            <a:cxnLst/>
            <a:rect l="l" t="t" r="r" b="b"/>
            <a:pathLst>
              <a:path w="756680" h="37834">
                <a:moveTo>
                  <a:pt x="0" y="0"/>
                </a:moveTo>
                <a:lnTo>
                  <a:pt x="756680" y="0"/>
                </a:lnTo>
                <a:lnTo>
                  <a:pt x="756680" y="37834"/>
                </a:lnTo>
                <a:lnTo>
                  <a:pt x="0" y="37834"/>
                </a:lnTo>
                <a:lnTo>
                  <a:pt x="0" y="0"/>
                </a:lnTo>
                <a:close/>
              </a:path>
            </a:pathLst>
          </a:custGeom>
          <a:solidFill>
            <a:srgbClr val="8B0000"/>
          </a:solidFill>
          <a:ln/>
        </p:spPr>
        <p:txBody>
          <a:bodyPr/>
          <a:lstStyle/>
          <a:p>
            <a:endParaRPr lang="en-US"/>
          </a:p>
        </p:txBody>
      </p:sp>
      <p:sp>
        <p:nvSpPr>
          <p:cNvPr id="5" name="Shape 3"/>
          <p:cNvSpPr/>
          <p:nvPr/>
        </p:nvSpPr>
        <p:spPr>
          <a:xfrm>
            <a:off x="397257" y="1324189"/>
            <a:ext cx="11416403" cy="2979426"/>
          </a:xfrm>
          <a:custGeom>
            <a:avLst/>
            <a:gdLst/>
            <a:ahLst/>
            <a:cxnLst/>
            <a:rect l="l" t="t" r="r" b="b"/>
            <a:pathLst>
              <a:path w="11416403" h="2979426">
                <a:moveTo>
                  <a:pt x="0" y="0"/>
                </a:moveTo>
                <a:lnTo>
                  <a:pt x="11416403" y="0"/>
                </a:lnTo>
                <a:lnTo>
                  <a:pt x="11416403" y="2979426"/>
                </a:lnTo>
                <a:lnTo>
                  <a:pt x="0" y="2979426"/>
                </a:lnTo>
                <a:lnTo>
                  <a:pt x="0" y="0"/>
                </a:lnTo>
                <a:close/>
              </a:path>
            </a:pathLst>
          </a:custGeom>
          <a:solidFill>
            <a:srgbClr val="F9FAFB"/>
          </a:solidFill>
          <a:ln/>
        </p:spPr>
        <p:txBody>
          <a:bodyPr/>
          <a:lstStyle/>
          <a:p>
            <a:endParaRPr lang="en-US"/>
          </a:p>
        </p:txBody>
      </p:sp>
      <p:sp>
        <p:nvSpPr>
          <p:cNvPr id="6" name="Shape 4"/>
          <p:cNvSpPr/>
          <p:nvPr/>
        </p:nvSpPr>
        <p:spPr>
          <a:xfrm>
            <a:off x="397257" y="1324189"/>
            <a:ext cx="37834" cy="2979426"/>
          </a:xfrm>
          <a:custGeom>
            <a:avLst/>
            <a:gdLst/>
            <a:ahLst/>
            <a:cxnLst/>
            <a:rect l="l" t="t" r="r" b="b"/>
            <a:pathLst>
              <a:path w="37834" h="2979426">
                <a:moveTo>
                  <a:pt x="0" y="0"/>
                </a:moveTo>
                <a:lnTo>
                  <a:pt x="37834" y="0"/>
                </a:lnTo>
                <a:lnTo>
                  <a:pt x="37834" y="2979426"/>
                </a:lnTo>
                <a:lnTo>
                  <a:pt x="0" y="2979426"/>
                </a:lnTo>
                <a:lnTo>
                  <a:pt x="0" y="0"/>
                </a:lnTo>
                <a:close/>
              </a:path>
            </a:pathLst>
          </a:custGeom>
          <a:solidFill>
            <a:srgbClr val="8B0000"/>
          </a:solidFill>
          <a:ln/>
        </p:spPr>
        <p:txBody>
          <a:bodyPr/>
          <a:lstStyle/>
          <a:p>
            <a:endParaRPr lang="en-US"/>
          </a:p>
        </p:txBody>
      </p:sp>
      <p:sp>
        <p:nvSpPr>
          <p:cNvPr id="7" name="Text 5"/>
          <p:cNvSpPr/>
          <p:nvPr/>
        </p:nvSpPr>
        <p:spPr>
          <a:xfrm>
            <a:off x="605344" y="1551193"/>
            <a:ext cx="2572711" cy="340506"/>
          </a:xfrm>
          <a:prstGeom prst="rect">
            <a:avLst/>
          </a:prstGeom>
          <a:noFill/>
          <a:ln/>
        </p:spPr>
        <p:txBody>
          <a:bodyPr wrap="square" lIns="0" tIns="0" rIns="0" bIns="0" rtlCol="0" anchor="ctr"/>
          <a:lstStyle/>
          <a:p>
            <a:pPr>
              <a:lnSpc>
                <a:spcPct val="100000"/>
              </a:lnSpc>
            </a:pPr>
            <a:r>
              <a:rPr lang="en-US" sz="2234" b="1" dirty="0">
                <a:solidFill>
                  <a:srgbClr val="1F2937"/>
                </a:solidFill>
                <a:latin typeface="Sorts Mill Goudy" pitchFamily="34" charset="0"/>
                <a:ea typeface="Sorts Mill Goudy" pitchFamily="34" charset="-122"/>
                <a:cs typeface="Sorts Mill Goudy" pitchFamily="34" charset="-120"/>
              </a:rPr>
              <a:t>Banujan et al. (2023)</a:t>
            </a:r>
            <a:endParaRPr lang="en-US" sz="1600" dirty="0"/>
          </a:p>
        </p:txBody>
      </p:sp>
      <p:sp>
        <p:nvSpPr>
          <p:cNvPr id="8" name="Text 6"/>
          <p:cNvSpPr/>
          <p:nvPr/>
        </p:nvSpPr>
        <p:spPr>
          <a:xfrm>
            <a:off x="605344" y="1929531"/>
            <a:ext cx="2506501" cy="227004"/>
          </a:xfrm>
          <a:prstGeom prst="rect">
            <a:avLst/>
          </a:prstGeom>
          <a:noFill/>
          <a:ln/>
        </p:spPr>
        <p:txBody>
          <a:bodyPr wrap="square" lIns="0" tIns="0" rIns="0" bIns="0" rtlCol="0" anchor="ctr"/>
          <a:lstStyle/>
          <a:p>
            <a:pPr>
              <a:lnSpc>
                <a:spcPct val="130000"/>
              </a:lnSpc>
            </a:pPr>
            <a:r>
              <a:rPr lang="en-US" sz="1192" dirty="0">
                <a:solidFill>
                  <a:srgbClr val="6B7280"/>
                </a:solidFill>
                <a:latin typeface="Sorts Mill Goudy" pitchFamily="34" charset="0"/>
                <a:ea typeface="Sorts Mill Goudy" pitchFamily="34" charset="-122"/>
                <a:cs typeface="Sorts Mill Goudy" pitchFamily="34" charset="-120"/>
              </a:rPr>
              <a:t>Sri Lanka Exam Questions Dataset</a:t>
            </a:r>
            <a:endParaRPr lang="en-US" sz="1600" dirty="0"/>
          </a:p>
        </p:txBody>
      </p:sp>
      <p:sp>
        <p:nvSpPr>
          <p:cNvPr id="9" name="Text 7"/>
          <p:cNvSpPr/>
          <p:nvPr/>
        </p:nvSpPr>
        <p:spPr>
          <a:xfrm>
            <a:off x="10291788" y="1513359"/>
            <a:ext cx="1333648" cy="454008"/>
          </a:xfrm>
          <a:prstGeom prst="rect">
            <a:avLst/>
          </a:prstGeom>
          <a:noFill/>
          <a:ln/>
        </p:spPr>
        <p:txBody>
          <a:bodyPr wrap="square" lIns="0" tIns="0" rIns="0" bIns="0" rtlCol="0" anchor="ctr"/>
          <a:lstStyle/>
          <a:p>
            <a:pPr algn="r">
              <a:lnSpc>
                <a:spcPct val="80000"/>
              </a:lnSpc>
            </a:pPr>
            <a:r>
              <a:rPr lang="en-US" sz="3575" b="1" dirty="0">
                <a:solidFill>
                  <a:srgbClr val="8B0000"/>
                </a:solidFill>
                <a:latin typeface="Sorts Mill Goudy" pitchFamily="34" charset="0"/>
                <a:ea typeface="Sorts Mill Goudy" pitchFamily="34" charset="-122"/>
                <a:cs typeface="Sorts Mill Goudy" pitchFamily="34" charset="-120"/>
              </a:rPr>
              <a:t>16,584</a:t>
            </a:r>
            <a:endParaRPr lang="en-US" sz="1600" dirty="0"/>
          </a:p>
        </p:txBody>
      </p:sp>
      <p:sp>
        <p:nvSpPr>
          <p:cNvPr id="10" name="Text 8"/>
          <p:cNvSpPr/>
          <p:nvPr/>
        </p:nvSpPr>
        <p:spPr>
          <a:xfrm>
            <a:off x="10443124" y="1967365"/>
            <a:ext cx="1182312" cy="227004"/>
          </a:xfrm>
          <a:prstGeom prst="rect">
            <a:avLst/>
          </a:prstGeom>
          <a:noFill/>
          <a:ln/>
        </p:spPr>
        <p:txBody>
          <a:bodyPr wrap="square" lIns="0" tIns="0" rIns="0" bIns="0" rtlCol="0" anchor="ctr"/>
          <a:lstStyle/>
          <a:p>
            <a:pPr algn="r">
              <a:lnSpc>
                <a:spcPct val="130000"/>
              </a:lnSpc>
            </a:pPr>
            <a:r>
              <a:rPr lang="en-US" sz="1192" dirty="0">
                <a:solidFill>
                  <a:srgbClr val="6B7280"/>
                </a:solidFill>
                <a:latin typeface="Sorts Mill Goudy" pitchFamily="34" charset="0"/>
                <a:ea typeface="Sorts Mill Goudy" pitchFamily="34" charset="-122"/>
                <a:cs typeface="Sorts Mill Goudy" pitchFamily="34" charset="-120"/>
              </a:rPr>
              <a:t>exam questions</a:t>
            </a:r>
            <a:endParaRPr lang="en-US" sz="1600" dirty="0"/>
          </a:p>
        </p:txBody>
      </p:sp>
      <p:sp>
        <p:nvSpPr>
          <p:cNvPr id="11" name="Shape 9"/>
          <p:cNvSpPr/>
          <p:nvPr/>
        </p:nvSpPr>
        <p:spPr>
          <a:xfrm>
            <a:off x="609127" y="2349488"/>
            <a:ext cx="3563961" cy="802080"/>
          </a:xfrm>
          <a:custGeom>
            <a:avLst/>
            <a:gdLst/>
            <a:ahLst/>
            <a:cxnLst/>
            <a:rect l="l" t="t" r="r" b="b"/>
            <a:pathLst>
              <a:path w="3563961" h="802080">
                <a:moveTo>
                  <a:pt x="0" y="0"/>
                </a:moveTo>
                <a:lnTo>
                  <a:pt x="3563961" y="0"/>
                </a:lnTo>
                <a:lnTo>
                  <a:pt x="3563961" y="802080"/>
                </a:lnTo>
                <a:lnTo>
                  <a:pt x="0" y="80208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2" name="Shape 10"/>
          <p:cNvSpPr/>
          <p:nvPr/>
        </p:nvSpPr>
        <p:spPr>
          <a:xfrm>
            <a:off x="783163" y="2542444"/>
            <a:ext cx="151336" cy="151336"/>
          </a:xfrm>
          <a:custGeom>
            <a:avLst/>
            <a:gdLst/>
            <a:ahLst/>
            <a:cxnLst/>
            <a:rect l="l" t="t" r="r" b="b"/>
            <a:pathLst>
              <a:path w="151336" h="151336">
                <a:moveTo>
                  <a:pt x="80368" y="5971"/>
                </a:moveTo>
                <a:cubicBezTo>
                  <a:pt x="77471" y="4315"/>
                  <a:pt x="73894" y="4315"/>
                  <a:pt x="70968" y="5971"/>
                </a:cubicBezTo>
                <a:lnTo>
                  <a:pt x="4759" y="43805"/>
                </a:lnTo>
                <a:cubicBezTo>
                  <a:pt x="1035" y="45933"/>
                  <a:pt x="-798" y="50307"/>
                  <a:pt x="296" y="54445"/>
                </a:cubicBezTo>
                <a:cubicBezTo>
                  <a:pt x="1389" y="58584"/>
                  <a:pt x="5173" y="61480"/>
                  <a:pt x="9458" y="61480"/>
                </a:cubicBezTo>
                <a:lnTo>
                  <a:pt x="18917" y="61480"/>
                </a:lnTo>
                <a:lnTo>
                  <a:pt x="18917" y="122960"/>
                </a:lnTo>
                <a:lnTo>
                  <a:pt x="18917" y="122960"/>
                </a:lnTo>
                <a:lnTo>
                  <a:pt x="3783" y="134311"/>
                </a:lnTo>
                <a:cubicBezTo>
                  <a:pt x="1389" y="136084"/>
                  <a:pt x="0" y="138892"/>
                  <a:pt x="0" y="141877"/>
                </a:cubicBezTo>
                <a:cubicBezTo>
                  <a:pt x="0" y="147109"/>
                  <a:pt x="4227" y="151336"/>
                  <a:pt x="9458" y="151336"/>
                </a:cubicBezTo>
                <a:lnTo>
                  <a:pt x="141877" y="151336"/>
                </a:lnTo>
                <a:cubicBezTo>
                  <a:pt x="147109" y="151336"/>
                  <a:pt x="151336" y="147109"/>
                  <a:pt x="151336" y="141877"/>
                </a:cubicBezTo>
                <a:cubicBezTo>
                  <a:pt x="151336" y="138892"/>
                  <a:pt x="149947" y="136084"/>
                  <a:pt x="147553" y="134311"/>
                </a:cubicBezTo>
                <a:lnTo>
                  <a:pt x="132419" y="122960"/>
                </a:lnTo>
                <a:lnTo>
                  <a:pt x="132419" y="61480"/>
                </a:lnTo>
                <a:lnTo>
                  <a:pt x="141877" y="61480"/>
                </a:lnTo>
                <a:cubicBezTo>
                  <a:pt x="146163" y="61480"/>
                  <a:pt x="149917" y="58584"/>
                  <a:pt x="151011" y="54445"/>
                </a:cubicBezTo>
                <a:cubicBezTo>
                  <a:pt x="152104" y="50307"/>
                  <a:pt x="150272" y="45933"/>
                  <a:pt x="146548" y="43805"/>
                </a:cubicBezTo>
                <a:lnTo>
                  <a:pt x="80338" y="5971"/>
                </a:lnTo>
                <a:close/>
                <a:moveTo>
                  <a:pt x="118231" y="61480"/>
                </a:moveTo>
                <a:lnTo>
                  <a:pt x="118231" y="122960"/>
                </a:lnTo>
                <a:lnTo>
                  <a:pt x="99314" y="122960"/>
                </a:lnTo>
                <a:lnTo>
                  <a:pt x="99314" y="61480"/>
                </a:lnTo>
                <a:lnTo>
                  <a:pt x="118231" y="61480"/>
                </a:lnTo>
                <a:close/>
                <a:moveTo>
                  <a:pt x="85126" y="61480"/>
                </a:moveTo>
                <a:lnTo>
                  <a:pt x="85126" y="122960"/>
                </a:lnTo>
                <a:lnTo>
                  <a:pt x="66209" y="122960"/>
                </a:lnTo>
                <a:lnTo>
                  <a:pt x="66209" y="61480"/>
                </a:lnTo>
                <a:lnTo>
                  <a:pt x="85126" y="61480"/>
                </a:lnTo>
                <a:close/>
                <a:moveTo>
                  <a:pt x="52022" y="61480"/>
                </a:moveTo>
                <a:lnTo>
                  <a:pt x="52022" y="122960"/>
                </a:lnTo>
                <a:lnTo>
                  <a:pt x="33105" y="122960"/>
                </a:lnTo>
                <a:lnTo>
                  <a:pt x="33105" y="61480"/>
                </a:lnTo>
                <a:lnTo>
                  <a:pt x="52022" y="61480"/>
                </a:lnTo>
                <a:close/>
                <a:moveTo>
                  <a:pt x="75668" y="28375"/>
                </a:moveTo>
                <a:cubicBezTo>
                  <a:pt x="80888" y="28375"/>
                  <a:pt x="85126" y="32614"/>
                  <a:pt x="85126" y="37834"/>
                </a:cubicBezTo>
                <a:cubicBezTo>
                  <a:pt x="85126" y="43054"/>
                  <a:pt x="80888" y="47292"/>
                  <a:pt x="75668" y="47292"/>
                </a:cubicBezTo>
                <a:cubicBezTo>
                  <a:pt x="70448" y="47292"/>
                  <a:pt x="66209" y="43054"/>
                  <a:pt x="66209" y="37834"/>
                </a:cubicBezTo>
                <a:cubicBezTo>
                  <a:pt x="66209" y="32614"/>
                  <a:pt x="70448" y="28375"/>
                  <a:pt x="75668" y="28375"/>
                </a:cubicBezTo>
                <a:close/>
              </a:path>
            </a:pathLst>
          </a:custGeom>
          <a:solidFill>
            <a:srgbClr val="8B0000"/>
          </a:solidFill>
          <a:ln/>
        </p:spPr>
        <p:txBody>
          <a:bodyPr/>
          <a:lstStyle/>
          <a:p>
            <a:endParaRPr lang="en-US"/>
          </a:p>
        </p:txBody>
      </p:sp>
      <p:sp>
        <p:nvSpPr>
          <p:cNvPr id="13" name="Text 11"/>
          <p:cNvSpPr/>
          <p:nvPr/>
        </p:nvSpPr>
        <p:spPr>
          <a:xfrm>
            <a:off x="1029084" y="2504610"/>
            <a:ext cx="529676" cy="227004"/>
          </a:xfrm>
          <a:prstGeom prst="rect">
            <a:avLst/>
          </a:prstGeom>
          <a:noFill/>
          <a:ln/>
        </p:spPr>
        <p:txBody>
          <a:bodyPr wrap="square" lIns="0" tIns="0" rIns="0" bIns="0" rtlCol="0" anchor="ctr"/>
          <a:lstStyle/>
          <a:p>
            <a:pPr>
              <a:lnSpc>
                <a:spcPct val="130000"/>
              </a:lnSpc>
            </a:pPr>
            <a:r>
              <a:rPr lang="en-US" sz="1192" b="1" dirty="0">
                <a:solidFill>
                  <a:srgbClr val="1F2937"/>
                </a:solidFill>
                <a:latin typeface="Sorts Mill Goudy" pitchFamily="34" charset="0"/>
                <a:ea typeface="Sorts Mill Goudy" pitchFamily="34" charset="-122"/>
                <a:cs typeface="Sorts Mill Goudy" pitchFamily="34" charset="-120"/>
              </a:rPr>
              <a:t>Source</a:t>
            </a:r>
            <a:endParaRPr lang="en-US" sz="1600" dirty="0"/>
          </a:p>
        </p:txBody>
      </p:sp>
      <p:sp>
        <p:nvSpPr>
          <p:cNvPr id="14" name="Text 12"/>
          <p:cNvSpPr/>
          <p:nvPr/>
        </p:nvSpPr>
        <p:spPr>
          <a:xfrm>
            <a:off x="764246" y="2807282"/>
            <a:ext cx="3319932" cy="189170"/>
          </a:xfrm>
          <a:prstGeom prst="rect">
            <a:avLst/>
          </a:prstGeom>
          <a:noFill/>
          <a:ln/>
        </p:spPr>
        <p:txBody>
          <a:bodyPr wrap="square" lIns="0" tIns="0" rIns="0" bIns="0" rtlCol="0" anchor="ctr"/>
          <a:lstStyle/>
          <a:p>
            <a:pPr>
              <a:lnSpc>
                <a:spcPct val="120000"/>
              </a:lnSpc>
            </a:pPr>
            <a:r>
              <a:rPr lang="en-US" sz="1043" dirty="0">
                <a:solidFill>
                  <a:srgbClr val="6B7280"/>
                </a:solidFill>
                <a:latin typeface="Sorts Mill Goudy" pitchFamily="34" charset="0"/>
                <a:ea typeface="Sorts Mill Goudy" pitchFamily="34" charset="-122"/>
                <a:cs typeface="Sorts Mill Goudy" pitchFamily="34" charset="-120"/>
              </a:rPr>
              <a:t>Multiple Sri Lankan universities</a:t>
            </a:r>
            <a:endParaRPr lang="en-US" sz="1600" dirty="0"/>
          </a:p>
        </p:txBody>
      </p:sp>
      <p:sp>
        <p:nvSpPr>
          <p:cNvPr id="15" name="Shape 13"/>
          <p:cNvSpPr/>
          <p:nvPr/>
        </p:nvSpPr>
        <p:spPr>
          <a:xfrm>
            <a:off x="4332227" y="2349488"/>
            <a:ext cx="3563961" cy="802080"/>
          </a:xfrm>
          <a:custGeom>
            <a:avLst/>
            <a:gdLst/>
            <a:ahLst/>
            <a:cxnLst/>
            <a:rect l="l" t="t" r="r" b="b"/>
            <a:pathLst>
              <a:path w="3563961" h="802080">
                <a:moveTo>
                  <a:pt x="0" y="0"/>
                </a:moveTo>
                <a:lnTo>
                  <a:pt x="3563961" y="0"/>
                </a:lnTo>
                <a:lnTo>
                  <a:pt x="3563961" y="802080"/>
                </a:lnTo>
                <a:lnTo>
                  <a:pt x="0" y="80208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6" name="Shape 14"/>
          <p:cNvSpPr/>
          <p:nvPr/>
        </p:nvSpPr>
        <p:spPr>
          <a:xfrm>
            <a:off x="4506264" y="2542444"/>
            <a:ext cx="151336" cy="151336"/>
          </a:xfrm>
          <a:custGeom>
            <a:avLst/>
            <a:gdLst/>
            <a:ahLst/>
            <a:cxnLst/>
            <a:rect l="l" t="t" r="r" b="b"/>
            <a:pathLst>
              <a:path w="151336" h="151336">
                <a:moveTo>
                  <a:pt x="75668" y="151336"/>
                </a:moveTo>
                <a:cubicBezTo>
                  <a:pt x="117430" y="151336"/>
                  <a:pt x="151336" y="117430"/>
                  <a:pt x="151336" y="75668"/>
                </a:cubicBezTo>
                <a:cubicBezTo>
                  <a:pt x="151336" y="33906"/>
                  <a:pt x="117430" y="0"/>
                  <a:pt x="75668" y="0"/>
                </a:cubicBezTo>
                <a:cubicBezTo>
                  <a:pt x="33906" y="0"/>
                  <a:pt x="0" y="33906"/>
                  <a:pt x="0" y="75668"/>
                </a:cubicBezTo>
                <a:cubicBezTo>
                  <a:pt x="0" y="117430"/>
                  <a:pt x="33906" y="151336"/>
                  <a:pt x="75668" y="151336"/>
                </a:cubicBezTo>
                <a:close/>
                <a:moveTo>
                  <a:pt x="75668" y="52022"/>
                </a:moveTo>
                <a:cubicBezTo>
                  <a:pt x="70436" y="52022"/>
                  <a:pt x="66209" y="56248"/>
                  <a:pt x="66209" y="61480"/>
                </a:cubicBezTo>
                <a:cubicBezTo>
                  <a:pt x="66209" y="65411"/>
                  <a:pt x="63047" y="68574"/>
                  <a:pt x="59116" y="68574"/>
                </a:cubicBezTo>
                <a:cubicBezTo>
                  <a:pt x="55184" y="68574"/>
                  <a:pt x="52022" y="65411"/>
                  <a:pt x="52022" y="61480"/>
                </a:cubicBezTo>
                <a:cubicBezTo>
                  <a:pt x="52022" y="48416"/>
                  <a:pt x="62603" y="37834"/>
                  <a:pt x="75668" y="37834"/>
                </a:cubicBezTo>
                <a:cubicBezTo>
                  <a:pt x="88733" y="37834"/>
                  <a:pt x="99314" y="48416"/>
                  <a:pt x="99314" y="61480"/>
                </a:cubicBezTo>
                <a:cubicBezTo>
                  <a:pt x="99314" y="75431"/>
                  <a:pt x="88673" y="81343"/>
                  <a:pt x="82762" y="83501"/>
                </a:cubicBezTo>
                <a:lnTo>
                  <a:pt x="82762" y="84624"/>
                </a:lnTo>
                <a:cubicBezTo>
                  <a:pt x="82762" y="88555"/>
                  <a:pt x="79599" y="91718"/>
                  <a:pt x="75668" y="91718"/>
                </a:cubicBezTo>
                <a:cubicBezTo>
                  <a:pt x="71737" y="91718"/>
                  <a:pt x="68574" y="88555"/>
                  <a:pt x="68574" y="84624"/>
                </a:cubicBezTo>
                <a:lnTo>
                  <a:pt x="68574" y="82230"/>
                </a:lnTo>
                <a:cubicBezTo>
                  <a:pt x="68574" y="76170"/>
                  <a:pt x="72949" y="71825"/>
                  <a:pt x="77471" y="70348"/>
                </a:cubicBezTo>
                <a:cubicBezTo>
                  <a:pt x="79363" y="69727"/>
                  <a:pt x="81373" y="68722"/>
                  <a:pt x="82851" y="67303"/>
                </a:cubicBezTo>
                <a:cubicBezTo>
                  <a:pt x="84121" y="66062"/>
                  <a:pt x="85126" y="64347"/>
                  <a:pt x="85126" y="61510"/>
                </a:cubicBezTo>
                <a:cubicBezTo>
                  <a:pt x="85126" y="56278"/>
                  <a:pt x="80900" y="52051"/>
                  <a:pt x="75668" y="52051"/>
                </a:cubicBezTo>
                <a:close/>
                <a:moveTo>
                  <a:pt x="66209" y="108773"/>
                </a:moveTo>
                <a:cubicBezTo>
                  <a:pt x="66209" y="103552"/>
                  <a:pt x="70448" y="99314"/>
                  <a:pt x="75668" y="99314"/>
                </a:cubicBezTo>
                <a:cubicBezTo>
                  <a:pt x="80888" y="99314"/>
                  <a:pt x="85126" y="103552"/>
                  <a:pt x="85126" y="108773"/>
                </a:cubicBezTo>
                <a:cubicBezTo>
                  <a:pt x="85126" y="113993"/>
                  <a:pt x="80888" y="118231"/>
                  <a:pt x="75668" y="118231"/>
                </a:cubicBezTo>
                <a:cubicBezTo>
                  <a:pt x="70448" y="118231"/>
                  <a:pt x="66209" y="113993"/>
                  <a:pt x="66209" y="108773"/>
                </a:cubicBezTo>
                <a:close/>
              </a:path>
            </a:pathLst>
          </a:custGeom>
          <a:solidFill>
            <a:srgbClr val="8B0000"/>
          </a:solidFill>
          <a:ln/>
        </p:spPr>
        <p:txBody>
          <a:bodyPr/>
          <a:lstStyle/>
          <a:p>
            <a:endParaRPr lang="en-US"/>
          </a:p>
        </p:txBody>
      </p:sp>
      <p:sp>
        <p:nvSpPr>
          <p:cNvPr id="17" name="Text 15"/>
          <p:cNvSpPr/>
          <p:nvPr/>
        </p:nvSpPr>
        <p:spPr>
          <a:xfrm>
            <a:off x="4752185" y="2504610"/>
            <a:ext cx="1116102" cy="227004"/>
          </a:xfrm>
          <a:prstGeom prst="rect">
            <a:avLst/>
          </a:prstGeom>
          <a:noFill/>
          <a:ln/>
        </p:spPr>
        <p:txBody>
          <a:bodyPr wrap="square" lIns="0" tIns="0" rIns="0" bIns="0" rtlCol="0" anchor="ctr"/>
          <a:lstStyle/>
          <a:p>
            <a:pPr>
              <a:lnSpc>
                <a:spcPct val="130000"/>
              </a:lnSpc>
            </a:pPr>
            <a:r>
              <a:rPr lang="en-US" sz="1192" b="1" dirty="0">
                <a:solidFill>
                  <a:srgbClr val="1F2937"/>
                </a:solidFill>
                <a:latin typeface="Sorts Mill Goudy" pitchFamily="34" charset="0"/>
                <a:ea typeface="Sorts Mill Goudy" pitchFamily="34" charset="-122"/>
                <a:cs typeface="Sorts Mill Goudy" pitchFamily="34" charset="-120"/>
              </a:rPr>
              <a:t>Question Types</a:t>
            </a:r>
            <a:endParaRPr lang="en-US" sz="1600" dirty="0"/>
          </a:p>
        </p:txBody>
      </p:sp>
      <p:sp>
        <p:nvSpPr>
          <p:cNvPr id="18" name="Text 16"/>
          <p:cNvSpPr/>
          <p:nvPr/>
        </p:nvSpPr>
        <p:spPr>
          <a:xfrm>
            <a:off x="4487347" y="2807282"/>
            <a:ext cx="3319932" cy="189170"/>
          </a:xfrm>
          <a:prstGeom prst="rect">
            <a:avLst/>
          </a:prstGeom>
          <a:noFill/>
          <a:ln/>
        </p:spPr>
        <p:txBody>
          <a:bodyPr wrap="square" lIns="0" tIns="0" rIns="0" bIns="0" rtlCol="0" anchor="ctr"/>
          <a:lstStyle/>
          <a:p>
            <a:pPr>
              <a:lnSpc>
                <a:spcPct val="120000"/>
              </a:lnSpc>
            </a:pPr>
            <a:r>
              <a:rPr lang="en-US" sz="1043" dirty="0">
                <a:solidFill>
                  <a:srgbClr val="6B7280"/>
                </a:solidFill>
                <a:latin typeface="Sorts Mill Goudy" pitchFamily="34" charset="0"/>
                <a:ea typeface="Sorts Mill Goudy" pitchFamily="34" charset="-122"/>
                <a:cs typeface="Sorts Mill Goudy" pitchFamily="34" charset="-120"/>
              </a:rPr>
              <a:t>Essays, short answers, MCQs</a:t>
            </a:r>
            <a:endParaRPr lang="en-US" sz="1600" dirty="0"/>
          </a:p>
        </p:txBody>
      </p:sp>
      <p:sp>
        <p:nvSpPr>
          <p:cNvPr id="19" name="Shape 17"/>
          <p:cNvSpPr/>
          <p:nvPr/>
        </p:nvSpPr>
        <p:spPr>
          <a:xfrm>
            <a:off x="8055327" y="2349488"/>
            <a:ext cx="3563961" cy="802080"/>
          </a:xfrm>
          <a:custGeom>
            <a:avLst/>
            <a:gdLst/>
            <a:ahLst/>
            <a:cxnLst/>
            <a:rect l="l" t="t" r="r" b="b"/>
            <a:pathLst>
              <a:path w="3563961" h="802080">
                <a:moveTo>
                  <a:pt x="0" y="0"/>
                </a:moveTo>
                <a:lnTo>
                  <a:pt x="3563961" y="0"/>
                </a:lnTo>
                <a:lnTo>
                  <a:pt x="3563961" y="802080"/>
                </a:lnTo>
                <a:lnTo>
                  <a:pt x="0" y="80208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0" name="Shape 18"/>
          <p:cNvSpPr/>
          <p:nvPr/>
        </p:nvSpPr>
        <p:spPr>
          <a:xfrm>
            <a:off x="8229363" y="2542444"/>
            <a:ext cx="151336" cy="151336"/>
          </a:xfrm>
          <a:custGeom>
            <a:avLst/>
            <a:gdLst/>
            <a:ahLst/>
            <a:cxnLst/>
            <a:rect l="l" t="t" r="r" b="b"/>
            <a:pathLst>
              <a:path w="151336" h="151336">
                <a:moveTo>
                  <a:pt x="68722" y="1537"/>
                </a:moveTo>
                <a:cubicBezTo>
                  <a:pt x="73126" y="-502"/>
                  <a:pt x="78210" y="-502"/>
                  <a:pt x="82614" y="1537"/>
                </a:cubicBezTo>
                <a:lnTo>
                  <a:pt x="147227" y="31390"/>
                </a:lnTo>
                <a:cubicBezTo>
                  <a:pt x="149740" y="32543"/>
                  <a:pt x="151336" y="35056"/>
                  <a:pt x="151336" y="37834"/>
                </a:cubicBezTo>
                <a:cubicBezTo>
                  <a:pt x="151336" y="40612"/>
                  <a:pt x="149740" y="43125"/>
                  <a:pt x="147227" y="44278"/>
                </a:cubicBezTo>
                <a:lnTo>
                  <a:pt x="82614" y="74131"/>
                </a:lnTo>
                <a:cubicBezTo>
                  <a:pt x="78210" y="76170"/>
                  <a:pt x="73126" y="76170"/>
                  <a:pt x="68722" y="74131"/>
                </a:cubicBezTo>
                <a:lnTo>
                  <a:pt x="4109" y="44278"/>
                </a:lnTo>
                <a:cubicBezTo>
                  <a:pt x="1596" y="43095"/>
                  <a:pt x="0" y="40583"/>
                  <a:pt x="0" y="37834"/>
                </a:cubicBezTo>
                <a:cubicBezTo>
                  <a:pt x="0" y="35085"/>
                  <a:pt x="1596" y="32543"/>
                  <a:pt x="4109" y="31390"/>
                </a:cubicBezTo>
                <a:lnTo>
                  <a:pt x="68722" y="1537"/>
                </a:lnTo>
                <a:close/>
                <a:moveTo>
                  <a:pt x="14217" y="64554"/>
                </a:moveTo>
                <a:lnTo>
                  <a:pt x="62781" y="86989"/>
                </a:lnTo>
                <a:cubicBezTo>
                  <a:pt x="70968" y="90772"/>
                  <a:pt x="80397" y="90772"/>
                  <a:pt x="88585" y="86989"/>
                </a:cubicBezTo>
                <a:lnTo>
                  <a:pt x="137148" y="64554"/>
                </a:lnTo>
                <a:lnTo>
                  <a:pt x="147227" y="69224"/>
                </a:lnTo>
                <a:cubicBezTo>
                  <a:pt x="149740" y="70377"/>
                  <a:pt x="151336" y="72890"/>
                  <a:pt x="151336" y="75668"/>
                </a:cubicBezTo>
                <a:cubicBezTo>
                  <a:pt x="151336" y="78446"/>
                  <a:pt x="149740" y="80959"/>
                  <a:pt x="147227" y="82112"/>
                </a:cubicBezTo>
                <a:lnTo>
                  <a:pt x="82614" y="111965"/>
                </a:lnTo>
                <a:cubicBezTo>
                  <a:pt x="78210" y="114004"/>
                  <a:pt x="73126" y="114004"/>
                  <a:pt x="68722" y="111965"/>
                </a:cubicBezTo>
                <a:lnTo>
                  <a:pt x="4109" y="82112"/>
                </a:lnTo>
                <a:cubicBezTo>
                  <a:pt x="1596" y="80929"/>
                  <a:pt x="0" y="78417"/>
                  <a:pt x="0" y="75668"/>
                </a:cubicBezTo>
                <a:cubicBezTo>
                  <a:pt x="0" y="72919"/>
                  <a:pt x="1596" y="70377"/>
                  <a:pt x="4109" y="69224"/>
                </a:cubicBezTo>
                <a:lnTo>
                  <a:pt x="14188" y="64554"/>
                </a:lnTo>
                <a:close/>
                <a:moveTo>
                  <a:pt x="4109" y="107058"/>
                </a:moveTo>
                <a:lnTo>
                  <a:pt x="14188" y="102388"/>
                </a:lnTo>
                <a:lnTo>
                  <a:pt x="62751" y="124823"/>
                </a:lnTo>
                <a:cubicBezTo>
                  <a:pt x="70939" y="128606"/>
                  <a:pt x="80368" y="128606"/>
                  <a:pt x="88555" y="124823"/>
                </a:cubicBezTo>
                <a:lnTo>
                  <a:pt x="137119" y="102388"/>
                </a:lnTo>
                <a:lnTo>
                  <a:pt x="147198" y="107058"/>
                </a:lnTo>
                <a:cubicBezTo>
                  <a:pt x="149710" y="108211"/>
                  <a:pt x="151306" y="110724"/>
                  <a:pt x="151306" y="113502"/>
                </a:cubicBezTo>
                <a:cubicBezTo>
                  <a:pt x="151306" y="116280"/>
                  <a:pt x="149710" y="118793"/>
                  <a:pt x="147198" y="119946"/>
                </a:cubicBezTo>
                <a:lnTo>
                  <a:pt x="82584" y="149799"/>
                </a:lnTo>
                <a:cubicBezTo>
                  <a:pt x="78180" y="151838"/>
                  <a:pt x="73096" y="151838"/>
                  <a:pt x="68692" y="149799"/>
                </a:cubicBezTo>
                <a:lnTo>
                  <a:pt x="4109" y="119946"/>
                </a:lnTo>
                <a:cubicBezTo>
                  <a:pt x="1596" y="118763"/>
                  <a:pt x="0" y="116251"/>
                  <a:pt x="0" y="113502"/>
                </a:cubicBezTo>
                <a:cubicBezTo>
                  <a:pt x="0" y="110753"/>
                  <a:pt x="1596" y="108211"/>
                  <a:pt x="4109" y="107058"/>
                </a:cubicBezTo>
                <a:close/>
              </a:path>
            </a:pathLst>
          </a:custGeom>
          <a:solidFill>
            <a:srgbClr val="8B0000"/>
          </a:solidFill>
          <a:ln/>
        </p:spPr>
        <p:txBody>
          <a:bodyPr/>
          <a:lstStyle/>
          <a:p>
            <a:endParaRPr lang="en-US"/>
          </a:p>
        </p:txBody>
      </p:sp>
      <p:sp>
        <p:nvSpPr>
          <p:cNvPr id="21" name="Text 19"/>
          <p:cNvSpPr/>
          <p:nvPr/>
        </p:nvSpPr>
        <p:spPr>
          <a:xfrm>
            <a:off x="8475284" y="2504610"/>
            <a:ext cx="1343106" cy="227004"/>
          </a:xfrm>
          <a:prstGeom prst="rect">
            <a:avLst/>
          </a:prstGeom>
          <a:noFill/>
          <a:ln/>
        </p:spPr>
        <p:txBody>
          <a:bodyPr wrap="square" lIns="0" tIns="0" rIns="0" bIns="0" rtlCol="0" anchor="ctr"/>
          <a:lstStyle/>
          <a:p>
            <a:pPr>
              <a:lnSpc>
                <a:spcPct val="130000"/>
              </a:lnSpc>
            </a:pPr>
            <a:r>
              <a:rPr lang="en-US" sz="1192" b="1" dirty="0">
                <a:solidFill>
                  <a:srgbClr val="1F2937"/>
                </a:solidFill>
                <a:latin typeface="Sorts Mill Goudy" pitchFamily="34" charset="0"/>
                <a:ea typeface="Sorts Mill Goudy" pitchFamily="34" charset="-122"/>
                <a:cs typeface="Sorts Mill Goudy" pitchFamily="34" charset="-120"/>
              </a:rPr>
              <a:t>Taxonomy Version</a:t>
            </a:r>
            <a:endParaRPr lang="en-US" sz="1600" dirty="0"/>
          </a:p>
        </p:txBody>
      </p:sp>
      <p:sp>
        <p:nvSpPr>
          <p:cNvPr id="22" name="Text 20"/>
          <p:cNvSpPr/>
          <p:nvPr/>
        </p:nvSpPr>
        <p:spPr>
          <a:xfrm>
            <a:off x="8210446" y="2807282"/>
            <a:ext cx="3319932" cy="189170"/>
          </a:xfrm>
          <a:prstGeom prst="rect">
            <a:avLst/>
          </a:prstGeom>
          <a:noFill/>
          <a:ln/>
        </p:spPr>
        <p:txBody>
          <a:bodyPr wrap="square" lIns="0" tIns="0" rIns="0" bIns="0" rtlCol="0" anchor="ctr"/>
          <a:lstStyle/>
          <a:p>
            <a:pPr>
              <a:lnSpc>
                <a:spcPct val="120000"/>
              </a:lnSpc>
            </a:pPr>
            <a:r>
              <a:rPr lang="en-US" sz="1043" dirty="0">
                <a:solidFill>
                  <a:srgbClr val="6B7280"/>
                </a:solidFill>
                <a:latin typeface="Sorts Mill Goudy" pitchFamily="34" charset="0"/>
                <a:ea typeface="Sorts Mill Goudy" pitchFamily="34" charset="-122"/>
                <a:cs typeface="Sorts Mill Goudy" pitchFamily="34" charset="-120"/>
              </a:rPr>
              <a:t>Revised Bloom's Taxonomy</a:t>
            </a:r>
            <a:endParaRPr lang="en-US" sz="1600" dirty="0"/>
          </a:p>
        </p:txBody>
      </p:sp>
      <p:sp>
        <p:nvSpPr>
          <p:cNvPr id="23" name="Shape 21"/>
          <p:cNvSpPr/>
          <p:nvPr/>
        </p:nvSpPr>
        <p:spPr>
          <a:xfrm>
            <a:off x="609127" y="3310472"/>
            <a:ext cx="5427284" cy="802080"/>
          </a:xfrm>
          <a:custGeom>
            <a:avLst/>
            <a:gdLst/>
            <a:ahLst/>
            <a:cxnLst/>
            <a:rect l="l" t="t" r="r" b="b"/>
            <a:pathLst>
              <a:path w="5427284" h="802080">
                <a:moveTo>
                  <a:pt x="0" y="0"/>
                </a:moveTo>
                <a:lnTo>
                  <a:pt x="5427284" y="0"/>
                </a:lnTo>
                <a:lnTo>
                  <a:pt x="5427284" y="802080"/>
                </a:lnTo>
                <a:lnTo>
                  <a:pt x="0" y="80208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4" name="Shape 22"/>
          <p:cNvSpPr/>
          <p:nvPr/>
        </p:nvSpPr>
        <p:spPr>
          <a:xfrm>
            <a:off x="764246" y="3503428"/>
            <a:ext cx="189170" cy="151336"/>
          </a:xfrm>
          <a:custGeom>
            <a:avLst/>
            <a:gdLst/>
            <a:ahLst/>
            <a:cxnLst/>
            <a:rect l="l" t="t" r="r" b="b"/>
            <a:pathLst>
              <a:path w="189170" h="151336">
                <a:moveTo>
                  <a:pt x="94585" y="4729"/>
                </a:moveTo>
                <a:cubicBezTo>
                  <a:pt x="111551" y="4729"/>
                  <a:pt x="125325" y="18503"/>
                  <a:pt x="125325" y="35469"/>
                </a:cubicBezTo>
                <a:cubicBezTo>
                  <a:pt x="125325" y="52435"/>
                  <a:pt x="111551" y="66209"/>
                  <a:pt x="94585" y="66209"/>
                </a:cubicBezTo>
                <a:cubicBezTo>
                  <a:pt x="77619" y="66209"/>
                  <a:pt x="63845" y="52435"/>
                  <a:pt x="63845" y="35469"/>
                </a:cubicBezTo>
                <a:cubicBezTo>
                  <a:pt x="63845" y="18503"/>
                  <a:pt x="77619" y="4729"/>
                  <a:pt x="94585" y="4729"/>
                </a:cubicBezTo>
                <a:close/>
                <a:moveTo>
                  <a:pt x="28375" y="26011"/>
                </a:moveTo>
                <a:cubicBezTo>
                  <a:pt x="40121" y="26011"/>
                  <a:pt x="49657" y="35547"/>
                  <a:pt x="49657" y="47292"/>
                </a:cubicBezTo>
                <a:cubicBezTo>
                  <a:pt x="49657" y="59038"/>
                  <a:pt x="40121" y="68574"/>
                  <a:pt x="28375" y="68574"/>
                </a:cubicBezTo>
                <a:cubicBezTo>
                  <a:pt x="16630" y="68574"/>
                  <a:pt x="7094" y="59038"/>
                  <a:pt x="7094" y="47292"/>
                </a:cubicBezTo>
                <a:cubicBezTo>
                  <a:pt x="7094" y="35547"/>
                  <a:pt x="16630" y="26011"/>
                  <a:pt x="28375" y="26011"/>
                </a:cubicBezTo>
                <a:close/>
                <a:moveTo>
                  <a:pt x="0" y="122960"/>
                </a:moveTo>
                <a:cubicBezTo>
                  <a:pt x="0" y="102063"/>
                  <a:pt x="16937" y="85126"/>
                  <a:pt x="37834" y="85126"/>
                </a:cubicBezTo>
                <a:cubicBezTo>
                  <a:pt x="41617" y="85126"/>
                  <a:pt x="45283" y="85688"/>
                  <a:pt x="48741" y="86723"/>
                </a:cubicBezTo>
                <a:cubicBezTo>
                  <a:pt x="39016" y="97600"/>
                  <a:pt x="33105" y="111965"/>
                  <a:pt x="33105" y="127690"/>
                </a:cubicBezTo>
                <a:lnTo>
                  <a:pt x="33105" y="132419"/>
                </a:lnTo>
                <a:cubicBezTo>
                  <a:pt x="33105" y="135789"/>
                  <a:pt x="33814" y="138981"/>
                  <a:pt x="35085" y="141877"/>
                </a:cubicBezTo>
                <a:lnTo>
                  <a:pt x="9458" y="141877"/>
                </a:lnTo>
                <a:cubicBezTo>
                  <a:pt x="4227" y="141877"/>
                  <a:pt x="0" y="137651"/>
                  <a:pt x="0" y="132419"/>
                </a:cubicBezTo>
                <a:lnTo>
                  <a:pt x="0" y="122960"/>
                </a:lnTo>
                <a:close/>
                <a:moveTo>
                  <a:pt x="154085" y="141877"/>
                </a:moveTo>
                <a:cubicBezTo>
                  <a:pt x="155356" y="138981"/>
                  <a:pt x="156065" y="135789"/>
                  <a:pt x="156065" y="132419"/>
                </a:cubicBezTo>
                <a:lnTo>
                  <a:pt x="156065" y="127690"/>
                </a:lnTo>
                <a:cubicBezTo>
                  <a:pt x="156065" y="111965"/>
                  <a:pt x="150154" y="97600"/>
                  <a:pt x="140429" y="86723"/>
                </a:cubicBezTo>
                <a:cubicBezTo>
                  <a:pt x="143887" y="85688"/>
                  <a:pt x="147553" y="85126"/>
                  <a:pt x="151336" y="85126"/>
                </a:cubicBezTo>
                <a:cubicBezTo>
                  <a:pt x="172233" y="85126"/>
                  <a:pt x="189170" y="102063"/>
                  <a:pt x="189170" y="122960"/>
                </a:cubicBezTo>
                <a:lnTo>
                  <a:pt x="189170" y="132419"/>
                </a:lnTo>
                <a:cubicBezTo>
                  <a:pt x="189170" y="137651"/>
                  <a:pt x="184943" y="141877"/>
                  <a:pt x="179711" y="141877"/>
                </a:cubicBezTo>
                <a:lnTo>
                  <a:pt x="154085" y="141877"/>
                </a:lnTo>
                <a:close/>
                <a:moveTo>
                  <a:pt x="139513" y="47292"/>
                </a:moveTo>
                <a:cubicBezTo>
                  <a:pt x="139513" y="35547"/>
                  <a:pt x="149049" y="26011"/>
                  <a:pt x="160794" y="26011"/>
                </a:cubicBezTo>
                <a:cubicBezTo>
                  <a:pt x="172540" y="26011"/>
                  <a:pt x="182076" y="35547"/>
                  <a:pt x="182076" y="47292"/>
                </a:cubicBezTo>
                <a:cubicBezTo>
                  <a:pt x="182076" y="59038"/>
                  <a:pt x="172540" y="68574"/>
                  <a:pt x="160794" y="68574"/>
                </a:cubicBezTo>
                <a:cubicBezTo>
                  <a:pt x="149049" y="68574"/>
                  <a:pt x="139513" y="59038"/>
                  <a:pt x="139513" y="47292"/>
                </a:cubicBezTo>
                <a:close/>
                <a:moveTo>
                  <a:pt x="47292" y="127690"/>
                </a:moveTo>
                <a:cubicBezTo>
                  <a:pt x="47292" y="101561"/>
                  <a:pt x="68456" y="80397"/>
                  <a:pt x="94585" y="80397"/>
                </a:cubicBezTo>
                <a:cubicBezTo>
                  <a:pt x="120714" y="80397"/>
                  <a:pt x="141877" y="101561"/>
                  <a:pt x="141877" y="127690"/>
                </a:cubicBezTo>
                <a:lnTo>
                  <a:pt x="141877" y="132419"/>
                </a:lnTo>
                <a:cubicBezTo>
                  <a:pt x="141877" y="137651"/>
                  <a:pt x="137651" y="141877"/>
                  <a:pt x="132419" y="141877"/>
                </a:cubicBezTo>
                <a:lnTo>
                  <a:pt x="56751" y="141877"/>
                </a:lnTo>
                <a:cubicBezTo>
                  <a:pt x="51519" y="141877"/>
                  <a:pt x="47292" y="137651"/>
                  <a:pt x="47292" y="132419"/>
                </a:cubicBezTo>
                <a:lnTo>
                  <a:pt x="47292" y="127690"/>
                </a:lnTo>
                <a:close/>
              </a:path>
            </a:pathLst>
          </a:custGeom>
          <a:solidFill>
            <a:srgbClr val="8B0000"/>
          </a:solidFill>
          <a:ln/>
        </p:spPr>
        <p:txBody>
          <a:bodyPr/>
          <a:lstStyle/>
          <a:p>
            <a:endParaRPr lang="en-US"/>
          </a:p>
        </p:txBody>
      </p:sp>
      <p:sp>
        <p:nvSpPr>
          <p:cNvPr id="25" name="Text 23"/>
          <p:cNvSpPr/>
          <p:nvPr/>
        </p:nvSpPr>
        <p:spPr>
          <a:xfrm>
            <a:off x="1029084" y="3465594"/>
            <a:ext cx="851265" cy="227004"/>
          </a:xfrm>
          <a:prstGeom prst="rect">
            <a:avLst/>
          </a:prstGeom>
          <a:noFill/>
          <a:ln/>
        </p:spPr>
        <p:txBody>
          <a:bodyPr wrap="square" lIns="0" tIns="0" rIns="0" bIns="0" rtlCol="0" anchor="ctr"/>
          <a:lstStyle/>
          <a:p>
            <a:pPr>
              <a:lnSpc>
                <a:spcPct val="130000"/>
              </a:lnSpc>
            </a:pPr>
            <a:r>
              <a:rPr lang="en-US" sz="1192" b="1" dirty="0">
                <a:solidFill>
                  <a:srgbClr val="1F2937"/>
                </a:solidFill>
                <a:latin typeface="Sorts Mill Goudy" pitchFamily="34" charset="0"/>
                <a:ea typeface="Sorts Mill Goudy" pitchFamily="34" charset="-122"/>
                <a:cs typeface="Sorts Mill Goudy" pitchFamily="34" charset="-120"/>
              </a:rPr>
              <a:t>Annotation</a:t>
            </a:r>
            <a:endParaRPr lang="en-US" sz="1600" dirty="0"/>
          </a:p>
        </p:txBody>
      </p:sp>
      <p:sp>
        <p:nvSpPr>
          <p:cNvPr id="26" name="Text 24"/>
          <p:cNvSpPr/>
          <p:nvPr/>
        </p:nvSpPr>
        <p:spPr>
          <a:xfrm>
            <a:off x="764246" y="3768266"/>
            <a:ext cx="5183255" cy="189170"/>
          </a:xfrm>
          <a:prstGeom prst="rect">
            <a:avLst/>
          </a:prstGeom>
          <a:noFill/>
          <a:ln/>
        </p:spPr>
        <p:txBody>
          <a:bodyPr wrap="square" lIns="0" tIns="0" rIns="0" bIns="0" rtlCol="0" anchor="ctr"/>
          <a:lstStyle/>
          <a:p>
            <a:pPr>
              <a:lnSpc>
                <a:spcPct val="120000"/>
              </a:lnSpc>
            </a:pPr>
            <a:r>
              <a:rPr lang="en-US" sz="1043" dirty="0">
                <a:solidFill>
                  <a:srgbClr val="6B7280"/>
                </a:solidFill>
                <a:latin typeface="Sorts Mill Goudy" pitchFamily="34" charset="0"/>
                <a:ea typeface="Sorts Mill Goudy" pitchFamily="34" charset="-122"/>
                <a:cs typeface="Sorts Mill Goudy" pitchFamily="34" charset="-120"/>
              </a:rPr>
              <a:t>Manually labeled by domain experts across various subjects</a:t>
            </a:r>
            <a:endParaRPr lang="en-US" sz="1600" dirty="0"/>
          </a:p>
        </p:txBody>
      </p:sp>
      <p:sp>
        <p:nvSpPr>
          <p:cNvPr id="27" name="Shape 25"/>
          <p:cNvSpPr/>
          <p:nvPr/>
        </p:nvSpPr>
        <p:spPr>
          <a:xfrm>
            <a:off x="6193777" y="3310472"/>
            <a:ext cx="5427284" cy="802080"/>
          </a:xfrm>
          <a:custGeom>
            <a:avLst/>
            <a:gdLst/>
            <a:ahLst/>
            <a:cxnLst/>
            <a:rect l="l" t="t" r="r" b="b"/>
            <a:pathLst>
              <a:path w="5427284" h="802080">
                <a:moveTo>
                  <a:pt x="0" y="0"/>
                </a:moveTo>
                <a:lnTo>
                  <a:pt x="5427284" y="0"/>
                </a:lnTo>
                <a:lnTo>
                  <a:pt x="5427284" y="802080"/>
                </a:lnTo>
                <a:lnTo>
                  <a:pt x="0" y="802080"/>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8" name="Shape 26"/>
          <p:cNvSpPr/>
          <p:nvPr/>
        </p:nvSpPr>
        <p:spPr>
          <a:xfrm>
            <a:off x="6367813" y="3503428"/>
            <a:ext cx="151336" cy="151336"/>
          </a:xfrm>
          <a:custGeom>
            <a:avLst/>
            <a:gdLst/>
            <a:ahLst/>
            <a:cxnLst/>
            <a:rect l="l" t="t" r="r" b="b"/>
            <a:pathLst>
              <a:path w="151336" h="151336">
                <a:moveTo>
                  <a:pt x="52022" y="7094"/>
                </a:moveTo>
                <a:cubicBezTo>
                  <a:pt x="52022" y="3163"/>
                  <a:pt x="48859" y="0"/>
                  <a:pt x="44928" y="0"/>
                </a:cubicBezTo>
                <a:cubicBezTo>
                  <a:pt x="40997" y="0"/>
                  <a:pt x="37834" y="3163"/>
                  <a:pt x="37834" y="7094"/>
                </a:cubicBezTo>
                <a:lnTo>
                  <a:pt x="37834" y="18917"/>
                </a:lnTo>
                <a:cubicBezTo>
                  <a:pt x="27400" y="18917"/>
                  <a:pt x="18917" y="27400"/>
                  <a:pt x="18917" y="37834"/>
                </a:cubicBezTo>
                <a:lnTo>
                  <a:pt x="7094" y="37834"/>
                </a:lnTo>
                <a:cubicBezTo>
                  <a:pt x="3163" y="37834"/>
                  <a:pt x="0" y="40997"/>
                  <a:pt x="0" y="44928"/>
                </a:cubicBezTo>
                <a:cubicBezTo>
                  <a:pt x="0" y="48859"/>
                  <a:pt x="3163" y="52022"/>
                  <a:pt x="7094" y="52022"/>
                </a:cubicBezTo>
                <a:lnTo>
                  <a:pt x="18917" y="52022"/>
                </a:lnTo>
                <a:lnTo>
                  <a:pt x="18917" y="68574"/>
                </a:lnTo>
                <a:lnTo>
                  <a:pt x="7094" y="68574"/>
                </a:lnTo>
                <a:cubicBezTo>
                  <a:pt x="3163" y="68574"/>
                  <a:pt x="0" y="71737"/>
                  <a:pt x="0" y="75668"/>
                </a:cubicBezTo>
                <a:cubicBezTo>
                  <a:pt x="0" y="79599"/>
                  <a:pt x="3163" y="82762"/>
                  <a:pt x="7094" y="82762"/>
                </a:cubicBezTo>
                <a:lnTo>
                  <a:pt x="18917" y="82762"/>
                </a:lnTo>
                <a:lnTo>
                  <a:pt x="18917" y="99314"/>
                </a:lnTo>
                <a:lnTo>
                  <a:pt x="7094" y="99314"/>
                </a:lnTo>
                <a:cubicBezTo>
                  <a:pt x="3163" y="99314"/>
                  <a:pt x="0" y="102477"/>
                  <a:pt x="0" y="106408"/>
                </a:cubicBezTo>
                <a:cubicBezTo>
                  <a:pt x="0" y="110339"/>
                  <a:pt x="3163" y="113502"/>
                  <a:pt x="7094" y="113502"/>
                </a:cubicBezTo>
                <a:lnTo>
                  <a:pt x="18917" y="113502"/>
                </a:lnTo>
                <a:cubicBezTo>
                  <a:pt x="18917" y="123936"/>
                  <a:pt x="27400" y="132419"/>
                  <a:pt x="37834" y="132419"/>
                </a:cubicBezTo>
                <a:lnTo>
                  <a:pt x="37834" y="144242"/>
                </a:lnTo>
                <a:cubicBezTo>
                  <a:pt x="37834" y="148173"/>
                  <a:pt x="40997" y="151336"/>
                  <a:pt x="44928" y="151336"/>
                </a:cubicBezTo>
                <a:cubicBezTo>
                  <a:pt x="48859" y="151336"/>
                  <a:pt x="52022" y="148173"/>
                  <a:pt x="52022" y="144242"/>
                </a:cubicBezTo>
                <a:lnTo>
                  <a:pt x="52022" y="132419"/>
                </a:lnTo>
                <a:lnTo>
                  <a:pt x="68574" y="132419"/>
                </a:lnTo>
                <a:lnTo>
                  <a:pt x="68574" y="144242"/>
                </a:lnTo>
                <a:cubicBezTo>
                  <a:pt x="68574" y="148173"/>
                  <a:pt x="71737" y="151336"/>
                  <a:pt x="75668" y="151336"/>
                </a:cubicBezTo>
                <a:cubicBezTo>
                  <a:pt x="79599" y="151336"/>
                  <a:pt x="82762" y="148173"/>
                  <a:pt x="82762" y="144242"/>
                </a:cubicBezTo>
                <a:lnTo>
                  <a:pt x="82762" y="132419"/>
                </a:lnTo>
                <a:lnTo>
                  <a:pt x="99314" y="132419"/>
                </a:lnTo>
                <a:lnTo>
                  <a:pt x="99314" y="144242"/>
                </a:lnTo>
                <a:cubicBezTo>
                  <a:pt x="99314" y="148173"/>
                  <a:pt x="102477" y="151336"/>
                  <a:pt x="106408" y="151336"/>
                </a:cubicBezTo>
                <a:cubicBezTo>
                  <a:pt x="110339" y="151336"/>
                  <a:pt x="113502" y="148173"/>
                  <a:pt x="113502" y="144242"/>
                </a:cubicBezTo>
                <a:lnTo>
                  <a:pt x="113502" y="132419"/>
                </a:lnTo>
                <a:cubicBezTo>
                  <a:pt x="123936" y="132419"/>
                  <a:pt x="132419" y="123936"/>
                  <a:pt x="132419" y="113502"/>
                </a:cubicBezTo>
                <a:lnTo>
                  <a:pt x="144242" y="113502"/>
                </a:lnTo>
                <a:cubicBezTo>
                  <a:pt x="148173" y="113502"/>
                  <a:pt x="151336" y="110339"/>
                  <a:pt x="151336" y="106408"/>
                </a:cubicBezTo>
                <a:cubicBezTo>
                  <a:pt x="151336" y="102477"/>
                  <a:pt x="148173" y="99314"/>
                  <a:pt x="144242" y="99314"/>
                </a:cubicBezTo>
                <a:lnTo>
                  <a:pt x="132419" y="99314"/>
                </a:lnTo>
                <a:lnTo>
                  <a:pt x="132419" y="82762"/>
                </a:lnTo>
                <a:lnTo>
                  <a:pt x="144242" y="82762"/>
                </a:lnTo>
                <a:cubicBezTo>
                  <a:pt x="148173" y="82762"/>
                  <a:pt x="151336" y="79599"/>
                  <a:pt x="151336" y="75668"/>
                </a:cubicBezTo>
                <a:cubicBezTo>
                  <a:pt x="151336" y="71737"/>
                  <a:pt x="148173" y="68574"/>
                  <a:pt x="144242" y="68574"/>
                </a:cubicBezTo>
                <a:lnTo>
                  <a:pt x="132419" y="68574"/>
                </a:lnTo>
                <a:lnTo>
                  <a:pt x="132419" y="52022"/>
                </a:lnTo>
                <a:lnTo>
                  <a:pt x="144242" y="52022"/>
                </a:lnTo>
                <a:cubicBezTo>
                  <a:pt x="148173" y="52022"/>
                  <a:pt x="151336" y="48859"/>
                  <a:pt x="151336" y="44928"/>
                </a:cubicBezTo>
                <a:cubicBezTo>
                  <a:pt x="151336" y="40997"/>
                  <a:pt x="148173" y="37834"/>
                  <a:pt x="144242" y="37834"/>
                </a:cubicBezTo>
                <a:lnTo>
                  <a:pt x="132419" y="37834"/>
                </a:lnTo>
                <a:cubicBezTo>
                  <a:pt x="132419" y="27400"/>
                  <a:pt x="123936" y="18917"/>
                  <a:pt x="113502" y="18917"/>
                </a:cubicBezTo>
                <a:lnTo>
                  <a:pt x="113502" y="7094"/>
                </a:lnTo>
                <a:cubicBezTo>
                  <a:pt x="113502" y="3163"/>
                  <a:pt x="110339" y="0"/>
                  <a:pt x="106408" y="0"/>
                </a:cubicBezTo>
                <a:cubicBezTo>
                  <a:pt x="102477" y="0"/>
                  <a:pt x="99314" y="3163"/>
                  <a:pt x="99314" y="7094"/>
                </a:cubicBezTo>
                <a:lnTo>
                  <a:pt x="99314" y="18917"/>
                </a:lnTo>
                <a:lnTo>
                  <a:pt x="82762" y="18917"/>
                </a:lnTo>
                <a:lnTo>
                  <a:pt x="82762" y="7094"/>
                </a:lnTo>
                <a:cubicBezTo>
                  <a:pt x="82762" y="3163"/>
                  <a:pt x="79599" y="0"/>
                  <a:pt x="75668" y="0"/>
                </a:cubicBezTo>
                <a:cubicBezTo>
                  <a:pt x="71737" y="0"/>
                  <a:pt x="68574" y="3163"/>
                  <a:pt x="68574" y="7094"/>
                </a:cubicBezTo>
                <a:lnTo>
                  <a:pt x="68574" y="18917"/>
                </a:lnTo>
                <a:lnTo>
                  <a:pt x="52022" y="18917"/>
                </a:lnTo>
                <a:lnTo>
                  <a:pt x="52022" y="7094"/>
                </a:lnTo>
                <a:close/>
                <a:moveTo>
                  <a:pt x="47292" y="37834"/>
                </a:moveTo>
                <a:lnTo>
                  <a:pt x="104043" y="37834"/>
                </a:lnTo>
                <a:cubicBezTo>
                  <a:pt x="109275" y="37834"/>
                  <a:pt x="113502" y="42061"/>
                  <a:pt x="113502" y="47292"/>
                </a:cubicBezTo>
                <a:lnTo>
                  <a:pt x="113502" y="104043"/>
                </a:lnTo>
                <a:cubicBezTo>
                  <a:pt x="113502" y="109275"/>
                  <a:pt x="109275" y="113502"/>
                  <a:pt x="104043" y="113502"/>
                </a:cubicBezTo>
                <a:lnTo>
                  <a:pt x="47292" y="113502"/>
                </a:lnTo>
                <a:cubicBezTo>
                  <a:pt x="42061" y="113502"/>
                  <a:pt x="37834" y="109275"/>
                  <a:pt x="37834" y="104043"/>
                </a:cubicBezTo>
                <a:lnTo>
                  <a:pt x="37834" y="47292"/>
                </a:lnTo>
                <a:cubicBezTo>
                  <a:pt x="37834" y="42061"/>
                  <a:pt x="42061" y="37834"/>
                  <a:pt x="47292" y="37834"/>
                </a:cubicBezTo>
                <a:close/>
                <a:moveTo>
                  <a:pt x="52022" y="52022"/>
                </a:moveTo>
                <a:lnTo>
                  <a:pt x="52022" y="99314"/>
                </a:lnTo>
                <a:lnTo>
                  <a:pt x="99314" y="99314"/>
                </a:lnTo>
                <a:lnTo>
                  <a:pt x="99314" y="52022"/>
                </a:lnTo>
                <a:lnTo>
                  <a:pt x="52022" y="52022"/>
                </a:lnTo>
                <a:close/>
              </a:path>
            </a:pathLst>
          </a:custGeom>
          <a:solidFill>
            <a:srgbClr val="8B0000"/>
          </a:solidFill>
          <a:ln/>
        </p:spPr>
        <p:txBody>
          <a:bodyPr/>
          <a:lstStyle/>
          <a:p>
            <a:endParaRPr lang="en-US"/>
          </a:p>
        </p:txBody>
      </p:sp>
      <p:sp>
        <p:nvSpPr>
          <p:cNvPr id="29" name="Text 27"/>
          <p:cNvSpPr/>
          <p:nvPr/>
        </p:nvSpPr>
        <p:spPr>
          <a:xfrm>
            <a:off x="6613734" y="3465594"/>
            <a:ext cx="1286355" cy="227004"/>
          </a:xfrm>
          <a:prstGeom prst="rect">
            <a:avLst/>
          </a:prstGeom>
          <a:noFill/>
          <a:ln/>
        </p:spPr>
        <p:txBody>
          <a:bodyPr wrap="square" lIns="0" tIns="0" rIns="0" bIns="0" rtlCol="0" anchor="ctr"/>
          <a:lstStyle/>
          <a:p>
            <a:pPr>
              <a:lnSpc>
                <a:spcPct val="130000"/>
              </a:lnSpc>
            </a:pPr>
            <a:r>
              <a:rPr lang="en-US" sz="1192" b="1" dirty="0">
                <a:solidFill>
                  <a:srgbClr val="1F2937"/>
                </a:solidFill>
                <a:latin typeface="Sorts Mill Goudy" pitchFamily="34" charset="0"/>
                <a:ea typeface="Sorts Mill Goudy" pitchFamily="34" charset="-122"/>
                <a:cs typeface="Sorts Mill Goudy" pitchFamily="34" charset="-120"/>
              </a:rPr>
              <a:t>Models Compared</a:t>
            </a:r>
            <a:endParaRPr lang="en-US" sz="1600" dirty="0"/>
          </a:p>
        </p:txBody>
      </p:sp>
      <p:sp>
        <p:nvSpPr>
          <p:cNvPr id="30" name="Text 28"/>
          <p:cNvSpPr/>
          <p:nvPr/>
        </p:nvSpPr>
        <p:spPr>
          <a:xfrm>
            <a:off x="6348896" y="3768266"/>
            <a:ext cx="5183255" cy="189170"/>
          </a:xfrm>
          <a:prstGeom prst="rect">
            <a:avLst/>
          </a:prstGeom>
          <a:noFill/>
          <a:ln/>
        </p:spPr>
        <p:txBody>
          <a:bodyPr wrap="square" lIns="0" tIns="0" rIns="0" bIns="0" rtlCol="0" anchor="ctr"/>
          <a:lstStyle/>
          <a:p>
            <a:pPr>
              <a:lnSpc>
                <a:spcPct val="120000"/>
              </a:lnSpc>
            </a:pPr>
            <a:r>
              <a:rPr lang="en-US" sz="1043" dirty="0">
                <a:solidFill>
                  <a:srgbClr val="6B7280"/>
                </a:solidFill>
                <a:latin typeface="Sorts Mill Goudy" pitchFamily="34" charset="0"/>
                <a:ea typeface="Sorts Mill Goudy" pitchFamily="34" charset="-122"/>
                <a:cs typeface="Sorts Mill Goudy" pitchFamily="34" charset="-120"/>
              </a:rPr>
              <a:t>ANN, LSTM with GloVe/BERT embeddings</a:t>
            </a:r>
            <a:endParaRPr lang="en-US" sz="1600" dirty="0"/>
          </a:p>
        </p:txBody>
      </p:sp>
      <p:sp>
        <p:nvSpPr>
          <p:cNvPr id="31" name="Shape 29"/>
          <p:cNvSpPr/>
          <p:nvPr/>
        </p:nvSpPr>
        <p:spPr>
          <a:xfrm>
            <a:off x="378340" y="4456842"/>
            <a:ext cx="5637263" cy="1494442"/>
          </a:xfrm>
          <a:custGeom>
            <a:avLst/>
            <a:gdLst/>
            <a:ahLst/>
            <a:cxnLst/>
            <a:rect l="l" t="t" r="r" b="b"/>
            <a:pathLst>
              <a:path w="5637263" h="1494442">
                <a:moveTo>
                  <a:pt x="0" y="0"/>
                </a:moveTo>
                <a:lnTo>
                  <a:pt x="5637263" y="0"/>
                </a:lnTo>
                <a:lnTo>
                  <a:pt x="5637263" y="1494442"/>
                </a:lnTo>
                <a:lnTo>
                  <a:pt x="0" y="1494442"/>
                </a:lnTo>
                <a:lnTo>
                  <a:pt x="0" y="0"/>
                </a:lnTo>
                <a:close/>
              </a:path>
            </a:pathLst>
          </a:custGeom>
          <a:solidFill>
            <a:srgbClr val="F9FAFB"/>
          </a:solidFill>
          <a:ln/>
        </p:spPr>
        <p:txBody>
          <a:bodyPr/>
          <a:lstStyle/>
          <a:p>
            <a:endParaRPr lang="en-US"/>
          </a:p>
        </p:txBody>
      </p:sp>
      <p:sp>
        <p:nvSpPr>
          <p:cNvPr id="32" name="Shape 30"/>
          <p:cNvSpPr/>
          <p:nvPr/>
        </p:nvSpPr>
        <p:spPr>
          <a:xfrm>
            <a:off x="591156" y="4693305"/>
            <a:ext cx="170253" cy="170253"/>
          </a:xfrm>
          <a:custGeom>
            <a:avLst/>
            <a:gdLst/>
            <a:ahLst/>
            <a:cxnLst/>
            <a:rect l="l" t="t" r="r" b="b"/>
            <a:pathLst>
              <a:path w="170253" h="170253">
                <a:moveTo>
                  <a:pt x="10641" y="10641"/>
                </a:moveTo>
                <a:cubicBezTo>
                  <a:pt x="16527" y="10641"/>
                  <a:pt x="21282" y="15396"/>
                  <a:pt x="21282" y="21282"/>
                </a:cubicBezTo>
                <a:lnTo>
                  <a:pt x="21282" y="133010"/>
                </a:lnTo>
                <a:cubicBezTo>
                  <a:pt x="21282" y="135936"/>
                  <a:pt x="23676" y="138330"/>
                  <a:pt x="26602" y="138330"/>
                </a:cubicBezTo>
                <a:lnTo>
                  <a:pt x="159612" y="138330"/>
                </a:lnTo>
                <a:cubicBezTo>
                  <a:pt x="165498" y="138330"/>
                  <a:pt x="170253" y="143086"/>
                  <a:pt x="170253" y="148971"/>
                </a:cubicBezTo>
                <a:cubicBezTo>
                  <a:pt x="170253" y="154857"/>
                  <a:pt x="165498" y="159612"/>
                  <a:pt x="159612" y="159612"/>
                </a:cubicBezTo>
                <a:lnTo>
                  <a:pt x="26602" y="159612"/>
                </a:lnTo>
                <a:cubicBezTo>
                  <a:pt x="11904" y="159612"/>
                  <a:pt x="0" y="147708"/>
                  <a:pt x="0" y="133010"/>
                </a:cubicBezTo>
                <a:lnTo>
                  <a:pt x="0" y="21282"/>
                </a:lnTo>
                <a:cubicBezTo>
                  <a:pt x="0" y="15396"/>
                  <a:pt x="4755" y="10641"/>
                  <a:pt x="10641" y="10641"/>
                </a:cubicBezTo>
                <a:close/>
                <a:moveTo>
                  <a:pt x="42563" y="31922"/>
                </a:moveTo>
                <a:cubicBezTo>
                  <a:pt x="42563" y="26037"/>
                  <a:pt x="47318" y="21282"/>
                  <a:pt x="53204" y="21282"/>
                </a:cubicBezTo>
                <a:lnTo>
                  <a:pt x="117049" y="21282"/>
                </a:lnTo>
                <a:cubicBezTo>
                  <a:pt x="122935" y="21282"/>
                  <a:pt x="127690" y="26037"/>
                  <a:pt x="127690" y="31922"/>
                </a:cubicBezTo>
                <a:cubicBezTo>
                  <a:pt x="127690" y="37808"/>
                  <a:pt x="122935" y="42563"/>
                  <a:pt x="117049" y="42563"/>
                </a:cubicBezTo>
                <a:lnTo>
                  <a:pt x="53204" y="42563"/>
                </a:lnTo>
                <a:cubicBezTo>
                  <a:pt x="47318" y="42563"/>
                  <a:pt x="42563" y="37808"/>
                  <a:pt x="42563" y="31922"/>
                </a:cubicBezTo>
                <a:close/>
                <a:moveTo>
                  <a:pt x="53204" y="58524"/>
                </a:moveTo>
                <a:lnTo>
                  <a:pt x="95767" y="58524"/>
                </a:lnTo>
                <a:cubicBezTo>
                  <a:pt x="101653" y="58524"/>
                  <a:pt x="106408" y="63280"/>
                  <a:pt x="106408" y="69165"/>
                </a:cubicBezTo>
                <a:cubicBezTo>
                  <a:pt x="106408" y="75051"/>
                  <a:pt x="101653" y="79806"/>
                  <a:pt x="95767" y="79806"/>
                </a:cubicBezTo>
                <a:lnTo>
                  <a:pt x="53204" y="79806"/>
                </a:lnTo>
                <a:cubicBezTo>
                  <a:pt x="47318" y="79806"/>
                  <a:pt x="42563" y="75051"/>
                  <a:pt x="42563" y="69165"/>
                </a:cubicBezTo>
                <a:cubicBezTo>
                  <a:pt x="42563" y="63280"/>
                  <a:pt x="47318" y="58524"/>
                  <a:pt x="53204" y="58524"/>
                </a:cubicBezTo>
                <a:close/>
                <a:moveTo>
                  <a:pt x="53204" y="95767"/>
                </a:moveTo>
                <a:lnTo>
                  <a:pt x="138330" y="95767"/>
                </a:lnTo>
                <a:cubicBezTo>
                  <a:pt x="144216" y="95767"/>
                  <a:pt x="148971" y="100522"/>
                  <a:pt x="148971" y="106408"/>
                </a:cubicBezTo>
                <a:cubicBezTo>
                  <a:pt x="148971" y="112294"/>
                  <a:pt x="144216" y="117049"/>
                  <a:pt x="138330" y="117049"/>
                </a:cubicBezTo>
                <a:lnTo>
                  <a:pt x="53204" y="117049"/>
                </a:lnTo>
                <a:cubicBezTo>
                  <a:pt x="47318" y="117049"/>
                  <a:pt x="42563" y="112294"/>
                  <a:pt x="42563" y="106408"/>
                </a:cubicBezTo>
                <a:cubicBezTo>
                  <a:pt x="42563" y="100522"/>
                  <a:pt x="47318" y="95767"/>
                  <a:pt x="53204" y="95767"/>
                </a:cubicBezTo>
                <a:close/>
              </a:path>
            </a:pathLst>
          </a:custGeom>
          <a:solidFill>
            <a:srgbClr val="8B0000"/>
          </a:solidFill>
          <a:ln/>
        </p:spPr>
        <p:txBody>
          <a:bodyPr/>
          <a:lstStyle/>
          <a:p>
            <a:endParaRPr lang="en-US"/>
          </a:p>
        </p:txBody>
      </p:sp>
      <p:sp>
        <p:nvSpPr>
          <p:cNvPr id="33" name="Text 31"/>
          <p:cNvSpPr/>
          <p:nvPr/>
        </p:nvSpPr>
        <p:spPr>
          <a:xfrm>
            <a:off x="785055" y="4646012"/>
            <a:ext cx="5126504" cy="264838"/>
          </a:xfrm>
          <a:prstGeom prst="rect">
            <a:avLst/>
          </a:prstGeom>
          <a:noFill/>
          <a:ln/>
        </p:spPr>
        <p:txBody>
          <a:bodyPr wrap="square" lIns="0" tIns="0" rIns="0" bIns="0" rtlCol="0" anchor="ctr"/>
          <a:lstStyle/>
          <a:p>
            <a:pPr>
              <a:lnSpc>
                <a:spcPct val="130000"/>
              </a:lnSpc>
            </a:pPr>
            <a:r>
              <a:rPr lang="en-US" sz="1341" b="1" dirty="0">
                <a:solidFill>
                  <a:srgbClr val="1F2937"/>
                </a:solidFill>
                <a:latin typeface="Sorts Mill Goudy" pitchFamily="34" charset="0"/>
                <a:ea typeface="Sorts Mill Goudy" pitchFamily="34" charset="-122"/>
                <a:cs typeface="Sorts Mill Goudy" pitchFamily="34" charset="-120"/>
              </a:rPr>
              <a:t>Research Contribution</a:t>
            </a:r>
            <a:endParaRPr lang="en-US" sz="1600" dirty="0"/>
          </a:p>
        </p:txBody>
      </p:sp>
      <p:sp>
        <p:nvSpPr>
          <p:cNvPr id="34" name="Text 32"/>
          <p:cNvSpPr/>
          <p:nvPr/>
        </p:nvSpPr>
        <p:spPr>
          <a:xfrm>
            <a:off x="567510" y="5024352"/>
            <a:ext cx="5334591" cy="737763"/>
          </a:xfrm>
          <a:prstGeom prst="rect">
            <a:avLst/>
          </a:prstGeom>
          <a:noFill/>
          <a:ln/>
        </p:spPr>
        <p:txBody>
          <a:bodyPr wrap="square" lIns="0" tIns="0" rIns="0" bIns="0" rtlCol="0" anchor="ctr"/>
          <a:lstStyle/>
          <a:p>
            <a:pPr>
              <a:lnSpc>
                <a:spcPct val="140000"/>
              </a:lnSpc>
            </a:pPr>
            <a:r>
              <a:rPr lang="en-US" sz="1192" dirty="0">
                <a:solidFill>
                  <a:srgbClr val="1F2937"/>
                </a:solidFill>
                <a:latin typeface="Sorts Mill Goudy" pitchFamily="34" charset="0"/>
                <a:ea typeface="Sorts Mill Goudy" pitchFamily="34" charset="-122"/>
                <a:cs typeface="Sorts Mill Goudy" pitchFamily="34" charset="-120"/>
              </a:rPr>
              <a:t>This study provides a comprehensive comparison of deep learning approaches for Bloom's level classification, demonstrating the effectiveness of transformer-based models (BERT) over traditional neural network architectures.</a:t>
            </a:r>
            <a:endParaRPr lang="en-US" sz="1600" dirty="0"/>
          </a:p>
        </p:txBody>
      </p:sp>
      <p:sp>
        <p:nvSpPr>
          <p:cNvPr id="35" name="Shape 33"/>
          <p:cNvSpPr/>
          <p:nvPr/>
        </p:nvSpPr>
        <p:spPr>
          <a:xfrm>
            <a:off x="6171077" y="4456842"/>
            <a:ext cx="5637263" cy="1494442"/>
          </a:xfrm>
          <a:custGeom>
            <a:avLst/>
            <a:gdLst/>
            <a:ahLst/>
            <a:cxnLst/>
            <a:rect l="l" t="t" r="r" b="b"/>
            <a:pathLst>
              <a:path w="5637263" h="1494442">
                <a:moveTo>
                  <a:pt x="0" y="0"/>
                </a:moveTo>
                <a:lnTo>
                  <a:pt x="5637263" y="0"/>
                </a:lnTo>
                <a:lnTo>
                  <a:pt x="5637263" y="1494442"/>
                </a:lnTo>
                <a:lnTo>
                  <a:pt x="0" y="1494442"/>
                </a:lnTo>
                <a:lnTo>
                  <a:pt x="0" y="0"/>
                </a:lnTo>
                <a:close/>
              </a:path>
            </a:pathLst>
          </a:custGeom>
          <a:solidFill>
            <a:srgbClr val="F9FAFB"/>
          </a:solidFill>
          <a:ln/>
        </p:spPr>
        <p:txBody>
          <a:bodyPr/>
          <a:lstStyle/>
          <a:p>
            <a:endParaRPr lang="en-US"/>
          </a:p>
        </p:txBody>
      </p:sp>
      <p:sp>
        <p:nvSpPr>
          <p:cNvPr id="36" name="Shape 34"/>
          <p:cNvSpPr/>
          <p:nvPr/>
        </p:nvSpPr>
        <p:spPr>
          <a:xfrm>
            <a:off x="6405175" y="4693305"/>
            <a:ext cx="127690" cy="170253"/>
          </a:xfrm>
          <a:custGeom>
            <a:avLst/>
            <a:gdLst/>
            <a:ahLst/>
            <a:cxnLst/>
            <a:rect l="l" t="t" r="r" b="b"/>
            <a:pathLst>
              <a:path w="127690" h="170253">
                <a:moveTo>
                  <a:pt x="42563" y="31922"/>
                </a:moveTo>
                <a:lnTo>
                  <a:pt x="42563" y="53204"/>
                </a:lnTo>
                <a:lnTo>
                  <a:pt x="85126" y="53204"/>
                </a:lnTo>
                <a:lnTo>
                  <a:pt x="85126" y="31922"/>
                </a:lnTo>
                <a:cubicBezTo>
                  <a:pt x="85126" y="20184"/>
                  <a:pt x="75583" y="10641"/>
                  <a:pt x="63845" y="10641"/>
                </a:cubicBezTo>
                <a:cubicBezTo>
                  <a:pt x="52107" y="10641"/>
                  <a:pt x="42563" y="20184"/>
                  <a:pt x="42563" y="31922"/>
                </a:cubicBezTo>
                <a:close/>
                <a:moveTo>
                  <a:pt x="21282" y="53204"/>
                </a:moveTo>
                <a:lnTo>
                  <a:pt x="21282" y="31922"/>
                </a:lnTo>
                <a:cubicBezTo>
                  <a:pt x="21282" y="8413"/>
                  <a:pt x="40335" y="-10641"/>
                  <a:pt x="63845" y="-10641"/>
                </a:cubicBezTo>
                <a:cubicBezTo>
                  <a:pt x="87354" y="-10641"/>
                  <a:pt x="106408" y="8413"/>
                  <a:pt x="106408" y="31922"/>
                </a:cubicBezTo>
                <a:lnTo>
                  <a:pt x="106408" y="53204"/>
                </a:lnTo>
                <a:cubicBezTo>
                  <a:pt x="118146" y="53204"/>
                  <a:pt x="127690" y="62748"/>
                  <a:pt x="127690" y="74486"/>
                </a:cubicBezTo>
                <a:lnTo>
                  <a:pt x="127690" y="148971"/>
                </a:lnTo>
                <a:cubicBezTo>
                  <a:pt x="127690" y="160709"/>
                  <a:pt x="118146" y="170253"/>
                  <a:pt x="106408" y="170253"/>
                </a:cubicBezTo>
                <a:lnTo>
                  <a:pt x="21282" y="170253"/>
                </a:lnTo>
                <a:cubicBezTo>
                  <a:pt x="9543" y="170253"/>
                  <a:pt x="0" y="160709"/>
                  <a:pt x="0" y="148971"/>
                </a:cubicBezTo>
                <a:lnTo>
                  <a:pt x="0" y="74486"/>
                </a:lnTo>
                <a:cubicBezTo>
                  <a:pt x="0" y="62748"/>
                  <a:pt x="9543" y="53204"/>
                  <a:pt x="21282" y="53204"/>
                </a:cubicBezTo>
                <a:close/>
              </a:path>
            </a:pathLst>
          </a:custGeom>
          <a:solidFill>
            <a:srgbClr val="8B0000"/>
          </a:solidFill>
          <a:ln/>
        </p:spPr>
        <p:txBody>
          <a:bodyPr/>
          <a:lstStyle/>
          <a:p>
            <a:endParaRPr lang="en-US"/>
          </a:p>
        </p:txBody>
      </p:sp>
      <p:sp>
        <p:nvSpPr>
          <p:cNvPr id="37" name="Text 35"/>
          <p:cNvSpPr/>
          <p:nvPr/>
        </p:nvSpPr>
        <p:spPr>
          <a:xfrm>
            <a:off x="6577792" y="4646012"/>
            <a:ext cx="5126504" cy="264838"/>
          </a:xfrm>
          <a:prstGeom prst="rect">
            <a:avLst/>
          </a:prstGeom>
          <a:noFill/>
          <a:ln/>
        </p:spPr>
        <p:txBody>
          <a:bodyPr wrap="square" lIns="0" tIns="0" rIns="0" bIns="0" rtlCol="0" anchor="ctr"/>
          <a:lstStyle/>
          <a:p>
            <a:pPr>
              <a:lnSpc>
                <a:spcPct val="130000"/>
              </a:lnSpc>
            </a:pPr>
            <a:r>
              <a:rPr lang="en-US" sz="1341" b="1" dirty="0">
                <a:solidFill>
                  <a:srgbClr val="1F2937"/>
                </a:solidFill>
                <a:latin typeface="Sorts Mill Goudy" pitchFamily="34" charset="0"/>
                <a:ea typeface="Sorts Mill Goudy" pitchFamily="34" charset="-122"/>
                <a:cs typeface="Sorts Mill Goudy" pitchFamily="34" charset="-120"/>
              </a:rPr>
              <a:t>Availability Status</a:t>
            </a:r>
            <a:endParaRPr lang="en-US" sz="1600" dirty="0"/>
          </a:p>
        </p:txBody>
      </p:sp>
      <p:sp>
        <p:nvSpPr>
          <p:cNvPr id="38" name="Text 36"/>
          <p:cNvSpPr/>
          <p:nvPr/>
        </p:nvSpPr>
        <p:spPr>
          <a:xfrm>
            <a:off x="6360247" y="5024352"/>
            <a:ext cx="5334591" cy="737763"/>
          </a:xfrm>
          <a:prstGeom prst="rect">
            <a:avLst/>
          </a:prstGeom>
          <a:noFill/>
          <a:ln/>
        </p:spPr>
        <p:txBody>
          <a:bodyPr wrap="square" lIns="0" tIns="0" rIns="0" bIns="0" rtlCol="0" anchor="ctr"/>
          <a:lstStyle/>
          <a:p>
            <a:pPr>
              <a:lnSpc>
                <a:spcPct val="140000"/>
              </a:lnSpc>
            </a:pPr>
            <a:r>
              <a:rPr lang="en-US" sz="1192" b="1" dirty="0">
                <a:solidFill>
                  <a:srgbClr val="8B0000"/>
                </a:solidFill>
                <a:latin typeface="Sorts Mill Goudy" pitchFamily="34" charset="0"/>
                <a:ea typeface="Sorts Mill Goudy" pitchFamily="34" charset="-122"/>
                <a:cs typeface="Sorts Mill Goudy" pitchFamily="34" charset="-120"/>
              </a:rPr>
              <a:t>Private</a:t>
            </a:r>
            <a:r>
              <a:rPr lang="en-US" sz="1192" dirty="0">
                <a:solidFill>
                  <a:srgbClr val="1F2937"/>
                </a:solidFill>
                <a:latin typeface="Sorts Mill Goudy" pitchFamily="34" charset="0"/>
                <a:ea typeface="Sorts Mill Goudy" pitchFamily="34" charset="-122"/>
                <a:cs typeface="Sorts Mill Goudy" pitchFamily="34" charset="-120"/>
              </a:rPr>
              <a:t> - Dataset described in the paper but not publicly posted. Likely available upon request from authors, subject to institutional approval and data sharing agreements.</a:t>
            </a:r>
            <a:endParaRPr lang="en-US" sz="1600" dirty="0"/>
          </a:p>
        </p:txBody>
      </p:sp>
      <p:sp>
        <p:nvSpPr>
          <p:cNvPr id="39" name="Shape 37"/>
          <p:cNvSpPr/>
          <p:nvPr/>
        </p:nvSpPr>
        <p:spPr>
          <a:xfrm>
            <a:off x="378340" y="6102620"/>
            <a:ext cx="11435320" cy="756680"/>
          </a:xfrm>
          <a:custGeom>
            <a:avLst/>
            <a:gdLst/>
            <a:ahLst/>
            <a:cxnLst/>
            <a:rect l="l" t="t" r="r" b="b"/>
            <a:pathLst>
              <a:path w="11435320" h="756680">
                <a:moveTo>
                  <a:pt x="0" y="0"/>
                </a:moveTo>
                <a:lnTo>
                  <a:pt x="11435320" y="0"/>
                </a:lnTo>
                <a:lnTo>
                  <a:pt x="11435320" y="756680"/>
                </a:lnTo>
                <a:lnTo>
                  <a:pt x="0" y="756680"/>
                </a:lnTo>
                <a:lnTo>
                  <a:pt x="0" y="0"/>
                </a:lnTo>
                <a:close/>
              </a:path>
            </a:pathLst>
          </a:custGeom>
          <a:solidFill>
            <a:srgbClr val="1F2937"/>
          </a:solidFill>
          <a:ln/>
        </p:spPr>
        <p:txBody>
          <a:bodyPr/>
          <a:lstStyle/>
          <a:p>
            <a:endParaRPr lang="en-US"/>
          </a:p>
        </p:txBody>
      </p:sp>
      <p:sp>
        <p:nvSpPr>
          <p:cNvPr id="40" name="Shape 38"/>
          <p:cNvSpPr/>
          <p:nvPr/>
        </p:nvSpPr>
        <p:spPr>
          <a:xfrm>
            <a:off x="558051" y="6269091"/>
            <a:ext cx="132419" cy="151336"/>
          </a:xfrm>
          <a:custGeom>
            <a:avLst/>
            <a:gdLst/>
            <a:ahLst/>
            <a:cxnLst/>
            <a:rect l="l" t="t" r="r" b="b"/>
            <a:pathLst>
              <a:path w="132419" h="151336">
                <a:moveTo>
                  <a:pt x="0" y="63845"/>
                </a:moveTo>
                <a:cubicBezTo>
                  <a:pt x="0" y="44248"/>
                  <a:pt x="15873" y="28375"/>
                  <a:pt x="35469" y="28375"/>
                </a:cubicBezTo>
                <a:lnTo>
                  <a:pt x="37834" y="28375"/>
                </a:lnTo>
                <a:cubicBezTo>
                  <a:pt x="43066" y="28375"/>
                  <a:pt x="47292" y="32602"/>
                  <a:pt x="47292" y="37834"/>
                </a:cubicBezTo>
                <a:cubicBezTo>
                  <a:pt x="47292" y="43066"/>
                  <a:pt x="43066" y="47292"/>
                  <a:pt x="37834" y="47292"/>
                </a:cubicBezTo>
                <a:lnTo>
                  <a:pt x="35469" y="47292"/>
                </a:lnTo>
                <a:cubicBezTo>
                  <a:pt x="26336" y="47292"/>
                  <a:pt x="18917" y="54711"/>
                  <a:pt x="18917" y="63845"/>
                </a:cubicBezTo>
                <a:lnTo>
                  <a:pt x="18917" y="66209"/>
                </a:lnTo>
                <a:lnTo>
                  <a:pt x="37834" y="66209"/>
                </a:lnTo>
                <a:cubicBezTo>
                  <a:pt x="48268" y="66209"/>
                  <a:pt x="56751" y="74693"/>
                  <a:pt x="56751" y="85126"/>
                </a:cubicBezTo>
                <a:lnTo>
                  <a:pt x="56751" y="104043"/>
                </a:lnTo>
                <a:cubicBezTo>
                  <a:pt x="56751" y="114477"/>
                  <a:pt x="48268" y="122960"/>
                  <a:pt x="37834" y="122960"/>
                </a:cubicBezTo>
                <a:lnTo>
                  <a:pt x="18917" y="122960"/>
                </a:lnTo>
                <a:cubicBezTo>
                  <a:pt x="8483" y="122960"/>
                  <a:pt x="0" y="114477"/>
                  <a:pt x="0" y="104043"/>
                </a:cubicBezTo>
                <a:lnTo>
                  <a:pt x="0" y="63845"/>
                </a:lnTo>
                <a:close/>
                <a:moveTo>
                  <a:pt x="75668" y="63845"/>
                </a:moveTo>
                <a:cubicBezTo>
                  <a:pt x="75668" y="44248"/>
                  <a:pt x="91540" y="28375"/>
                  <a:pt x="111137" y="28375"/>
                </a:cubicBezTo>
                <a:lnTo>
                  <a:pt x="113502" y="28375"/>
                </a:lnTo>
                <a:cubicBezTo>
                  <a:pt x="118734" y="28375"/>
                  <a:pt x="122960" y="32602"/>
                  <a:pt x="122960" y="37834"/>
                </a:cubicBezTo>
                <a:cubicBezTo>
                  <a:pt x="122960" y="43066"/>
                  <a:pt x="118734" y="47292"/>
                  <a:pt x="113502" y="47292"/>
                </a:cubicBezTo>
                <a:lnTo>
                  <a:pt x="111137" y="47292"/>
                </a:lnTo>
                <a:cubicBezTo>
                  <a:pt x="102004" y="47292"/>
                  <a:pt x="94585" y="54711"/>
                  <a:pt x="94585" y="63845"/>
                </a:cubicBezTo>
                <a:lnTo>
                  <a:pt x="94585" y="66209"/>
                </a:lnTo>
                <a:lnTo>
                  <a:pt x="113502" y="66209"/>
                </a:lnTo>
                <a:cubicBezTo>
                  <a:pt x="123936" y="66209"/>
                  <a:pt x="132419" y="74693"/>
                  <a:pt x="132419" y="85126"/>
                </a:cubicBezTo>
                <a:lnTo>
                  <a:pt x="132419" y="104043"/>
                </a:lnTo>
                <a:cubicBezTo>
                  <a:pt x="132419" y="114477"/>
                  <a:pt x="123936" y="122960"/>
                  <a:pt x="113502" y="122960"/>
                </a:cubicBezTo>
                <a:lnTo>
                  <a:pt x="94585" y="122960"/>
                </a:lnTo>
                <a:cubicBezTo>
                  <a:pt x="84151" y="122960"/>
                  <a:pt x="75668" y="114477"/>
                  <a:pt x="75668" y="104043"/>
                </a:cubicBezTo>
                <a:lnTo>
                  <a:pt x="75668" y="63845"/>
                </a:lnTo>
                <a:close/>
              </a:path>
            </a:pathLst>
          </a:custGeom>
          <a:solidFill>
            <a:srgbClr val="8B0000"/>
          </a:solidFill>
          <a:ln/>
        </p:spPr>
        <p:txBody>
          <a:bodyPr/>
          <a:lstStyle/>
          <a:p>
            <a:endParaRPr lang="en-US"/>
          </a:p>
        </p:txBody>
      </p:sp>
      <p:sp>
        <p:nvSpPr>
          <p:cNvPr id="41" name="Text 39"/>
          <p:cNvSpPr/>
          <p:nvPr/>
        </p:nvSpPr>
        <p:spPr>
          <a:xfrm>
            <a:off x="775200" y="6253956"/>
            <a:ext cx="10962792" cy="454008"/>
          </a:xfrm>
          <a:prstGeom prst="rect">
            <a:avLst/>
          </a:prstGeom>
          <a:noFill/>
          <a:ln/>
        </p:spPr>
        <p:txBody>
          <a:bodyPr wrap="square" lIns="0" tIns="0" rIns="0" bIns="0" rtlCol="0" anchor="ctr"/>
          <a:lstStyle/>
          <a:p>
            <a:pPr>
              <a:lnSpc>
                <a:spcPct val="130000"/>
              </a:lnSpc>
            </a:pPr>
            <a:r>
              <a:rPr lang="en-US" sz="1192" b="1" dirty="0">
                <a:solidFill>
                  <a:srgbClr val="F9FAFB"/>
                </a:solidFill>
                <a:latin typeface="Sorts Mill Goudy" pitchFamily="34" charset="0"/>
                <a:ea typeface="Sorts Mill Goudy" pitchFamily="34" charset="-122"/>
                <a:cs typeface="Sorts Mill Goudy" pitchFamily="34" charset="-120"/>
              </a:rPr>
              <a:t>Significance:</a:t>
            </a:r>
            <a:r>
              <a:rPr lang="en-US" sz="1192" dirty="0">
                <a:solidFill>
                  <a:srgbClr val="F9FAFB"/>
                </a:solidFill>
                <a:latin typeface="Sorts Mill Goudy" pitchFamily="34" charset="0"/>
                <a:ea typeface="Sorts Mill Goudy" pitchFamily="34" charset="-122"/>
                <a:cs typeface="Sorts Mill Goudy" pitchFamily="34" charset="-120"/>
              </a:rPr>
              <a:t> One of the largest exam question datasets for Bloom's taxonomy research, providing valuable insights into assessment practices across multiple Sri Lankan higher education institutions.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6296" y="376296"/>
            <a:ext cx="11505259" cy="188148"/>
          </a:xfrm>
          <a:prstGeom prst="rect">
            <a:avLst/>
          </a:prstGeom>
          <a:noFill/>
          <a:ln/>
        </p:spPr>
        <p:txBody>
          <a:bodyPr wrap="square" lIns="0" tIns="0" rIns="0" bIns="0" rtlCol="0" anchor="ctr"/>
          <a:lstStyle/>
          <a:p>
            <a:pPr>
              <a:lnSpc>
                <a:spcPct val="120000"/>
              </a:lnSpc>
            </a:pPr>
            <a:r>
              <a:rPr lang="en-US" sz="1037" b="1" kern="0" spc="104" dirty="0">
                <a:solidFill>
                  <a:srgbClr val="8B0000"/>
                </a:solidFill>
                <a:latin typeface="Sorts Mill Goudy" pitchFamily="34" charset="0"/>
                <a:ea typeface="Sorts Mill Goudy" pitchFamily="34" charset="-122"/>
                <a:cs typeface="Sorts Mill Goudy" pitchFamily="34" charset="-120"/>
              </a:rPr>
              <a:t>3.1 PUBLIC DATASETS</a:t>
            </a:r>
            <a:endParaRPr lang="en-US" sz="1600" dirty="0"/>
          </a:p>
        </p:txBody>
      </p:sp>
      <p:sp>
        <p:nvSpPr>
          <p:cNvPr id="3" name="Text 1"/>
          <p:cNvSpPr/>
          <p:nvPr/>
        </p:nvSpPr>
        <p:spPr>
          <a:xfrm>
            <a:off x="376296" y="639704"/>
            <a:ext cx="11608741" cy="376296"/>
          </a:xfrm>
          <a:prstGeom prst="rect">
            <a:avLst/>
          </a:prstGeom>
          <a:noFill/>
          <a:ln/>
        </p:spPr>
        <p:txBody>
          <a:bodyPr wrap="square" lIns="0" tIns="0" rIns="0" bIns="0" rtlCol="0" anchor="ctr"/>
          <a:lstStyle/>
          <a:p>
            <a:pPr>
              <a:lnSpc>
                <a:spcPct val="90000"/>
              </a:lnSpc>
            </a:pPr>
            <a:r>
              <a:rPr lang="en-US" sz="2667" b="1" dirty="0">
                <a:solidFill>
                  <a:srgbClr val="1F2937"/>
                </a:solidFill>
                <a:latin typeface="Sorts Mill Goudy" pitchFamily="34" charset="0"/>
                <a:ea typeface="Sorts Mill Goudy" pitchFamily="34" charset="-122"/>
                <a:cs typeface="Sorts Mill Goudy" pitchFamily="34" charset="-120"/>
              </a:rPr>
              <a:t>Public Benchmark Datasets: BloomNet and Combined Collections</a:t>
            </a:r>
            <a:endParaRPr lang="en-US" sz="1600" dirty="0"/>
          </a:p>
        </p:txBody>
      </p:sp>
      <p:sp>
        <p:nvSpPr>
          <p:cNvPr id="4" name="Shape 2"/>
          <p:cNvSpPr/>
          <p:nvPr/>
        </p:nvSpPr>
        <p:spPr>
          <a:xfrm>
            <a:off x="376296" y="1128889"/>
            <a:ext cx="752593" cy="37630"/>
          </a:xfrm>
          <a:custGeom>
            <a:avLst/>
            <a:gdLst/>
            <a:ahLst/>
            <a:cxnLst/>
            <a:rect l="l" t="t" r="r" b="b"/>
            <a:pathLst>
              <a:path w="752593" h="37630">
                <a:moveTo>
                  <a:pt x="0" y="0"/>
                </a:moveTo>
                <a:lnTo>
                  <a:pt x="752593" y="0"/>
                </a:lnTo>
                <a:lnTo>
                  <a:pt x="752593" y="37630"/>
                </a:lnTo>
                <a:lnTo>
                  <a:pt x="0" y="37630"/>
                </a:lnTo>
                <a:lnTo>
                  <a:pt x="0" y="0"/>
                </a:lnTo>
                <a:close/>
              </a:path>
            </a:pathLst>
          </a:custGeom>
          <a:solidFill>
            <a:srgbClr val="8B0000"/>
          </a:solidFill>
          <a:ln/>
        </p:spPr>
        <p:txBody>
          <a:bodyPr/>
          <a:lstStyle/>
          <a:p>
            <a:endParaRPr lang="en-US"/>
          </a:p>
        </p:txBody>
      </p:sp>
      <p:sp>
        <p:nvSpPr>
          <p:cNvPr id="5" name="Shape 3"/>
          <p:cNvSpPr/>
          <p:nvPr/>
        </p:nvSpPr>
        <p:spPr>
          <a:xfrm>
            <a:off x="395111" y="1317037"/>
            <a:ext cx="5606815" cy="3339630"/>
          </a:xfrm>
          <a:custGeom>
            <a:avLst/>
            <a:gdLst/>
            <a:ahLst/>
            <a:cxnLst/>
            <a:rect l="l" t="t" r="r" b="b"/>
            <a:pathLst>
              <a:path w="5606815" h="3339630">
                <a:moveTo>
                  <a:pt x="0" y="0"/>
                </a:moveTo>
                <a:lnTo>
                  <a:pt x="5606815" y="0"/>
                </a:lnTo>
                <a:lnTo>
                  <a:pt x="5606815" y="3339630"/>
                </a:lnTo>
                <a:lnTo>
                  <a:pt x="0" y="3339630"/>
                </a:lnTo>
                <a:lnTo>
                  <a:pt x="0" y="0"/>
                </a:lnTo>
                <a:close/>
              </a:path>
            </a:pathLst>
          </a:custGeom>
          <a:solidFill>
            <a:srgbClr val="F9FAFB"/>
          </a:solidFill>
          <a:ln/>
        </p:spPr>
        <p:txBody>
          <a:bodyPr/>
          <a:lstStyle/>
          <a:p>
            <a:endParaRPr lang="en-US"/>
          </a:p>
        </p:txBody>
      </p:sp>
      <p:sp>
        <p:nvSpPr>
          <p:cNvPr id="6" name="Shape 4"/>
          <p:cNvSpPr/>
          <p:nvPr/>
        </p:nvSpPr>
        <p:spPr>
          <a:xfrm>
            <a:off x="395111" y="1317037"/>
            <a:ext cx="37630" cy="3339630"/>
          </a:xfrm>
          <a:custGeom>
            <a:avLst/>
            <a:gdLst/>
            <a:ahLst/>
            <a:cxnLst/>
            <a:rect l="l" t="t" r="r" b="b"/>
            <a:pathLst>
              <a:path w="37630" h="3339630">
                <a:moveTo>
                  <a:pt x="0" y="0"/>
                </a:moveTo>
                <a:lnTo>
                  <a:pt x="37630" y="0"/>
                </a:lnTo>
                <a:lnTo>
                  <a:pt x="37630" y="3339630"/>
                </a:lnTo>
                <a:lnTo>
                  <a:pt x="0" y="3339630"/>
                </a:lnTo>
                <a:lnTo>
                  <a:pt x="0" y="0"/>
                </a:lnTo>
                <a:close/>
              </a:path>
            </a:pathLst>
          </a:custGeom>
          <a:solidFill>
            <a:srgbClr val="8B0000"/>
          </a:solidFill>
          <a:ln/>
        </p:spPr>
        <p:txBody>
          <a:bodyPr/>
          <a:lstStyle/>
          <a:p>
            <a:endParaRPr lang="en-US"/>
          </a:p>
        </p:txBody>
      </p:sp>
      <p:sp>
        <p:nvSpPr>
          <p:cNvPr id="7" name="Text 5"/>
          <p:cNvSpPr/>
          <p:nvPr/>
        </p:nvSpPr>
        <p:spPr>
          <a:xfrm>
            <a:off x="602074" y="1505185"/>
            <a:ext cx="2041407" cy="301037"/>
          </a:xfrm>
          <a:prstGeom prst="rect">
            <a:avLst/>
          </a:prstGeom>
          <a:noFill/>
          <a:ln/>
        </p:spPr>
        <p:txBody>
          <a:bodyPr wrap="square" lIns="0" tIns="0" rIns="0" bIns="0" rtlCol="0" anchor="ctr"/>
          <a:lstStyle/>
          <a:p>
            <a:pPr>
              <a:lnSpc>
                <a:spcPct val="110000"/>
              </a:lnSpc>
            </a:pPr>
            <a:r>
              <a:rPr lang="en-US" sz="1778" b="1" dirty="0">
                <a:solidFill>
                  <a:srgbClr val="1F2937"/>
                </a:solidFill>
                <a:latin typeface="Sorts Mill Goudy" pitchFamily="34" charset="0"/>
                <a:ea typeface="Sorts Mill Goudy" pitchFamily="34" charset="-122"/>
                <a:cs typeface="Sorts Mill Goudy" pitchFamily="34" charset="-120"/>
              </a:rPr>
              <a:t>Waheed et al. (2021)</a:t>
            </a:r>
            <a:endParaRPr lang="en-US" sz="1600" dirty="0"/>
          </a:p>
        </p:txBody>
      </p:sp>
      <p:sp>
        <p:nvSpPr>
          <p:cNvPr id="8" name="Shape 6"/>
          <p:cNvSpPr/>
          <p:nvPr/>
        </p:nvSpPr>
        <p:spPr>
          <a:xfrm>
            <a:off x="4802599" y="1523881"/>
            <a:ext cx="1006593" cy="263407"/>
          </a:xfrm>
          <a:custGeom>
            <a:avLst/>
            <a:gdLst/>
            <a:ahLst/>
            <a:cxnLst/>
            <a:rect l="l" t="t" r="r" b="b"/>
            <a:pathLst>
              <a:path w="1006593" h="263407">
                <a:moveTo>
                  <a:pt x="0" y="0"/>
                </a:moveTo>
                <a:lnTo>
                  <a:pt x="1006593" y="0"/>
                </a:lnTo>
                <a:lnTo>
                  <a:pt x="1006593" y="263407"/>
                </a:lnTo>
                <a:lnTo>
                  <a:pt x="0" y="263407"/>
                </a:lnTo>
                <a:lnTo>
                  <a:pt x="0" y="0"/>
                </a:lnTo>
                <a:close/>
              </a:path>
            </a:pathLst>
          </a:custGeom>
          <a:solidFill>
            <a:srgbClr val="8B0000"/>
          </a:solidFill>
          <a:ln/>
        </p:spPr>
        <p:txBody>
          <a:bodyPr/>
          <a:lstStyle/>
          <a:p>
            <a:endParaRPr lang="en-US"/>
          </a:p>
        </p:txBody>
      </p:sp>
      <p:sp>
        <p:nvSpPr>
          <p:cNvPr id="9" name="Text 7"/>
          <p:cNvSpPr/>
          <p:nvPr/>
        </p:nvSpPr>
        <p:spPr>
          <a:xfrm>
            <a:off x="4802599" y="1523881"/>
            <a:ext cx="1072444" cy="263407"/>
          </a:xfrm>
          <a:prstGeom prst="rect">
            <a:avLst/>
          </a:prstGeom>
          <a:noFill/>
          <a:ln/>
        </p:spPr>
        <p:txBody>
          <a:bodyPr wrap="square" lIns="112889" tIns="37630" rIns="112889" bIns="37630" rtlCol="0" anchor="ctr"/>
          <a:lstStyle/>
          <a:p>
            <a:pPr>
              <a:lnSpc>
                <a:spcPct val="120000"/>
              </a:lnSpc>
            </a:pPr>
            <a:r>
              <a:rPr lang="en-US" sz="1037" b="1" dirty="0">
                <a:solidFill>
                  <a:srgbClr val="F9FAFB"/>
                </a:solidFill>
                <a:latin typeface="Sorts Mill Goudy" pitchFamily="34" charset="0"/>
                <a:ea typeface="Sorts Mill Goudy" pitchFamily="34" charset="-122"/>
                <a:cs typeface="Sorts Mill Goudy" pitchFamily="34" charset="-120"/>
              </a:rPr>
              <a:t>BLOOMNET</a:t>
            </a:r>
            <a:endParaRPr lang="en-US" sz="1600" dirty="0"/>
          </a:p>
        </p:txBody>
      </p:sp>
      <p:sp>
        <p:nvSpPr>
          <p:cNvPr id="10" name="Text 8"/>
          <p:cNvSpPr/>
          <p:nvPr/>
        </p:nvSpPr>
        <p:spPr>
          <a:xfrm>
            <a:off x="602074" y="1956621"/>
            <a:ext cx="5286963" cy="451556"/>
          </a:xfrm>
          <a:prstGeom prst="rect">
            <a:avLst/>
          </a:prstGeom>
          <a:noFill/>
          <a:ln/>
        </p:spPr>
        <p:txBody>
          <a:bodyPr wrap="square" lIns="0" tIns="0" rIns="0" bIns="0" rtlCol="0" anchor="ctr"/>
          <a:lstStyle/>
          <a:p>
            <a:pPr>
              <a:lnSpc>
                <a:spcPct val="130000"/>
              </a:lnSpc>
            </a:pPr>
            <a:r>
              <a:rPr lang="en-US" sz="1185" b="1" dirty="0">
                <a:solidFill>
                  <a:srgbClr val="8B0000"/>
                </a:solidFill>
                <a:latin typeface="Sorts Mill Goudy" pitchFamily="34" charset="0"/>
                <a:ea typeface="Sorts Mill Goudy" pitchFamily="34" charset="-122"/>
                <a:cs typeface="Sorts Mill Goudy" pitchFamily="34" charset="-120"/>
              </a:rPr>
              <a:t>BloomNet Question Set</a:t>
            </a:r>
            <a:r>
              <a:rPr lang="en-US" sz="1185" dirty="0">
                <a:solidFill>
                  <a:srgbClr val="1F2937"/>
                </a:solidFill>
                <a:latin typeface="Sorts Mill Goudy" pitchFamily="34" charset="0"/>
                <a:ea typeface="Sorts Mill Goudy" pitchFamily="34" charset="-122"/>
                <a:cs typeface="Sorts Mill Goudy" pitchFamily="34" charset="-120"/>
              </a:rPr>
              <a:t> - Combined two established question datasets for transformer-based classification</a:t>
            </a:r>
            <a:endParaRPr lang="en-US" sz="1600" dirty="0"/>
          </a:p>
        </p:txBody>
      </p:sp>
      <p:sp>
        <p:nvSpPr>
          <p:cNvPr id="11" name="Shape 9"/>
          <p:cNvSpPr/>
          <p:nvPr/>
        </p:nvSpPr>
        <p:spPr>
          <a:xfrm>
            <a:off x="605837" y="2562458"/>
            <a:ext cx="5200415" cy="722489"/>
          </a:xfrm>
          <a:custGeom>
            <a:avLst/>
            <a:gdLst/>
            <a:ahLst/>
            <a:cxnLst/>
            <a:rect l="l" t="t" r="r" b="b"/>
            <a:pathLst>
              <a:path w="5200415" h="722489">
                <a:moveTo>
                  <a:pt x="0" y="0"/>
                </a:moveTo>
                <a:lnTo>
                  <a:pt x="5200415" y="0"/>
                </a:lnTo>
                <a:lnTo>
                  <a:pt x="5200415" y="722489"/>
                </a:lnTo>
                <a:lnTo>
                  <a:pt x="0" y="72248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2" name="Text 10"/>
          <p:cNvSpPr/>
          <p:nvPr/>
        </p:nvSpPr>
        <p:spPr>
          <a:xfrm>
            <a:off x="722489" y="2716623"/>
            <a:ext cx="1222963" cy="225778"/>
          </a:xfrm>
          <a:prstGeom prst="rect">
            <a:avLst/>
          </a:prstGeom>
          <a:noFill/>
          <a:ln/>
        </p:spPr>
        <p:txBody>
          <a:bodyPr wrap="square" lIns="0" tIns="0" rIns="0" bIns="0" rtlCol="0" anchor="ctr"/>
          <a:lstStyle/>
          <a:p>
            <a:pP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Yahya et al. (2012)</a:t>
            </a:r>
            <a:endParaRPr lang="en-US" sz="1600" dirty="0"/>
          </a:p>
        </p:txBody>
      </p:sp>
      <p:sp>
        <p:nvSpPr>
          <p:cNvPr id="13" name="Text 11"/>
          <p:cNvSpPr/>
          <p:nvPr/>
        </p:nvSpPr>
        <p:spPr>
          <a:xfrm>
            <a:off x="5342231" y="2679108"/>
            <a:ext cx="460963" cy="301037"/>
          </a:xfrm>
          <a:prstGeom prst="rect">
            <a:avLst/>
          </a:prstGeom>
          <a:noFill/>
          <a:ln/>
        </p:spPr>
        <p:txBody>
          <a:bodyPr wrap="square" lIns="0" tIns="0" rIns="0" bIns="0" rtlCol="0" anchor="ctr"/>
          <a:lstStyle/>
          <a:p>
            <a:pPr>
              <a:lnSpc>
                <a:spcPct val="110000"/>
              </a:lnSpc>
            </a:pPr>
            <a:r>
              <a:rPr lang="en-US" sz="1778" b="1" dirty="0">
                <a:solidFill>
                  <a:srgbClr val="8B0000"/>
                </a:solidFill>
                <a:latin typeface="Sorts Mill Goudy" pitchFamily="34" charset="0"/>
                <a:ea typeface="Sorts Mill Goudy" pitchFamily="34" charset="-122"/>
                <a:cs typeface="Sorts Mill Goudy" pitchFamily="34" charset="-120"/>
              </a:rPr>
              <a:t>600</a:t>
            </a:r>
            <a:endParaRPr lang="en-US" sz="1600" dirty="0"/>
          </a:p>
        </p:txBody>
      </p:sp>
      <p:sp>
        <p:nvSpPr>
          <p:cNvPr id="14" name="Text 12"/>
          <p:cNvSpPr/>
          <p:nvPr/>
        </p:nvSpPr>
        <p:spPr>
          <a:xfrm>
            <a:off x="722489" y="2980031"/>
            <a:ext cx="5032963" cy="188148"/>
          </a:xfrm>
          <a:prstGeom prst="rect">
            <a:avLst/>
          </a:prstGeom>
          <a:noFill/>
          <a:ln/>
        </p:spPr>
        <p:txBody>
          <a:bodyPr wrap="square" lIns="0" tIns="0" rIns="0" bIns="0" rtlCol="0" anchor="ctr"/>
          <a:lstStyle/>
          <a:p>
            <a:pP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Open-ended exam questions (100 per Bloom level)</a:t>
            </a:r>
            <a:endParaRPr lang="en-US" sz="1600" dirty="0"/>
          </a:p>
        </p:txBody>
      </p:sp>
      <p:sp>
        <p:nvSpPr>
          <p:cNvPr id="15" name="Shape 13"/>
          <p:cNvSpPr/>
          <p:nvPr/>
        </p:nvSpPr>
        <p:spPr>
          <a:xfrm>
            <a:off x="605837" y="3405244"/>
            <a:ext cx="5200415" cy="722489"/>
          </a:xfrm>
          <a:custGeom>
            <a:avLst/>
            <a:gdLst/>
            <a:ahLst/>
            <a:cxnLst/>
            <a:rect l="l" t="t" r="r" b="b"/>
            <a:pathLst>
              <a:path w="5200415" h="722489">
                <a:moveTo>
                  <a:pt x="0" y="0"/>
                </a:moveTo>
                <a:lnTo>
                  <a:pt x="5200415" y="0"/>
                </a:lnTo>
                <a:lnTo>
                  <a:pt x="5200415" y="722489"/>
                </a:lnTo>
                <a:lnTo>
                  <a:pt x="0" y="72248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6" name="Text 14"/>
          <p:cNvSpPr/>
          <p:nvPr/>
        </p:nvSpPr>
        <p:spPr>
          <a:xfrm>
            <a:off x="722489" y="3559408"/>
            <a:ext cx="1392296" cy="225778"/>
          </a:xfrm>
          <a:prstGeom prst="rect">
            <a:avLst/>
          </a:prstGeom>
          <a:noFill/>
          <a:ln/>
        </p:spPr>
        <p:txBody>
          <a:bodyPr wrap="square" lIns="0" tIns="0" rIns="0" bIns="0" rtlCol="0" anchor="ctr"/>
          <a:lstStyle/>
          <a:p>
            <a:pP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Haris &amp; Omar (2015)</a:t>
            </a:r>
            <a:endParaRPr lang="en-US" sz="1600" dirty="0"/>
          </a:p>
        </p:txBody>
      </p:sp>
      <p:sp>
        <p:nvSpPr>
          <p:cNvPr id="17" name="Text 15"/>
          <p:cNvSpPr/>
          <p:nvPr/>
        </p:nvSpPr>
        <p:spPr>
          <a:xfrm>
            <a:off x="5425958" y="3521898"/>
            <a:ext cx="376296" cy="301037"/>
          </a:xfrm>
          <a:prstGeom prst="rect">
            <a:avLst/>
          </a:prstGeom>
          <a:noFill/>
          <a:ln/>
        </p:spPr>
        <p:txBody>
          <a:bodyPr wrap="square" lIns="0" tIns="0" rIns="0" bIns="0" rtlCol="0" anchor="ctr"/>
          <a:lstStyle/>
          <a:p>
            <a:pPr>
              <a:lnSpc>
                <a:spcPct val="110000"/>
              </a:lnSpc>
            </a:pPr>
            <a:r>
              <a:rPr lang="en-US" sz="1778" b="1" dirty="0">
                <a:solidFill>
                  <a:srgbClr val="8B0000"/>
                </a:solidFill>
                <a:latin typeface="Sorts Mill Goudy" pitchFamily="34" charset="0"/>
                <a:ea typeface="Sorts Mill Goudy" pitchFamily="34" charset="-122"/>
                <a:cs typeface="Sorts Mill Goudy" pitchFamily="34" charset="-120"/>
              </a:rPr>
              <a:t>141</a:t>
            </a:r>
            <a:endParaRPr lang="en-US" sz="1600" dirty="0"/>
          </a:p>
        </p:txBody>
      </p:sp>
      <p:sp>
        <p:nvSpPr>
          <p:cNvPr id="18" name="Text 16"/>
          <p:cNvSpPr/>
          <p:nvPr/>
        </p:nvSpPr>
        <p:spPr>
          <a:xfrm>
            <a:off x="722489" y="3822816"/>
            <a:ext cx="5032963" cy="188148"/>
          </a:xfrm>
          <a:prstGeom prst="rect">
            <a:avLst/>
          </a:prstGeom>
          <a:noFill/>
          <a:ln/>
        </p:spPr>
        <p:txBody>
          <a:bodyPr wrap="square" lIns="0" tIns="0" rIns="0" bIns="0" rtlCol="0" anchor="ctr"/>
          <a:lstStyle/>
          <a:p>
            <a:pP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Open-ended questions from diverse sources</a:t>
            </a:r>
            <a:endParaRPr lang="en-US" sz="1600" dirty="0"/>
          </a:p>
        </p:txBody>
      </p:sp>
      <p:sp>
        <p:nvSpPr>
          <p:cNvPr id="19" name="Shape 17"/>
          <p:cNvSpPr/>
          <p:nvPr/>
        </p:nvSpPr>
        <p:spPr>
          <a:xfrm>
            <a:off x="620889" y="4319525"/>
            <a:ext cx="131704" cy="131704"/>
          </a:xfrm>
          <a:custGeom>
            <a:avLst/>
            <a:gdLst/>
            <a:ahLst/>
            <a:cxnLst/>
            <a:rect l="l" t="t" r="r" b="b"/>
            <a:pathLst>
              <a:path w="131704" h="131704">
                <a:moveTo>
                  <a:pt x="65852" y="131704"/>
                </a:moveTo>
                <a:cubicBezTo>
                  <a:pt x="102196" y="131704"/>
                  <a:pt x="131704" y="102196"/>
                  <a:pt x="131704" y="65852"/>
                </a:cubicBezTo>
                <a:cubicBezTo>
                  <a:pt x="131704" y="29507"/>
                  <a:pt x="102196" y="0"/>
                  <a:pt x="65852" y="0"/>
                </a:cubicBezTo>
                <a:cubicBezTo>
                  <a:pt x="29507" y="0"/>
                  <a:pt x="0" y="29507"/>
                  <a:pt x="0" y="65852"/>
                </a:cubicBezTo>
                <a:cubicBezTo>
                  <a:pt x="0" y="102196"/>
                  <a:pt x="29507" y="131704"/>
                  <a:pt x="65852" y="131704"/>
                </a:cubicBezTo>
                <a:close/>
                <a:moveTo>
                  <a:pt x="87562" y="54714"/>
                </a:moveTo>
                <a:lnTo>
                  <a:pt x="66984" y="87640"/>
                </a:lnTo>
                <a:cubicBezTo>
                  <a:pt x="65903" y="89363"/>
                  <a:pt x="64051" y="90443"/>
                  <a:pt x="62019" y="90546"/>
                </a:cubicBezTo>
                <a:cubicBezTo>
                  <a:pt x="59987" y="90649"/>
                  <a:pt x="58032" y="89723"/>
                  <a:pt x="56823" y="88077"/>
                </a:cubicBezTo>
                <a:lnTo>
                  <a:pt x="44476" y="71614"/>
                </a:lnTo>
                <a:cubicBezTo>
                  <a:pt x="42418" y="68887"/>
                  <a:pt x="42984" y="65029"/>
                  <a:pt x="45710" y="62971"/>
                </a:cubicBezTo>
                <a:cubicBezTo>
                  <a:pt x="48437" y="60913"/>
                  <a:pt x="52296" y="61479"/>
                  <a:pt x="54354" y="64206"/>
                </a:cubicBezTo>
                <a:lnTo>
                  <a:pt x="61299" y="73466"/>
                </a:lnTo>
                <a:lnTo>
                  <a:pt x="77093" y="48180"/>
                </a:lnTo>
                <a:cubicBezTo>
                  <a:pt x="78894" y="45299"/>
                  <a:pt x="82701" y="44399"/>
                  <a:pt x="85607" y="46225"/>
                </a:cubicBezTo>
                <a:cubicBezTo>
                  <a:pt x="88514" y="48051"/>
                  <a:pt x="89389" y="51833"/>
                  <a:pt x="87562" y="54739"/>
                </a:cubicBezTo>
                <a:close/>
              </a:path>
            </a:pathLst>
          </a:custGeom>
          <a:solidFill>
            <a:srgbClr val="8B0000"/>
          </a:solidFill>
          <a:ln/>
        </p:spPr>
        <p:txBody>
          <a:bodyPr/>
          <a:lstStyle/>
          <a:p>
            <a:endParaRPr lang="en-US"/>
          </a:p>
        </p:txBody>
      </p:sp>
      <p:sp>
        <p:nvSpPr>
          <p:cNvPr id="20" name="Text 18"/>
          <p:cNvSpPr/>
          <p:nvPr/>
        </p:nvSpPr>
        <p:spPr>
          <a:xfrm>
            <a:off x="841963" y="4281895"/>
            <a:ext cx="3302000" cy="188148"/>
          </a:xfrm>
          <a:prstGeom prst="rect">
            <a:avLst/>
          </a:prstGeom>
          <a:noFill/>
          <a:ln/>
        </p:spPr>
        <p:txBody>
          <a:bodyPr wrap="square" lIns="0" tIns="0" rIns="0" bIns="0" rtlCol="0" anchor="ctr"/>
          <a:lstStyle/>
          <a:p>
            <a:pPr>
              <a:lnSpc>
                <a:spcPct val="120000"/>
              </a:lnSpc>
            </a:pPr>
            <a:r>
              <a:rPr lang="en-US" sz="1037" b="1" dirty="0">
                <a:solidFill>
                  <a:srgbClr val="1F2937"/>
                </a:solidFill>
                <a:latin typeface="Sorts Mill Goudy" pitchFamily="34" charset="0"/>
                <a:ea typeface="Sorts Mill Goudy" pitchFamily="34" charset="-122"/>
                <a:cs typeface="Sorts Mill Goudy" pitchFamily="34" charset="-120"/>
              </a:rPr>
              <a:t>Public</a:t>
            </a:r>
            <a:r>
              <a:rPr lang="en-US" sz="1037" dirty="0">
                <a:solidFill>
                  <a:srgbClr val="6B7280"/>
                </a:solidFill>
                <a:latin typeface="Sorts Mill Goudy" pitchFamily="34" charset="0"/>
                <a:ea typeface="Sorts Mill Goudy" pitchFamily="34" charset="-122"/>
                <a:cs typeface="Sorts Mill Goudy" pitchFamily="34" charset="-120"/>
              </a:rPr>
              <a:t> - Available via PLOS One Supporting Information</a:t>
            </a:r>
            <a:endParaRPr lang="en-US" sz="1600" dirty="0"/>
          </a:p>
        </p:txBody>
      </p:sp>
      <p:sp>
        <p:nvSpPr>
          <p:cNvPr id="21" name="Shape 19"/>
          <p:cNvSpPr/>
          <p:nvPr/>
        </p:nvSpPr>
        <p:spPr>
          <a:xfrm>
            <a:off x="6208889" y="1317037"/>
            <a:ext cx="5606815" cy="3339630"/>
          </a:xfrm>
          <a:custGeom>
            <a:avLst/>
            <a:gdLst/>
            <a:ahLst/>
            <a:cxnLst/>
            <a:rect l="l" t="t" r="r" b="b"/>
            <a:pathLst>
              <a:path w="5606815" h="3339630">
                <a:moveTo>
                  <a:pt x="0" y="0"/>
                </a:moveTo>
                <a:lnTo>
                  <a:pt x="5606815" y="0"/>
                </a:lnTo>
                <a:lnTo>
                  <a:pt x="5606815" y="3339630"/>
                </a:lnTo>
                <a:lnTo>
                  <a:pt x="0" y="3339630"/>
                </a:lnTo>
                <a:lnTo>
                  <a:pt x="0" y="0"/>
                </a:lnTo>
                <a:close/>
              </a:path>
            </a:pathLst>
          </a:custGeom>
          <a:solidFill>
            <a:srgbClr val="F9FAFB"/>
          </a:solidFill>
          <a:ln/>
        </p:spPr>
        <p:txBody>
          <a:bodyPr/>
          <a:lstStyle/>
          <a:p>
            <a:endParaRPr lang="en-US"/>
          </a:p>
        </p:txBody>
      </p:sp>
      <p:sp>
        <p:nvSpPr>
          <p:cNvPr id="22" name="Shape 20"/>
          <p:cNvSpPr/>
          <p:nvPr/>
        </p:nvSpPr>
        <p:spPr>
          <a:xfrm>
            <a:off x="6208889" y="1317037"/>
            <a:ext cx="37630" cy="3339630"/>
          </a:xfrm>
          <a:custGeom>
            <a:avLst/>
            <a:gdLst/>
            <a:ahLst/>
            <a:cxnLst/>
            <a:rect l="l" t="t" r="r" b="b"/>
            <a:pathLst>
              <a:path w="37630" h="3339630">
                <a:moveTo>
                  <a:pt x="0" y="0"/>
                </a:moveTo>
                <a:lnTo>
                  <a:pt x="37630" y="0"/>
                </a:lnTo>
                <a:lnTo>
                  <a:pt x="37630" y="3339630"/>
                </a:lnTo>
                <a:lnTo>
                  <a:pt x="0" y="3339630"/>
                </a:lnTo>
                <a:lnTo>
                  <a:pt x="0" y="0"/>
                </a:lnTo>
                <a:close/>
              </a:path>
            </a:pathLst>
          </a:custGeom>
          <a:solidFill>
            <a:srgbClr val="1F2937"/>
          </a:solidFill>
          <a:ln/>
        </p:spPr>
        <p:txBody>
          <a:bodyPr/>
          <a:lstStyle/>
          <a:p>
            <a:endParaRPr lang="en-US"/>
          </a:p>
        </p:txBody>
      </p:sp>
      <p:sp>
        <p:nvSpPr>
          <p:cNvPr id="23" name="Text 21"/>
          <p:cNvSpPr/>
          <p:nvPr/>
        </p:nvSpPr>
        <p:spPr>
          <a:xfrm>
            <a:off x="6415852" y="1505185"/>
            <a:ext cx="2587037" cy="301037"/>
          </a:xfrm>
          <a:prstGeom prst="rect">
            <a:avLst/>
          </a:prstGeom>
          <a:noFill/>
          <a:ln/>
        </p:spPr>
        <p:txBody>
          <a:bodyPr wrap="square" lIns="0" tIns="0" rIns="0" bIns="0" rtlCol="0" anchor="ctr"/>
          <a:lstStyle/>
          <a:p>
            <a:pPr>
              <a:lnSpc>
                <a:spcPct val="110000"/>
              </a:lnSpc>
            </a:pPr>
            <a:r>
              <a:rPr lang="en-US" sz="1778" b="1" dirty="0">
                <a:solidFill>
                  <a:srgbClr val="1F2937"/>
                </a:solidFill>
                <a:latin typeface="Sorts Mill Goudy" pitchFamily="34" charset="0"/>
                <a:ea typeface="Sorts Mill Goudy" pitchFamily="34" charset="-122"/>
                <a:cs typeface="Sorts Mill Goudy" pitchFamily="34" charset="-120"/>
              </a:rPr>
              <a:t>Gani &amp; </a:t>
            </a:r>
            <a:r>
              <a:rPr lang="en-US" sz="1778" b="1" dirty="0" err="1">
                <a:solidFill>
                  <a:srgbClr val="1F2937"/>
                </a:solidFill>
                <a:latin typeface="Sorts Mill Goudy" pitchFamily="34" charset="0"/>
                <a:ea typeface="Sorts Mill Goudy" pitchFamily="34" charset="-122"/>
                <a:cs typeface="Sorts Mill Goudy" pitchFamily="34" charset="-120"/>
              </a:rPr>
              <a:t>Sangodiah</a:t>
            </a:r>
            <a:r>
              <a:rPr lang="en-US" sz="1778" b="1" dirty="0">
                <a:solidFill>
                  <a:srgbClr val="1F2937"/>
                </a:solidFill>
                <a:latin typeface="Sorts Mill Goudy" pitchFamily="34" charset="0"/>
                <a:ea typeface="Sorts Mill Goudy" pitchFamily="34" charset="-122"/>
                <a:cs typeface="Sorts Mill Goudy" pitchFamily="34" charset="-120"/>
              </a:rPr>
              <a:t> (</a:t>
            </a:r>
            <a:r>
              <a:rPr lang="en-US" sz="1778" b="1" dirty="0" err="1">
                <a:solidFill>
                  <a:srgbClr val="1F2937"/>
                </a:solidFill>
                <a:latin typeface="Sorts Mill Goudy" pitchFamily="34" charset="0"/>
                <a:ea typeface="Sorts Mill Goudy" pitchFamily="34" charset="-122"/>
                <a:cs typeface="Sorts Mill Goudy" pitchFamily="34" charset="-120"/>
              </a:rPr>
              <a:t>figshare</a:t>
            </a:r>
            <a:r>
              <a:rPr lang="en-US" sz="1778" b="1">
                <a:solidFill>
                  <a:srgbClr val="1F2937"/>
                </a:solidFill>
                <a:latin typeface="Sorts Mill Goudy" pitchFamily="34" charset="0"/>
                <a:ea typeface="Sorts Mill Goudy" pitchFamily="34" charset="-122"/>
                <a:cs typeface="Sorts Mill Goudy" pitchFamily="34" charset="-120"/>
              </a:rPr>
              <a:t>)</a:t>
            </a:r>
            <a:endParaRPr lang="en-US" sz="1600" dirty="0"/>
          </a:p>
        </p:txBody>
      </p:sp>
      <p:sp>
        <p:nvSpPr>
          <p:cNvPr id="24" name="Shape 22"/>
          <p:cNvSpPr/>
          <p:nvPr/>
        </p:nvSpPr>
        <p:spPr>
          <a:xfrm>
            <a:off x="10646952" y="1523881"/>
            <a:ext cx="978370" cy="263407"/>
          </a:xfrm>
          <a:custGeom>
            <a:avLst/>
            <a:gdLst/>
            <a:ahLst/>
            <a:cxnLst/>
            <a:rect l="l" t="t" r="r" b="b"/>
            <a:pathLst>
              <a:path w="978370" h="263407">
                <a:moveTo>
                  <a:pt x="0" y="0"/>
                </a:moveTo>
                <a:lnTo>
                  <a:pt x="978370" y="0"/>
                </a:lnTo>
                <a:lnTo>
                  <a:pt x="978370" y="263407"/>
                </a:lnTo>
                <a:lnTo>
                  <a:pt x="0" y="263407"/>
                </a:lnTo>
                <a:lnTo>
                  <a:pt x="0" y="0"/>
                </a:lnTo>
                <a:close/>
              </a:path>
            </a:pathLst>
          </a:custGeom>
          <a:solidFill>
            <a:srgbClr val="1F2937"/>
          </a:solidFill>
          <a:ln/>
        </p:spPr>
        <p:txBody>
          <a:bodyPr/>
          <a:lstStyle/>
          <a:p>
            <a:endParaRPr lang="en-US"/>
          </a:p>
        </p:txBody>
      </p:sp>
      <p:sp>
        <p:nvSpPr>
          <p:cNvPr id="25" name="Text 23"/>
          <p:cNvSpPr/>
          <p:nvPr/>
        </p:nvSpPr>
        <p:spPr>
          <a:xfrm>
            <a:off x="10646952" y="1523881"/>
            <a:ext cx="1044222" cy="263407"/>
          </a:xfrm>
          <a:prstGeom prst="rect">
            <a:avLst/>
          </a:prstGeom>
          <a:noFill/>
          <a:ln/>
        </p:spPr>
        <p:txBody>
          <a:bodyPr wrap="square" lIns="112889" tIns="37630" rIns="112889" bIns="37630" rtlCol="0" anchor="ctr"/>
          <a:lstStyle/>
          <a:p>
            <a:pPr>
              <a:lnSpc>
                <a:spcPct val="120000"/>
              </a:lnSpc>
            </a:pPr>
            <a:r>
              <a:rPr lang="en-US" sz="1037" b="1" dirty="0">
                <a:solidFill>
                  <a:srgbClr val="F9FAFB"/>
                </a:solidFill>
                <a:latin typeface="Sorts Mill Goudy" pitchFamily="34" charset="0"/>
                <a:ea typeface="Sorts Mill Goudy" pitchFamily="34" charset="-122"/>
                <a:cs typeface="Sorts Mill Goudy" pitchFamily="34" charset="-120"/>
              </a:rPr>
              <a:t>COMBINED</a:t>
            </a:r>
            <a:endParaRPr lang="en-US" sz="1600" dirty="0"/>
          </a:p>
        </p:txBody>
      </p:sp>
      <p:sp>
        <p:nvSpPr>
          <p:cNvPr id="26" name="Text 24"/>
          <p:cNvSpPr/>
          <p:nvPr/>
        </p:nvSpPr>
        <p:spPr>
          <a:xfrm>
            <a:off x="6415852" y="1956621"/>
            <a:ext cx="5286963" cy="451556"/>
          </a:xfrm>
          <a:prstGeom prst="rect">
            <a:avLst/>
          </a:prstGeom>
          <a:noFill/>
          <a:ln/>
        </p:spPr>
        <p:txBody>
          <a:bodyPr wrap="square" lIns="0" tIns="0" rIns="0" bIns="0" rtlCol="0" anchor="ctr"/>
          <a:lstStyle/>
          <a:p>
            <a:pP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Exam Question Datasets</a:t>
            </a:r>
            <a:r>
              <a:rPr lang="en-US" sz="1185" dirty="0">
                <a:solidFill>
                  <a:srgbClr val="1F2937"/>
                </a:solidFill>
                <a:latin typeface="Sorts Mill Goudy" pitchFamily="34" charset="0"/>
                <a:ea typeface="Sorts Mill Goudy" pitchFamily="34" charset="-122"/>
                <a:cs typeface="Sorts Mill Goudy" pitchFamily="34" charset="-120"/>
              </a:rPr>
              <a:t> - Compiled multiple Bloom-labeled question banks into a unified benchmark</a:t>
            </a:r>
            <a:endParaRPr lang="en-US" sz="1600" dirty="0"/>
          </a:p>
        </p:txBody>
      </p:sp>
      <p:sp>
        <p:nvSpPr>
          <p:cNvPr id="27" name="Shape 25"/>
          <p:cNvSpPr/>
          <p:nvPr/>
        </p:nvSpPr>
        <p:spPr>
          <a:xfrm>
            <a:off x="6419615" y="2562458"/>
            <a:ext cx="5200415" cy="948267"/>
          </a:xfrm>
          <a:custGeom>
            <a:avLst/>
            <a:gdLst/>
            <a:ahLst/>
            <a:cxnLst/>
            <a:rect l="l" t="t" r="r" b="b"/>
            <a:pathLst>
              <a:path w="5200415" h="948267">
                <a:moveTo>
                  <a:pt x="0" y="0"/>
                </a:moveTo>
                <a:lnTo>
                  <a:pt x="5200415" y="0"/>
                </a:lnTo>
                <a:lnTo>
                  <a:pt x="5200415" y="948267"/>
                </a:lnTo>
                <a:lnTo>
                  <a:pt x="0" y="948267"/>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8" name="Text 26"/>
          <p:cNvSpPr/>
          <p:nvPr/>
        </p:nvSpPr>
        <p:spPr>
          <a:xfrm>
            <a:off x="6573896" y="2791997"/>
            <a:ext cx="1128889" cy="225778"/>
          </a:xfrm>
          <a:prstGeom prst="rect">
            <a:avLst/>
          </a:prstGeom>
          <a:noFill/>
          <a:ln/>
        </p:spPr>
        <p:txBody>
          <a:bodyPr wrap="square" lIns="0" tIns="0" rIns="0" bIns="0" rtlCol="0" anchor="ctr"/>
          <a:lstStyle/>
          <a:p>
            <a:pP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Total Questions</a:t>
            </a:r>
            <a:endParaRPr lang="en-US" sz="1600" dirty="0"/>
          </a:p>
        </p:txBody>
      </p:sp>
      <p:sp>
        <p:nvSpPr>
          <p:cNvPr id="29" name="Text 27"/>
          <p:cNvSpPr/>
          <p:nvPr/>
        </p:nvSpPr>
        <p:spPr>
          <a:xfrm>
            <a:off x="10623433" y="2716738"/>
            <a:ext cx="1016000" cy="376296"/>
          </a:xfrm>
          <a:prstGeom prst="rect">
            <a:avLst/>
          </a:prstGeom>
          <a:noFill/>
          <a:ln/>
        </p:spPr>
        <p:txBody>
          <a:bodyPr wrap="square" lIns="0" tIns="0" rIns="0" bIns="0" rtlCol="0" anchor="ctr"/>
          <a:lstStyle/>
          <a:p>
            <a:pPr>
              <a:lnSpc>
                <a:spcPct val="90000"/>
              </a:lnSpc>
            </a:pPr>
            <a:r>
              <a:rPr lang="en-US" sz="2667" b="1" dirty="0">
                <a:solidFill>
                  <a:srgbClr val="1F2937"/>
                </a:solidFill>
                <a:latin typeface="Sorts Mill Goudy" pitchFamily="34" charset="0"/>
                <a:ea typeface="Sorts Mill Goudy" pitchFamily="34" charset="-122"/>
                <a:cs typeface="Sorts Mill Goudy" pitchFamily="34" charset="-120"/>
              </a:rPr>
              <a:t>~2,500</a:t>
            </a:r>
            <a:endParaRPr lang="en-US" sz="1600" dirty="0"/>
          </a:p>
        </p:txBody>
      </p:sp>
      <p:sp>
        <p:nvSpPr>
          <p:cNvPr id="30" name="Text 28"/>
          <p:cNvSpPr/>
          <p:nvPr/>
        </p:nvSpPr>
        <p:spPr>
          <a:xfrm>
            <a:off x="6573896" y="3168294"/>
            <a:ext cx="4957704" cy="188148"/>
          </a:xfrm>
          <a:prstGeom prst="rect">
            <a:avLst/>
          </a:prstGeom>
          <a:noFill/>
          <a:ln/>
        </p:spPr>
        <p:txBody>
          <a:bodyPr wrap="square" lIns="0" tIns="0" rIns="0" bIns="0" rtlCol="0" anchor="ctr"/>
          <a:lstStyle/>
          <a:p>
            <a:pP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Balanced distribution across Bloom's categories</a:t>
            </a:r>
            <a:endParaRPr lang="en-US" sz="1600" dirty="0"/>
          </a:p>
        </p:txBody>
      </p:sp>
      <p:sp>
        <p:nvSpPr>
          <p:cNvPr id="31" name="Shape 29"/>
          <p:cNvSpPr/>
          <p:nvPr/>
        </p:nvSpPr>
        <p:spPr>
          <a:xfrm>
            <a:off x="6442898" y="3702637"/>
            <a:ext cx="115241" cy="131704"/>
          </a:xfrm>
          <a:custGeom>
            <a:avLst/>
            <a:gdLst/>
            <a:ahLst/>
            <a:cxnLst/>
            <a:rect l="l" t="t" r="r" b="b"/>
            <a:pathLst>
              <a:path w="115241" h="131704">
                <a:moveTo>
                  <a:pt x="65852" y="16463"/>
                </a:moveTo>
                <a:cubicBezTo>
                  <a:pt x="65852" y="11910"/>
                  <a:pt x="62173" y="8231"/>
                  <a:pt x="57620" y="8231"/>
                </a:cubicBezTo>
                <a:cubicBezTo>
                  <a:pt x="53067" y="8231"/>
                  <a:pt x="49389" y="11910"/>
                  <a:pt x="49389" y="16463"/>
                </a:cubicBezTo>
                <a:lnTo>
                  <a:pt x="49389" y="57620"/>
                </a:lnTo>
                <a:lnTo>
                  <a:pt x="8231" y="57620"/>
                </a:lnTo>
                <a:cubicBezTo>
                  <a:pt x="3678" y="57620"/>
                  <a:pt x="0" y="61299"/>
                  <a:pt x="0" y="65852"/>
                </a:cubicBezTo>
                <a:cubicBezTo>
                  <a:pt x="0" y="70405"/>
                  <a:pt x="3678" y="74083"/>
                  <a:pt x="8231" y="74083"/>
                </a:cubicBezTo>
                <a:lnTo>
                  <a:pt x="49389" y="74083"/>
                </a:lnTo>
                <a:lnTo>
                  <a:pt x="49389" y="115241"/>
                </a:lnTo>
                <a:cubicBezTo>
                  <a:pt x="49389" y="119794"/>
                  <a:pt x="53067" y="123472"/>
                  <a:pt x="57620" y="123472"/>
                </a:cubicBezTo>
                <a:cubicBezTo>
                  <a:pt x="62173" y="123472"/>
                  <a:pt x="65852" y="119794"/>
                  <a:pt x="65852" y="115241"/>
                </a:cubicBezTo>
                <a:lnTo>
                  <a:pt x="65852" y="74083"/>
                </a:lnTo>
                <a:lnTo>
                  <a:pt x="107009" y="74083"/>
                </a:lnTo>
                <a:cubicBezTo>
                  <a:pt x="111562" y="74083"/>
                  <a:pt x="115241" y="70405"/>
                  <a:pt x="115241" y="65852"/>
                </a:cubicBezTo>
                <a:cubicBezTo>
                  <a:pt x="115241" y="61299"/>
                  <a:pt x="111562" y="57620"/>
                  <a:pt x="107009" y="57620"/>
                </a:cubicBezTo>
                <a:lnTo>
                  <a:pt x="65852" y="57620"/>
                </a:lnTo>
                <a:lnTo>
                  <a:pt x="65852" y="16463"/>
                </a:lnTo>
                <a:close/>
              </a:path>
            </a:pathLst>
          </a:custGeom>
          <a:solidFill>
            <a:srgbClr val="1F2937"/>
          </a:solidFill>
          <a:ln/>
        </p:spPr>
        <p:txBody>
          <a:bodyPr/>
          <a:lstStyle/>
          <a:p>
            <a:endParaRPr lang="en-US"/>
          </a:p>
        </p:txBody>
      </p:sp>
      <p:sp>
        <p:nvSpPr>
          <p:cNvPr id="32" name="Text 30"/>
          <p:cNvSpPr/>
          <p:nvPr/>
        </p:nvSpPr>
        <p:spPr>
          <a:xfrm>
            <a:off x="6655741" y="3665007"/>
            <a:ext cx="2568222" cy="188148"/>
          </a:xfrm>
          <a:prstGeom prst="rect">
            <a:avLst/>
          </a:prstGeom>
          <a:noFill/>
          <a:ln/>
        </p:spPr>
        <p:txBody>
          <a:bodyPr wrap="square" lIns="0" tIns="0" rIns="0" bIns="0" rtlCol="0" anchor="ctr"/>
          <a:lstStyle/>
          <a:p>
            <a:pP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Includes Yahya (600) and Haris (141) datasets</a:t>
            </a:r>
            <a:endParaRPr lang="en-US" sz="1600" dirty="0"/>
          </a:p>
        </p:txBody>
      </p:sp>
      <p:sp>
        <p:nvSpPr>
          <p:cNvPr id="33" name="Shape 31"/>
          <p:cNvSpPr/>
          <p:nvPr/>
        </p:nvSpPr>
        <p:spPr>
          <a:xfrm>
            <a:off x="6442898" y="3966044"/>
            <a:ext cx="115241" cy="131704"/>
          </a:xfrm>
          <a:custGeom>
            <a:avLst/>
            <a:gdLst/>
            <a:ahLst/>
            <a:cxnLst/>
            <a:rect l="l" t="t" r="r" b="b"/>
            <a:pathLst>
              <a:path w="115241" h="131704">
                <a:moveTo>
                  <a:pt x="65852" y="16463"/>
                </a:moveTo>
                <a:cubicBezTo>
                  <a:pt x="65852" y="11910"/>
                  <a:pt x="62173" y="8231"/>
                  <a:pt x="57620" y="8231"/>
                </a:cubicBezTo>
                <a:cubicBezTo>
                  <a:pt x="53067" y="8231"/>
                  <a:pt x="49389" y="11910"/>
                  <a:pt x="49389" y="16463"/>
                </a:cubicBezTo>
                <a:lnTo>
                  <a:pt x="49389" y="57620"/>
                </a:lnTo>
                <a:lnTo>
                  <a:pt x="8231" y="57620"/>
                </a:lnTo>
                <a:cubicBezTo>
                  <a:pt x="3678" y="57620"/>
                  <a:pt x="0" y="61299"/>
                  <a:pt x="0" y="65852"/>
                </a:cubicBezTo>
                <a:cubicBezTo>
                  <a:pt x="0" y="70405"/>
                  <a:pt x="3678" y="74083"/>
                  <a:pt x="8231" y="74083"/>
                </a:cubicBezTo>
                <a:lnTo>
                  <a:pt x="49389" y="74083"/>
                </a:lnTo>
                <a:lnTo>
                  <a:pt x="49389" y="115241"/>
                </a:lnTo>
                <a:cubicBezTo>
                  <a:pt x="49389" y="119794"/>
                  <a:pt x="53067" y="123472"/>
                  <a:pt x="57620" y="123472"/>
                </a:cubicBezTo>
                <a:cubicBezTo>
                  <a:pt x="62173" y="123472"/>
                  <a:pt x="65852" y="119794"/>
                  <a:pt x="65852" y="115241"/>
                </a:cubicBezTo>
                <a:lnTo>
                  <a:pt x="65852" y="74083"/>
                </a:lnTo>
                <a:lnTo>
                  <a:pt x="107009" y="74083"/>
                </a:lnTo>
                <a:cubicBezTo>
                  <a:pt x="111562" y="74083"/>
                  <a:pt x="115241" y="70405"/>
                  <a:pt x="115241" y="65852"/>
                </a:cubicBezTo>
                <a:cubicBezTo>
                  <a:pt x="115241" y="61299"/>
                  <a:pt x="111562" y="57620"/>
                  <a:pt x="107009" y="57620"/>
                </a:cubicBezTo>
                <a:lnTo>
                  <a:pt x="65852" y="57620"/>
                </a:lnTo>
                <a:lnTo>
                  <a:pt x="65852" y="16463"/>
                </a:lnTo>
                <a:close/>
              </a:path>
            </a:pathLst>
          </a:custGeom>
          <a:solidFill>
            <a:srgbClr val="1F2937"/>
          </a:solidFill>
          <a:ln/>
        </p:spPr>
        <p:txBody>
          <a:bodyPr/>
          <a:lstStyle/>
          <a:p>
            <a:endParaRPr lang="en-US"/>
          </a:p>
        </p:txBody>
      </p:sp>
      <p:sp>
        <p:nvSpPr>
          <p:cNvPr id="34" name="Text 32"/>
          <p:cNvSpPr/>
          <p:nvPr/>
        </p:nvSpPr>
        <p:spPr>
          <a:xfrm>
            <a:off x="6655741" y="3928415"/>
            <a:ext cx="2464741" cy="188148"/>
          </a:xfrm>
          <a:prstGeom prst="rect">
            <a:avLst/>
          </a:prstGeom>
          <a:noFill/>
          <a:ln/>
        </p:spPr>
        <p:txBody>
          <a:bodyPr wrap="square" lIns="0" tIns="0" rIns="0" bIns="0" rtlCol="0" anchor="ctr"/>
          <a:lstStyle/>
          <a:p>
            <a:pP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Additional questions from various sources</a:t>
            </a:r>
            <a:endParaRPr lang="en-US" sz="1600" dirty="0"/>
          </a:p>
        </p:txBody>
      </p:sp>
      <p:sp>
        <p:nvSpPr>
          <p:cNvPr id="35" name="Shape 33"/>
          <p:cNvSpPr/>
          <p:nvPr/>
        </p:nvSpPr>
        <p:spPr>
          <a:xfrm>
            <a:off x="6434667" y="4304711"/>
            <a:ext cx="131704" cy="131704"/>
          </a:xfrm>
          <a:custGeom>
            <a:avLst/>
            <a:gdLst/>
            <a:ahLst/>
            <a:cxnLst/>
            <a:rect l="l" t="t" r="r" b="b"/>
            <a:pathLst>
              <a:path w="131704" h="131704">
                <a:moveTo>
                  <a:pt x="65852" y="131704"/>
                </a:moveTo>
                <a:cubicBezTo>
                  <a:pt x="102196" y="131704"/>
                  <a:pt x="131704" y="102196"/>
                  <a:pt x="131704" y="65852"/>
                </a:cubicBezTo>
                <a:cubicBezTo>
                  <a:pt x="131704" y="29507"/>
                  <a:pt x="102196" y="0"/>
                  <a:pt x="65852" y="0"/>
                </a:cubicBezTo>
                <a:cubicBezTo>
                  <a:pt x="29507" y="0"/>
                  <a:pt x="0" y="29507"/>
                  <a:pt x="0" y="65852"/>
                </a:cubicBezTo>
                <a:cubicBezTo>
                  <a:pt x="0" y="102196"/>
                  <a:pt x="29507" y="131704"/>
                  <a:pt x="65852" y="131704"/>
                </a:cubicBezTo>
                <a:close/>
                <a:moveTo>
                  <a:pt x="87562" y="54714"/>
                </a:moveTo>
                <a:lnTo>
                  <a:pt x="66984" y="87640"/>
                </a:lnTo>
                <a:cubicBezTo>
                  <a:pt x="65903" y="89363"/>
                  <a:pt x="64051" y="90443"/>
                  <a:pt x="62019" y="90546"/>
                </a:cubicBezTo>
                <a:cubicBezTo>
                  <a:pt x="59987" y="90649"/>
                  <a:pt x="58032" y="89723"/>
                  <a:pt x="56823" y="88077"/>
                </a:cubicBezTo>
                <a:lnTo>
                  <a:pt x="44476" y="71614"/>
                </a:lnTo>
                <a:cubicBezTo>
                  <a:pt x="42418" y="68887"/>
                  <a:pt x="42984" y="65029"/>
                  <a:pt x="45710" y="62971"/>
                </a:cubicBezTo>
                <a:cubicBezTo>
                  <a:pt x="48437" y="60913"/>
                  <a:pt x="52296" y="61479"/>
                  <a:pt x="54354" y="64206"/>
                </a:cubicBezTo>
                <a:lnTo>
                  <a:pt x="61299" y="73466"/>
                </a:lnTo>
                <a:lnTo>
                  <a:pt x="77093" y="48180"/>
                </a:lnTo>
                <a:cubicBezTo>
                  <a:pt x="78894" y="45299"/>
                  <a:pt x="82701" y="44399"/>
                  <a:pt x="85607" y="46225"/>
                </a:cubicBezTo>
                <a:cubicBezTo>
                  <a:pt x="88514" y="48051"/>
                  <a:pt x="89389" y="51833"/>
                  <a:pt x="87562" y="54739"/>
                </a:cubicBezTo>
                <a:close/>
              </a:path>
            </a:pathLst>
          </a:custGeom>
          <a:solidFill>
            <a:srgbClr val="1F2937"/>
          </a:solidFill>
          <a:ln/>
        </p:spPr>
        <p:txBody>
          <a:bodyPr/>
          <a:lstStyle/>
          <a:p>
            <a:endParaRPr lang="en-US"/>
          </a:p>
        </p:txBody>
      </p:sp>
      <p:sp>
        <p:nvSpPr>
          <p:cNvPr id="36" name="Text 34"/>
          <p:cNvSpPr/>
          <p:nvPr/>
        </p:nvSpPr>
        <p:spPr>
          <a:xfrm>
            <a:off x="6655741" y="4267081"/>
            <a:ext cx="2963333" cy="188148"/>
          </a:xfrm>
          <a:prstGeom prst="rect">
            <a:avLst/>
          </a:prstGeom>
          <a:noFill/>
          <a:ln/>
        </p:spPr>
        <p:txBody>
          <a:bodyPr wrap="square" lIns="0" tIns="0" rIns="0" bIns="0" rtlCol="0" anchor="ctr"/>
          <a:lstStyle/>
          <a:p>
            <a:pPr>
              <a:lnSpc>
                <a:spcPct val="120000"/>
              </a:lnSpc>
            </a:pPr>
            <a:r>
              <a:rPr lang="en-US" sz="1037" b="1" dirty="0">
                <a:solidFill>
                  <a:srgbClr val="1F2937"/>
                </a:solidFill>
                <a:latin typeface="Sorts Mill Goudy" pitchFamily="34" charset="0"/>
                <a:ea typeface="Sorts Mill Goudy" pitchFamily="34" charset="-122"/>
                <a:cs typeface="Sorts Mill Goudy" pitchFamily="34" charset="-120"/>
              </a:rPr>
              <a:t>Public</a:t>
            </a:r>
            <a:r>
              <a:rPr lang="en-US" sz="1037" dirty="0">
                <a:solidFill>
                  <a:srgbClr val="6B7280"/>
                </a:solidFill>
                <a:latin typeface="Sorts Mill Goudy" pitchFamily="34" charset="0"/>
                <a:ea typeface="Sorts Mill Goudy" pitchFamily="34" charset="-122"/>
                <a:cs typeface="Sorts Mill Goudy" pitchFamily="34" charset="-120"/>
              </a:rPr>
              <a:t> - Figshare: DOI 10.6084/m9.figshare.22597957</a:t>
            </a:r>
            <a:endParaRPr lang="en-US" sz="1600" dirty="0"/>
          </a:p>
        </p:txBody>
      </p:sp>
      <p:sp>
        <p:nvSpPr>
          <p:cNvPr id="37" name="Shape 35"/>
          <p:cNvSpPr/>
          <p:nvPr/>
        </p:nvSpPr>
        <p:spPr>
          <a:xfrm>
            <a:off x="376296" y="4827525"/>
            <a:ext cx="3715926" cy="1128889"/>
          </a:xfrm>
          <a:custGeom>
            <a:avLst/>
            <a:gdLst/>
            <a:ahLst/>
            <a:cxnLst/>
            <a:rect l="l" t="t" r="r" b="b"/>
            <a:pathLst>
              <a:path w="3715926" h="1128889">
                <a:moveTo>
                  <a:pt x="0" y="0"/>
                </a:moveTo>
                <a:lnTo>
                  <a:pt x="3715926" y="0"/>
                </a:lnTo>
                <a:lnTo>
                  <a:pt x="3715926" y="1128889"/>
                </a:lnTo>
                <a:lnTo>
                  <a:pt x="0" y="1128889"/>
                </a:lnTo>
                <a:lnTo>
                  <a:pt x="0" y="0"/>
                </a:lnTo>
                <a:close/>
              </a:path>
            </a:pathLst>
          </a:custGeom>
          <a:solidFill>
            <a:srgbClr val="F9FAFB"/>
          </a:solidFill>
          <a:ln/>
        </p:spPr>
        <p:txBody>
          <a:bodyPr/>
          <a:lstStyle/>
          <a:p>
            <a:endParaRPr lang="en-US"/>
          </a:p>
        </p:txBody>
      </p:sp>
      <p:sp>
        <p:nvSpPr>
          <p:cNvPr id="38" name="Shape 36"/>
          <p:cNvSpPr/>
          <p:nvPr/>
        </p:nvSpPr>
        <p:spPr>
          <a:xfrm>
            <a:off x="376296" y="4827525"/>
            <a:ext cx="3715926" cy="37630"/>
          </a:xfrm>
          <a:custGeom>
            <a:avLst/>
            <a:gdLst/>
            <a:ahLst/>
            <a:cxnLst/>
            <a:rect l="l" t="t" r="r" b="b"/>
            <a:pathLst>
              <a:path w="3715926" h="37630">
                <a:moveTo>
                  <a:pt x="0" y="0"/>
                </a:moveTo>
                <a:lnTo>
                  <a:pt x="3715926" y="0"/>
                </a:lnTo>
                <a:lnTo>
                  <a:pt x="3715926" y="37630"/>
                </a:lnTo>
                <a:lnTo>
                  <a:pt x="0" y="37630"/>
                </a:lnTo>
                <a:lnTo>
                  <a:pt x="0" y="0"/>
                </a:lnTo>
                <a:close/>
              </a:path>
            </a:pathLst>
          </a:custGeom>
          <a:solidFill>
            <a:srgbClr val="8B0000"/>
          </a:solidFill>
          <a:ln/>
        </p:spPr>
        <p:txBody>
          <a:bodyPr/>
          <a:lstStyle/>
          <a:p>
            <a:endParaRPr lang="en-US"/>
          </a:p>
        </p:txBody>
      </p:sp>
      <p:sp>
        <p:nvSpPr>
          <p:cNvPr id="39" name="Shape 37"/>
          <p:cNvSpPr/>
          <p:nvPr/>
        </p:nvSpPr>
        <p:spPr>
          <a:xfrm>
            <a:off x="2058576" y="4996858"/>
            <a:ext cx="352778" cy="282222"/>
          </a:xfrm>
          <a:custGeom>
            <a:avLst/>
            <a:gdLst/>
            <a:ahLst/>
            <a:cxnLst/>
            <a:rect l="l" t="t" r="r" b="b"/>
            <a:pathLst>
              <a:path w="352778" h="282222">
                <a:moveTo>
                  <a:pt x="211667" y="17639"/>
                </a:moveTo>
                <a:lnTo>
                  <a:pt x="282222" y="17639"/>
                </a:lnTo>
                <a:cubicBezTo>
                  <a:pt x="291979" y="17639"/>
                  <a:pt x="299861" y="25521"/>
                  <a:pt x="299861" y="35278"/>
                </a:cubicBezTo>
                <a:cubicBezTo>
                  <a:pt x="299861" y="45034"/>
                  <a:pt x="291979" y="52917"/>
                  <a:pt x="282222" y="52917"/>
                </a:cubicBezTo>
                <a:lnTo>
                  <a:pt x="219604" y="52917"/>
                </a:lnTo>
                <a:cubicBezTo>
                  <a:pt x="216738" y="67138"/>
                  <a:pt x="206981" y="78879"/>
                  <a:pt x="194028" y="84501"/>
                </a:cubicBezTo>
                <a:lnTo>
                  <a:pt x="194028" y="246944"/>
                </a:lnTo>
                <a:lnTo>
                  <a:pt x="282222" y="246944"/>
                </a:lnTo>
                <a:cubicBezTo>
                  <a:pt x="291979" y="246944"/>
                  <a:pt x="299861" y="254827"/>
                  <a:pt x="299861" y="264583"/>
                </a:cubicBezTo>
                <a:cubicBezTo>
                  <a:pt x="299861" y="274340"/>
                  <a:pt x="291979" y="282222"/>
                  <a:pt x="282222" y="282222"/>
                </a:cubicBezTo>
                <a:lnTo>
                  <a:pt x="70556" y="282222"/>
                </a:lnTo>
                <a:cubicBezTo>
                  <a:pt x="60799" y="282222"/>
                  <a:pt x="52917" y="274340"/>
                  <a:pt x="52917" y="264583"/>
                </a:cubicBezTo>
                <a:cubicBezTo>
                  <a:pt x="52917" y="254827"/>
                  <a:pt x="60799" y="246944"/>
                  <a:pt x="70556" y="246944"/>
                </a:cubicBezTo>
                <a:lnTo>
                  <a:pt x="158750" y="246944"/>
                </a:lnTo>
                <a:lnTo>
                  <a:pt x="158750" y="84501"/>
                </a:lnTo>
                <a:cubicBezTo>
                  <a:pt x="145796" y="78824"/>
                  <a:pt x="136040" y="67083"/>
                  <a:pt x="133174" y="52917"/>
                </a:cubicBezTo>
                <a:lnTo>
                  <a:pt x="70556" y="52917"/>
                </a:lnTo>
                <a:cubicBezTo>
                  <a:pt x="60799" y="52917"/>
                  <a:pt x="52917" y="45034"/>
                  <a:pt x="52917" y="35278"/>
                </a:cubicBezTo>
                <a:cubicBezTo>
                  <a:pt x="52917" y="25521"/>
                  <a:pt x="60799" y="17639"/>
                  <a:pt x="70556" y="17639"/>
                </a:cubicBezTo>
                <a:lnTo>
                  <a:pt x="141111" y="17639"/>
                </a:lnTo>
                <a:cubicBezTo>
                  <a:pt x="149159" y="6945"/>
                  <a:pt x="161947" y="0"/>
                  <a:pt x="176389" y="0"/>
                </a:cubicBezTo>
                <a:cubicBezTo>
                  <a:pt x="190831" y="0"/>
                  <a:pt x="203619" y="6945"/>
                  <a:pt x="211667" y="17639"/>
                </a:cubicBezTo>
                <a:close/>
                <a:moveTo>
                  <a:pt x="242314" y="176389"/>
                </a:moveTo>
                <a:lnTo>
                  <a:pt x="322130" y="176389"/>
                </a:lnTo>
                <a:lnTo>
                  <a:pt x="282222" y="107928"/>
                </a:lnTo>
                <a:lnTo>
                  <a:pt x="242314" y="176389"/>
                </a:lnTo>
                <a:close/>
                <a:moveTo>
                  <a:pt x="282222" y="229306"/>
                </a:moveTo>
                <a:cubicBezTo>
                  <a:pt x="247551" y="229306"/>
                  <a:pt x="218722" y="210564"/>
                  <a:pt x="212769" y="185815"/>
                </a:cubicBezTo>
                <a:cubicBezTo>
                  <a:pt x="211336" y="179751"/>
                  <a:pt x="213320" y="173523"/>
                  <a:pt x="216462" y="168121"/>
                </a:cubicBezTo>
                <a:lnTo>
                  <a:pt x="268938" y="78162"/>
                </a:lnTo>
                <a:cubicBezTo>
                  <a:pt x="271694" y="73422"/>
                  <a:pt x="276765" y="70556"/>
                  <a:pt x="282222" y="70556"/>
                </a:cubicBezTo>
                <a:cubicBezTo>
                  <a:pt x="287679" y="70556"/>
                  <a:pt x="292750" y="73477"/>
                  <a:pt x="295507" y="78162"/>
                </a:cubicBezTo>
                <a:lnTo>
                  <a:pt x="347982" y="168121"/>
                </a:lnTo>
                <a:cubicBezTo>
                  <a:pt x="351124" y="173523"/>
                  <a:pt x="353109" y="179751"/>
                  <a:pt x="351675" y="185815"/>
                </a:cubicBezTo>
                <a:cubicBezTo>
                  <a:pt x="345722" y="210509"/>
                  <a:pt x="316894" y="229306"/>
                  <a:pt x="282222" y="229306"/>
                </a:cubicBezTo>
                <a:close/>
                <a:moveTo>
                  <a:pt x="69894" y="107928"/>
                </a:moveTo>
                <a:lnTo>
                  <a:pt x="29986" y="176389"/>
                </a:lnTo>
                <a:lnTo>
                  <a:pt x="109857" y="176389"/>
                </a:lnTo>
                <a:lnTo>
                  <a:pt x="69894" y="107928"/>
                </a:lnTo>
                <a:close/>
                <a:moveTo>
                  <a:pt x="496" y="185815"/>
                </a:moveTo>
                <a:cubicBezTo>
                  <a:pt x="-937" y="179751"/>
                  <a:pt x="1047" y="173523"/>
                  <a:pt x="4189" y="168121"/>
                </a:cubicBezTo>
                <a:lnTo>
                  <a:pt x="56665" y="78162"/>
                </a:lnTo>
                <a:cubicBezTo>
                  <a:pt x="59421" y="73422"/>
                  <a:pt x="64492" y="70556"/>
                  <a:pt x="69949" y="70556"/>
                </a:cubicBezTo>
                <a:cubicBezTo>
                  <a:pt x="75406" y="70556"/>
                  <a:pt x="80477" y="73477"/>
                  <a:pt x="83234" y="78162"/>
                </a:cubicBezTo>
                <a:lnTo>
                  <a:pt x="135709" y="168121"/>
                </a:lnTo>
                <a:cubicBezTo>
                  <a:pt x="138851" y="173523"/>
                  <a:pt x="140836" y="179751"/>
                  <a:pt x="139402" y="185815"/>
                </a:cubicBezTo>
                <a:cubicBezTo>
                  <a:pt x="133449" y="210509"/>
                  <a:pt x="104621" y="229306"/>
                  <a:pt x="69949" y="229306"/>
                </a:cubicBezTo>
                <a:cubicBezTo>
                  <a:pt x="35278" y="229306"/>
                  <a:pt x="6449" y="210564"/>
                  <a:pt x="496" y="185815"/>
                </a:cubicBezTo>
                <a:close/>
              </a:path>
            </a:pathLst>
          </a:custGeom>
          <a:solidFill>
            <a:srgbClr val="8B0000"/>
          </a:solidFill>
          <a:ln/>
        </p:spPr>
        <p:txBody>
          <a:bodyPr/>
          <a:lstStyle/>
          <a:p>
            <a:endParaRPr lang="en-US"/>
          </a:p>
        </p:txBody>
      </p:sp>
      <p:sp>
        <p:nvSpPr>
          <p:cNvPr id="40" name="Text 38"/>
          <p:cNvSpPr/>
          <p:nvPr/>
        </p:nvSpPr>
        <p:spPr>
          <a:xfrm>
            <a:off x="489185" y="5354340"/>
            <a:ext cx="3490148" cy="225778"/>
          </a:xfrm>
          <a:prstGeom prst="rect">
            <a:avLst/>
          </a:prstGeom>
          <a:noFill/>
          <a:ln/>
        </p:spPr>
        <p:txBody>
          <a:bodyPr wrap="square" lIns="0" tIns="0" rIns="0" bIns="0" rtlCol="0" anchor="ctr"/>
          <a:lstStyle/>
          <a:p>
            <a:pPr algn="ct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Balanced Distribution</a:t>
            </a:r>
            <a:endParaRPr lang="en-US" sz="1600" dirty="0"/>
          </a:p>
        </p:txBody>
      </p:sp>
      <p:sp>
        <p:nvSpPr>
          <p:cNvPr id="41" name="Text 39"/>
          <p:cNvSpPr/>
          <p:nvPr/>
        </p:nvSpPr>
        <p:spPr>
          <a:xfrm>
            <a:off x="493889" y="5617747"/>
            <a:ext cx="3480741" cy="188148"/>
          </a:xfrm>
          <a:prstGeom prst="rect">
            <a:avLst/>
          </a:prstGeom>
          <a:noFill/>
          <a:ln/>
        </p:spPr>
        <p:txBody>
          <a:bodyPr wrap="square" lIns="0" tIns="0" rIns="0" bIns="0" rtlCol="0" anchor="ctr"/>
          <a:lstStyle/>
          <a:p>
            <a:pPr algn="ct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Even representation across all cognitive levels</a:t>
            </a:r>
            <a:endParaRPr lang="en-US" sz="1600" dirty="0"/>
          </a:p>
        </p:txBody>
      </p:sp>
      <p:sp>
        <p:nvSpPr>
          <p:cNvPr id="42" name="Shape 40"/>
          <p:cNvSpPr/>
          <p:nvPr/>
        </p:nvSpPr>
        <p:spPr>
          <a:xfrm>
            <a:off x="4239566" y="4827525"/>
            <a:ext cx="3715926" cy="1128889"/>
          </a:xfrm>
          <a:custGeom>
            <a:avLst/>
            <a:gdLst/>
            <a:ahLst/>
            <a:cxnLst/>
            <a:rect l="l" t="t" r="r" b="b"/>
            <a:pathLst>
              <a:path w="3715926" h="1128889">
                <a:moveTo>
                  <a:pt x="0" y="0"/>
                </a:moveTo>
                <a:lnTo>
                  <a:pt x="3715926" y="0"/>
                </a:lnTo>
                <a:lnTo>
                  <a:pt x="3715926" y="1128889"/>
                </a:lnTo>
                <a:lnTo>
                  <a:pt x="0" y="1128889"/>
                </a:lnTo>
                <a:lnTo>
                  <a:pt x="0" y="0"/>
                </a:lnTo>
                <a:close/>
              </a:path>
            </a:pathLst>
          </a:custGeom>
          <a:solidFill>
            <a:srgbClr val="F9FAFB"/>
          </a:solidFill>
          <a:ln/>
        </p:spPr>
        <p:txBody>
          <a:bodyPr/>
          <a:lstStyle/>
          <a:p>
            <a:endParaRPr lang="en-US"/>
          </a:p>
        </p:txBody>
      </p:sp>
      <p:sp>
        <p:nvSpPr>
          <p:cNvPr id="43" name="Shape 41"/>
          <p:cNvSpPr/>
          <p:nvPr/>
        </p:nvSpPr>
        <p:spPr>
          <a:xfrm>
            <a:off x="4239566" y="4827525"/>
            <a:ext cx="3715926" cy="37630"/>
          </a:xfrm>
          <a:custGeom>
            <a:avLst/>
            <a:gdLst/>
            <a:ahLst/>
            <a:cxnLst/>
            <a:rect l="l" t="t" r="r" b="b"/>
            <a:pathLst>
              <a:path w="3715926" h="37630">
                <a:moveTo>
                  <a:pt x="0" y="0"/>
                </a:moveTo>
                <a:lnTo>
                  <a:pt x="3715926" y="0"/>
                </a:lnTo>
                <a:lnTo>
                  <a:pt x="3715926" y="37630"/>
                </a:lnTo>
                <a:lnTo>
                  <a:pt x="0" y="37630"/>
                </a:lnTo>
                <a:lnTo>
                  <a:pt x="0" y="0"/>
                </a:lnTo>
                <a:close/>
              </a:path>
            </a:pathLst>
          </a:custGeom>
          <a:solidFill>
            <a:srgbClr val="1F2937"/>
          </a:solidFill>
          <a:ln/>
        </p:spPr>
        <p:txBody>
          <a:bodyPr/>
          <a:lstStyle/>
          <a:p>
            <a:endParaRPr lang="en-US"/>
          </a:p>
        </p:txBody>
      </p:sp>
      <p:sp>
        <p:nvSpPr>
          <p:cNvPr id="44" name="Shape 42"/>
          <p:cNvSpPr/>
          <p:nvPr/>
        </p:nvSpPr>
        <p:spPr>
          <a:xfrm>
            <a:off x="5974762" y="4996858"/>
            <a:ext cx="246944" cy="282222"/>
          </a:xfrm>
          <a:custGeom>
            <a:avLst/>
            <a:gdLst/>
            <a:ahLst/>
            <a:cxnLst/>
            <a:rect l="l" t="t" r="r" b="b"/>
            <a:pathLst>
              <a:path w="246944" h="282222">
                <a:moveTo>
                  <a:pt x="158750" y="0"/>
                </a:moveTo>
                <a:lnTo>
                  <a:pt x="70556" y="0"/>
                </a:lnTo>
                <a:cubicBezTo>
                  <a:pt x="60799" y="0"/>
                  <a:pt x="52917" y="7882"/>
                  <a:pt x="52917" y="17639"/>
                </a:cubicBezTo>
                <a:cubicBezTo>
                  <a:pt x="52917" y="27395"/>
                  <a:pt x="60799" y="35278"/>
                  <a:pt x="70556" y="35278"/>
                </a:cubicBezTo>
                <a:lnTo>
                  <a:pt x="70556" y="118787"/>
                </a:lnTo>
                <a:lnTo>
                  <a:pt x="4134" y="234983"/>
                </a:lnTo>
                <a:cubicBezTo>
                  <a:pt x="1433" y="239779"/>
                  <a:pt x="0" y="245125"/>
                  <a:pt x="0" y="250638"/>
                </a:cubicBezTo>
                <a:cubicBezTo>
                  <a:pt x="0" y="268111"/>
                  <a:pt x="14111" y="282222"/>
                  <a:pt x="31585" y="282222"/>
                </a:cubicBezTo>
                <a:lnTo>
                  <a:pt x="215360" y="282222"/>
                </a:lnTo>
                <a:cubicBezTo>
                  <a:pt x="232778" y="282222"/>
                  <a:pt x="246944" y="268111"/>
                  <a:pt x="246944" y="250638"/>
                </a:cubicBezTo>
                <a:cubicBezTo>
                  <a:pt x="246944" y="245125"/>
                  <a:pt x="245511" y="239724"/>
                  <a:pt x="242810" y="234983"/>
                </a:cubicBezTo>
                <a:lnTo>
                  <a:pt x="176389" y="118787"/>
                </a:lnTo>
                <a:lnTo>
                  <a:pt x="176389" y="35278"/>
                </a:lnTo>
                <a:cubicBezTo>
                  <a:pt x="186145" y="35278"/>
                  <a:pt x="194028" y="27395"/>
                  <a:pt x="194028" y="17639"/>
                </a:cubicBezTo>
                <a:cubicBezTo>
                  <a:pt x="194028" y="7882"/>
                  <a:pt x="186145" y="0"/>
                  <a:pt x="176389" y="0"/>
                </a:cubicBezTo>
                <a:lnTo>
                  <a:pt x="158750" y="0"/>
                </a:lnTo>
                <a:close/>
                <a:moveTo>
                  <a:pt x="105833" y="118787"/>
                </a:moveTo>
                <a:lnTo>
                  <a:pt x="105833" y="35278"/>
                </a:lnTo>
                <a:lnTo>
                  <a:pt x="141111" y="35278"/>
                </a:lnTo>
                <a:lnTo>
                  <a:pt x="141111" y="118787"/>
                </a:lnTo>
                <a:cubicBezTo>
                  <a:pt x="141111" y="124905"/>
                  <a:pt x="142710" y="130969"/>
                  <a:pt x="145741" y="136316"/>
                </a:cubicBezTo>
                <a:lnTo>
                  <a:pt x="168672" y="176389"/>
                </a:lnTo>
                <a:lnTo>
                  <a:pt x="78273" y="176389"/>
                </a:lnTo>
                <a:lnTo>
                  <a:pt x="101203" y="136316"/>
                </a:lnTo>
                <a:cubicBezTo>
                  <a:pt x="104235" y="130969"/>
                  <a:pt x="105833" y="124961"/>
                  <a:pt x="105833" y="118787"/>
                </a:cubicBezTo>
                <a:close/>
              </a:path>
            </a:pathLst>
          </a:custGeom>
          <a:solidFill>
            <a:srgbClr val="1F2937"/>
          </a:solidFill>
          <a:ln/>
        </p:spPr>
        <p:txBody>
          <a:bodyPr/>
          <a:lstStyle/>
          <a:p>
            <a:endParaRPr lang="en-US"/>
          </a:p>
        </p:txBody>
      </p:sp>
      <p:sp>
        <p:nvSpPr>
          <p:cNvPr id="45" name="Text 43"/>
          <p:cNvSpPr/>
          <p:nvPr/>
        </p:nvSpPr>
        <p:spPr>
          <a:xfrm>
            <a:off x="4352455" y="5354340"/>
            <a:ext cx="3490148" cy="225778"/>
          </a:xfrm>
          <a:prstGeom prst="rect">
            <a:avLst/>
          </a:prstGeom>
          <a:noFill/>
          <a:ln/>
        </p:spPr>
        <p:txBody>
          <a:bodyPr wrap="square" lIns="0" tIns="0" rIns="0" bIns="0" rtlCol="0" anchor="ctr"/>
          <a:lstStyle/>
          <a:p>
            <a:pPr algn="ct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Research Validated</a:t>
            </a:r>
            <a:endParaRPr lang="en-US" sz="1600" dirty="0"/>
          </a:p>
        </p:txBody>
      </p:sp>
      <p:sp>
        <p:nvSpPr>
          <p:cNvPr id="46" name="Text 44"/>
          <p:cNvSpPr/>
          <p:nvPr/>
        </p:nvSpPr>
        <p:spPr>
          <a:xfrm>
            <a:off x="4357158" y="5617747"/>
            <a:ext cx="3480741" cy="188148"/>
          </a:xfrm>
          <a:prstGeom prst="rect">
            <a:avLst/>
          </a:prstGeom>
          <a:noFill/>
          <a:ln/>
        </p:spPr>
        <p:txBody>
          <a:bodyPr wrap="square" lIns="0" tIns="0" rIns="0" bIns="0" rtlCol="0" anchor="ctr"/>
          <a:lstStyle/>
          <a:p>
            <a:pPr algn="ct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Used in peer-reviewed publications</a:t>
            </a:r>
            <a:endParaRPr lang="en-US" sz="1600" dirty="0"/>
          </a:p>
        </p:txBody>
      </p:sp>
      <p:sp>
        <p:nvSpPr>
          <p:cNvPr id="47" name="Shape 45"/>
          <p:cNvSpPr/>
          <p:nvPr/>
        </p:nvSpPr>
        <p:spPr>
          <a:xfrm>
            <a:off x="8102835" y="4827525"/>
            <a:ext cx="3715926" cy="1128889"/>
          </a:xfrm>
          <a:custGeom>
            <a:avLst/>
            <a:gdLst/>
            <a:ahLst/>
            <a:cxnLst/>
            <a:rect l="l" t="t" r="r" b="b"/>
            <a:pathLst>
              <a:path w="3715926" h="1128889">
                <a:moveTo>
                  <a:pt x="0" y="0"/>
                </a:moveTo>
                <a:lnTo>
                  <a:pt x="3715926" y="0"/>
                </a:lnTo>
                <a:lnTo>
                  <a:pt x="3715926" y="1128889"/>
                </a:lnTo>
                <a:lnTo>
                  <a:pt x="0" y="1128889"/>
                </a:lnTo>
                <a:lnTo>
                  <a:pt x="0" y="0"/>
                </a:lnTo>
                <a:close/>
              </a:path>
            </a:pathLst>
          </a:custGeom>
          <a:solidFill>
            <a:srgbClr val="F9FAFB"/>
          </a:solidFill>
          <a:ln/>
        </p:spPr>
        <p:txBody>
          <a:bodyPr/>
          <a:lstStyle/>
          <a:p>
            <a:endParaRPr lang="en-US"/>
          </a:p>
        </p:txBody>
      </p:sp>
      <p:sp>
        <p:nvSpPr>
          <p:cNvPr id="48" name="Shape 46"/>
          <p:cNvSpPr/>
          <p:nvPr/>
        </p:nvSpPr>
        <p:spPr>
          <a:xfrm>
            <a:off x="8102835" y="4827525"/>
            <a:ext cx="3715926" cy="37630"/>
          </a:xfrm>
          <a:custGeom>
            <a:avLst/>
            <a:gdLst/>
            <a:ahLst/>
            <a:cxnLst/>
            <a:rect l="l" t="t" r="r" b="b"/>
            <a:pathLst>
              <a:path w="3715926" h="37630">
                <a:moveTo>
                  <a:pt x="0" y="0"/>
                </a:moveTo>
                <a:lnTo>
                  <a:pt x="3715926" y="0"/>
                </a:lnTo>
                <a:lnTo>
                  <a:pt x="3715926" y="37630"/>
                </a:lnTo>
                <a:lnTo>
                  <a:pt x="0" y="37630"/>
                </a:lnTo>
                <a:lnTo>
                  <a:pt x="0" y="0"/>
                </a:lnTo>
                <a:close/>
              </a:path>
            </a:pathLst>
          </a:custGeom>
          <a:solidFill>
            <a:srgbClr val="6B7280"/>
          </a:solidFill>
          <a:ln/>
        </p:spPr>
        <p:txBody>
          <a:bodyPr/>
          <a:lstStyle/>
          <a:p>
            <a:endParaRPr lang="en-US"/>
          </a:p>
        </p:txBody>
      </p:sp>
      <p:sp>
        <p:nvSpPr>
          <p:cNvPr id="49" name="Shape 47"/>
          <p:cNvSpPr/>
          <p:nvPr/>
        </p:nvSpPr>
        <p:spPr>
          <a:xfrm>
            <a:off x="9838149" y="4996858"/>
            <a:ext cx="246944" cy="282222"/>
          </a:xfrm>
          <a:custGeom>
            <a:avLst/>
            <a:gdLst/>
            <a:ahLst/>
            <a:cxnLst/>
            <a:rect l="l" t="t" r="r" b="b"/>
            <a:pathLst>
              <a:path w="246944" h="282222">
                <a:moveTo>
                  <a:pt x="141111" y="17639"/>
                </a:moveTo>
                <a:cubicBezTo>
                  <a:pt x="141111" y="7882"/>
                  <a:pt x="133229" y="0"/>
                  <a:pt x="123472" y="0"/>
                </a:cubicBezTo>
                <a:cubicBezTo>
                  <a:pt x="113716" y="0"/>
                  <a:pt x="105833" y="7882"/>
                  <a:pt x="105833" y="17639"/>
                </a:cubicBezTo>
                <a:lnTo>
                  <a:pt x="105833" y="133780"/>
                </a:lnTo>
                <a:lnTo>
                  <a:pt x="83013" y="110960"/>
                </a:lnTo>
                <a:cubicBezTo>
                  <a:pt x="76123" y="104069"/>
                  <a:pt x="64933" y="104069"/>
                  <a:pt x="58043" y="110960"/>
                </a:cubicBezTo>
                <a:cubicBezTo>
                  <a:pt x="51153" y="117850"/>
                  <a:pt x="51153" y="129039"/>
                  <a:pt x="58043" y="135930"/>
                </a:cubicBezTo>
                <a:lnTo>
                  <a:pt x="110960" y="188846"/>
                </a:lnTo>
                <a:cubicBezTo>
                  <a:pt x="117850" y="195737"/>
                  <a:pt x="129039" y="195737"/>
                  <a:pt x="135930" y="188846"/>
                </a:cubicBezTo>
                <a:lnTo>
                  <a:pt x="188846" y="135930"/>
                </a:lnTo>
                <a:cubicBezTo>
                  <a:pt x="195737" y="129039"/>
                  <a:pt x="195737" y="117850"/>
                  <a:pt x="188846" y="110960"/>
                </a:cubicBezTo>
                <a:cubicBezTo>
                  <a:pt x="181956" y="104069"/>
                  <a:pt x="170766" y="104069"/>
                  <a:pt x="163876" y="110960"/>
                </a:cubicBezTo>
                <a:lnTo>
                  <a:pt x="141111" y="133780"/>
                </a:lnTo>
                <a:lnTo>
                  <a:pt x="141111" y="17639"/>
                </a:lnTo>
                <a:close/>
                <a:moveTo>
                  <a:pt x="35278" y="176389"/>
                </a:moveTo>
                <a:cubicBezTo>
                  <a:pt x="15820" y="176389"/>
                  <a:pt x="0" y="192209"/>
                  <a:pt x="0" y="211667"/>
                </a:cubicBezTo>
                <a:lnTo>
                  <a:pt x="0" y="229306"/>
                </a:lnTo>
                <a:cubicBezTo>
                  <a:pt x="0" y="248763"/>
                  <a:pt x="15820" y="264583"/>
                  <a:pt x="35278" y="264583"/>
                </a:cubicBezTo>
                <a:lnTo>
                  <a:pt x="211667" y="264583"/>
                </a:lnTo>
                <a:cubicBezTo>
                  <a:pt x="231125" y="264583"/>
                  <a:pt x="246944" y="248763"/>
                  <a:pt x="246944" y="229306"/>
                </a:cubicBezTo>
                <a:lnTo>
                  <a:pt x="246944" y="211667"/>
                </a:lnTo>
                <a:cubicBezTo>
                  <a:pt x="246944" y="192209"/>
                  <a:pt x="231125" y="176389"/>
                  <a:pt x="211667" y="176389"/>
                </a:cubicBezTo>
                <a:lnTo>
                  <a:pt x="185815" y="176389"/>
                </a:lnTo>
                <a:lnTo>
                  <a:pt x="154616" y="207588"/>
                </a:lnTo>
                <a:cubicBezTo>
                  <a:pt x="137418" y="224786"/>
                  <a:pt x="109471" y="224786"/>
                  <a:pt x="92273" y="207588"/>
                </a:cubicBezTo>
                <a:lnTo>
                  <a:pt x="61130" y="176389"/>
                </a:lnTo>
                <a:lnTo>
                  <a:pt x="35278" y="176389"/>
                </a:lnTo>
                <a:close/>
                <a:moveTo>
                  <a:pt x="202847" y="207257"/>
                </a:moveTo>
                <a:cubicBezTo>
                  <a:pt x="210149" y="207257"/>
                  <a:pt x="216076" y="213185"/>
                  <a:pt x="216076" y="220486"/>
                </a:cubicBezTo>
                <a:cubicBezTo>
                  <a:pt x="216076" y="227787"/>
                  <a:pt x="210149" y="233715"/>
                  <a:pt x="202847" y="233715"/>
                </a:cubicBezTo>
                <a:cubicBezTo>
                  <a:pt x="195546" y="233715"/>
                  <a:pt x="189618" y="227787"/>
                  <a:pt x="189618" y="220486"/>
                </a:cubicBezTo>
                <a:cubicBezTo>
                  <a:pt x="189618" y="213185"/>
                  <a:pt x="195546" y="207257"/>
                  <a:pt x="202847" y="207257"/>
                </a:cubicBezTo>
                <a:close/>
              </a:path>
            </a:pathLst>
          </a:custGeom>
          <a:solidFill>
            <a:srgbClr val="6B7280"/>
          </a:solidFill>
          <a:ln/>
        </p:spPr>
        <p:txBody>
          <a:bodyPr/>
          <a:lstStyle/>
          <a:p>
            <a:endParaRPr lang="en-US"/>
          </a:p>
        </p:txBody>
      </p:sp>
      <p:sp>
        <p:nvSpPr>
          <p:cNvPr id="50" name="Text 48"/>
          <p:cNvSpPr/>
          <p:nvPr/>
        </p:nvSpPr>
        <p:spPr>
          <a:xfrm>
            <a:off x="8215724" y="5354340"/>
            <a:ext cx="3490148" cy="225778"/>
          </a:xfrm>
          <a:prstGeom prst="rect">
            <a:avLst/>
          </a:prstGeom>
          <a:noFill/>
          <a:ln/>
        </p:spPr>
        <p:txBody>
          <a:bodyPr wrap="square" lIns="0" tIns="0" rIns="0" bIns="0" rtlCol="0" anchor="ctr"/>
          <a:lstStyle/>
          <a:p>
            <a:pPr algn="ctr">
              <a:lnSpc>
                <a:spcPct val="130000"/>
              </a:lnSpc>
            </a:pPr>
            <a:r>
              <a:rPr lang="en-US" sz="1185" b="1" dirty="0">
                <a:solidFill>
                  <a:srgbClr val="1F2937"/>
                </a:solidFill>
                <a:latin typeface="Sorts Mill Goudy" pitchFamily="34" charset="0"/>
                <a:ea typeface="Sorts Mill Goudy" pitchFamily="34" charset="-122"/>
                <a:cs typeface="Sorts Mill Goudy" pitchFamily="34" charset="-120"/>
              </a:rPr>
              <a:t>Open Access</a:t>
            </a:r>
            <a:endParaRPr lang="en-US" sz="1600" dirty="0"/>
          </a:p>
        </p:txBody>
      </p:sp>
      <p:sp>
        <p:nvSpPr>
          <p:cNvPr id="51" name="Text 49"/>
          <p:cNvSpPr/>
          <p:nvPr/>
        </p:nvSpPr>
        <p:spPr>
          <a:xfrm>
            <a:off x="8220428" y="5617747"/>
            <a:ext cx="3480741" cy="188148"/>
          </a:xfrm>
          <a:prstGeom prst="rect">
            <a:avLst/>
          </a:prstGeom>
          <a:noFill/>
          <a:ln/>
        </p:spPr>
        <p:txBody>
          <a:bodyPr wrap="square" lIns="0" tIns="0" rIns="0" bIns="0" rtlCol="0" anchor="ctr"/>
          <a:lstStyle/>
          <a:p>
            <a:pPr algn="ctr">
              <a:lnSpc>
                <a:spcPct val="120000"/>
              </a:lnSpc>
            </a:pPr>
            <a:r>
              <a:rPr lang="en-US" sz="1037" dirty="0">
                <a:solidFill>
                  <a:srgbClr val="6B7280"/>
                </a:solidFill>
                <a:latin typeface="Sorts Mill Goudy" pitchFamily="34" charset="0"/>
                <a:ea typeface="Sorts Mill Goudy" pitchFamily="34" charset="-122"/>
                <a:cs typeface="Sorts Mill Goudy" pitchFamily="34" charset="-120"/>
              </a:rPr>
              <a:t>Freely available for research use</a:t>
            </a:r>
            <a:endParaRPr lang="en-US" sz="1600" dirty="0"/>
          </a:p>
        </p:txBody>
      </p:sp>
      <p:sp>
        <p:nvSpPr>
          <p:cNvPr id="52" name="Shape 50"/>
          <p:cNvSpPr/>
          <p:nvPr/>
        </p:nvSpPr>
        <p:spPr>
          <a:xfrm>
            <a:off x="376296" y="6106932"/>
            <a:ext cx="11439407" cy="752593"/>
          </a:xfrm>
          <a:custGeom>
            <a:avLst/>
            <a:gdLst/>
            <a:ahLst/>
            <a:cxnLst/>
            <a:rect l="l" t="t" r="r" b="b"/>
            <a:pathLst>
              <a:path w="11439407" h="752593">
                <a:moveTo>
                  <a:pt x="0" y="0"/>
                </a:moveTo>
                <a:lnTo>
                  <a:pt x="11439407" y="0"/>
                </a:lnTo>
                <a:lnTo>
                  <a:pt x="11439407" y="752593"/>
                </a:lnTo>
                <a:lnTo>
                  <a:pt x="0" y="752593"/>
                </a:lnTo>
                <a:lnTo>
                  <a:pt x="0" y="0"/>
                </a:lnTo>
                <a:close/>
              </a:path>
            </a:pathLst>
          </a:custGeom>
          <a:solidFill>
            <a:srgbClr val="1F2937"/>
          </a:solidFill>
          <a:ln/>
        </p:spPr>
        <p:txBody>
          <a:bodyPr/>
          <a:lstStyle/>
          <a:p>
            <a:endParaRPr lang="en-US"/>
          </a:p>
        </p:txBody>
      </p:sp>
      <p:sp>
        <p:nvSpPr>
          <p:cNvPr id="53" name="Shape 51"/>
          <p:cNvSpPr/>
          <p:nvPr/>
        </p:nvSpPr>
        <p:spPr>
          <a:xfrm>
            <a:off x="536222" y="6272504"/>
            <a:ext cx="169333" cy="150519"/>
          </a:xfrm>
          <a:custGeom>
            <a:avLst/>
            <a:gdLst/>
            <a:ahLst/>
            <a:cxnLst/>
            <a:rect l="l" t="t" r="r" b="b"/>
            <a:pathLst>
              <a:path w="169333" h="150519">
                <a:moveTo>
                  <a:pt x="90987" y="-5556"/>
                </a:moveTo>
                <a:cubicBezTo>
                  <a:pt x="89782" y="-7908"/>
                  <a:pt x="87342" y="-9407"/>
                  <a:pt x="84696" y="-9407"/>
                </a:cubicBezTo>
                <a:cubicBezTo>
                  <a:pt x="82050" y="-9407"/>
                  <a:pt x="79610" y="-7908"/>
                  <a:pt x="78405" y="-5556"/>
                </a:cubicBezTo>
                <a:lnTo>
                  <a:pt x="56768" y="36836"/>
                </a:lnTo>
                <a:lnTo>
                  <a:pt x="9760" y="44303"/>
                </a:lnTo>
                <a:cubicBezTo>
                  <a:pt x="7144" y="44715"/>
                  <a:pt x="4968" y="46567"/>
                  <a:pt x="4145" y="49095"/>
                </a:cubicBezTo>
                <a:cubicBezTo>
                  <a:pt x="3322" y="51623"/>
                  <a:pt x="3998" y="54387"/>
                  <a:pt x="5850" y="56268"/>
                </a:cubicBezTo>
                <a:lnTo>
                  <a:pt x="39482" y="89929"/>
                </a:lnTo>
                <a:lnTo>
                  <a:pt x="32073" y="136937"/>
                </a:lnTo>
                <a:cubicBezTo>
                  <a:pt x="31662" y="139553"/>
                  <a:pt x="32750" y="142199"/>
                  <a:pt x="34896" y="143757"/>
                </a:cubicBezTo>
                <a:cubicBezTo>
                  <a:pt x="37042" y="145315"/>
                  <a:pt x="39864" y="145550"/>
                  <a:pt x="42245" y="144345"/>
                </a:cubicBezTo>
                <a:lnTo>
                  <a:pt x="84696" y="122767"/>
                </a:lnTo>
                <a:lnTo>
                  <a:pt x="127118" y="144345"/>
                </a:lnTo>
                <a:cubicBezTo>
                  <a:pt x="129469" y="145550"/>
                  <a:pt x="132321" y="145315"/>
                  <a:pt x="134467" y="143757"/>
                </a:cubicBezTo>
                <a:cubicBezTo>
                  <a:pt x="136613" y="142199"/>
                  <a:pt x="137701" y="139582"/>
                  <a:pt x="137289" y="136937"/>
                </a:cubicBezTo>
                <a:lnTo>
                  <a:pt x="129852" y="89929"/>
                </a:lnTo>
                <a:lnTo>
                  <a:pt x="163483" y="56268"/>
                </a:lnTo>
                <a:cubicBezTo>
                  <a:pt x="165365" y="54387"/>
                  <a:pt x="166011" y="51623"/>
                  <a:pt x="165188" y="49095"/>
                </a:cubicBezTo>
                <a:cubicBezTo>
                  <a:pt x="164365" y="46567"/>
                  <a:pt x="162219" y="44715"/>
                  <a:pt x="159573" y="44303"/>
                </a:cubicBezTo>
                <a:lnTo>
                  <a:pt x="112595" y="36836"/>
                </a:lnTo>
                <a:lnTo>
                  <a:pt x="90987" y="-5556"/>
                </a:lnTo>
                <a:close/>
              </a:path>
            </a:pathLst>
          </a:custGeom>
          <a:solidFill>
            <a:srgbClr val="8B0000"/>
          </a:solidFill>
          <a:ln/>
        </p:spPr>
        <p:txBody>
          <a:bodyPr/>
          <a:lstStyle/>
          <a:p>
            <a:endParaRPr lang="en-US"/>
          </a:p>
        </p:txBody>
      </p:sp>
      <p:sp>
        <p:nvSpPr>
          <p:cNvPr id="54" name="Text 52"/>
          <p:cNvSpPr/>
          <p:nvPr/>
        </p:nvSpPr>
        <p:spPr>
          <a:xfrm>
            <a:off x="770711" y="6257451"/>
            <a:ext cx="10969734" cy="451556"/>
          </a:xfrm>
          <a:prstGeom prst="rect">
            <a:avLst/>
          </a:prstGeom>
          <a:noFill/>
          <a:ln/>
        </p:spPr>
        <p:txBody>
          <a:bodyPr wrap="square" lIns="0" tIns="0" rIns="0" bIns="0" rtlCol="0" anchor="ctr"/>
          <a:lstStyle/>
          <a:p>
            <a:pPr>
              <a:lnSpc>
                <a:spcPct val="130000"/>
              </a:lnSpc>
            </a:pPr>
            <a:r>
              <a:rPr lang="en-US" sz="1185" b="1" dirty="0">
                <a:solidFill>
                  <a:srgbClr val="F9FAFB"/>
                </a:solidFill>
                <a:latin typeface="Sorts Mill Goudy" pitchFamily="34" charset="0"/>
                <a:ea typeface="Sorts Mill Goudy" pitchFamily="34" charset="-122"/>
                <a:cs typeface="Sorts Mill Goudy" pitchFamily="34" charset="-120"/>
              </a:rPr>
              <a:t>Impact:</a:t>
            </a:r>
            <a:r>
              <a:rPr lang="en-US" sz="1185" dirty="0">
                <a:solidFill>
                  <a:srgbClr val="F9FAFB"/>
                </a:solidFill>
                <a:latin typeface="Sorts Mill Goudy" pitchFamily="34" charset="0"/>
                <a:ea typeface="Sorts Mill Goudy" pitchFamily="34" charset="-122"/>
                <a:cs typeface="Sorts Mill Goudy" pitchFamily="34" charset="-120"/>
              </a:rPr>
              <a:t> These public benchmarks have become foundational resources for the research community, enabling reproducible model development and comparative evaluation across different approaches.</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5868" y="335868"/>
            <a:ext cx="11579041" cy="167934"/>
          </a:xfrm>
          <a:prstGeom prst="rect">
            <a:avLst/>
          </a:prstGeom>
          <a:noFill/>
          <a:ln/>
        </p:spPr>
        <p:txBody>
          <a:bodyPr wrap="square" lIns="0" tIns="0" rIns="0" bIns="0" rtlCol="0" anchor="ctr"/>
          <a:lstStyle/>
          <a:p>
            <a:pPr>
              <a:lnSpc>
                <a:spcPct val="120000"/>
              </a:lnSpc>
            </a:pPr>
            <a:r>
              <a:rPr lang="en-US" sz="926" b="1" kern="0" spc="93" dirty="0">
                <a:solidFill>
                  <a:srgbClr val="8B0000"/>
                </a:solidFill>
                <a:latin typeface="Sorts Mill Goudy" pitchFamily="34" charset="0"/>
                <a:ea typeface="Sorts Mill Goudy" pitchFamily="34" charset="-122"/>
                <a:cs typeface="Sorts Mill Goudy" pitchFamily="34" charset="-120"/>
              </a:rPr>
              <a:t>3.2 PUBLIC DATASETS</a:t>
            </a:r>
            <a:endParaRPr lang="en-US" sz="1600" dirty="0"/>
          </a:p>
        </p:txBody>
      </p:sp>
      <p:sp>
        <p:nvSpPr>
          <p:cNvPr id="3" name="Text 1"/>
          <p:cNvSpPr/>
          <p:nvPr/>
        </p:nvSpPr>
        <p:spPr>
          <a:xfrm>
            <a:off x="335868" y="570975"/>
            <a:ext cx="11671405" cy="335868"/>
          </a:xfrm>
          <a:prstGeom prst="rect">
            <a:avLst/>
          </a:prstGeom>
          <a:noFill/>
          <a:ln/>
        </p:spPr>
        <p:txBody>
          <a:bodyPr wrap="square" lIns="0" tIns="0" rIns="0" bIns="0" rtlCol="0" anchor="ctr"/>
          <a:lstStyle/>
          <a:p>
            <a:pPr>
              <a:lnSpc>
                <a:spcPct val="90000"/>
              </a:lnSpc>
            </a:pPr>
            <a:r>
              <a:rPr lang="en-US" sz="2380" b="1" dirty="0">
                <a:solidFill>
                  <a:srgbClr val="1F2937"/>
                </a:solidFill>
                <a:latin typeface="Sorts Mill Goudy" pitchFamily="34" charset="0"/>
                <a:ea typeface="Sorts Mill Goudy" pitchFamily="34" charset="-122"/>
                <a:cs typeface="Sorts Mill Goudy" pitchFamily="34" charset="-120"/>
              </a:rPr>
              <a:t>Classic Public Datasets: Foundational Resources</a:t>
            </a:r>
            <a:endParaRPr lang="en-US" sz="1600" dirty="0"/>
          </a:p>
        </p:txBody>
      </p:sp>
      <p:sp>
        <p:nvSpPr>
          <p:cNvPr id="4" name="Shape 2"/>
          <p:cNvSpPr/>
          <p:nvPr/>
        </p:nvSpPr>
        <p:spPr>
          <a:xfrm>
            <a:off x="335868" y="1007603"/>
            <a:ext cx="671736" cy="33587"/>
          </a:xfrm>
          <a:custGeom>
            <a:avLst/>
            <a:gdLst/>
            <a:ahLst/>
            <a:cxnLst/>
            <a:rect l="l" t="t" r="r" b="b"/>
            <a:pathLst>
              <a:path w="671736" h="33587">
                <a:moveTo>
                  <a:pt x="0" y="0"/>
                </a:moveTo>
                <a:lnTo>
                  <a:pt x="671736" y="0"/>
                </a:lnTo>
                <a:lnTo>
                  <a:pt x="671736" y="33587"/>
                </a:lnTo>
                <a:lnTo>
                  <a:pt x="0" y="33587"/>
                </a:lnTo>
                <a:lnTo>
                  <a:pt x="0" y="0"/>
                </a:lnTo>
                <a:close/>
              </a:path>
            </a:pathLst>
          </a:custGeom>
          <a:solidFill>
            <a:srgbClr val="8B0000"/>
          </a:solidFill>
          <a:ln/>
        </p:spPr>
        <p:txBody>
          <a:bodyPr/>
          <a:lstStyle/>
          <a:p>
            <a:endParaRPr lang="en-US"/>
          </a:p>
        </p:txBody>
      </p:sp>
      <p:sp>
        <p:nvSpPr>
          <p:cNvPr id="5" name="Shape 3"/>
          <p:cNvSpPr/>
          <p:nvPr/>
        </p:nvSpPr>
        <p:spPr>
          <a:xfrm>
            <a:off x="352661" y="1175537"/>
            <a:ext cx="5659372" cy="3467835"/>
          </a:xfrm>
          <a:custGeom>
            <a:avLst/>
            <a:gdLst/>
            <a:ahLst/>
            <a:cxnLst/>
            <a:rect l="l" t="t" r="r" b="b"/>
            <a:pathLst>
              <a:path w="5659372" h="3467835">
                <a:moveTo>
                  <a:pt x="0" y="0"/>
                </a:moveTo>
                <a:lnTo>
                  <a:pt x="5659372" y="0"/>
                </a:lnTo>
                <a:lnTo>
                  <a:pt x="5659372" y="3467835"/>
                </a:lnTo>
                <a:lnTo>
                  <a:pt x="0" y="3467835"/>
                </a:lnTo>
                <a:lnTo>
                  <a:pt x="0" y="0"/>
                </a:lnTo>
                <a:close/>
              </a:path>
            </a:pathLst>
          </a:custGeom>
          <a:solidFill>
            <a:srgbClr val="F9FAFB"/>
          </a:solidFill>
          <a:ln/>
        </p:spPr>
        <p:txBody>
          <a:bodyPr/>
          <a:lstStyle/>
          <a:p>
            <a:endParaRPr lang="en-US"/>
          </a:p>
        </p:txBody>
      </p:sp>
      <p:sp>
        <p:nvSpPr>
          <p:cNvPr id="6" name="Shape 4"/>
          <p:cNvSpPr/>
          <p:nvPr/>
        </p:nvSpPr>
        <p:spPr>
          <a:xfrm>
            <a:off x="352661" y="1175537"/>
            <a:ext cx="33587" cy="3467835"/>
          </a:xfrm>
          <a:custGeom>
            <a:avLst/>
            <a:gdLst/>
            <a:ahLst/>
            <a:cxnLst/>
            <a:rect l="l" t="t" r="r" b="b"/>
            <a:pathLst>
              <a:path w="33587" h="3467835">
                <a:moveTo>
                  <a:pt x="0" y="0"/>
                </a:moveTo>
                <a:lnTo>
                  <a:pt x="33587" y="0"/>
                </a:lnTo>
                <a:lnTo>
                  <a:pt x="33587" y="3467835"/>
                </a:lnTo>
                <a:lnTo>
                  <a:pt x="0" y="3467835"/>
                </a:lnTo>
                <a:lnTo>
                  <a:pt x="0" y="0"/>
                </a:lnTo>
                <a:close/>
              </a:path>
            </a:pathLst>
          </a:custGeom>
          <a:solidFill>
            <a:srgbClr val="8B0000"/>
          </a:solidFill>
          <a:ln/>
        </p:spPr>
        <p:txBody>
          <a:bodyPr/>
          <a:lstStyle/>
          <a:p>
            <a:endParaRPr lang="en-US"/>
          </a:p>
        </p:txBody>
      </p:sp>
      <p:sp>
        <p:nvSpPr>
          <p:cNvPr id="7" name="Shape 5"/>
          <p:cNvSpPr/>
          <p:nvPr/>
        </p:nvSpPr>
        <p:spPr>
          <a:xfrm>
            <a:off x="537388" y="1343471"/>
            <a:ext cx="470215" cy="470215"/>
          </a:xfrm>
          <a:custGeom>
            <a:avLst/>
            <a:gdLst/>
            <a:ahLst/>
            <a:cxnLst/>
            <a:rect l="l" t="t" r="r" b="b"/>
            <a:pathLst>
              <a:path w="470215" h="470215">
                <a:moveTo>
                  <a:pt x="235107" y="0"/>
                </a:moveTo>
                <a:lnTo>
                  <a:pt x="235107" y="0"/>
                </a:lnTo>
                <a:cubicBezTo>
                  <a:pt x="364954" y="0"/>
                  <a:pt x="470215" y="105261"/>
                  <a:pt x="470215" y="235107"/>
                </a:cubicBezTo>
                <a:lnTo>
                  <a:pt x="470215" y="235107"/>
                </a:lnTo>
                <a:cubicBezTo>
                  <a:pt x="470215" y="364954"/>
                  <a:pt x="364954" y="470215"/>
                  <a:pt x="235107" y="470215"/>
                </a:cubicBezTo>
                <a:lnTo>
                  <a:pt x="235107" y="470215"/>
                </a:lnTo>
                <a:cubicBezTo>
                  <a:pt x="105261" y="470215"/>
                  <a:pt x="0" y="364954"/>
                  <a:pt x="0" y="235107"/>
                </a:cubicBezTo>
                <a:lnTo>
                  <a:pt x="0" y="235107"/>
                </a:lnTo>
                <a:cubicBezTo>
                  <a:pt x="0" y="105261"/>
                  <a:pt x="105261" y="0"/>
                  <a:pt x="235107" y="0"/>
                </a:cubicBezTo>
                <a:close/>
              </a:path>
            </a:pathLst>
          </a:custGeom>
          <a:solidFill>
            <a:srgbClr val="8B0000"/>
          </a:solidFill>
          <a:ln/>
        </p:spPr>
        <p:txBody>
          <a:bodyPr/>
          <a:lstStyle/>
          <a:p>
            <a:endParaRPr lang="en-US"/>
          </a:p>
        </p:txBody>
      </p:sp>
      <p:sp>
        <p:nvSpPr>
          <p:cNvPr id="8" name="Text 6"/>
          <p:cNvSpPr/>
          <p:nvPr/>
        </p:nvSpPr>
        <p:spPr>
          <a:xfrm>
            <a:off x="487008" y="1343471"/>
            <a:ext cx="570975" cy="470215"/>
          </a:xfrm>
          <a:prstGeom prst="rect">
            <a:avLst/>
          </a:prstGeom>
          <a:noFill/>
          <a:ln/>
        </p:spPr>
        <p:txBody>
          <a:bodyPr wrap="square" lIns="0" tIns="0" rIns="0" bIns="0" rtlCol="0" anchor="ctr"/>
          <a:lstStyle/>
          <a:p>
            <a:pPr algn="ctr">
              <a:lnSpc>
                <a:spcPct val="110000"/>
              </a:lnSpc>
            </a:pPr>
            <a:r>
              <a:rPr lang="en-US" sz="1587" b="1" dirty="0">
                <a:solidFill>
                  <a:srgbClr val="F9FAFB"/>
                </a:solidFill>
                <a:latin typeface="Sorts Mill Goudy" pitchFamily="34" charset="0"/>
                <a:ea typeface="Sorts Mill Goudy" pitchFamily="34" charset="-122"/>
                <a:cs typeface="Sorts Mill Goudy" pitchFamily="34" charset="-120"/>
              </a:rPr>
              <a:t>600</a:t>
            </a:r>
            <a:endParaRPr lang="en-US" sz="1600" dirty="0"/>
          </a:p>
        </p:txBody>
      </p:sp>
      <p:sp>
        <p:nvSpPr>
          <p:cNvPr id="9" name="Text 7"/>
          <p:cNvSpPr/>
          <p:nvPr/>
        </p:nvSpPr>
        <p:spPr>
          <a:xfrm>
            <a:off x="1108364" y="1343471"/>
            <a:ext cx="1973223" cy="268694"/>
          </a:xfrm>
          <a:prstGeom prst="rect">
            <a:avLst/>
          </a:prstGeom>
          <a:noFill/>
          <a:ln/>
        </p:spPr>
        <p:txBody>
          <a:bodyPr wrap="square" lIns="0" tIns="0" rIns="0" bIns="0" rtlCol="0" anchor="ctr"/>
          <a:lstStyle/>
          <a:p>
            <a:pPr>
              <a:lnSpc>
                <a:spcPct val="110000"/>
              </a:lnSpc>
            </a:pPr>
            <a:r>
              <a:rPr lang="en-US" sz="1587" b="1" dirty="0">
                <a:solidFill>
                  <a:srgbClr val="1F2937"/>
                </a:solidFill>
                <a:latin typeface="Sorts Mill Goudy" pitchFamily="34" charset="0"/>
                <a:ea typeface="Sorts Mill Goudy" pitchFamily="34" charset="-122"/>
                <a:cs typeface="Sorts Mill Goudy" pitchFamily="34" charset="-120"/>
              </a:rPr>
              <a:t>Yahya et al. (2012)</a:t>
            </a:r>
            <a:endParaRPr lang="en-US" sz="1600" dirty="0"/>
          </a:p>
        </p:txBody>
      </p:sp>
      <p:sp>
        <p:nvSpPr>
          <p:cNvPr id="10" name="Text 8"/>
          <p:cNvSpPr/>
          <p:nvPr/>
        </p:nvSpPr>
        <p:spPr>
          <a:xfrm>
            <a:off x="1108364" y="1612059"/>
            <a:ext cx="1939636" cy="201521"/>
          </a:xfrm>
          <a:prstGeom prst="rect">
            <a:avLst/>
          </a:prstGeom>
          <a:noFill/>
          <a:ln/>
        </p:spPr>
        <p:txBody>
          <a:bodyPr wrap="square" lIns="0" tIns="0" rIns="0" bIns="0" rtlCol="0" anchor="ctr"/>
          <a:lstStyle/>
          <a:p>
            <a:pPr>
              <a:lnSpc>
                <a:spcPct val="130000"/>
              </a:lnSpc>
            </a:pPr>
            <a:r>
              <a:rPr lang="en-US" sz="1058" dirty="0">
                <a:solidFill>
                  <a:srgbClr val="6B7280"/>
                </a:solidFill>
                <a:latin typeface="Sorts Mill Goudy" pitchFamily="34" charset="0"/>
                <a:ea typeface="Sorts Mill Goudy" pitchFamily="34" charset="-122"/>
                <a:cs typeface="Sorts Mill Goudy" pitchFamily="34" charset="-120"/>
              </a:rPr>
              <a:t>Widely-cited benchmark dataset</a:t>
            </a:r>
            <a:endParaRPr lang="en-US" sz="1600" dirty="0"/>
          </a:p>
        </p:txBody>
      </p:sp>
      <p:sp>
        <p:nvSpPr>
          <p:cNvPr id="11" name="Shape 9"/>
          <p:cNvSpPr/>
          <p:nvPr/>
        </p:nvSpPr>
        <p:spPr>
          <a:xfrm>
            <a:off x="540747" y="1951392"/>
            <a:ext cx="5305031" cy="611279"/>
          </a:xfrm>
          <a:custGeom>
            <a:avLst/>
            <a:gdLst/>
            <a:ahLst/>
            <a:cxnLst/>
            <a:rect l="l" t="t" r="r" b="b"/>
            <a:pathLst>
              <a:path w="5305031" h="611279">
                <a:moveTo>
                  <a:pt x="0" y="0"/>
                </a:moveTo>
                <a:lnTo>
                  <a:pt x="5305031" y="0"/>
                </a:lnTo>
                <a:lnTo>
                  <a:pt x="5305031" y="611279"/>
                </a:lnTo>
                <a:lnTo>
                  <a:pt x="0" y="61127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2" name="Text 10"/>
          <p:cNvSpPr/>
          <p:nvPr/>
        </p:nvSpPr>
        <p:spPr>
          <a:xfrm>
            <a:off x="644866" y="2055509"/>
            <a:ext cx="5163967"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Dataset Characteristics</a:t>
            </a:r>
            <a:endParaRPr lang="en-US" sz="1600" dirty="0"/>
          </a:p>
        </p:txBody>
      </p:sp>
      <p:sp>
        <p:nvSpPr>
          <p:cNvPr id="13" name="Text 11"/>
          <p:cNvSpPr/>
          <p:nvPr/>
        </p:nvSpPr>
        <p:spPr>
          <a:xfrm>
            <a:off x="644866" y="2290617"/>
            <a:ext cx="5155570" cy="167934"/>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600 short-answer questions evenly distributed across six cognitive levels (100 per level)</a:t>
            </a:r>
            <a:endParaRPr lang="en-US" sz="1600" dirty="0"/>
          </a:p>
        </p:txBody>
      </p:sp>
      <p:sp>
        <p:nvSpPr>
          <p:cNvPr id="14" name="Shape 12"/>
          <p:cNvSpPr/>
          <p:nvPr/>
        </p:nvSpPr>
        <p:spPr>
          <a:xfrm>
            <a:off x="540747" y="2670150"/>
            <a:ext cx="5305031" cy="779213"/>
          </a:xfrm>
          <a:custGeom>
            <a:avLst/>
            <a:gdLst/>
            <a:ahLst/>
            <a:cxnLst/>
            <a:rect l="l" t="t" r="r" b="b"/>
            <a:pathLst>
              <a:path w="5305031" h="779213">
                <a:moveTo>
                  <a:pt x="0" y="0"/>
                </a:moveTo>
                <a:lnTo>
                  <a:pt x="5305031" y="0"/>
                </a:lnTo>
                <a:lnTo>
                  <a:pt x="5305031" y="779213"/>
                </a:lnTo>
                <a:lnTo>
                  <a:pt x="0" y="779213"/>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5" name="Text 13"/>
          <p:cNvSpPr/>
          <p:nvPr/>
        </p:nvSpPr>
        <p:spPr>
          <a:xfrm>
            <a:off x="644866" y="2774267"/>
            <a:ext cx="5163967"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Subject Coverage</a:t>
            </a:r>
            <a:endParaRPr lang="en-US" sz="1600" dirty="0"/>
          </a:p>
        </p:txBody>
      </p:sp>
      <p:sp>
        <p:nvSpPr>
          <p:cNvPr id="16" name="Text 14"/>
          <p:cNvSpPr/>
          <p:nvPr/>
        </p:nvSpPr>
        <p:spPr>
          <a:xfrm>
            <a:off x="644866" y="3009374"/>
            <a:ext cx="5155570" cy="335868"/>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Sciences, mathematics, technology, and other domains - general benchmark for question classification</a:t>
            </a:r>
            <a:endParaRPr lang="en-US" sz="1600" dirty="0"/>
          </a:p>
        </p:txBody>
      </p:sp>
      <p:sp>
        <p:nvSpPr>
          <p:cNvPr id="17" name="Shape 15"/>
          <p:cNvSpPr/>
          <p:nvPr/>
        </p:nvSpPr>
        <p:spPr>
          <a:xfrm>
            <a:off x="540747" y="3556841"/>
            <a:ext cx="5305031" cy="611279"/>
          </a:xfrm>
          <a:custGeom>
            <a:avLst/>
            <a:gdLst/>
            <a:ahLst/>
            <a:cxnLst/>
            <a:rect l="l" t="t" r="r" b="b"/>
            <a:pathLst>
              <a:path w="5305031" h="611279">
                <a:moveTo>
                  <a:pt x="0" y="0"/>
                </a:moveTo>
                <a:lnTo>
                  <a:pt x="5305031" y="0"/>
                </a:lnTo>
                <a:lnTo>
                  <a:pt x="5305031" y="611279"/>
                </a:lnTo>
                <a:lnTo>
                  <a:pt x="0" y="61127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18" name="Text 16"/>
          <p:cNvSpPr/>
          <p:nvPr/>
        </p:nvSpPr>
        <p:spPr>
          <a:xfrm>
            <a:off x="644866" y="3660959"/>
            <a:ext cx="5163967"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License &amp; Access</a:t>
            </a:r>
            <a:endParaRPr lang="en-US" sz="1600" dirty="0"/>
          </a:p>
        </p:txBody>
      </p:sp>
      <p:sp>
        <p:nvSpPr>
          <p:cNvPr id="19" name="Text 17"/>
          <p:cNvSpPr/>
          <p:nvPr/>
        </p:nvSpPr>
        <p:spPr>
          <a:xfrm>
            <a:off x="644866" y="3896066"/>
            <a:ext cx="5155570" cy="167934"/>
          </a:xfrm>
          <a:prstGeom prst="rect">
            <a:avLst/>
          </a:prstGeom>
          <a:noFill/>
          <a:ln/>
        </p:spPr>
        <p:txBody>
          <a:bodyPr wrap="square" lIns="0" tIns="0" rIns="0" bIns="0" rtlCol="0" anchor="ctr"/>
          <a:lstStyle/>
          <a:p>
            <a:pPr>
              <a:lnSpc>
                <a:spcPct val="120000"/>
              </a:lnSpc>
            </a:pPr>
            <a:r>
              <a:rPr lang="en-US" sz="926" b="1" dirty="0">
                <a:solidFill>
                  <a:srgbClr val="8B0000"/>
                </a:solidFill>
                <a:latin typeface="Sorts Mill Goudy" pitchFamily="34" charset="0"/>
                <a:ea typeface="Sorts Mill Goudy" pitchFamily="34" charset="-122"/>
                <a:cs typeface="Sorts Mill Goudy" pitchFamily="34" charset="-120"/>
              </a:rPr>
              <a:t>Public domain</a:t>
            </a:r>
            <a:r>
              <a:rPr lang="en-US" sz="926" dirty="0">
                <a:solidFill>
                  <a:srgbClr val="6B7280"/>
                </a:solidFill>
                <a:latin typeface="Sorts Mill Goudy" pitchFamily="34" charset="0"/>
                <a:ea typeface="Sorts Mill Goudy" pitchFamily="34" charset="-122"/>
                <a:cs typeface="Sorts Mill Goudy" pitchFamily="34" charset="-120"/>
              </a:rPr>
              <a:t> via PLOS One (Supporting Information S2 File)</a:t>
            </a:r>
            <a:endParaRPr lang="en-US" sz="1600" dirty="0"/>
          </a:p>
        </p:txBody>
      </p:sp>
      <p:sp>
        <p:nvSpPr>
          <p:cNvPr id="20" name="Shape 18"/>
          <p:cNvSpPr/>
          <p:nvPr/>
        </p:nvSpPr>
        <p:spPr>
          <a:xfrm>
            <a:off x="561529" y="4331013"/>
            <a:ext cx="102860" cy="117554"/>
          </a:xfrm>
          <a:custGeom>
            <a:avLst/>
            <a:gdLst/>
            <a:ahLst/>
            <a:cxnLst/>
            <a:rect l="l" t="t" r="r" b="b"/>
            <a:pathLst>
              <a:path w="102860" h="117554">
                <a:moveTo>
                  <a:pt x="56458" y="-5947"/>
                </a:moveTo>
                <a:cubicBezTo>
                  <a:pt x="53381" y="-7829"/>
                  <a:pt x="49501" y="-7829"/>
                  <a:pt x="46425" y="-5947"/>
                </a:cubicBezTo>
                <a:cubicBezTo>
                  <a:pt x="40822" y="-2526"/>
                  <a:pt x="37355" y="-1607"/>
                  <a:pt x="30789" y="-1745"/>
                </a:cubicBezTo>
                <a:cubicBezTo>
                  <a:pt x="27184" y="-1837"/>
                  <a:pt x="23832" y="115"/>
                  <a:pt x="22087" y="3283"/>
                </a:cubicBezTo>
                <a:cubicBezTo>
                  <a:pt x="18942" y="9046"/>
                  <a:pt x="16393" y="11595"/>
                  <a:pt x="10630" y="14740"/>
                </a:cubicBezTo>
                <a:cubicBezTo>
                  <a:pt x="7462" y="16462"/>
                  <a:pt x="5533" y="19837"/>
                  <a:pt x="5602" y="23442"/>
                </a:cubicBezTo>
                <a:cubicBezTo>
                  <a:pt x="5763" y="30008"/>
                  <a:pt x="4822" y="33475"/>
                  <a:pt x="1401" y="39077"/>
                </a:cubicBezTo>
                <a:cubicBezTo>
                  <a:pt x="-482" y="42154"/>
                  <a:pt x="-482" y="46034"/>
                  <a:pt x="1401" y="49111"/>
                </a:cubicBezTo>
                <a:cubicBezTo>
                  <a:pt x="4822" y="54713"/>
                  <a:pt x="5740" y="58180"/>
                  <a:pt x="5602" y="64746"/>
                </a:cubicBezTo>
                <a:cubicBezTo>
                  <a:pt x="5510" y="68351"/>
                  <a:pt x="7462" y="71703"/>
                  <a:pt x="10630" y="73448"/>
                </a:cubicBezTo>
                <a:cubicBezTo>
                  <a:pt x="15704" y="76226"/>
                  <a:pt x="18276" y="78522"/>
                  <a:pt x="20985" y="82976"/>
                </a:cubicBezTo>
                <a:lnTo>
                  <a:pt x="9804" y="105270"/>
                </a:lnTo>
                <a:cubicBezTo>
                  <a:pt x="8449" y="108002"/>
                  <a:pt x="9551" y="111309"/>
                  <a:pt x="12260" y="112663"/>
                </a:cubicBezTo>
                <a:lnTo>
                  <a:pt x="32006" y="122536"/>
                </a:lnTo>
                <a:cubicBezTo>
                  <a:pt x="34646" y="123845"/>
                  <a:pt x="37861" y="122857"/>
                  <a:pt x="39284" y="120286"/>
                </a:cubicBezTo>
                <a:lnTo>
                  <a:pt x="51407" y="98451"/>
                </a:lnTo>
                <a:lnTo>
                  <a:pt x="63530" y="120286"/>
                </a:lnTo>
                <a:cubicBezTo>
                  <a:pt x="64953" y="122857"/>
                  <a:pt x="68167" y="123868"/>
                  <a:pt x="70808" y="122536"/>
                </a:cubicBezTo>
                <a:lnTo>
                  <a:pt x="90553" y="112663"/>
                </a:lnTo>
                <a:cubicBezTo>
                  <a:pt x="93285" y="111309"/>
                  <a:pt x="94387" y="108002"/>
                  <a:pt x="93010" y="105270"/>
                </a:cubicBezTo>
                <a:lnTo>
                  <a:pt x="81851" y="82953"/>
                </a:lnTo>
                <a:cubicBezTo>
                  <a:pt x="84538" y="78499"/>
                  <a:pt x="87132" y="76203"/>
                  <a:pt x="92206" y="73425"/>
                </a:cubicBezTo>
                <a:cubicBezTo>
                  <a:pt x="95375" y="71703"/>
                  <a:pt x="97303" y="68328"/>
                  <a:pt x="97234" y="64723"/>
                </a:cubicBezTo>
                <a:cubicBezTo>
                  <a:pt x="97074" y="58157"/>
                  <a:pt x="98015" y="54690"/>
                  <a:pt x="101436" y="49088"/>
                </a:cubicBezTo>
                <a:cubicBezTo>
                  <a:pt x="103319" y="46011"/>
                  <a:pt x="103319" y="42131"/>
                  <a:pt x="101436" y="39054"/>
                </a:cubicBezTo>
                <a:cubicBezTo>
                  <a:pt x="98015" y="33452"/>
                  <a:pt x="97097" y="29985"/>
                  <a:pt x="97234" y="23419"/>
                </a:cubicBezTo>
                <a:cubicBezTo>
                  <a:pt x="97326" y="19814"/>
                  <a:pt x="95375" y="16462"/>
                  <a:pt x="92206" y="14717"/>
                </a:cubicBezTo>
                <a:cubicBezTo>
                  <a:pt x="86443" y="11572"/>
                  <a:pt x="83895" y="9023"/>
                  <a:pt x="80749" y="3260"/>
                </a:cubicBezTo>
                <a:cubicBezTo>
                  <a:pt x="79027" y="92"/>
                  <a:pt x="75652" y="-1837"/>
                  <a:pt x="72048" y="-1768"/>
                </a:cubicBezTo>
                <a:cubicBezTo>
                  <a:pt x="65481" y="-1607"/>
                  <a:pt x="62014" y="-2549"/>
                  <a:pt x="56412" y="-5970"/>
                </a:cubicBezTo>
                <a:close/>
                <a:moveTo>
                  <a:pt x="51430" y="22041"/>
                </a:moveTo>
                <a:cubicBezTo>
                  <a:pt x="63595" y="22041"/>
                  <a:pt x="73471" y="31918"/>
                  <a:pt x="73471" y="44083"/>
                </a:cubicBezTo>
                <a:cubicBezTo>
                  <a:pt x="73471" y="56248"/>
                  <a:pt x="63595" y="66124"/>
                  <a:pt x="51430" y="66124"/>
                </a:cubicBezTo>
                <a:cubicBezTo>
                  <a:pt x="39265" y="66124"/>
                  <a:pt x="29388" y="56248"/>
                  <a:pt x="29388" y="44083"/>
                </a:cubicBezTo>
                <a:cubicBezTo>
                  <a:pt x="29388" y="31918"/>
                  <a:pt x="39265" y="22041"/>
                  <a:pt x="51430" y="22041"/>
                </a:cubicBezTo>
                <a:close/>
              </a:path>
            </a:pathLst>
          </a:custGeom>
          <a:solidFill>
            <a:srgbClr val="8B0000"/>
          </a:solidFill>
          <a:ln/>
        </p:spPr>
        <p:txBody>
          <a:bodyPr/>
          <a:lstStyle/>
          <a:p>
            <a:endParaRPr lang="en-US"/>
          </a:p>
        </p:txBody>
      </p:sp>
      <p:sp>
        <p:nvSpPr>
          <p:cNvPr id="21" name="Text 19"/>
          <p:cNvSpPr/>
          <p:nvPr/>
        </p:nvSpPr>
        <p:spPr>
          <a:xfrm>
            <a:off x="751504" y="4305823"/>
            <a:ext cx="4122777" cy="167934"/>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One of the most referenced datasets in Bloom's taxonomy classification literature</a:t>
            </a:r>
            <a:endParaRPr lang="en-US" sz="1600" dirty="0"/>
          </a:p>
        </p:txBody>
      </p:sp>
      <p:sp>
        <p:nvSpPr>
          <p:cNvPr id="22" name="Shape 20"/>
          <p:cNvSpPr/>
          <p:nvPr/>
        </p:nvSpPr>
        <p:spPr>
          <a:xfrm>
            <a:off x="6198545" y="1175537"/>
            <a:ext cx="5659372" cy="3467835"/>
          </a:xfrm>
          <a:custGeom>
            <a:avLst/>
            <a:gdLst/>
            <a:ahLst/>
            <a:cxnLst/>
            <a:rect l="l" t="t" r="r" b="b"/>
            <a:pathLst>
              <a:path w="5659372" h="3467835">
                <a:moveTo>
                  <a:pt x="0" y="0"/>
                </a:moveTo>
                <a:lnTo>
                  <a:pt x="5659372" y="0"/>
                </a:lnTo>
                <a:lnTo>
                  <a:pt x="5659372" y="3467835"/>
                </a:lnTo>
                <a:lnTo>
                  <a:pt x="0" y="3467835"/>
                </a:lnTo>
                <a:lnTo>
                  <a:pt x="0" y="0"/>
                </a:lnTo>
                <a:close/>
              </a:path>
            </a:pathLst>
          </a:custGeom>
          <a:solidFill>
            <a:srgbClr val="F9FAFB"/>
          </a:solidFill>
          <a:ln/>
        </p:spPr>
        <p:txBody>
          <a:bodyPr/>
          <a:lstStyle/>
          <a:p>
            <a:endParaRPr lang="en-US"/>
          </a:p>
        </p:txBody>
      </p:sp>
      <p:sp>
        <p:nvSpPr>
          <p:cNvPr id="23" name="Shape 21"/>
          <p:cNvSpPr/>
          <p:nvPr/>
        </p:nvSpPr>
        <p:spPr>
          <a:xfrm>
            <a:off x="6198545" y="1175537"/>
            <a:ext cx="33587" cy="3467835"/>
          </a:xfrm>
          <a:custGeom>
            <a:avLst/>
            <a:gdLst/>
            <a:ahLst/>
            <a:cxnLst/>
            <a:rect l="l" t="t" r="r" b="b"/>
            <a:pathLst>
              <a:path w="33587" h="3467835">
                <a:moveTo>
                  <a:pt x="0" y="0"/>
                </a:moveTo>
                <a:lnTo>
                  <a:pt x="33587" y="0"/>
                </a:lnTo>
                <a:lnTo>
                  <a:pt x="33587" y="3467835"/>
                </a:lnTo>
                <a:lnTo>
                  <a:pt x="0" y="3467835"/>
                </a:lnTo>
                <a:lnTo>
                  <a:pt x="0" y="0"/>
                </a:lnTo>
                <a:close/>
              </a:path>
            </a:pathLst>
          </a:custGeom>
          <a:solidFill>
            <a:srgbClr val="1F2937"/>
          </a:solidFill>
          <a:ln/>
        </p:spPr>
        <p:txBody>
          <a:bodyPr/>
          <a:lstStyle/>
          <a:p>
            <a:endParaRPr lang="en-US"/>
          </a:p>
        </p:txBody>
      </p:sp>
      <p:sp>
        <p:nvSpPr>
          <p:cNvPr id="24" name="Shape 22"/>
          <p:cNvSpPr/>
          <p:nvPr/>
        </p:nvSpPr>
        <p:spPr>
          <a:xfrm>
            <a:off x="6383272" y="1343471"/>
            <a:ext cx="470215" cy="470215"/>
          </a:xfrm>
          <a:custGeom>
            <a:avLst/>
            <a:gdLst/>
            <a:ahLst/>
            <a:cxnLst/>
            <a:rect l="l" t="t" r="r" b="b"/>
            <a:pathLst>
              <a:path w="470215" h="470215">
                <a:moveTo>
                  <a:pt x="235107" y="0"/>
                </a:moveTo>
                <a:lnTo>
                  <a:pt x="235107" y="0"/>
                </a:lnTo>
                <a:cubicBezTo>
                  <a:pt x="364954" y="0"/>
                  <a:pt x="470215" y="105261"/>
                  <a:pt x="470215" y="235107"/>
                </a:cubicBezTo>
                <a:lnTo>
                  <a:pt x="470215" y="235107"/>
                </a:lnTo>
                <a:cubicBezTo>
                  <a:pt x="470215" y="364954"/>
                  <a:pt x="364954" y="470215"/>
                  <a:pt x="235107" y="470215"/>
                </a:cubicBezTo>
                <a:lnTo>
                  <a:pt x="235107" y="470215"/>
                </a:lnTo>
                <a:cubicBezTo>
                  <a:pt x="105261" y="470215"/>
                  <a:pt x="0" y="364954"/>
                  <a:pt x="0" y="235107"/>
                </a:cubicBezTo>
                <a:lnTo>
                  <a:pt x="0" y="235107"/>
                </a:lnTo>
                <a:cubicBezTo>
                  <a:pt x="0" y="105261"/>
                  <a:pt x="105261" y="0"/>
                  <a:pt x="235107" y="0"/>
                </a:cubicBezTo>
                <a:close/>
              </a:path>
            </a:pathLst>
          </a:custGeom>
          <a:solidFill>
            <a:srgbClr val="1F2937"/>
          </a:solidFill>
          <a:ln/>
        </p:spPr>
        <p:txBody>
          <a:bodyPr/>
          <a:lstStyle/>
          <a:p>
            <a:endParaRPr lang="en-US"/>
          </a:p>
        </p:txBody>
      </p:sp>
      <p:sp>
        <p:nvSpPr>
          <p:cNvPr id="25" name="Text 23"/>
          <p:cNvSpPr/>
          <p:nvPr/>
        </p:nvSpPr>
        <p:spPr>
          <a:xfrm>
            <a:off x="6332892" y="1343471"/>
            <a:ext cx="570975" cy="470215"/>
          </a:xfrm>
          <a:prstGeom prst="rect">
            <a:avLst/>
          </a:prstGeom>
          <a:noFill/>
          <a:ln/>
        </p:spPr>
        <p:txBody>
          <a:bodyPr wrap="square" lIns="0" tIns="0" rIns="0" bIns="0" rtlCol="0" anchor="ctr"/>
          <a:lstStyle/>
          <a:p>
            <a:pPr algn="ctr">
              <a:lnSpc>
                <a:spcPct val="110000"/>
              </a:lnSpc>
            </a:pPr>
            <a:r>
              <a:rPr lang="en-US" sz="1587" b="1" dirty="0">
                <a:solidFill>
                  <a:srgbClr val="F9FAFB"/>
                </a:solidFill>
                <a:latin typeface="Sorts Mill Goudy" pitchFamily="34" charset="0"/>
                <a:ea typeface="Sorts Mill Goudy" pitchFamily="34" charset="-122"/>
                <a:cs typeface="Sorts Mill Goudy" pitchFamily="34" charset="-120"/>
              </a:rPr>
              <a:t>141</a:t>
            </a:r>
            <a:endParaRPr lang="en-US" sz="1600" dirty="0"/>
          </a:p>
        </p:txBody>
      </p:sp>
      <p:sp>
        <p:nvSpPr>
          <p:cNvPr id="26" name="Text 24"/>
          <p:cNvSpPr/>
          <p:nvPr/>
        </p:nvSpPr>
        <p:spPr>
          <a:xfrm>
            <a:off x="6954247" y="1343471"/>
            <a:ext cx="1998413" cy="268694"/>
          </a:xfrm>
          <a:prstGeom prst="rect">
            <a:avLst/>
          </a:prstGeom>
          <a:noFill/>
          <a:ln/>
        </p:spPr>
        <p:txBody>
          <a:bodyPr wrap="square" lIns="0" tIns="0" rIns="0" bIns="0" rtlCol="0" anchor="ctr"/>
          <a:lstStyle/>
          <a:p>
            <a:pPr>
              <a:lnSpc>
                <a:spcPct val="110000"/>
              </a:lnSpc>
            </a:pPr>
            <a:r>
              <a:rPr lang="en-US" sz="1587" b="1" dirty="0">
                <a:solidFill>
                  <a:srgbClr val="1F2937"/>
                </a:solidFill>
                <a:latin typeface="Sorts Mill Goudy" pitchFamily="34" charset="0"/>
                <a:ea typeface="Sorts Mill Goudy" pitchFamily="34" charset="-122"/>
                <a:cs typeface="Sorts Mill Goudy" pitchFamily="34" charset="-120"/>
              </a:rPr>
              <a:t>Haris &amp; Omar (2015)</a:t>
            </a:r>
            <a:endParaRPr lang="en-US" sz="1600" dirty="0"/>
          </a:p>
        </p:txBody>
      </p:sp>
      <p:sp>
        <p:nvSpPr>
          <p:cNvPr id="27" name="Text 25"/>
          <p:cNvSpPr/>
          <p:nvPr/>
        </p:nvSpPr>
        <p:spPr>
          <a:xfrm>
            <a:off x="6954247" y="1612059"/>
            <a:ext cx="1964826" cy="201521"/>
          </a:xfrm>
          <a:prstGeom prst="rect">
            <a:avLst/>
          </a:prstGeom>
          <a:noFill/>
          <a:ln/>
        </p:spPr>
        <p:txBody>
          <a:bodyPr wrap="square" lIns="0" tIns="0" rIns="0" bIns="0" rtlCol="0" anchor="ctr"/>
          <a:lstStyle/>
          <a:p>
            <a:pPr>
              <a:lnSpc>
                <a:spcPct val="130000"/>
              </a:lnSpc>
            </a:pPr>
            <a:r>
              <a:rPr lang="en-US" sz="1058" dirty="0">
                <a:solidFill>
                  <a:srgbClr val="6B7280"/>
                </a:solidFill>
                <a:latin typeface="Sorts Mill Goudy" pitchFamily="34" charset="0"/>
                <a:ea typeface="Sorts Mill Goudy" pitchFamily="34" charset="-122"/>
                <a:cs typeface="Sorts Mill Goudy" pitchFamily="34" charset="-120"/>
              </a:rPr>
              <a:t>Complementary question corpus</a:t>
            </a:r>
            <a:endParaRPr lang="en-US" sz="1600" dirty="0"/>
          </a:p>
        </p:txBody>
      </p:sp>
      <p:sp>
        <p:nvSpPr>
          <p:cNvPr id="28" name="Shape 26"/>
          <p:cNvSpPr/>
          <p:nvPr/>
        </p:nvSpPr>
        <p:spPr>
          <a:xfrm>
            <a:off x="6386631" y="1951392"/>
            <a:ext cx="5305031" cy="611279"/>
          </a:xfrm>
          <a:custGeom>
            <a:avLst/>
            <a:gdLst/>
            <a:ahLst/>
            <a:cxnLst/>
            <a:rect l="l" t="t" r="r" b="b"/>
            <a:pathLst>
              <a:path w="5305031" h="611279">
                <a:moveTo>
                  <a:pt x="0" y="0"/>
                </a:moveTo>
                <a:lnTo>
                  <a:pt x="5305031" y="0"/>
                </a:lnTo>
                <a:lnTo>
                  <a:pt x="5305031" y="611279"/>
                </a:lnTo>
                <a:lnTo>
                  <a:pt x="0" y="61127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29" name="Text 27"/>
          <p:cNvSpPr/>
          <p:nvPr/>
        </p:nvSpPr>
        <p:spPr>
          <a:xfrm>
            <a:off x="6490750" y="2055509"/>
            <a:ext cx="5163967"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Dataset Characteristics</a:t>
            </a:r>
            <a:endParaRPr lang="en-US" sz="1600" dirty="0"/>
          </a:p>
        </p:txBody>
      </p:sp>
      <p:sp>
        <p:nvSpPr>
          <p:cNvPr id="30" name="Text 28"/>
          <p:cNvSpPr/>
          <p:nvPr/>
        </p:nvSpPr>
        <p:spPr>
          <a:xfrm>
            <a:off x="6490750" y="2290617"/>
            <a:ext cx="5155570" cy="167934"/>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141 open-ended examination questions labeled by Bloom's cognitive levels</a:t>
            </a:r>
            <a:endParaRPr lang="en-US" sz="1600" dirty="0"/>
          </a:p>
        </p:txBody>
      </p:sp>
      <p:sp>
        <p:nvSpPr>
          <p:cNvPr id="31" name="Shape 29"/>
          <p:cNvSpPr/>
          <p:nvPr/>
        </p:nvSpPr>
        <p:spPr>
          <a:xfrm>
            <a:off x="6386631" y="2670150"/>
            <a:ext cx="5305031" cy="611279"/>
          </a:xfrm>
          <a:custGeom>
            <a:avLst/>
            <a:gdLst/>
            <a:ahLst/>
            <a:cxnLst/>
            <a:rect l="l" t="t" r="r" b="b"/>
            <a:pathLst>
              <a:path w="5305031" h="611279">
                <a:moveTo>
                  <a:pt x="0" y="0"/>
                </a:moveTo>
                <a:lnTo>
                  <a:pt x="5305031" y="0"/>
                </a:lnTo>
                <a:lnTo>
                  <a:pt x="5305031" y="611279"/>
                </a:lnTo>
                <a:lnTo>
                  <a:pt x="0" y="61127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32" name="Text 30"/>
          <p:cNvSpPr/>
          <p:nvPr/>
        </p:nvSpPr>
        <p:spPr>
          <a:xfrm>
            <a:off x="6490750" y="2774267"/>
            <a:ext cx="5163967"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Source Diversity</a:t>
            </a:r>
            <a:endParaRPr lang="en-US" sz="1600" dirty="0"/>
          </a:p>
        </p:txBody>
      </p:sp>
      <p:sp>
        <p:nvSpPr>
          <p:cNvPr id="33" name="Text 31"/>
          <p:cNvSpPr/>
          <p:nvPr/>
        </p:nvSpPr>
        <p:spPr>
          <a:xfrm>
            <a:off x="6490750" y="3009374"/>
            <a:ext cx="5155570" cy="167934"/>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Gathered from diverse online sources and prior educational studies</a:t>
            </a:r>
            <a:endParaRPr lang="en-US" sz="1600" dirty="0"/>
          </a:p>
        </p:txBody>
      </p:sp>
      <p:sp>
        <p:nvSpPr>
          <p:cNvPr id="34" name="Shape 32"/>
          <p:cNvSpPr/>
          <p:nvPr/>
        </p:nvSpPr>
        <p:spPr>
          <a:xfrm>
            <a:off x="6386631" y="3388907"/>
            <a:ext cx="5305031" cy="611279"/>
          </a:xfrm>
          <a:custGeom>
            <a:avLst/>
            <a:gdLst/>
            <a:ahLst/>
            <a:cxnLst/>
            <a:rect l="l" t="t" r="r" b="b"/>
            <a:pathLst>
              <a:path w="5305031" h="611279">
                <a:moveTo>
                  <a:pt x="0" y="0"/>
                </a:moveTo>
                <a:lnTo>
                  <a:pt x="5305031" y="0"/>
                </a:lnTo>
                <a:lnTo>
                  <a:pt x="5305031" y="611279"/>
                </a:lnTo>
                <a:lnTo>
                  <a:pt x="0" y="611279"/>
                </a:lnTo>
                <a:lnTo>
                  <a:pt x="0" y="0"/>
                </a:lnTo>
                <a:close/>
              </a:path>
            </a:pathLst>
          </a:custGeom>
          <a:solidFill>
            <a:srgbClr val="FFFFFF"/>
          </a:solidFill>
          <a:ln w="10160">
            <a:solidFill>
              <a:srgbClr val="6B7280">
                <a:alpha val="20000"/>
              </a:srgbClr>
            </a:solidFill>
            <a:prstDash val="solid"/>
          </a:ln>
        </p:spPr>
        <p:txBody>
          <a:bodyPr/>
          <a:lstStyle/>
          <a:p>
            <a:endParaRPr lang="en-US"/>
          </a:p>
        </p:txBody>
      </p:sp>
      <p:sp>
        <p:nvSpPr>
          <p:cNvPr id="35" name="Text 33"/>
          <p:cNvSpPr/>
          <p:nvPr/>
        </p:nvSpPr>
        <p:spPr>
          <a:xfrm>
            <a:off x="6490750" y="3493025"/>
            <a:ext cx="5163967"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License &amp; Access</a:t>
            </a:r>
            <a:endParaRPr lang="en-US" sz="1600" dirty="0"/>
          </a:p>
        </p:txBody>
      </p:sp>
      <p:sp>
        <p:nvSpPr>
          <p:cNvPr id="36" name="Text 34"/>
          <p:cNvSpPr/>
          <p:nvPr/>
        </p:nvSpPr>
        <p:spPr>
          <a:xfrm>
            <a:off x="6490750" y="3728132"/>
            <a:ext cx="5155570" cy="167934"/>
          </a:xfrm>
          <a:prstGeom prst="rect">
            <a:avLst/>
          </a:prstGeom>
          <a:noFill/>
          <a:ln/>
        </p:spPr>
        <p:txBody>
          <a:bodyPr wrap="square" lIns="0" tIns="0" rIns="0" bIns="0" rtlCol="0" anchor="ctr"/>
          <a:lstStyle/>
          <a:p>
            <a:pPr>
              <a:lnSpc>
                <a:spcPct val="120000"/>
              </a:lnSpc>
            </a:pPr>
            <a:r>
              <a:rPr lang="en-US" sz="926" b="1" dirty="0">
                <a:solidFill>
                  <a:srgbClr val="1F2937"/>
                </a:solidFill>
                <a:latin typeface="Sorts Mill Goudy" pitchFamily="34" charset="0"/>
                <a:ea typeface="Sorts Mill Goudy" pitchFamily="34" charset="-122"/>
                <a:cs typeface="Sorts Mill Goudy" pitchFamily="34" charset="-120"/>
              </a:rPr>
              <a:t>CC-BY license</a:t>
            </a:r>
            <a:r>
              <a:rPr lang="en-US" sz="926" dirty="0">
                <a:solidFill>
                  <a:srgbClr val="6B7280"/>
                </a:solidFill>
                <a:latin typeface="Sorts Mill Goudy" pitchFamily="34" charset="0"/>
                <a:ea typeface="Sorts Mill Goudy" pitchFamily="34" charset="-122"/>
                <a:cs typeface="Sorts Mill Goudy" pitchFamily="34" charset="-120"/>
              </a:rPr>
              <a:t> via PLOS One supplemental files (S1 File)</a:t>
            </a:r>
            <a:endParaRPr lang="en-US" sz="1600" dirty="0"/>
          </a:p>
        </p:txBody>
      </p:sp>
      <p:sp>
        <p:nvSpPr>
          <p:cNvPr id="37" name="Shape 35"/>
          <p:cNvSpPr/>
          <p:nvPr/>
        </p:nvSpPr>
        <p:spPr>
          <a:xfrm>
            <a:off x="6392718" y="4163079"/>
            <a:ext cx="132248" cy="117554"/>
          </a:xfrm>
          <a:custGeom>
            <a:avLst/>
            <a:gdLst/>
            <a:ahLst/>
            <a:cxnLst/>
            <a:rect l="l" t="t" r="r" b="b"/>
            <a:pathLst>
              <a:path w="132248" h="117554">
                <a:moveTo>
                  <a:pt x="96316" y="22041"/>
                </a:moveTo>
                <a:cubicBezTo>
                  <a:pt x="92505" y="22041"/>
                  <a:pt x="88808" y="23075"/>
                  <a:pt x="85571" y="24957"/>
                </a:cubicBezTo>
                <a:cubicBezTo>
                  <a:pt x="81943" y="21284"/>
                  <a:pt x="77719" y="18207"/>
                  <a:pt x="73058" y="15888"/>
                </a:cubicBezTo>
                <a:cubicBezTo>
                  <a:pt x="79532" y="10378"/>
                  <a:pt x="87775" y="7347"/>
                  <a:pt x="96316" y="7347"/>
                </a:cubicBezTo>
                <a:cubicBezTo>
                  <a:pt x="116153" y="7347"/>
                  <a:pt x="132248" y="23419"/>
                  <a:pt x="132248" y="43279"/>
                </a:cubicBezTo>
                <a:cubicBezTo>
                  <a:pt x="132248" y="52807"/>
                  <a:pt x="128460" y="61945"/>
                  <a:pt x="121732" y="68672"/>
                </a:cubicBezTo>
                <a:lnTo>
                  <a:pt x="105408" y="84997"/>
                </a:lnTo>
                <a:cubicBezTo>
                  <a:pt x="98681" y="91724"/>
                  <a:pt x="89543" y="95512"/>
                  <a:pt x="80015" y="95512"/>
                </a:cubicBezTo>
                <a:cubicBezTo>
                  <a:pt x="60177" y="95512"/>
                  <a:pt x="44083" y="79441"/>
                  <a:pt x="44083" y="59580"/>
                </a:cubicBezTo>
                <a:cubicBezTo>
                  <a:pt x="44083" y="59236"/>
                  <a:pt x="44083" y="58892"/>
                  <a:pt x="44106" y="58547"/>
                </a:cubicBezTo>
                <a:cubicBezTo>
                  <a:pt x="44220" y="54483"/>
                  <a:pt x="47595" y="51292"/>
                  <a:pt x="51659" y="51407"/>
                </a:cubicBezTo>
                <a:cubicBezTo>
                  <a:pt x="55723" y="51522"/>
                  <a:pt x="58915" y="54897"/>
                  <a:pt x="58800" y="58961"/>
                </a:cubicBezTo>
                <a:cubicBezTo>
                  <a:pt x="58800" y="59167"/>
                  <a:pt x="58800" y="59374"/>
                  <a:pt x="58800" y="59557"/>
                </a:cubicBezTo>
                <a:cubicBezTo>
                  <a:pt x="58800" y="71290"/>
                  <a:pt x="68305" y="80795"/>
                  <a:pt x="80038" y="80795"/>
                </a:cubicBezTo>
                <a:cubicBezTo>
                  <a:pt x="85663" y="80795"/>
                  <a:pt x="91058" y="78568"/>
                  <a:pt x="95053" y="74573"/>
                </a:cubicBezTo>
                <a:lnTo>
                  <a:pt x="111378" y="58249"/>
                </a:lnTo>
                <a:cubicBezTo>
                  <a:pt x="115350" y="54277"/>
                  <a:pt x="117600" y="48858"/>
                  <a:pt x="117600" y="43233"/>
                </a:cubicBezTo>
                <a:cubicBezTo>
                  <a:pt x="117600" y="31501"/>
                  <a:pt x="108094" y="21995"/>
                  <a:pt x="96362" y="21995"/>
                </a:cubicBezTo>
                <a:close/>
                <a:moveTo>
                  <a:pt x="63185" y="39789"/>
                </a:moveTo>
                <a:cubicBezTo>
                  <a:pt x="62749" y="39606"/>
                  <a:pt x="62313" y="39353"/>
                  <a:pt x="61922" y="39077"/>
                </a:cubicBezTo>
                <a:cubicBezTo>
                  <a:pt x="59029" y="37585"/>
                  <a:pt x="55723" y="36736"/>
                  <a:pt x="52256" y="36736"/>
                </a:cubicBezTo>
                <a:cubicBezTo>
                  <a:pt x="46631" y="36736"/>
                  <a:pt x="41236" y="38963"/>
                  <a:pt x="37241" y="42958"/>
                </a:cubicBezTo>
                <a:lnTo>
                  <a:pt x="20916" y="59282"/>
                </a:lnTo>
                <a:cubicBezTo>
                  <a:pt x="16944" y="63254"/>
                  <a:pt x="14694" y="68672"/>
                  <a:pt x="14694" y="74298"/>
                </a:cubicBezTo>
                <a:cubicBezTo>
                  <a:pt x="14694" y="86030"/>
                  <a:pt x="24200" y="95535"/>
                  <a:pt x="35932" y="95535"/>
                </a:cubicBezTo>
                <a:cubicBezTo>
                  <a:pt x="39720" y="95535"/>
                  <a:pt x="43417" y="94525"/>
                  <a:pt x="46654" y="92642"/>
                </a:cubicBezTo>
                <a:cubicBezTo>
                  <a:pt x="50282" y="96316"/>
                  <a:pt x="54506" y="99393"/>
                  <a:pt x="59190" y="101712"/>
                </a:cubicBezTo>
                <a:cubicBezTo>
                  <a:pt x="52715" y="107199"/>
                  <a:pt x="44496" y="110253"/>
                  <a:pt x="35932" y="110253"/>
                </a:cubicBezTo>
                <a:cubicBezTo>
                  <a:pt x="16095" y="110253"/>
                  <a:pt x="0" y="94181"/>
                  <a:pt x="0" y="74321"/>
                </a:cubicBezTo>
                <a:cubicBezTo>
                  <a:pt x="0" y="64792"/>
                  <a:pt x="3788" y="55654"/>
                  <a:pt x="10516" y="48927"/>
                </a:cubicBezTo>
                <a:lnTo>
                  <a:pt x="26840" y="32603"/>
                </a:lnTo>
                <a:cubicBezTo>
                  <a:pt x="33567" y="25876"/>
                  <a:pt x="42705" y="22087"/>
                  <a:pt x="52233" y="22087"/>
                </a:cubicBezTo>
                <a:cubicBezTo>
                  <a:pt x="72116" y="22087"/>
                  <a:pt x="88165" y="38297"/>
                  <a:pt x="88165" y="58111"/>
                </a:cubicBezTo>
                <a:cubicBezTo>
                  <a:pt x="88165" y="58410"/>
                  <a:pt x="88165" y="58708"/>
                  <a:pt x="88165" y="59006"/>
                </a:cubicBezTo>
                <a:cubicBezTo>
                  <a:pt x="88073" y="63070"/>
                  <a:pt x="84698" y="66262"/>
                  <a:pt x="80635" y="66170"/>
                </a:cubicBezTo>
                <a:cubicBezTo>
                  <a:pt x="76571" y="66078"/>
                  <a:pt x="73379" y="62703"/>
                  <a:pt x="73471" y="58639"/>
                </a:cubicBezTo>
                <a:cubicBezTo>
                  <a:pt x="73471" y="58455"/>
                  <a:pt x="73471" y="58295"/>
                  <a:pt x="73471" y="58111"/>
                </a:cubicBezTo>
                <a:cubicBezTo>
                  <a:pt x="73471" y="50374"/>
                  <a:pt x="69338" y="43578"/>
                  <a:pt x="63185" y="39835"/>
                </a:cubicBezTo>
                <a:close/>
              </a:path>
            </a:pathLst>
          </a:custGeom>
          <a:solidFill>
            <a:srgbClr val="1F2937"/>
          </a:solidFill>
          <a:ln/>
        </p:spPr>
        <p:txBody>
          <a:bodyPr/>
          <a:lstStyle/>
          <a:p>
            <a:endParaRPr lang="en-US"/>
          </a:p>
        </p:txBody>
      </p:sp>
      <p:sp>
        <p:nvSpPr>
          <p:cNvPr id="38" name="Text 36"/>
          <p:cNvSpPr/>
          <p:nvPr/>
        </p:nvSpPr>
        <p:spPr>
          <a:xfrm>
            <a:off x="6597388" y="4137889"/>
            <a:ext cx="4022017" cy="167934"/>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Often used in combination with Yahya et al. dataset for expanded training data</a:t>
            </a:r>
            <a:endParaRPr lang="en-US" sz="1600" dirty="0"/>
          </a:p>
        </p:txBody>
      </p:sp>
      <p:sp>
        <p:nvSpPr>
          <p:cNvPr id="39" name="Shape 37"/>
          <p:cNvSpPr/>
          <p:nvPr/>
        </p:nvSpPr>
        <p:spPr>
          <a:xfrm>
            <a:off x="335868" y="4776038"/>
            <a:ext cx="11520264" cy="1276298"/>
          </a:xfrm>
          <a:custGeom>
            <a:avLst/>
            <a:gdLst/>
            <a:ahLst/>
            <a:cxnLst/>
            <a:rect l="l" t="t" r="r" b="b"/>
            <a:pathLst>
              <a:path w="11520264" h="1276298">
                <a:moveTo>
                  <a:pt x="0" y="0"/>
                </a:moveTo>
                <a:lnTo>
                  <a:pt x="11520264" y="0"/>
                </a:lnTo>
                <a:lnTo>
                  <a:pt x="11520264" y="1276298"/>
                </a:lnTo>
                <a:lnTo>
                  <a:pt x="0" y="1276298"/>
                </a:lnTo>
                <a:lnTo>
                  <a:pt x="0" y="0"/>
                </a:lnTo>
                <a:close/>
              </a:path>
            </a:pathLst>
          </a:custGeom>
          <a:solidFill>
            <a:srgbClr val="F9FAFB"/>
          </a:solidFill>
          <a:ln/>
        </p:spPr>
        <p:txBody>
          <a:bodyPr/>
          <a:lstStyle/>
          <a:p>
            <a:endParaRPr lang="en-US"/>
          </a:p>
        </p:txBody>
      </p:sp>
      <p:sp>
        <p:nvSpPr>
          <p:cNvPr id="40" name="Shape 38"/>
          <p:cNvSpPr/>
          <p:nvPr/>
        </p:nvSpPr>
        <p:spPr>
          <a:xfrm>
            <a:off x="514298" y="4977559"/>
            <a:ext cx="188926" cy="167934"/>
          </a:xfrm>
          <a:custGeom>
            <a:avLst/>
            <a:gdLst/>
            <a:ahLst/>
            <a:cxnLst/>
            <a:rect l="l" t="t" r="r" b="b"/>
            <a:pathLst>
              <a:path w="188926" h="167934">
                <a:moveTo>
                  <a:pt x="94463" y="20992"/>
                </a:moveTo>
                <a:cubicBezTo>
                  <a:pt x="129230" y="20992"/>
                  <a:pt x="157438" y="49199"/>
                  <a:pt x="157438" y="83967"/>
                </a:cubicBezTo>
                <a:cubicBezTo>
                  <a:pt x="157438" y="118735"/>
                  <a:pt x="129230" y="146942"/>
                  <a:pt x="94463" y="146942"/>
                </a:cubicBezTo>
                <a:cubicBezTo>
                  <a:pt x="73077" y="146942"/>
                  <a:pt x="54152" y="136282"/>
                  <a:pt x="42771" y="119948"/>
                </a:cubicBezTo>
                <a:cubicBezTo>
                  <a:pt x="39458" y="115192"/>
                  <a:pt x="32898" y="114044"/>
                  <a:pt x="28142" y="117357"/>
                </a:cubicBezTo>
                <a:cubicBezTo>
                  <a:pt x="23386" y="120670"/>
                  <a:pt x="22238" y="127230"/>
                  <a:pt x="25551" y="131986"/>
                </a:cubicBezTo>
                <a:cubicBezTo>
                  <a:pt x="40704" y="153699"/>
                  <a:pt x="65927" y="167934"/>
                  <a:pt x="94463" y="167934"/>
                </a:cubicBezTo>
                <a:cubicBezTo>
                  <a:pt x="140841" y="167934"/>
                  <a:pt x="178430" y="130346"/>
                  <a:pt x="178430" y="83967"/>
                </a:cubicBezTo>
                <a:cubicBezTo>
                  <a:pt x="178430" y="37588"/>
                  <a:pt x="140841" y="0"/>
                  <a:pt x="94463" y="0"/>
                </a:cubicBezTo>
                <a:cubicBezTo>
                  <a:pt x="66354" y="0"/>
                  <a:pt x="41491" y="13809"/>
                  <a:pt x="26240" y="34997"/>
                </a:cubicBezTo>
                <a:lnTo>
                  <a:pt x="26240" y="26240"/>
                </a:lnTo>
                <a:cubicBezTo>
                  <a:pt x="26240" y="20434"/>
                  <a:pt x="21549" y="15744"/>
                  <a:pt x="15744" y="15744"/>
                </a:cubicBezTo>
                <a:cubicBezTo>
                  <a:pt x="9938" y="15744"/>
                  <a:pt x="5248" y="20434"/>
                  <a:pt x="5248" y="26240"/>
                </a:cubicBezTo>
                <a:lnTo>
                  <a:pt x="5248" y="62975"/>
                </a:lnTo>
                <a:cubicBezTo>
                  <a:pt x="5248" y="68781"/>
                  <a:pt x="9938" y="73471"/>
                  <a:pt x="15744" y="73471"/>
                </a:cubicBezTo>
                <a:lnTo>
                  <a:pt x="23813" y="73471"/>
                </a:lnTo>
                <a:cubicBezTo>
                  <a:pt x="23976" y="73471"/>
                  <a:pt x="24140" y="73471"/>
                  <a:pt x="24304" y="73471"/>
                </a:cubicBezTo>
                <a:lnTo>
                  <a:pt x="52512" y="73471"/>
                </a:lnTo>
                <a:cubicBezTo>
                  <a:pt x="58318" y="73471"/>
                  <a:pt x="63008" y="68781"/>
                  <a:pt x="63008" y="62975"/>
                </a:cubicBezTo>
                <a:cubicBezTo>
                  <a:pt x="63008" y="57170"/>
                  <a:pt x="58318" y="52479"/>
                  <a:pt x="52512" y="52479"/>
                </a:cubicBezTo>
                <a:lnTo>
                  <a:pt x="39950" y="52479"/>
                </a:lnTo>
                <a:cubicBezTo>
                  <a:pt x="50807" y="33652"/>
                  <a:pt x="71175" y="20992"/>
                  <a:pt x="94463" y="20992"/>
                </a:cubicBezTo>
                <a:close/>
                <a:moveTo>
                  <a:pt x="102335" y="49855"/>
                </a:moveTo>
                <a:cubicBezTo>
                  <a:pt x="102335" y="45493"/>
                  <a:pt x="98825" y="41983"/>
                  <a:pt x="94463" y="41983"/>
                </a:cubicBezTo>
                <a:cubicBezTo>
                  <a:pt x="90100" y="41983"/>
                  <a:pt x="86591" y="45493"/>
                  <a:pt x="86591" y="49855"/>
                </a:cubicBezTo>
                <a:lnTo>
                  <a:pt x="86591" y="83967"/>
                </a:lnTo>
                <a:cubicBezTo>
                  <a:pt x="86591" y="86066"/>
                  <a:pt x="87411" y="88067"/>
                  <a:pt x="88887" y="89543"/>
                </a:cubicBezTo>
                <a:lnTo>
                  <a:pt x="112503" y="113159"/>
                </a:lnTo>
                <a:cubicBezTo>
                  <a:pt x="115586" y="116242"/>
                  <a:pt x="120571" y="116242"/>
                  <a:pt x="123622" y="113159"/>
                </a:cubicBezTo>
                <a:cubicBezTo>
                  <a:pt x="126672" y="110075"/>
                  <a:pt x="126705" y="105090"/>
                  <a:pt x="123622" y="102040"/>
                </a:cubicBezTo>
                <a:lnTo>
                  <a:pt x="102302" y="80720"/>
                </a:lnTo>
                <a:lnTo>
                  <a:pt x="102302" y="49855"/>
                </a:lnTo>
                <a:close/>
              </a:path>
            </a:pathLst>
          </a:custGeom>
          <a:solidFill>
            <a:srgbClr val="8B0000"/>
          </a:solidFill>
          <a:ln/>
        </p:spPr>
        <p:txBody>
          <a:bodyPr/>
          <a:lstStyle/>
          <a:p>
            <a:endParaRPr lang="en-US"/>
          </a:p>
        </p:txBody>
      </p:sp>
      <p:sp>
        <p:nvSpPr>
          <p:cNvPr id="41" name="Text 39"/>
          <p:cNvSpPr/>
          <p:nvPr/>
        </p:nvSpPr>
        <p:spPr>
          <a:xfrm>
            <a:off x="713719" y="4943972"/>
            <a:ext cx="11058446" cy="235107"/>
          </a:xfrm>
          <a:prstGeom prst="rect">
            <a:avLst/>
          </a:prstGeom>
          <a:noFill/>
          <a:ln/>
        </p:spPr>
        <p:txBody>
          <a:bodyPr wrap="square" lIns="0" tIns="0" rIns="0" bIns="0" rtlCol="0" anchor="ctr"/>
          <a:lstStyle/>
          <a:p>
            <a:pPr>
              <a:lnSpc>
                <a:spcPct val="120000"/>
              </a:lnSpc>
            </a:pPr>
            <a:r>
              <a:rPr lang="en-US" sz="1322" b="1" dirty="0">
                <a:solidFill>
                  <a:srgbClr val="1F2937"/>
                </a:solidFill>
                <a:latin typeface="Sorts Mill Goudy" pitchFamily="34" charset="0"/>
                <a:ea typeface="Sorts Mill Goudy" pitchFamily="34" charset="-122"/>
                <a:cs typeface="Sorts Mill Goudy" pitchFamily="34" charset="-120"/>
              </a:rPr>
              <a:t>Historical Significance and Impact</a:t>
            </a:r>
            <a:endParaRPr lang="en-US" sz="1600" dirty="0"/>
          </a:p>
        </p:txBody>
      </p:sp>
      <p:sp>
        <p:nvSpPr>
          <p:cNvPr id="42" name="Shape 40"/>
          <p:cNvSpPr/>
          <p:nvPr/>
        </p:nvSpPr>
        <p:spPr>
          <a:xfrm>
            <a:off x="503802" y="5313426"/>
            <a:ext cx="335868" cy="335868"/>
          </a:xfrm>
          <a:custGeom>
            <a:avLst/>
            <a:gdLst/>
            <a:ahLst/>
            <a:cxnLst/>
            <a:rect l="l" t="t" r="r" b="b"/>
            <a:pathLst>
              <a:path w="335868" h="335868">
                <a:moveTo>
                  <a:pt x="33587" y="0"/>
                </a:moveTo>
                <a:lnTo>
                  <a:pt x="302281" y="0"/>
                </a:lnTo>
                <a:cubicBezTo>
                  <a:pt x="320830" y="0"/>
                  <a:pt x="335868" y="15037"/>
                  <a:pt x="335868" y="33587"/>
                </a:cubicBezTo>
                <a:lnTo>
                  <a:pt x="335868" y="302281"/>
                </a:lnTo>
                <a:cubicBezTo>
                  <a:pt x="335868" y="320830"/>
                  <a:pt x="320830" y="335868"/>
                  <a:pt x="302281" y="335868"/>
                </a:cubicBezTo>
                <a:lnTo>
                  <a:pt x="33587" y="335868"/>
                </a:lnTo>
                <a:cubicBezTo>
                  <a:pt x="15037" y="335868"/>
                  <a:pt x="0" y="320830"/>
                  <a:pt x="0" y="302281"/>
                </a:cubicBezTo>
                <a:lnTo>
                  <a:pt x="0" y="33587"/>
                </a:lnTo>
                <a:cubicBezTo>
                  <a:pt x="0" y="15050"/>
                  <a:pt x="15050" y="0"/>
                  <a:pt x="33587" y="0"/>
                </a:cubicBezTo>
                <a:close/>
              </a:path>
            </a:pathLst>
          </a:custGeom>
          <a:solidFill>
            <a:srgbClr val="8B0000"/>
          </a:solidFill>
          <a:ln/>
        </p:spPr>
        <p:txBody>
          <a:bodyPr/>
          <a:lstStyle/>
          <a:p>
            <a:endParaRPr lang="en-US"/>
          </a:p>
        </p:txBody>
      </p:sp>
      <p:sp>
        <p:nvSpPr>
          <p:cNvPr id="43" name="Text 41"/>
          <p:cNvSpPr/>
          <p:nvPr/>
        </p:nvSpPr>
        <p:spPr>
          <a:xfrm>
            <a:off x="648855" y="5380600"/>
            <a:ext cx="109157" cy="201521"/>
          </a:xfrm>
          <a:prstGeom prst="rect">
            <a:avLst/>
          </a:prstGeom>
          <a:noFill/>
          <a:ln/>
        </p:spPr>
        <p:txBody>
          <a:bodyPr wrap="square" lIns="0" tIns="0" rIns="0" bIns="0" rtlCol="0" anchor="ctr"/>
          <a:lstStyle/>
          <a:p>
            <a:pPr>
              <a:lnSpc>
                <a:spcPct val="130000"/>
              </a:lnSpc>
            </a:pPr>
            <a:r>
              <a:rPr lang="en-US" sz="1058" b="1" dirty="0">
                <a:solidFill>
                  <a:srgbClr val="F9FAFB"/>
                </a:solidFill>
                <a:latin typeface="Sorts Mill Goudy" pitchFamily="34" charset="0"/>
                <a:ea typeface="Sorts Mill Goudy" pitchFamily="34" charset="-122"/>
                <a:cs typeface="Sorts Mill Goudy" pitchFamily="34" charset="-120"/>
              </a:rPr>
              <a:t>1</a:t>
            </a:r>
            <a:endParaRPr lang="en-US" sz="1600" dirty="0"/>
          </a:p>
        </p:txBody>
      </p:sp>
      <p:sp>
        <p:nvSpPr>
          <p:cNvPr id="44" name="Text 42"/>
          <p:cNvSpPr/>
          <p:nvPr/>
        </p:nvSpPr>
        <p:spPr>
          <a:xfrm>
            <a:off x="940430" y="5313426"/>
            <a:ext cx="3266314"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Early Benchmark</a:t>
            </a:r>
            <a:endParaRPr lang="en-US" sz="1600" dirty="0"/>
          </a:p>
        </p:txBody>
      </p:sp>
      <p:sp>
        <p:nvSpPr>
          <p:cNvPr id="45" name="Text 43"/>
          <p:cNvSpPr/>
          <p:nvPr/>
        </p:nvSpPr>
        <p:spPr>
          <a:xfrm>
            <a:off x="940430" y="5548534"/>
            <a:ext cx="3257917" cy="335868"/>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Pioneered systematic Bloom's taxonomy dataset creation for ML research</a:t>
            </a:r>
            <a:endParaRPr lang="en-US" sz="1600" dirty="0"/>
          </a:p>
        </p:txBody>
      </p:sp>
      <p:sp>
        <p:nvSpPr>
          <p:cNvPr id="46" name="Shape 44"/>
          <p:cNvSpPr/>
          <p:nvPr/>
        </p:nvSpPr>
        <p:spPr>
          <a:xfrm>
            <a:off x="4277906" y="5313426"/>
            <a:ext cx="335868" cy="335868"/>
          </a:xfrm>
          <a:custGeom>
            <a:avLst/>
            <a:gdLst/>
            <a:ahLst/>
            <a:cxnLst/>
            <a:rect l="l" t="t" r="r" b="b"/>
            <a:pathLst>
              <a:path w="335868" h="335868">
                <a:moveTo>
                  <a:pt x="33587" y="0"/>
                </a:moveTo>
                <a:lnTo>
                  <a:pt x="302281" y="0"/>
                </a:lnTo>
                <a:cubicBezTo>
                  <a:pt x="320830" y="0"/>
                  <a:pt x="335868" y="15037"/>
                  <a:pt x="335868" y="33587"/>
                </a:cubicBezTo>
                <a:lnTo>
                  <a:pt x="335868" y="302281"/>
                </a:lnTo>
                <a:cubicBezTo>
                  <a:pt x="335868" y="320830"/>
                  <a:pt x="320830" y="335868"/>
                  <a:pt x="302281" y="335868"/>
                </a:cubicBezTo>
                <a:lnTo>
                  <a:pt x="33587" y="335868"/>
                </a:lnTo>
                <a:cubicBezTo>
                  <a:pt x="15037" y="335868"/>
                  <a:pt x="0" y="320830"/>
                  <a:pt x="0" y="302281"/>
                </a:cubicBezTo>
                <a:lnTo>
                  <a:pt x="0" y="33587"/>
                </a:lnTo>
                <a:cubicBezTo>
                  <a:pt x="0" y="15050"/>
                  <a:pt x="15050" y="0"/>
                  <a:pt x="33587" y="0"/>
                </a:cubicBezTo>
                <a:close/>
              </a:path>
            </a:pathLst>
          </a:custGeom>
          <a:solidFill>
            <a:srgbClr val="8B0000"/>
          </a:solidFill>
          <a:ln/>
        </p:spPr>
        <p:txBody>
          <a:bodyPr/>
          <a:lstStyle/>
          <a:p>
            <a:endParaRPr lang="en-US"/>
          </a:p>
        </p:txBody>
      </p:sp>
      <p:sp>
        <p:nvSpPr>
          <p:cNvPr id="47" name="Text 45"/>
          <p:cNvSpPr/>
          <p:nvPr/>
        </p:nvSpPr>
        <p:spPr>
          <a:xfrm>
            <a:off x="4414352" y="5380600"/>
            <a:ext cx="134347" cy="201521"/>
          </a:xfrm>
          <a:prstGeom prst="rect">
            <a:avLst/>
          </a:prstGeom>
          <a:noFill/>
          <a:ln/>
        </p:spPr>
        <p:txBody>
          <a:bodyPr wrap="square" lIns="0" tIns="0" rIns="0" bIns="0" rtlCol="0" anchor="ctr"/>
          <a:lstStyle/>
          <a:p>
            <a:pPr>
              <a:lnSpc>
                <a:spcPct val="130000"/>
              </a:lnSpc>
            </a:pPr>
            <a:r>
              <a:rPr lang="en-US" sz="1058" b="1" dirty="0">
                <a:solidFill>
                  <a:srgbClr val="F9FAFB"/>
                </a:solidFill>
                <a:latin typeface="Sorts Mill Goudy" pitchFamily="34" charset="0"/>
                <a:ea typeface="Sorts Mill Goudy" pitchFamily="34" charset="-122"/>
                <a:cs typeface="Sorts Mill Goudy" pitchFamily="34" charset="-120"/>
              </a:rPr>
              <a:t>2</a:t>
            </a:r>
            <a:endParaRPr lang="en-US" sz="1600" dirty="0"/>
          </a:p>
        </p:txBody>
      </p:sp>
      <p:sp>
        <p:nvSpPr>
          <p:cNvPr id="48" name="Text 46"/>
          <p:cNvSpPr/>
          <p:nvPr/>
        </p:nvSpPr>
        <p:spPr>
          <a:xfrm>
            <a:off x="4714534" y="5313426"/>
            <a:ext cx="3266314"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Validation Standard</a:t>
            </a:r>
            <a:endParaRPr lang="en-US" sz="1600" dirty="0"/>
          </a:p>
        </p:txBody>
      </p:sp>
      <p:sp>
        <p:nvSpPr>
          <p:cNvPr id="49" name="Text 47"/>
          <p:cNvSpPr/>
          <p:nvPr/>
        </p:nvSpPr>
        <p:spPr>
          <a:xfrm>
            <a:off x="4714534" y="5548534"/>
            <a:ext cx="3257917" cy="335868"/>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Became standard evaluation set for comparing classification approaches</a:t>
            </a:r>
            <a:endParaRPr lang="en-US" sz="1600" dirty="0"/>
          </a:p>
        </p:txBody>
      </p:sp>
      <p:sp>
        <p:nvSpPr>
          <p:cNvPr id="50" name="Shape 48"/>
          <p:cNvSpPr/>
          <p:nvPr/>
        </p:nvSpPr>
        <p:spPr>
          <a:xfrm>
            <a:off x="8052010" y="5313426"/>
            <a:ext cx="335868" cy="335868"/>
          </a:xfrm>
          <a:custGeom>
            <a:avLst/>
            <a:gdLst/>
            <a:ahLst/>
            <a:cxnLst/>
            <a:rect l="l" t="t" r="r" b="b"/>
            <a:pathLst>
              <a:path w="335868" h="335868">
                <a:moveTo>
                  <a:pt x="33587" y="0"/>
                </a:moveTo>
                <a:lnTo>
                  <a:pt x="302281" y="0"/>
                </a:lnTo>
                <a:cubicBezTo>
                  <a:pt x="320830" y="0"/>
                  <a:pt x="335868" y="15037"/>
                  <a:pt x="335868" y="33587"/>
                </a:cubicBezTo>
                <a:lnTo>
                  <a:pt x="335868" y="302281"/>
                </a:lnTo>
                <a:cubicBezTo>
                  <a:pt x="335868" y="320830"/>
                  <a:pt x="320830" y="335868"/>
                  <a:pt x="302281" y="335868"/>
                </a:cubicBezTo>
                <a:lnTo>
                  <a:pt x="33587" y="335868"/>
                </a:lnTo>
                <a:cubicBezTo>
                  <a:pt x="15037" y="335868"/>
                  <a:pt x="0" y="320830"/>
                  <a:pt x="0" y="302281"/>
                </a:cubicBezTo>
                <a:lnTo>
                  <a:pt x="0" y="33587"/>
                </a:lnTo>
                <a:cubicBezTo>
                  <a:pt x="0" y="15050"/>
                  <a:pt x="15050" y="0"/>
                  <a:pt x="33587" y="0"/>
                </a:cubicBezTo>
                <a:close/>
              </a:path>
            </a:pathLst>
          </a:custGeom>
          <a:solidFill>
            <a:srgbClr val="8B0000"/>
          </a:solidFill>
          <a:ln/>
        </p:spPr>
        <p:txBody>
          <a:bodyPr/>
          <a:lstStyle/>
          <a:p>
            <a:endParaRPr lang="en-US"/>
          </a:p>
        </p:txBody>
      </p:sp>
      <p:sp>
        <p:nvSpPr>
          <p:cNvPr id="51" name="Text 49"/>
          <p:cNvSpPr/>
          <p:nvPr/>
        </p:nvSpPr>
        <p:spPr>
          <a:xfrm>
            <a:off x="8192760" y="5380600"/>
            <a:ext cx="117554" cy="201521"/>
          </a:xfrm>
          <a:prstGeom prst="rect">
            <a:avLst/>
          </a:prstGeom>
          <a:noFill/>
          <a:ln/>
        </p:spPr>
        <p:txBody>
          <a:bodyPr wrap="square" lIns="0" tIns="0" rIns="0" bIns="0" rtlCol="0" anchor="ctr"/>
          <a:lstStyle/>
          <a:p>
            <a:pPr>
              <a:lnSpc>
                <a:spcPct val="130000"/>
              </a:lnSpc>
            </a:pPr>
            <a:r>
              <a:rPr lang="en-US" sz="1058" b="1" dirty="0">
                <a:solidFill>
                  <a:srgbClr val="F9FAFB"/>
                </a:solidFill>
                <a:latin typeface="Sorts Mill Goudy" pitchFamily="34" charset="0"/>
                <a:ea typeface="Sorts Mill Goudy" pitchFamily="34" charset="-122"/>
                <a:cs typeface="Sorts Mill Goudy" pitchFamily="34" charset="-120"/>
              </a:rPr>
              <a:t>3</a:t>
            </a:r>
            <a:endParaRPr lang="en-US" sz="1600" dirty="0"/>
          </a:p>
        </p:txBody>
      </p:sp>
      <p:sp>
        <p:nvSpPr>
          <p:cNvPr id="52" name="Text 50"/>
          <p:cNvSpPr/>
          <p:nvPr/>
        </p:nvSpPr>
        <p:spPr>
          <a:xfrm>
            <a:off x="8488638" y="5313426"/>
            <a:ext cx="3089983" cy="201521"/>
          </a:xfrm>
          <a:prstGeom prst="rect">
            <a:avLst/>
          </a:prstGeom>
          <a:noFill/>
          <a:ln/>
        </p:spPr>
        <p:txBody>
          <a:bodyPr wrap="square" lIns="0" tIns="0" rIns="0" bIns="0" rtlCol="0" anchor="ctr"/>
          <a:lstStyle/>
          <a:p>
            <a:pPr>
              <a:lnSpc>
                <a:spcPct val="130000"/>
              </a:lnSpc>
            </a:pPr>
            <a:r>
              <a:rPr lang="en-US" sz="1058" b="1" dirty="0">
                <a:solidFill>
                  <a:srgbClr val="1F2937"/>
                </a:solidFill>
                <a:latin typeface="Sorts Mill Goudy" pitchFamily="34" charset="0"/>
                <a:ea typeface="Sorts Mill Goudy" pitchFamily="34" charset="-122"/>
                <a:cs typeface="Sorts Mill Goudy" pitchFamily="34" charset="-120"/>
              </a:rPr>
              <a:t>Open Science</a:t>
            </a:r>
            <a:endParaRPr lang="en-US" sz="1600" dirty="0"/>
          </a:p>
        </p:txBody>
      </p:sp>
      <p:sp>
        <p:nvSpPr>
          <p:cNvPr id="53" name="Text 51"/>
          <p:cNvSpPr/>
          <p:nvPr/>
        </p:nvSpPr>
        <p:spPr>
          <a:xfrm>
            <a:off x="8488638" y="5548534"/>
            <a:ext cx="3081587" cy="167934"/>
          </a:xfrm>
          <a:prstGeom prst="rect">
            <a:avLst/>
          </a:prstGeom>
          <a:noFill/>
          <a:ln/>
        </p:spPr>
        <p:txBody>
          <a:bodyPr wrap="square" lIns="0" tIns="0" rIns="0" bIns="0" rtlCol="0" anchor="ctr"/>
          <a:lstStyle/>
          <a:p>
            <a:pPr>
              <a:lnSpc>
                <a:spcPct val="120000"/>
              </a:lnSpc>
            </a:pPr>
            <a:r>
              <a:rPr lang="en-US" sz="926" dirty="0">
                <a:solidFill>
                  <a:srgbClr val="6B7280"/>
                </a:solidFill>
                <a:latin typeface="Sorts Mill Goudy" pitchFamily="34" charset="0"/>
                <a:ea typeface="Sorts Mill Goudy" pitchFamily="34" charset="-122"/>
                <a:cs typeface="Sorts Mill Goudy" pitchFamily="34" charset="-120"/>
              </a:rPr>
              <a:t>Demonstrated value of publicly sharing educational datasets</a:t>
            </a:r>
            <a:endParaRPr lang="en-US" sz="1600" dirty="0"/>
          </a:p>
        </p:txBody>
      </p:sp>
      <p:sp>
        <p:nvSpPr>
          <p:cNvPr id="54" name="Shape 52"/>
          <p:cNvSpPr/>
          <p:nvPr/>
        </p:nvSpPr>
        <p:spPr>
          <a:xfrm>
            <a:off x="335868" y="6186683"/>
            <a:ext cx="11520264" cy="671736"/>
          </a:xfrm>
          <a:custGeom>
            <a:avLst/>
            <a:gdLst/>
            <a:ahLst/>
            <a:cxnLst/>
            <a:rect l="l" t="t" r="r" b="b"/>
            <a:pathLst>
              <a:path w="11520264" h="671736">
                <a:moveTo>
                  <a:pt x="0" y="0"/>
                </a:moveTo>
                <a:lnTo>
                  <a:pt x="11520264" y="0"/>
                </a:lnTo>
                <a:lnTo>
                  <a:pt x="11520264" y="671736"/>
                </a:lnTo>
                <a:lnTo>
                  <a:pt x="0" y="671736"/>
                </a:lnTo>
                <a:lnTo>
                  <a:pt x="0" y="0"/>
                </a:lnTo>
                <a:close/>
              </a:path>
            </a:pathLst>
          </a:custGeom>
          <a:solidFill>
            <a:srgbClr val="1F2937"/>
          </a:solidFill>
          <a:ln/>
        </p:spPr>
        <p:txBody>
          <a:bodyPr/>
          <a:lstStyle/>
          <a:p>
            <a:endParaRPr lang="en-US"/>
          </a:p>
        </p:txBody>
      </p:sp>
      <p:sp>
        <p:nvSpPr>
          <p:cNvPr id="55" name="Shape 53"/>
          <p:cNvSpPr/>
          <p:nvPr/>
        </p:nvSpPr>
        <p:spPr>
          <a:xfrm>
            <a:off x="503802" y="6334465"/>
            <a:ext cx="100760" cy="134347"/>
          </a:xfrm>
          <a:custGeom>
            <a:avLst/>
            <a:gdLst/>
            <a:ahLst/>
            <a:cxnLst/>
            <a:rect l="l" t="t" r="r" b="b"/>
            <a:pathLst>
              <a:path w="100760" h="134347">
                <a:moveTo>
                  <a:pt x="76856" y="100760"/>
                </a:moveTo>
                <a:cubicBezTo>
                  <a:pt x="78771" y="94909"/>
                  <a:pt x="82602" y="89608"/>
                  <a:pt x="86932" y="85043"/>
                </a:cubicBezTo>
                <a:cubicBezTo>
                  <a:pt x="95512" y="76016"/>
                  <a:pt x="100760" y="63815"/>
                  <a:pt x="100760" y="50380"/>
                </a:cubicBezTo>
                <a:cubicBezTo>
                  <a:pt x="100760" y="22566"/>
                  <a:pt x="78194" y="0"/>
                  <a:pt x="50380" y="0"/>
                </a:cubicBezTo>
                <a:cubicBezTo>
                  <a:pt x="22566" y="0"/>
                  <a:pt x="0" y="22566"/>
                  <a:pt x="0" y="50380"/>
                </a:cubicBezTo>
                <a:cubicBezTo>
                  <a:pt x="0" y="63815"/>
                  <a:pt x="5248" y="76016"/>
                  <a:pt x="13828" y="85043"/>
                </a:cubicBezTo>
                <a:cubicBezTo>
                  <a:pt x="18158" y="89608"/>
                  <a:pt x="22015" y="94909"/>
                  <a:pt x="23904" y="100760"/>
                </a:cubicBezTo>
                <a:lnTo>
                  <a:pt x="76830" y="100760"/>
                </a:lnTo>
                <a:close/>
                <a:moveTo>
                  <a:pt x="75570" y="113355"/>
                </a:moveTo>
                <a:lnTo>
                  <a:pt x="25190" y="113355"/>
                </a:lnTo>
                <a:lnTo>
                  <a:pt x="25190" y="117554"/>
                </a:lnTo>
                <a:cubicBezTo>
                  <a:pt x="25190" y="129152"/>
                  <a:pt x="34584" y="138545"/>
                  <a:pt x="46182" y="138545"/>
                </a:cubicBezTo>
                <a:lnTo>
                  <a:pt x="54579" y="138545"/>
                </a:lnTo>
                <a:cubicBezTo>
                  <a:pt x="66176" y="138545"/>
                  <a:pt x="75570" y="129152"/>
                  <a:pt x="75570" y="117554"/>
                </a:cubicBezTo>
                <a:lnTo>
                  <a:pt x="75570" y="113355"/>
                </a:lnTo>
                <a:close/>
                <a:moveTo>
                  <a:pt x="48281" y="29388"/>
                </a:moveTo>
                <a:cubicBezTo>
                  <a:pt x="37838" y="29388"/>
                  <a:pt x="29388" y="37838"/>
                  <a:pt x="29388" y="48281"/>
                </a:cubicBezTo>
                <a:cubicBezTo>
                  <a:pt x="29388" y="51771"/>
                  <a:pt x="26581" y="54579"/>
                  <a:pt x="23091" y="54579"/>
                </a:cubicBezTo>
                <a:cubicBezTo>
                  <a:pt x="19601" y="54579"/>
                  <a:pt x="16793" y="51771"/>
                  <a:pt x="16793" y="48281"/>
                </a:cubicBezTo>
                <a:cubicBezTo>
                  <a:pt x="16793" y="30884"/>
                  <a:pt x="30884" y="16793"/>
                  <a:pt x="48281" y="16793"/>
                </a:cubicBezTo>
                <a:cubicBezTo>
                  <a:pt x="51771" y="16793"/>
                  <a:pt x="54579" y="19601"/>
                  <a:pt x="54579" y="23091"/>
                </a:cubicBezTo>
                <a:cubicBezTo>
                  <a:pt x="54579" y="26581"/>
                  <a:pt x="51771" y="29388"/>
                  <a:pt x="48281" y="29388"/>
                </a:cubicBezTo>
                <a:close/>
              </a:path>
            </a:pathLst>
          </a:custGeom>
          <a:solidFill>
            <a:srgbClr val="8B0000"/>
          </a:solidFill>
          <a:ln/>
        </p:spPr>
        <p:txBody>
          <a:bodyPr/>
          <a:lstStyle/>
          <a:p>
            <a:endParaRPr lang="en-US"/>
          </a:p>
        </p:txBody>
      </p:sp>
      <p:sp>
        <p:nvSpPr>
          <p:cNvPr id="56" name="Text 54"/>
          <p:cNvSpPr/>
          <p:nvPr/>
        </p:nvSpPr>
        <p:spPr>
          <a:xfrm>
            <a:off x="682561" y="6321030"/>
            <a:ext cx="11106398" cy="403041"/>
          </a:xfrm>
          <a:prstGeom prst="rect">
            <a:avLst/>
          </a:prstGeom>
          <a:noFill/>
          <a:ln/>
        </p:spPr>
        <p:txBody>
          <a:bodyPr wrap="square" lIns="0" tIns="0" rIns="0" bIns="0" rtlCol="0" anchor="ctr"/>
          <a:lstStyle/>
          <a:p>
            <a:pPr>
              <a:lnSpc>
                <a:spcPct val="130000"/>
              </a:lnSpc>
            </a:pPr>
            <a:r>
              <a:rPr lang="en-US" sz="1058" b="1" dirty="0">
                <a:solidFill>
                  <a:srgbClr val="F9FAFB"/>
                </a:solidFill>
                <a:latin typeface="Sorts Mill Goudy" pitchFamily="34" charset="0"/>
                <a:ea typeface="Sorts Mill Goudy" pitchFamily="34" charset="-122"/>
                <a:cs typeface="Sorts Mill Goudy" pitchFamily="34" charset="-120"/>
              </a:rPr>
              <a:t>Key Insight:</a:t>
            </a:r>
            <a:r>
              <a:rPr lang="en-US" sz="1058" dirty="0">
                <a:solidFill>
                  <a:srgbClr val="F9FAFB"/>
                </a:solidFill>
                <a:latin typeface="Sorts Mill Goudy" pitchFamily="34" charset="0"/>
                <a:ea typeface="Sorts Mill Goudy" pitchFamily="34" charset="-122"/>
                <a:cs typeface="Sorts Mill Goudy" pitchFamily="34" charset="-120"/>
              </a:rPr>
              <a:t> These foundational datasets established best practices for dataset creation, annotation, and sharing in the educational data mining community, influencing subsequent research for over a decade.</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105" dirty="0">
                <a:solidFill>
                  <a:srgbClr val="8B0000"/>
                </a:solidFill>
                <a:latin typeface="Sorts Mill Goudy" pitchFamily="34" charset="0"/>
                <a:ea typeface="Sorts Mill Goudy" pitchFamily="34" charset="-122"/>
                <a:cs typeface="Sorts Mill Goudy" pitchFamily="34" charset="-120"/>
              </a:rPr>
              <a:t>3.3 PUBLIC RESOURCES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Additional Public Resources and Community Datasets</a:t>
            </a:r>
            <a:endParaRPr lang="en-US" sz="1600" dirty="0"/>
          </a:p>
        </p:txBody>
      </p:sp>
      <p:sp>
        <p:nvSpPr>
          <p:cNvPr id="4" name="Shape 2"/>
          <p:cNvSpPr/>
          <p:nvPr/>
        </p:nvSpPr>
        <p:spPr>
          <a:xfrm>
            <a:off x="381000" y="11430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8B0000"/>
          </a:solidFill>
          <a:ln/>
        </p:spPr>
        <p:txBody>
          <a:bodyPr/>
          <a:lstStyle/>
          <a:p>
            <a:endParaRPr lang="en-US"/>
          </a:p>
        </p:txBody>
      </p:sp>
      <p:sp>
        <p:nvSpPr>
          <p:cNvPr id="5" name="Shape 3"/>
          <p:cNvSpPr/>
          <p:nvPr/>
        </p:nvSpPr>
        <p:spPr>
          <a:xfrm>
            <a:off x="381000" y="1352550"/>
            <a:ext cx="3705225" cy="2524125"/>
          </a:xfrm>
          <a:custGeom>
            <a:avLst/>
            <a:gdLst/>
            <a:ahLst/>
            <a:cxnLst/>
            <a:rect l="l" t="t" r="r" b="b"/>
            <a:pathLst>
              <a:path w="3705225" h="2524125">
                <a:moveTo>
                  <a:pt x="0" y="0"/>
                </a:moveTo>
                <a:lnTo>
                  <a:pt x="3705225" y="0"/>
                </a:lnTo>
                <a:lnTo>
                  <a:pt x="3705225" y="2524125"/>
                </a:lnTo>
                <a:lnTo>
                  <a:pt x="0" y="2524125"/>
                </a:lnTo>
                <a:lnTo>
                  <a:pt x="0" y="0"/>
                </a:lnTo>
                <a:close/>
              </a:path>
            </a:pathLst>
          </a:custGeom>
          <a:solidFill>
            <a:srgbClr val="F9FAFB"/>
          </a:solidFill>
          <a:ln/>
        </p:spPr>
        <p:txBody>
          <a:bodyPr/>
          <a:lstStyle/>
          <a:p>
            <a:endParaRPr lang="en-US"/>
          </a:p>
        </p:txBody>
      </p:sp>
      <p:sp>
        <p:nvSpPr>
          <p:cNvPr id="6" name="Shape 4"/>
          <p:cNvSpPr/>
          <p:nvPr/>
        </p:nvSpPr>
        <p:spPr>
          <a:xfrm>
            <a:off x="381000" y="13525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8B0000"/>
          </a:solidFill>
          <a:ln/>
        </p:spPr>
        <p:txBody>
          <a:bodyPr/>
          <a:lstStyle/>
          <a:p>
            <a:endParaRPr lang="en-US"/>
          </a:p>
        </p:txBody>
      </p:sp>
      <p:sp>
        <p:nvSpPr>
          <p:cNvPr id="7" name="Shape 5"/>
          <p:cNvSpPr/>
          <p:nvPr/>
        </p:nvSpPr>
        <p:spPr>
          <a:xfrm>
            <a:off x="663178" y="1562100"/>
            <a:ext cx="178594" cy="285750"/>
          </a:xfrm>
          <a:custGeom>
            <a:avLst/>
            <a:gdLst/>
            <a:ahLst/>
            <a:cxnLst/>
            <a:rect l="l" t="t" r="r" b="b"/>
            <a:pathLst>
              <a:path w="178594" h="285750">
                <a:moveTo>
                  <a:pt x="169776" y="279890"/>
                </a:moveTo>
                <a:lnTo>
                  <a:pt x="88404" y="178761"/>
                </a:lnTo>
                <a:lnTo>
                  <a:pt x="166427" y="103250"/>
                </a:lnTo>
                <a:cubicBezTo>
                  <a:pt x="167878" y="101743"/>
                  <a:pt x="167376" y="97389"/>
                  <a:pt x="163469" y="97389"/>
                </a:cubicBezTo>
                <a:lnTo>
                  <a:pt x="124848" y="97389"/>
                </a:lnTo>
                <a:cubicBezTo>
                  <a:pt x="122895" y="97389"/>
                  <a:pt x="120941" y="98394"/>
                  <a:pt x="118988" y="100347"/>
                </a:cubicBezTo>
                <a:lnTo>
                  <a:pt x="45151" y="174966"/>
                </a:lnTo>
                <a:lnTo>
                  <a:pt x="45151" y="4186"/>
                </a:lnTo>
                <a:cubicBezTo>
                  <a:pt x="45151" y="1395"/>
                  <a:pt x="43755" y="0"/>
                  <a:pt x="40965" y="0"/>
                </a:cubicBezTo>
                <a:lnTo>
                  <a:pt x="11999" y="0"/>
                </a:lnTo>
                <a:cubicBezTo>
                  <a:pt x="9209" y="0"/>
                  <a:pt x="7813" y="1395"/>
                  <a:pt x="7813" y="4186"/>
                </a:cubicBezTo>
                <a:lnTo>
                  <a:pt x="7813" y="281564"/>
                </a:lnTo>
                <a:cubicBezTo>
                  <a:pt x="7813" y="284355"/>
                  <a:pt x="9209" y="285750"/>
                  <a:pt x="11999" y="285750"/>
                </a:cubicBezTo>
                <a:lnTo>
                  <a:pt x="40965" y="285750"/>
                </a:lnTo>
                <a:cubicBezTo>
                  <a:pt x="43755" y="285750"/>
                  <a:pt x="45151" y="284355"/>
                  <a:pt x="45151" y="281564"/>
                </a:cubicBezTo>
                <a:lnTo>
                  <a:pt x="45151" y="220731"/>
                </a:lnTo>
                <a:lnTo>
                  <a:pt x="62340" y="204378"/>
                </a:lnTo>
                <a:lnTo>
                  <a:pt x="124011" y="282848"/>
                </a:lnTo>
                <a:cubicBezTo>
                  <a:pt x="125685" y="284801"/>
                  <a:pt x="127639" y="285806"/>
                  <a:pt x="129871" y="285806"/>
                </a:cubicBezTo>
                <a:lnTo>
                  <a:pt x="167208" y="285806"/>
                </a:lnTo>
                <a:cubicBezTo>
                  <a:pt x="169162" y="285806"/>
                  <a:pt x="170278" y="285248"/>
                  <a:pt x="170557" y="284131"/>
                </a:cubicBezTo>
                <a:lnTo>
                  <a:pt x="169776" y="279890"/>
                </a:lnTo>
                <a:close/>
              </a:path>
            </a:pathLst>
          </a:custGeom>
          <a:solidFill>
            <a:srgbClr val="8B0000"/>
          </a:solidFill>
          <a:ln/>
        </p:spPr>
        <p:txBody>
          <a:bodyPr/>
          <a:lstStyle/>
          <a:p>
            <a:endParaRPr lang="en-US"/>
          </a:p>
        </p:txBody>
      </p:sp>
      <p:sp>
        <p:nvSpPr>
          <p:cNvPr id="8" name="Text 6"/>
          <p:cNvSpPr/>
          <p:nvPr/>
        </p:nvSpPr>
        <p:spPr>
          <a:xfrm>
            <a:off x="1042988" y="1571625"/>
            <a:ext cx="13144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Kaggle Dataset</a:t>
            </a:r>
            <a:endParaRPr lang="en-US" sz="1600" dirty="0"/>
          </a:p>
        </p:txBody>
      </p:sp>
      <p:sp>
        <p:nvSpPr>
          <p:cNvPr id="9" name="Text 7"/>
          <p:cNvSpPr/>
          <p:nvPr/>
        </p:nvSpPr>
        <p:spPr>
          <a:xfrm>
            <a:off x="571500" y="1962150"/>
            <a:ext cx="34004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Devane (2023)</a:t>
            </a:r>
            <a:endParaRPr lang="en-US" sz="1600" dirty="0"/>
          </a:p>
        </p:txBody>
      </p:sp>
      <p:sp>
        <p:nvSpPr>
          <p:cNvPr id="10" name="Text 8"/>
          <p:cNvSpPr/>
          <p:nvPr/>
        </p:nvSpPr>
        <p:spPr>
          <a:xfrm>
            <a:off x="571500" y="2266950"/>
            <a:ext cx="33909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Bloom's Taxonomy Dataset for educational analysis</a:t>
            </a:r>
            <a:endParaRPr lang="en-US" sz="1600" dirty="0"/>
          </a:p>
        </p:txBody>
      </p:sp>
      <p:sp>
        <p:nvSpPr>
          <p:cNvPr id="11" name="Shape 9"/>
          <p:cNvSpPr/>
          <p:nvPr/>
        </p:nvSpPr>
        <p:spPr>
          <a:xfrm>
            <a:off x="598884" y="2609850"/>
            <a:ext cx="116681" cy="133350"/>
          </a:xfrm>
          <a:custGeom>
            <a:avLst/>
            <a:gdLst/>
            <a:ahLst/>
            <a:cxnLst/>
            <a:rect l="l" t="t" r="r" b="b"/>
            <a:pathLst>
              <a:path w="116681" h="133350">
                <a:moveTo>
                  <a:pt x="116681" y="53600"/>
                </a:moveTo>
                <a:cubicBezTo>
                  <a:pt x="112827" y="56153"/>
                  <a:pt x="108399" y="58210"/>
                  <a:pt x="103789" y="59851"/>
                </a:cubicBezTo>
                <a:cubicBezTo>
                  <a:pt x="91548" y="64227"/>
                  <a:pt x="75478" y="66675"/>
                  <a:pt x="58341" y="66675"/>
                </a:cubicBezTo>
                <a:cubicBezTo>
                  <a:pt x="41203" y="66675"/>
                  <a:pt x="25107" y="64201"/>
                  <a:pt x="12892" y="59851"/>
                </a:cubicBezTo>
                <a:cubicBezTo>
                  <a:pt x="8308" y="58210"/>
                  <a:pt x="3855" y="56153"/>
                  <a:pt x="0" y="53600"/>
                </a:cubicBezTo>
                <a:lnTo>
                  <a:pt x="0" y="75009"/>
                </a:lnTo>
                <a:cubicBezTo>
                  <a:pt x="0" y="86521"/>
                  <a:pt x="26123" y="95845"/>
                  <a:pt x="58341" y="95845"/>
                </a:cubicBezTo>
                <a:cubicBezTo>
                  <a:pt x="90558" y="95845"/>
                  <a:pt x="116681" y="86521"/>
                  <a:pt x="116681" y="75009"/>
                </a:cubicBezTo>
                <a:lnTo>
                  <a:pt x="116681" y="53600"/>
                </a:lnTo>
                <a:close/>
                <a:moveTo>
                  <a:pt x="116681" y="33337"/>
                </a:moveTo>
                <a:lnTo>
                  <a:pt x="116681" y="20836"/>
                </a:lnTo>
                <a:cubicBezTo>
                  <a:pt x="116681" y="9324"/>
                  <a:pt x="90558" y="0"/>
                  <a:pt x="58341" y="0"/>
                </a:cubicBezTo>
                <a:cubicBezTo>
                  <a:pt x="26123" y="0"/>
                  <a:pt x="0" y="9324"/>
                  <a:pt x="0" y="20836"/>
                </a:cubicBezTo>
                <a:lnTo>
                  <a:pt x="0" y="33337"/>
                </a:lnTo>
                <a:cubicBezTo>
                  <a:pt x="0" y="44849"/>
                  <a:pt x="26123" y="54173"/>
                  <a:pt x="58341" y="54173"/>
                </a:cubicBezTo>
                <a:cubicBezTo>
                  <a:pt x="90558" y="54173"/>
                  <a:pt x="116681" y="44849"/>
                  <a:pt x="116681" y="33337"/>
                </a:cubicBezTo>
                <a:close/>
                <a:moveTo>
                  <a:pt x="103789" y="101523"/>
                </a:moveTo>
                <a:cubicBezTo>
                  <a:pt x="91574" y="105873"/>
                  <a:pt x="75504" y="108347"/>
                  <a:pt x="58341" y="108347"/>
                </a:cubicBezTo>
                <a:cubicBezTo>
                  <a:pt x="41177" y="108347"/>
                  <a:pt x="25107" y="105873"/>
                  <a:pt x="12892" y="101523"/>
                </a:cubicBezTo>
                <a:cubicBezTo>
                  <a:pt x="8308" y="99882"/>
                  <a:pt x="3855" y="97825"/>
                  <a:pt x="0" y="95272"/>
                </a:cubicBezTo>
                <a:lnTo>
                  <a:pt x="0" y="112514"/>
                </a:lnTo>
                <a:cubicBezTo>
                  <a:pt x="0" y="124026"/>
                  <a:pt x="26123" y="133350"/>
                  <a:pt x="58341" y="133350"/>
                </a:cubicBezTo>
                <a:cubicBezTo>
                  <a:pt x="90558" y="133350"/>
                  <a:pt x="116681" y="124026"/>
                  <a:pt x="116681" y="112514"/>
                </a:cubicBezTo>
                <a:lnTo>
                  <a:pt x="116681" y="95272"/>
                </a:lnTo>
                <a:cubicBezTo>
                  <a:pt x="112827" y="97825"/>
                  <a:pt x="108399" y="99882"/>
                  <a:pt x="103789" y="101523"/>
                </a:cubicBezTo>
                <a:close/>
              </a:path>
            </a:pathLst>
          </a:custGeom>
          <a:solidFill>
            <a:srgbClr val="8B0000"/>
          </a:solidFill>
          <a:ln/>
        </p:spPr>
        <p:txBody>
          <a:bodyPr/>
          <a:lstStyle/>
          <a:p>
            <a:endParaRPr lang="en-US"/>
          </a:p>
        </p:txBody>
      </p:sp>
      <p:sp>
        <p:nvSpPr>
          <p:cNvPr id="12" name="Text 10"/>
          <p:cNvSpPr/>
          <p:nvPr/>
        </p:nvSpPr>
        <p:spPr>
          <a:xfrm>
            <a:off x="814388" y="2571750"/>
            <a:ext cx="311467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Single CSV file with exam questions and annotations</a:t>
            </a:r>
            <a:endParaRPr lang="en-US" sz="1600" dirty="0"/>
          </a:p>
        </p:txBody>
      </p:sp>
      <p:sp>
        <p:nvSpPr>
          <p:cNvPr id="13" name="Shape 11"/>
          <p:cNvSpPr/>
          <p:nvPr/>
        </p:nvSpPr>
        <p:spPr>
          <a:xfrm>
            <a:off x="573881" y="2876550"/>
            <a:ext cx="166688" cy="133350"/>
          </a:xfrm>
          <a:custGeom>
            <a:avLst/>
            <a:gdLst/>
            <a:ahLst/>
            <a:cxnLst/>
            <a:rect l="l" t="t" r="r" b="b"/>
            <a:pathLst>
              <a:path w="166688" h="133350">
                <a:moveTo>
                  <a:pt x="16669" y="25003"/>
                </a:moveTo>
                <a:cubicBezTo>
                  <a:pt x="16669" y="15809"/>
                  <a:pt x="24144" y="8334"/>
                  <a:pt x="33337" y="8334"/>
                </a:cubicBezTo>
                <a:lnTo>
                  <a:pt x="133350" y="8334"/>
                </a:lnTo>
                <a:cubicBezTo>
                  <a:pt x="142544" y="8334"/>
                  <a:pt x="150019" y="15809"/>
                  <a:pt x="150019" y="25003"/>
                </a:cubicBezTo>
                <a:lnTo>
                  <a:pt x="150019" y="87511"/>
                </a:lnTo>
                <a:lnTo>
                  <a:pt x="133350" y="87511"/>
                </a:lnTo>
                <a:lnTo>
                  <a:pt x="133350" y="25003"/>
                </a:lnTo>
                <a:lnTo>
                  <a:pt x="33337" y="25003"/>
                </a:lnTo>
                <a:lnTo>
                  <a:pt x="33337" y="87511"/>
                </a:lnTo>
                <a:lnTo>
                  <a:pt x="16669" y="87511"/>
                </a:lnTo>
                <a:lnTo>
                  <a:pt x="16669" y="25003"/>
                </a:lnTo>
                <a:close/>
                <a:moveTo>
                  <a:pt x="0" y="105013"/>
                </a:moveTo>
                <a:cubicBezTo>
                  <a:pt x="0" y="102252"/>
                  <a:pt x="2240" y="100013"/>
                  <a:pt x="5001" y="100013"/>
                </a:cubicBezTo>
                <a:lnTo>
                  <a:pt x="161687" y="100013"/>
                </a:lnTo>
                <a:cubicBezTo>
                  <a:pt x="164448" y="100013"/>
                  <a:pt x="166688" y="102252"/>
                  <a:pt x="166688" y="105013"/>
                </a:cubicBezTo>
                <a:cubicBezTo>
                  <a:pt x="166688" y="116056"/>
                  <a:pt x="157728" y="125016"/>
                  <a:pt x="146685" y="125016"/>
                </a:cubicBezTo>
                <a:lnTo>
                  <a:pt x="20003" y="125016"/>
                </a:lnTo>
                <a:cubicBezTo>
                  <a:pt x="8959" y="125016"/>
                  <a:pt x="0" y="116056"/>
                  <a:pt x="0" y="105013"/>
                </a:cubicBezTo>
                <a:close/>
                <a:moveTo>
                  <a:pt x="73186" y="54434"/>
                </a:moveTo>
                <a:lnTo>
                  <a:pt x="65112" y="62508"/>
                </a:lnTo>
                <a:lnTo>
                  <a:pt x="73186" y="70582"/>
                </a:lnTo>
                <a:cubicBezTo>
                  <a:pt x="75634" y="73030"/>
                  <a:pt x="75634" y="76989"/>
                  <a:pt x="73186" y="79411"/>
                </a:cubicBezTo>
                <a:cubicBezTo>
                  <a:pt x="70738" y="81833"/>
                  <a:pt x="66779" y="81859"/>
                  <a:pt x="64357" y="79411"/>
                </a:cubicBezTo>
                <a:lnTo>
                  <a:pt x="51855" y="66909"/>
                </a:lnTo>
                <a:cubicBezTo>
                  <a:pt x="49407" y="64461"/>
                  <a:pt x="49407" y="60502"/>
                  <a:pt x="51855" y="58080"/>
                </a:cubicBezTo>
                <a:lnTo>
                  <a:pt x="64357" y="45579"/>
                </a:lnTo>
                <a:cubicBezTo>
                  <a:pt x="66805" y="43130"/>
                  <a:pt x="70764" y="43130"/>
                  <a:pt x="73186" y="45579"/>
                </a:cubicBezTo>
                <a:cubicBezTo>
                  <a:pt x="75608" y="48027"/>
                  <a:pt x="75634" y="51986"/>
                  <a:pt x="73186" y="54408"/>
                </a:cubicBezTo>
                <a:close/>
                <a:moveTo>
                  <a:pt x="102357" y="45579"/>
                </a:moveTo>
                <a:lnTo>
                  <a:pt x="114858" y="58080"/>
                </a:lnTo>
                <a:cubicBezTo>
                  <a:pt x="117306" y="60528"/>
                  <a:pt x="117306" y="64487"/>
                  <a:pt x="114858" y="66909"/>
                </a:cubicBezTo>
                <a:lnTo>
                  <a:pt x="102357" y="79411"/>
                </a:lnTo>
                <a:cubicBezTo>
                  <a:pt x="99908" y="81859"/>
                  <a:pt x="95949" y="81859"/>
                  <a:pt x="93527" y="79411"/>
                </a:cubicBezTo>
                <a:cubicBezTo>
                  <a:pt x="91105" y="76963"/>
                  <a:pt x="91079" y="73004"/>
                  <a:pt x="93527" y="70582"/>
                </a:cubicBezTo>
                <a:lnTo>
                  <a:pt x="101601" y="62508"/>
                </a:lnTo>
                <a:lnTo>
                  <a:pt x="93527" y="54434"/>
                </a:lnTo>
                <a:cubicBezTo>
                  <a:pt x="91079" y="51986"/>
                  <a:pt x="91079" y="48027"/>
                  <a:pt x="93527" y="45605"/>
                </a:cubicBezTo>
                <a:cubicBezTo>
                  <a:pt x="95976" y="43182"/>
                  <a:pt x="99934" y="43156"/>
                  <a:pt x="102357" y="45605"/>
                </a:cubicBezTo>
                <a:close/>
              </a:path>
            </a:pathLst>
          </a:custGeom>
          <a:solidFill>
            <a:srgbClr val="8B0000"/>
          </a:solidFill>
          <a:ln/>
        </p:spPr>
        <p:txBody>
          <a:bodyPr/>
          <a:lstStyle/>
          <a:p>
            <a:endParaRPr lang="en-US"/>
          </a:p>
        </p:txBody>
      </p:sp>
      <p:sp>
        <p:nvSpPr>
          <p:cNvPr id="14" name="Text 12"/>
          <p:cNvSpPr/>
          <p:nvPr/>
        </p:nvSpPr>
        <p:spPr>
          <a:xfrm>
            <a:off x="814388" y="2838450"/>
            <a:ext cx="22098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Computer science and other domains</a:t>
            </a:r>
            <a:endParaRPr lang="en-US" sz="1600" dirty="0"/>
          </a:p>
        </p:txBody>
      </p:sp>
      <p:sp>
        <p:nvSpPr>
          <p:cNvPr id="15" name="Shape 13"/>
          <p:cNvSpPr/>
          <p:nvPr/>
        </p:nvSpPr>
        <p:spPr>
          <a:xfrm>
            <a:off x="582216" y="3143250"/>
            <a:ext cx="150019" cy="133350"/>
          </a:xfrm>
          <a:custGeom>
            <a:avLst/>
            <a:gdLst/>
            <a:ahLst/>
            <a:cxnLst/>
            <a:rect l="l" t="t" r="r" b="b"/>
            <a:pathLst>
              <a:path w="150019" h="133350">
                <a:moveTo>
                  <a:pt x="100013" y="25003"/>
                </a:moveTo>
                <a:cubicBezTo>
                  <a:pt x="100013" y="15809"/>
                  <a:pt x="107487" y="8334"/>
                  <a:pt x="116681" y="8334"/>
                </a:cubicBezTo>
                <a:cubicBezTo>
                  <a:pt x="125875" y="8334"/>
                  <a:pt x="133350" y="15809"/>
                  <a:pt x="133350" y="25003"/>
                </a:cubicBezTo>
                <a:lnTo>
                  <a:pt x="133350" y="33337"/>
                </a:lnTo>
                <a:cubicBezTo>
                  <a:pt x="133350" y="37947"/>
                  <a:pt x="137074" y="41672"/>
                  <a:pt x="141684" y="41672"/>
                </a:cubicBezTo>
                <a:cubicBezTo>
                  <a:pt x="146294" y="41672"/>
                  <a:pt x="150019" y="37947"/>
                  <a:pt x="150019" y="33337"/>
                </a:cubicBezTo>
                <a:lnTo>
                  <a:pt x="150019" y="25003"/>
                </a:lnTo>
                <a:cubicBezTo>
                  <a:pt x="150019" y="6589"/>
                  <a:pt x="135095" y="-8334"/>
                  <a:pt x="116681" y="-8334"/>
                </a:cubicBezTo>
                <a:cubicBezTo>
                  <a:pt x="98267" y="-8334"/>
                  <a:pt x="83344" y="6589"/>
                  <a:pt x="83344" y="25003"/>
                </a:cubicBezTo>
                <a:lnTo>
                  <a:pt x="83344" y="41672"/>
                </a:lnTo>
                <a:lnTo>
                  <a:pt x="41672" y="41672"/>
                </a:lnTo>
                <a:cubicBezTo>
                  <a:pt x="32478" y="41672"/>
                  <a:pt x="25003" y="49147"/>
                  <a:pt x="25003" y="58341"/>
                </a:cubicBezTo>
                <a:lnTo>
                  <a:pt x="25003" y="116681"/>
                </a:lnTo>
                <a:cubicBezTo>
                  <a:pt x="25003" y="125875"/>
                  <a:pt x="32478" y="133350"/>
                  <a:pt x="41672" y="133350"/>
                </a:cubicBezTo>
                <a:lnTo>
                  <a:pt x="108347" y="133350"/>
                </a:lnTo>
                <a:cubicBezTo>
                  <a:pt x="117541" y="133350"/>
                  <a:pt x="125016" y="125875"/>
                  <a:pt x="125016" y="116681"/>
                </a:cubicBezTo>
                <a:lnTo>
                  <a:pt x="125016" y="58341"/>
                </a:lnTo>
                <a:cubicBezTo>
                  <a:pt x="125016" y="49147"/>
                  <a:pt x="117541" y="41672"/>
                  <a:pt x="108347" y="41672"/>
                </a:cubicBezTo>
                <a:lnTo>
                  <a:pt x="100013" y="41672"/>
                </a:lnTo>
                <a:lnTo>
                  <a:pt x="100013" y="25003"/>
                </a:lnTo>
                <a:close/>
              </a:path>
            </a:pathLst>
          </a:custGeom>
          <a:solidFill>
            <a:srgbClr val="8B0000"/>
          </a:solidFill>
          <a:ln/>
        </p:spPr>
        <p:txBody>
          <a:bodyPr/>
          <a:lstStyle/>
          <a:p>
            <a:endParaRPr lang="en-US"/>
          </a:p>
        </p:txBody>
      </p:sp>
      <p:sp>
        <p:nvSpPr>
          <p:cNvPr id="16" name="Text 14"/>
          <p:cNvSpPr/>
          <p:nvPr/>
        </p:nvSpPr>
        <p:spPr>
          <a:xfrm>
            <a:off x="814388" y="3105150"/>
            <a:ext cx="1438275" cy="190500"/>
          </a:xfrm>
          <a:prstGeom prst="rect">
            <a:avLst/>
          </a:prstGeom>
          <a:noFill/>
          <a:ln/>
        </p:spPr>
        <p:txBody>
          <a:bodyPr wrap="square" lIns="0" tIns="0" rIns="0" bIns="0" rtlCol="0" anchor="ctr"/>
          <a:lstStyle/>
          <a:p>
            <a:pPr>
              <a:lnSpc>
                <a:spcPct val="120000"/>
              </a:lnSpc>
            </a:pPr>
            <a:r>
              <a:rPr lang="en-US" sz="1050" b="1" dirty="0">
                <a:solidFill>
                  <a:srgbClr val="1F2937"/>
                </a:solidFill>
                <a:latin typeface="Sorts Mill Goudy" pitchFamily="34" charset="0"/>
                <a:ea typeface="Sorts Mill Goudy" pitchFamily="34" charset="-122"/>
                <a:cs typeface="Sorts Mill Goudy" pitchFamily="34" charset="-120"/>
              </a:rPr>
              <a:t>Public</a:t>
            </a:r>
            <a:r>
              <a:rPr lang="en-US" sz="1050" dirty="0">
                <a:solidFill>
                  <a:srgbClr val="6B7280"/>
                </a:solidFill>
                <a:latin typeface="Sorts Mill Goudy" pitchFamily="34" charset="0"/>
                <a:ea typeface="Sorts Mill Goudy" pitchFamily="34" charset="-122"/>
                <a:cs typeface="Sorts Mill Goudy" pitchFamily="34" charset="-120"/>
              </a:rPr>
              <a:t> - Kaggle platform</a:t>
            </a:r>
            <a:endParaRPr lang="en-US" sz="1600" dirty="0"/>
          </a:p>
        </p:txBody>
      </p:sp>
      <p:sp>
        <p:nvSpPr>
          <p:cNvPr id="17" name="Shape 15"/>
          <p:cNvSpPr/>
          <p:nvPr/>
        </p:nvSpPr>
        <p:spPr>
          <a:xfrm>
            <a:off x="571500" y="3413760"/>
            <a:ext cx="3324225" cy="7620"/>
          </a:xfrm>
          <a:custGeom>
            <a:avLst/>
            <a:gdLst/>
            <a:ahLst/>
            <a:cxnLst/>
            <a:rect l="l" t="t" r="r" b="b"/>
            <a:pathLst>
              <a:path w="3324225" h="7620">
                <a:moveTo>
                  <a:pt x="0" y="0"/>
                </a:moveTo>
                <a:lnTo>
                  <a:pt x="3324225" y="0"/>
                </a:lnTo>
                <a:lnTo>
                  <a:pt x="3324225" y="7620"/>
                </a:lnTo>
                <a:lnTo>
                  <a:pt x="0" y="7620"/>
                </a:lnTo>
                <a:lnTo>
                  <a:pt x="0" y="0"/>
                </a:lnTo>
                <a:close/>
              </a:path>
            </a:pathLst>
          </a:custGeom>
          <a:solidFill>
            <a:srgbClr val="6B7280">
              <a:alpha val="20000"/>
            </a:srgbClr>
          </a:solidFill>
          <a:ln/>
        </p:spPr>
        <p:txBody>
          <a:bodyPr/>
          <a:lstStyle/>
          <a:p>
            <a:endParaRPr lang="en-US"/>
          </a:p>
        </p:txBody>
      </p:sp>
      <p:sp>
        <p:nvSpPr>
          <p:cNvPr id="18" name="Shape 16"/>
          <p:cNvSpPr/>
          <p:nvPr/>
        </p:nvSpPr>
        <p:spPr>
          <a:xfrm>
            <a:off x="585788" y="3539491"/>
            <a:ext cx="114300" cy="114300"/>
          </a:xfrm>
          <a:custGeom>
            <a:avLst/>
            <a:gdLst/>
            <a:ahLst/>
            <a:cxnLst/>
            <a:rect l="l" t="t" r="r" b="b"/>
            <a:pathLst>
              <a:path w="114300" h="114300">
                <a:moveTo>
                  <a:pt x="57150" y="114300"/>
                </a:moveTo>
                <a:cubicBezTo>
                  <a:pt x="88692" y="114300"/>
                  <a:pt x="114300" y="88692"/>
                  <a:pt x="114300" y="57150"/>
                </a:cubicBezTo>
                <a:cubicBezTo>
                  <a:pt x="114300" y="25608"/>
                  <a:pt x="88692" y="0"/>
                  <a:pt x="57150" y="0"/>
                </a:cubicBezTo>
                <a:cubicBezTo>
                  <a:pt x="25608" y="0"/>
                  <a:pt x="0" y="25608"/>
                  <a:pt x="0" y="57150"/>
                </a:cubicBezTo>
                <a:cubicBezTo>
                  <a:pt x="0" y="88692"/>
                  <a:pt x="25608" y="114300"/>
                  <a:pt x="57150" y="114300"/>
                </a:cubicBezTo>
                <a:close/>
                <a:moveTo>
                  <a:pt x="50006" y="35719"/>
                </a:moveTo>
                <a:cubicBezTo>
                  <a:pt x="50006" y="31776"/>
                  <a:pt x="53207" y="28575"/>
                  <a:pt x="57150" y="28575"/>
                </a:cubicBezTo>
                <a:cubicBezTo>
                  <a:pt x="61093" y="28575"/>
                  <a:pt x="64294" y="31776"/>
                  <a:pt x="64294" y="35719"/>
                </a:cubicBezTo>
                <a:cubicBezTo>
                  <a:pt x="64294" y="39661"/>
                  <a:pt x="61093" y="42863"/>
                  <a:pt x="57150" y="42863"/>
                </a:cubicBezTo>
                <a:cubicBezTo>
                  <a:pt x="53207" y="42863"/>
                  <a:pt x="50006" y="39661"/>
                  <a:pt x="50006" y="35719"/>
                </a:cubicBezTo>
                <a:close/>
                <a:moveTo>
                  <a:pt x="48220" y="50006"/>
                </a:moveTo>
                <a:lnTo>
                  <a:pt x="58936" y="50006"/>
                </a:lnTo>
                <a:cubicBezTo>
                  <a:pt x="61905" y="50006"/>
                  <a:pt x="64294" y="52395"/>
                  <a:pt x="64294" y="55364"/>
                </a:cubicBezTo>
                <a:lnTo>
                  <a:pt x="64294" y="75009"/>
                </a:lnTo>
                <a:lnTo>
                  <a:pt x="66080" y="75009"/>
                </a:lnTo>
                <a:cubicBezTo>
                  <a:pt x="69049" y="75009"/>
                  <a:pt x="71438" y="77398"/>
                  <a:pt x="71438" y="80367"/>
                </a:cubicBezTo>
                <a:cubicBezTo>
                  <a:pt x="71438" y="83336"/>
                  <a:pt x="69049" y="85725"/>
                  <a:pt x="66080" y="85725"/>
                </a:cubicBezTo>
                <a:lnTo>
                  <a:pt x="48220" y="85725"/>
                </a:lnTo>
                <a:cubicBezTo>
                  <a:pt x="45251" y="85725"/>
                  <a:pt x="42863" y="83336"/>
                  <a:pt x="42863" y="80367"/>
                </a:cubicBezTo>
                <a:cubicBezTo>
                  <a:pt x="42863" y="77398"/>
                  <a:pt x="45251" y="75009"/>
                  <a:pt x="48220" y="75009"/>
                </a:cubicBezTo>
                <a:lnTo>
                  <a:pt x="53578" y="75009"/>
                </a:lnTo>
                <a:lnTo>
                  <a:pt x="53578" y="60722"/>
                </a:lnTo>
                <a:lnTo>
                  <a:pt x="48220" y="60722"/>
                </a:lnTo>
                <a:cubicBezTo>
                  <a:pt x="45251" y="60722"/>
                  <a:pt x="42863" y="58333"/>
                  <a:pt x="42863" y="55364"/>
                </a:cubicBezTo>
                <a:cubicBezTo>
                  <a:pt x="42863" y="52395"/>
                  <a:pt x="45251" y="50006"/>
                  <a:pt x="48220" y="50006"/>
                </a:cubicBezTo>
                <a:close/>
              </a:path>
            </a:pathLst>
          </a:custGeom>
          <a:solidFill>
            <a:srgbClr val="8B0000"/>
          </a:solidFill>
          <a:ln/>
        </p:spPr>
        <p:txBody>
          <a:bodyPr/>
          <a:lstStyle/>
          <a:p>
            <a:endParaRPr lang="en-US"/>
          </a:p>
        </p:txBody>
      </p:sp>
      <p:sp>
        <p:nvSpPr>
          <p:cNvPr id="19" name="Text 17"/>
          <p:cNvSpPr/>
          <p:nvPr/>
        </p:nvSpPr>
        <p:spPr>
          <a:xfrm>
            <a:off x="742950" y="3531868"/>
            <a:ext cx="3209925" cy="152400"/>
          </a:xfrm>
          <a:prstGeom prst="rect">
            <a:avLst/>
          </a:prstGeom>
          <a:noFill/>
          <a:ln/>
        </p:spPr>
        <p:txBody>
          <a:bodyPr wrap="square" lIns="0" tIns="0" rIns="0" bIns="0" rtlCol="0" anchor="ctr"/>
          <a:lstStyle/>
          <a:p>
            <a:pPr>
              <a:lnSpc>
                <a:spcPct val="110000"/>
              </a:lnSpc>
            </a:pPr>
            <a:r>
              <a:rPr lang="en-US" sz="900" dirty="0">
                <a:solidFill>
                  <a:srgbClr val="6B7280"/>
                </a:solidFill>
                <a:latin typeface="Sorts Mill Goudy" pitchFamily="34" charset="0"/>
                <a:ea typeface="Sorts Mill Goudy" pitchFamily="34" charset="-122"/>
                <a:cs typeface="Sorts Mill Goudy" pitchFamily="34" charset="-120"/>
              </a:rPr>
              <a:t>Requires Kaggle login for download</a:t>
            </a:r>
            <a:endParaRPr lang="en-US" sz="1600" dirty="0"/>
          </a:p>
        </p:txBody>
      </p:sp>
      <p:sp>
        <p:nvSpPr>
          <p:cNvPr id="20" name="Shape 18"/>
          <p:cNvSpPr/>
          <p:nvPr/>
        </p:nvSpPr>
        <p:spPr>
          <a:xfrm>
            <a:off x="4241721" y="1352550"/>
            <a:ext cx="3705225" cy="2524125"/>
          </a:xfrm>
          <a:custGeom>
            <a:avLst/>
            <a:gdLst/>
            <a:ahLst/>
            <a:cxnLst/>
            <a:rect l="l" t="t" r="r" b="b"/>
            <a:pathLst>
              <a:path w="3705225" h="2524125">
                <a:moveTo>
                  <a:pt x="0" y="0"/>
                </a:moveTo>
                <a:lnTo>
                  <a:pt x="3705225" y="0"/>
                </a:lnTo>
                <a:lnTo>
                  <a:pt x="3705225" y="2524125"/>
                </a:lnTo>
                <a:lnTo>
                  <a:pt x="0" y="2524125"/>
                </a:lnTo>
                <a:lnTo>
                  <a:pt x="0" y="0"/>
                </a:lnTo>
                <a:close/>
              </a:path>
            </a:pathLst>
          </a:custGeom>
          <a:solidFill>
            <a:srgbClr val="F9FAFB"/>
          </a:solidFill>
          <a:ln/>
        </p:spPr>
        <p:txBody>
          <a:bodyPr/>
          <a:lstStyle/>
          <a:p>
            <a:endParaRPr lang="en-US"/>
          </a:p>
        </p:txBody>
      </p:sp>
      <p:sp>
        <p:nvSpPr>
          <p:cNvPr id="21" name="Shape 19"/>
          <p:cNvSpPr/>
          <p:nvPr/>
        </p:nvSpPr>
        <p:spPr>
          <a:xfrm>
            <a:off x="4241721" y="13525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1F2937"/>
          </a:solidFill>
          <a:ln/>
        </p:spPr>
        <p:txBody>
          <a:bodyPr/>
          <a:lstStyle/>
          <a:p>
            <a:endParaRPr lang="en-US"/>
          </a:p>
        </p:txBody>
      </p:sp>
      <p:sp>
        <p:nvSpPr>
          <p:cNvPr id="22" name="Shape 20"/>
          <p:cNvSpPr/>
          <p:nvPr/>
        </p:nvSpPr>
        <p:spPr>
          <a:xfrm>
            <a:off x="4470321" y="1562100"/>
            <a:ext cx="285750" cy="285750"/>
          </a:xfrm>
          <a:custGeom>
            <a:avLst/>
            <a:gdLst/>
            <a:ahLst/>
            <a:cxnLst/>
            <a:rect l="l" t="t" r="r" b="b"/>
            <a:pathLst>
              <a:path w="285750" h="285750">
                <a:moveTo>
                  <a:pt x="142875" y="78860"/>
                </a:moveTo>
                <a:lnTo>
                  <a:pt x="142875" y="251482"/>
                </a:lnTo>
                <a:lnTo>
                  <a:pt x="143154" y="251371"/>
                </a:lnTo>
                <a:cubicBezTo>
                  <a:pt x="173627" y="238702"/>
                  <a:pt x="206332" y="232172"/>
                  <a:pt x="239316" y="232172"/>
                </a:cubicBezTo>
                <a:lnTo>
                  <a:pt x="250031" y="232172"/>
                </a:lnTo>
                <a:lnTo>
                  <a:pt x="250031" y="53578"/>
                </a:lnTo>
                <a:lnTo>
                  <a:pt x="239316" y="53578"/>
                </a:lnTo>
                <a:cubicBezTo>
                  <a:pt x="215764" y="53578"/>
                  <a:pt x="192379" y="58266"/>
                  <a:pt x="170613" y="67308"/>
                </a:cubicBezTo>
                <a:cubicBezTo>
                  <a:pt x="161237" y="71214"/>
                  <a:pt x="151972" y="75065"/>
                  <a:pt x="142875" y="78860"/>
                </a:cubicBezTo>
                <a:close/>
                <a:moveTo>
                  <a:pt x="128867" y="34323"/>
                </a:moveTo>
                <a:lnTo>
                  <a:pt x="142875" y="40184"/>
                </a:lnTo>
                <a:lnTo>
                  <a:pt x="156883" y="34323"/>
                </a:lnTo>
                <a:cubicBezTo>
                  <a:pt x="183003" y="23440"/>
                  <a:pt x="211020" y="17859"/>
                  <a:pt x="239316" y="17859"/>
                </a:cubicBezTo>
                <a:lnTo>
                  <a:pt x="258961" y="17859"/>
                </a:lnTo>
                <a:cubicBezTo>
                  <a:pt x="273751" y="17859"/>
                  <a:pt x="285750" y="29859"/>
                  <a:pt x="285750" y="44648"/>
                </a:cubicBezTo>
                <a:lnTo>
                  <a:pt x="285750" y="241102"/>
                </a:lnTo>
                <a:cubicBezTo>
                  <a:pt x="285750" y="255891"/>
                  <a:pt x="273751" y="267891"/>
                  <a:pt x="258961" y="267891"/>
                </a:cubicBezTo>
                <a:lnTo>
                  <a:pt x="239316" y="267891"/>
                </a:lnTo>
                <a:cubicBezTo>
                  <a:pt x="211020" y="267891"/>
                  <a:pt x="183003" y="273472"/>
                  <a:pt x="156883" y="284355"/>
                </a:cubicBezTo>
                <a:lnTo>
                  <a:pt x="149740" y="287313"/>
                </a:lnTo>
                <a:cubicBezTo>
                  <a:pt x="145331" y="289154"/>
                  <a:pt x="140419" y="289154"/>
                  <a:pt x="136010" y="287313"/>
                </a:cubicBezTo>
                <a:lnTo>
                  <a:pt x="128867" y="284355"/>
                </a:lnTo>
                <a:cubicBezTo>
                  <a:pt x="102747" y="273472"/>
                  <a:pt x="74730" y="267891"/>
                  <a:pt x="46434" y="267891"/>
                </a:cubicBezTo>
                <a:lnTo>
                  <a:pt x="26789" y="267891"/>
                </a:lnTo>
                <a:cubicBezTo>
                  <a:pt x="11999" y="267891"/>
                  <a:pt x="0" y="255891"/>
                  <a:pt x="0" y="241102"/>
                </a:cubicBezTo>
                <a:lnTo>
                  <a:pt x="0" y="44648"/>
                </a:lnTo>
                <a:cubicBezTo>
                  <a:pt x="0" y="29859"/>
                  <a:pt x="11999" y="17859"/>
                  <a:pt x="26789" y="17859"/>
                </a:cubicBezTo>
                <a:lnTo>
                  <a:pt x="46434" y="17859"/>
                </a:lnTo>
                <a:cubicBezTo>
                  <a:pt x="74730" y="17859"/>
                  <a:pt x="102747" y="23440"/>
                  <a:pt x="128867" y="34323"/>
                </a:cubicBezTo>
                <a:close/>
              </a:path>
            </a:pathLst>
          </a:custGeom>
          <a:solidFill>
            <a:srgbClr val="1F2937"/>
          </a:solidFill>
          <a:ln/>
        </p:spPr>
        <p:txBody>
          <a:bodyPr/>
          <a:lstStyle/>
          <a:p>
            <a:endParaRPr lang="en-US"/>
          </a:p>
        </p:txBody>
      </p:sp>
      <p:sp>
        <p:nvSpPr>
          <p:cNvPr id="23" name="Text 21"/>
          <p:cNvSpPr/>
          <p:nvPr/>
        </p:nvSpPr>
        <p:spPr>
          <a:xfrm>
            <a:off x="4903708" y="1571625"/>
            <a:ext cx="18573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Quick Flip Questions</a:t>
            </a:r>
            <a:endParaRPr lang="en-US" sz="1600" dirty="0"/>
          </a:p>
        </p:txBody>
      </p:sp>
      <p:sp>
        <p:nvSpPr>
          <p:cNvPr id="24" name="Text 22"/>
          <p:cNvSpPr/>
          <p:nvPr/>
        </p:nvSpPr>
        <p:spPr>
          <a:xfrm>
            <a:off x="4432221" y="1962150"/>
            <a:ext cx="34004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Revised Bloom's Taxonomy</a:t>
            </a:r>
            <a:endParaRPr lang="en-US" sz="1600" dirty="0"/>
          </a:p>
        </p:txBody>
      </p:sp>
      <p:sp>
        <p:nvSpPr>
          <p:cNvPr id="25" name="Text 23"/>
          <p:cNvSpPr/>
          <p:nvPr/>
        </p:nvSpPr>
        <p:spPr>
          <a:xfrm>
            <a:off x="4432221" y="2266950"/>
            <a:ext cx="33909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Reference dataset of prototypical question stems</a:t>
            </a:r>
            <a:endParaRPr lang="en-US" sz="1600" dirty="0"/>
          </a:p>
        </p:txBody>
      </p:sp>
      <p:sp>
        <p:nvSpPr>
          <p:cNvPr id="26" name="Shape 24"/>
          <p:cNvSpPr/>
          <p:nvPr/>
        </p:nvSpPr>
        <p:spPr>
          <a:xfrm>
            <a:off x="4451271" y="2609850"/>
            <a:ext cx="133350" cy="133350"/>
          </a:xfrm>
          <a:custGeom>
            <a:avLst/>
            <a:gdLst/>
            <a:ahLst/>
            <a:cxnLst/>
            <a:rect l="l" t="t" r="r" b="b"/>
            <a:pathLst>
              <a:path w="133350" h="133350">
                <a:moveTo>
                  <a:pt x="10418" y="12502"/>
                </a:moveTo>
                <a:cubicBezTo>
                  <a:pt x="6954" y="12502"/>
                  <a:pt x="4167" y="15288"/>
                  <a:pt x="4167" y="18752"/>
                </a:cubicBezTo>
                <a:lnTo>
                  <a:pt x="4167" y="31254"/>
                </a:lnTo>
                <a:cubicBezTo>
                  <a:pt x="4167" y="34718"/>
                  <a:pt x="6954" y="37505"/>
                  <a:pt x="10418" y="37505"/>
                </a:cubicBezTo>
                <a:lnTo>
                  <a:pt x="22920" y="37505"/>
                </a:lnTo>
                <a:cubicBezTo>
                  <a:pt x="26384" y="37505"/>
                  <a:pt x="29170" y="34718"/>
                  <a:pt x="29170" y="31254"/>
                </a:cubicBezTo>
                <a:lnTo>
                  <a:pt x="29170" y="18752"/>
                </a:lnTo>
                <a:cubicBezTo>
                  <a:pt x="29170" y="15288"/>
                  <a:pt x="26384" y="12502"/>
                  <a:pt x="22920" y="12502"/>
                </a:cubicBezTo>
                <a:lnTo>
                  <a:pt x="10418" y="12502"/>
                </a:lnTo>
                <a:close/>
                <a:moveTo>
                  <a:pt x="50006" y="16669"/>
                </a:moveTo>
                <a:cubicBezTo>
                  <a:pt x="45396" y="16669"/>
                  <a:pt x="41672" y="20393"/>
                  <a:pt x="41672" y="25003"/>
                </a:cubicBezTo>
                <a:cubicBezTo>
                  <a:pt x="41672" y="29613"/>
                  <a:pt x="45396" y="33337"/>
                  <a:pt x="50006" y="33337"/>
                </a:cubicBezTo>
                <a:lnTo>
                  <a:pt x="125016" y="33337"/>
                </a:lnTo>
                <a:cubicBezTo>
                  <a:pt x="129626" y="33337"/>
                  <a:pt x="133350" y="29613"/>
                  <a:pt x="133350" y="25003"/>
                </a:cubicBezTo>
                <a:cubicBezTo>
                  <a:pt x="133350" y="20393"/>
                  <a:pt x="129626" y="16669"/>
                  <a:pt x="125016" y="16669"/>
                </a:cubicBezTo>
                <a:lnTo>
                  <a:pt x="50006" y="16669"/>
                </a:lnTo>
                <a:close/>
                <a:moveTo>
                  <a:pt x="50006" y="58341"/>
                </a:moveTo>
                <a:cubicBezTo>
                  <a:pt x="45396" y="58341"/>
                  <a:pt x="41672" y="62065"/>
                  <a:pt x="41672" y="66675"/>
                </a:cubicBezTo>
                <a:cubicBezTo>
                  <a:pt x="41672" y="71285"/>
                  <a:pt x="45396" y="75009"/>
                  <a:pt x="50006" y="75009"/>
                </a:cubicBezTo>
                <a:lnTo>
                  <a:pt x="125016" y="75009"/>
                </a:lnTo>
                <a:cubicBezTo>
                  <a:pt x="129626" y="75009"/>
                  <a:pt x="133350" y="71285"/>
                  <a:pt x="133350" y="66675"/>
                </a:cubicBezTo>
                <a:cubicBezTo>
                  <a:pt x="133350" y="62065"/>
                  <a:pt x="129626" y="58341"/>
                  <a:pt x="125016" y="58341"/>
                </a:cubicBezTo>
                <a:lnTo>
                  <a:pt x="50006" y="58341"/>
                </a:lnTo>
                <a:close/>
                <a:moveTo>
                  <a:pt x="50006" y="100013"/>
                </a:moveTo>
                <a:cubicBezTo>
                  <a:pt x="45396" y="100013"/>
                  <a:pt x="41672" y="103737"/>
                  <a:pt x="41672" y="108347"/>
                </a:cubicBezTo>
                <a:cubicBezTo>
                  <a:pt x="41672" y="112957"/>
                  <a:pt x="45396" y="116681"/>
                  <a:pt x="50006" y="116681"/>
                </a:cubicBezTo>
                <a:lnTo>
                  <a:pt x="125016" y="116681"/>
                </a:lnTo>
                <a:cubicBezTo>
                  <a:pt x="129626" y="116681"/>
                  <a:pt x="133350" y="112957"/>
                  <a:pt x="133350" y="108347"/>
                </a:cubicBezTo>
                <a:cubicBezTo>
                  <a:pt x="133350" y="103737"/>
                  <a:pt x="129626" y="100013"/>
                  <a:pt x="125016" y="100013"/>
                </a:cubicBezTo>
                <a:lnTo>
                  <a:pt x="50006" y="100013"/>
                </a:lnTo>
                <a:close/>
                <a:moveTo>
                  <a:pt x="4167" y="60424"/>
                </a:moveTo>
                <a:lnTo>
                  <a:pt x="4167" y="72926"/>
                </a:lnTo>
                <a:cubicBezTo>
                  <a:pt x="4167" y="76390"/>
                  <a:pt x="6954" y="79177"/>
                  <a:pt x="10418" y="79177"/>
                </a:cubicBezTo>
                <a:lnTo>
                  <a:pt x="22920" y="79177"/>
                </a:lnTo>
                <a:cubicBezTo>
                  <a:pt x="26384" y="79177"/>
                  <a:pt x="29170" y="76390"/>
                  <a:pt x="29170" y="72926"/>
                </a:cubicBezTo>
                <a:lnTo>
                  <a:pt x="29170" y="60424"/>
                </a:lnTo>
                <a:cubicBezTo>
                  <a:pt x="29170" y="56960"/>
                  <a:pt x="26384" y="54173"/>
                  <a:pt x="22920" y="54173"/>
                </a:cubicBezTo>
                <a:lnTo>
                  <a:pt x="10418" y="54173"/>
                </a:lnTo>
                <a:cubicBezTo>
                  <a:pt x="6954" y="54173"/>
                  <a:pt x="4167" y="56960"/>
                  <a:pt x="4167" y="60424"/>
                </a:cubicBezTo>
                <a:close/>
                <a:moveTo>
                  <a:pt x="10418" y="95845"/>
                </a:moveTo>
                <a:cubicBezTo>
                  <a:pt x="6954" y="95845"/>
                  <a:pt x="4167" y="98632"/>
                  <a:pt x="4167" y="102096"/>
                </a:cubicBezTo>
                <a:lnTo>
                  <a:pt x="4167" y="114598"/>
                </a:lnTo>
                <a:cubicBezTo>
                  <a:pt x="4167" y="118062"/>
                  <a:pt x="6954" y="120848"/>
                  <a:pt x="10418" y="120848"/>
                </a:cubicBezTo>
                <a:lnTo>
                  <a:pt x="22920" y="120848"/>
                </a:lnTo>
                <a:cubicBezTo>
                  <a:pt x="26384" y="120848"/>
                  <a:pt x="29170" y="118062"/>
                  <a:pt x="29170" y="114598"/>
                </a:cubicBezTo>
                <a:lnTo>
                  <a:pt x="29170" y="102096"/>
                </a:lnTo>
                <a:cubicBezTo>
                  <a:pt x="29170" y="98632"/>
                  <a:pt x="26384" y="95845"/>
                  <a:pt x="22920" y="95845"/>
                </a:cubicBezTo>
                <a:lnTo>
                  <a:pt x="10418" y="95845"/>
                </a:lnTo>
                <a:close/>
              </a:path>
            </a:pathLst>
          </a:custGeom>
          <a:solidFill>
            <a:srgbClr val="1F2937"/>
          </a:solidFill>
          <a:ln/>
        </p:spPr>
        <p:txBody>
          <a:bodyPr/>
          <a:lstStyle/>
          <a:p>
            <a:endParaRPr lang="en-US"/>
          </a:p>
        </p:txBody>
      </p:sp>
      <p:sp>
        <p:nvSpPr>
          <p:cNvPr id="27" name="Text 25"/>
          <p:cNvSpPr/>
          <p:nvPr/>
        </p:nvSpPr>
        <p:spPr>
          <a:xfrm>
            <a:off x="4675108" y="2571750"/>
            <a:ext cx="280987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Question prompts categorized by cognitive level</a:t>
            </a:r>
            <a:endParaRPr lang="en-US" sz="1600" dirty="0"/>
          </a:p>
        </p:txBody>
      </p:sp>
      <p:sp>
        <p:nvSpPr>
          <p:cNvPr id="28" name="Shape 26"/>
          <p:cNvSpPr/>
          <p:nvPr/>
        </p:nvSpPr>
        <p:spPr>
          <a:xfrm>
            <a:off x="4442936" y="2876550"/>
            <a:ext cx="150019" cy="133350"/>
          </a:xfrm>
          <a:custGeom>
            <a:avLst/>
            <a:gdLst/>
            <a:ahLst/>
            <a:cxnLst/>
            <a:rect l="l" t="t" r="r" b="b"/>
            <a:pathLst>
              <a:path w="150019" h="133350">
                <a:moveTo>
                  <a:pt x="12502" y="50996"/>
                </a:moveTo>
                <a:lnTo>
                  <a:pt x="66988" y="73421"/>
                </a:lnTo>
                <a:cubicBezTo>
                  <a:pt x="69540" y="74462"/>
                  <a:pt x="72249" y="75009"/>
                  <a:pt x="75009" y="75009"/>
                </a:cubicBezTo>
                <a:cubicBezTo>
                  <a:pt x="77770" y="75009"/>
                  <a:pt x="80479" y="74462"/>
                  <a:pt x="83031" y="73421"/>
                </a:cubicBezTo>
                <a:lnTo>
                  <a:pt x="146164" y="47428"/>
                </a:lnTo>
                <a:cubicBezTo>
                  <a:pt x="148508" y="46464"/>
                  <a:pt x="150019" y="44198"/>
                  <a:pt x="150019" y="41672"/>
                </a:cubicBezTo>
                <a:cubicBezTo>
                  <a:pt x="150019" y="39146"/>
                  <a:pt x="148508" y="36880"/>
                  <a:pt x="146164" y="35916"/>
                </a:cubicBezTo>
                <a:lnTo>
                  <a:pt x="83031" y="9923"/>
                </a:lnTo>
                <a:cubicBezTo>
                  <a:pt x="80479" y="8881"/>
                  <a:pt x="77770" y="8334"/>
                  <a:pt x="75009" y="8334"/>
                </a:cubicBezTo>
                <a:cubicBezTo>
                  <a:pt x="72249" y="8334"/>
                  <a:pt x="69540" y="8881"/>
                  <a:pt x="66988" y="9923"/>
                </a:cubicBezTo>
                <a:lnTo>
                  <a:pt x="3855" y="35916"/>
                </a:lnTo>
                <a:cubicBezTo>
                  <a:pt x="1511" y="36880"/>
                  <a:pt x="0" y="39146"/>
                  <a:pt x="0" y="41672"/>
                </a:cubicBezTo>
                <a:lnTo>
                  <a:pt x="0" y="118765"/>
                </a:lnTo>
                <a:cubicBezTo>
                  <a:pt x="0" y="122229"/>
                  <a:pt x="2787" y="125016"/>
                  <a:pt x="6251" y="125016"/>
                </a:cubicBezTo>
                <a:cubicBezTo>
                  <a:pt x="9715" y="125016"/>
                  <a:pt x="12502" y="122229"/>
                  <a:pt x="12502" y="118765"/>
                </a:cubicBezTo>
                <a:lnTo>
                  <a:pt x="12502" y="50996"/>
                </a:lnTo>
                <a:close/>
                <a:moveTo>
                  <a:pt x="25003" y="69670"/>
                </a:moveTo>
                <a:lnTo>
                  <a:pt x="25003" y="100013"/>
                </a:lnTo>
                <a:cubicBezTo>
                  <a:pt x="25003" y="113816"/>
                  <a:pt x="47402" y="125016"/>
                  <a:pt x="75009" y="125016"/>
                </a:cubicBezTo>
                <a:cubicBezTo>
                  <a:pt x="102617" y="125016"/>
                  <a:pt x="125016" y="113816"/>
                  <a:pt x="125016" y="100013"/>
                </a:cubicBezTo>
                <a:lnTo>
                  <a:pt x="125016" y="69644"/>
                </a:lnTo>
                <a:lnTo>
                  <a:pt x="87797" y="84985"/>
                </a:lnTo>
                <a:cubicBezTo>
                  <a:pt x="83734" y="86651"/>
                  <a:pt x="79411" y="87511"/>
                  <a:pt x="75009" y="87511"/>
                </a:cubicBezTo>
                <a:cubicBezTo>
                  <a:pt x="70608" y="87511"/>
                  <a:pt x="66284" y="86651"/>
                  <a:pt x="62221" y="84985"/>
                </a:cubicBezTo>
                <a:lnTo>
                  <a:pt x="25003" y="69644"/>
                </a:lnTo>
                <a:close/>
              </a:path>
            </a:pathLst>
          </a:custGeom>
          <a:solidFill>
            <a:srgbClr val="1F2937"/>
          </a:solidFill>
          <a:ln/>
        </p:spPr>
        <p:txBody>
          <a:bodyPr/>
          <a:lstStyle/>
          <a:p>
            <a:endParaRPr lang="en-US"/>
          </a:p>
        </p:txBody>
      </p:sp>
      <p:sp>
        <p:nvSpPr>
          <p:cNvPr id="29" name="Text 27"/>
          <p:cNvSpPr/>
          <p:nvPr/>
        </p:nvSpPr>
        <p:spPr>
          <a:xfrm>
            <a:off x="4675108" y="2838450"/>
            <a:ext cx="20764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From Edupress Quick Flip (EP-729)</a:t>
            </a:r>
            <a:endParaRPr lang="en-US" sz="1600" dirty="0"/>
          </a:p>
        </p:txBody>
      </p:sp>
      <p:sp>
        <p:nvSpPr>
          <p:cNvPr id="30" name="Shape 28"/>
          <p:cNvSpPr/>
          <p:nvPr/>
        </p:nvSpPr>
        <p:spPr>
          <a:xfrm>
            <a:off x="4451271" y="3143250"/>
            <a:ext cx="133350" cy="133350"/>
          </a:xfrm>
          <a:custGeom>
            <a:avLst/>
            <a:gdLst/>
            <a:ahLst/>
            <a:cxnLst/>
            <a:rect l="l" t="t" r="r" b="b"/>
            <a:pathLst>
              <a:path w="133350" h="133350">
                <a:moveTo>
                  <a:pt x="91652" y="72926"/>
                </a:moveTo>
                <a:lnTo>
                  <a:pt x="41932" y="72926"/>
                </a:lnTo>
                <a:cubicBezTo>
                  <a:pt x="42688" y="89725"/>
                  <a:pt x="46412" y="105195"/>
                  <a:pt x="51699" y="116525"/>
                </a:cubicBezTo>
                <a:cubicBezTo>
                  <a:pt x="54668" y="122906"/>
                  <a:pt x="57872" y="127412"/>
                  <a:pt x="60841" y="130173"/>
                </a:cubicBezTo>
                <a:cubicBezTo>
                  <a:pt x="63758" y="132907"/>
                  <a:pt x="65763" y="133350"/>
                  <a:pt x="66805" y="133350"/>
                </a:cubicBezTo>
                <a:cubicBezTo>
                  <a:pt x="67847" y="133350"/>
                  <a:pt x="69852" y="132907"/>
                  <a:pt x="72770" y="130173"/>
                </a:cubicBezTo>
                <a:cubicBezTo>
                  <a:pt x="75739" y="127412"/>
                  <a:pt x="78942" y="122880"/>
                  <a:pt x="81911" y="116525"/>
                </a:cubicBezTo>
                <a:cubicBezTo>
                  <a:pt x="87198" y="105195"/>
                  <a:pt x="90923" y="89725"/>
                  <a:pt x="91678" y="72926"/>
                </a:cubicBezTo>
                <a:close/>
                <a:moveTo>
                  <a:pt x="41906" y="60424"/>
                </a:moveTo>
                <a:lnTo>
                  <a:pt x="91626" y="60424"/>
                </a:lnTo>
                <a:cubicBezTo>
                  <a:pt x="90897" y="43625"/>
                  <a:pt x="87172" y="28155"/>
                  <a:pt x="81885" y="16825"/>
                </a:cubicBezTo>
                <a:cubicBezTo>
                  <a:pt x="78916" y="10470"/>
                  <a:pt x="75713" y="5938"/>
                  <a:pt x="72743" y="3177"/>
                </a:cubicBezTo>
                <a:cubicBezTo>
                  <a:pt x="69826" y="443"/>
                  <a:pt x="67821" y="0"/>
                  <a:pt x="66779" y="0"/>
                </a:cubicBezTo>
                <a:cubicBezTo>
                  <a:pt x="65737" y="0"/>
                  <a:pt x="63732" y="443"/>
                  <a:pt x="60815" y="3177"/>
                </a:cubicBezTo>
                <a:cubicBezTo>
                  <a:pt x="57846" y="5938"/>
                  <a:pt x="54642" y="10470"/>
                  <a:pt x="51673" y="16825"/>
                </a:cubicBezTo>
                <a:cubicBezTo>
                  <a:pt x="46386" y="28155"/>
                  <a:pt x="42662" y="43625"/>
                  <a:pt x="41906" y="60424"/>
                </a:cubicBezTo>
                <a:close/>
                <a:moveTo>
                  <a:pt x="29405" y="60424"/>
                </a:moveTo>
                <a:cubicBezTo>
                  <a:pt x="30316" y="38130"/>
                  <a:pt x="36072" y="17424"/>
                  <a:pt x="44485" y="3829"/>
                </a:cubicBezTo>
                <a:cubicBezTo>
                  <a:pt x="20497" y="12319"/>
                  <a:pt x="2839" y="34171"/>
                  <a:pt x="391" y="60424"/>
                </a:cubicBezTo>
                <a:lnTo>
                  <a:pt x="29405" y="60424"/>
                </a:lnTo>
                <a:close/>
                <a:moveTo>
                  <a:pt x="391" y="72926"/>
                </a:moveTo>
                <a:cubicBezTo>
                  <a:pt x="2839" y="99179"/>
                  <a:pt x="20497" y="121031"/>
                  <a:pt x="44485" y="129521"/>
                </a:cubicBezTo>
                <a:cubicBezTo>
                  <a:pt x="36072" y="115926"/>
                  <a:pt x="30316" y="95220"/>
                  <a:pt x="29405" y="72926"/>
                </a:cubicBezTo>
                <a:lnTo>
                  <a:pt x="391" y="72926"/>
                </a:lnTo>
                <a:close/>
                <a:moveTo>
                  <a:pt x="104154" y="72926"/>
                </a:moveTo>
                <a:cubicBezTo>
                  <a:pt x="103242" y="95220"/>
                  <a:pt x="97486" y="115926"/>
                  <a:pt x="89074" y="129521"/>
                </a:cubicBezTo>
                <a:cubicBezTo>
                  <a:pt x="113061" y="121005"/>
                  <a:pt x="130719" y="99179"/>
                  <a:pt x="133168" y="72926"/>
                </a:cubicBezTo>
                <a:lnTo>
                  <a:pt x="104154" y="72926"/>
                </a:lnTo>
                <a:close/>
                <a:moveTo>
                  <a:pt x="133168" y="60424"/>
                </a:moveTo>
                <a:cubicBezTo>
                  <a:pt x="130719" y="34171"/>
                  <a:pt x="113061" y="12319"/>
                  <a:pt x="89074" y="3829"/>
                </a:cubicBezTo>
                <a:cubicBezTo>
                  <a:pt x="97486" y="17424"/>
                  <a:pt x="103242" y="38130"/>
                  <a:pt x="104154" y="60424"/>
                </a:cubicBezTo>
                <a:lnTo>
                  <a:pt x="133168" y="60424"/>
                </a:lnTo>
                <a:close/>
              </a:path>
            </a:pathLst>
          </a:custGeom>
          <a:solidFill>
            <a:srgbClr val="1F2937"/>
          </a:solidFill>
          <a:ln/>
        </p:spPr>
        <p:txBody>
          <a:bodyPr/>
          <a:lstStyle/>
          <a:p>
            <a:endParaRPr lang="en-US"/>
          </a:p>
        </p:txBody>
      </p:sp>
      <p:sp>
        <p:nvSpPr>
          <p:cNvPr id="31" name="Text 29"/>
          <p:cNvSpPr/>
          <p:nvPr/>
        </p:nvSpPr>
        <p:spPr>
          <a:xfrm>
            <a:off x="4675108" y="3105150"/>
            <a:ext cx="2581275" cy="190500"/>
          </a:xfrm>
          <a:prstGeom prst="rect">
            <a:avLst/>
          </a:prstGeom>
          <a:noFill/>
          <a:ln/>
        </p:spPr>
        <p:txBody>
          <a:bodyPr wrap="square" lIns="0" tIns="0" rIns="0" bIns="0" rtlCol="0" anchor="ctr"/>
          <a:lstStyle/>
          <a:p>
            <a:pPr>
              <a:lnSpc>
                <a:spcPct val="120000"/>
              </a:lnSpc>
            </a:pPr>
            <a:r>
              <a:rPr lang="en-US" sz="1050" b="1" dirty="0">
                <a:solidFill>
                  <a:srgbClr val="1F2937"/>
                </a:solidFill>
                <a:latin typeface="Sorts Mill Goudy" pitchFamily="34" charset="0"/>
                <a:ea typeface="Sorts Mill Goudy" pitchFamily="34" charset="-122"/>
                <a:cs typeface="Sorts Mill Goudy" pitchFamily="34" charset="-120"/>
              </a:rPr>
              <a:t>Public domain</a:t>
            </a:r>
            <a:r>
              <a:rPr lang="en-US" sz="1050" dirty="0">
                <a:solidFill>
                  <a:srgbClr val="6B7280"/>
                </a:solidFill>
                <a:latin typeface="Sorts Mill Goudy" pitchFamily="34" charset="0"/>
                <a:ea typeface="Sorts Mill Goudy" pitchFamily="34" charset="-122"/>
                <a:cs typeface="Sorts Mill Goudy" pitchFamily="34" charset="-120"/>
              </a:rPr>
              <a:t> - Widely shared by educators</a:t>
            </a:r>
            <a:endParaRPr lang="en-US" sz="1600" dirty="0"/>
          </a:p>
        </p:txBody>
      </p:sp>
      <p:sp>
        <p:nvSpPr>
          <p:cNvPr id="32" name="Shape 30"/>
          <p:cNvSpPr/>
          <p:nvPr/>
        </p:nvSpPr>
        <p:spPr>
          <a:xfrm>
            <a:off x="4432221" y="3413760"/>
            <a:ext cx="3324225" cy="7620"/>
          </a:xfrm>
          <a:custGeom>
            <a:avLst/>
            <a:gdLst/>
            <a:ahLst/>
            <a:cxnLst/>
            <a:rect l="l" t="t" r="r" b="b"/>
            <a:pathLst>
              <a:path w="3324225" h="7620">
                <a:moveTo>
                  <a:pt x="0" y="0"/>
                </a:moveTo>
                <a:lnTo>
                  <a:pt x="3324225" y="0"/>
                </a:lnTo>
                <a:lnTo>
                  <a:pt x="3324225" y="7620"/>
                </a:lnTo>
                <a:lnTo>
                  <a:pt x="0" y="7620"/>
                </a:lnTo>
                <a:lnTo>
                  <a:pt x="0" y="0"/>
                </a:lnTo>
                <a:close/>
              </a:path>
            </a:pathLst>
          </a:custGeom>
          <a:solidFill>
            <a:srgbClr val="6B7280">
              <a:alpha val="20000"/>
            </a:srgbClr>
          </a:solidFill>
          <a:ln/>
        </p:spPr>
        <p:txBody>
          <a:bodyPr/>
          <a:lstStyle/>
          <a:p>
            <a:endParaRPr lang="en-US"/>
          </a:p>
        </p:txBody>
      </p:sp>
      <p:sp>
        <p:nvSpPr>
          <p:cNvPr id="33" name="Shape 31"/>
          <p:cNvSpPr/>
          <p:nvPr/>
        </p:nvSpPr>
        <p:spPr>
          <a:xfrm>
            <a:off x="4432221" y="3539491"/>
            <a:ext cx="142875" cy="114300"/>
          </a:xfrm>
          <a:custGeom>
            <a:avLst/>
            <a:gdLst/>
            <a:ahLst/>
            <a:cxnLst/>
            <a:rect l="l" t="t" r="r" b="b"/>
            <a:pathLst>
              <a:path w="142875" h="114300">
                <a:moveTo>
                  <a:pt x="28575" y="21431"/>
                </a:moveTo>
                <a:cubicBezTo>
                  <a:pt x="28575" y="13551"/>
                  <a:pt x="34982" y="7144"/>
                  <a:pt x="42863" y="7144"/>
                </a:cubicBezTo>
                <a:lnTo>
                  <a:pt x="121444" y="7144"/>
                </a:lnTo>
                <a:cubicBezTo>
                  <a:pt x="129324" y="7144"/>
                  <a:pt x="135731" y="13551"/>
                  <a:pt x="135731" y="21431"/>
                </a:cubicBezTo>
                <a:lnTo>
                  <a:pt x="135731" y="75009"/>
                </a:lnTo>
                <a:lnTo>
                  <a:pt x="114300" y="75009"/>
                </a:lnTo>
                <a:lnTo>
                  <a:pt x="114300" y="71438"/>
                </a:lnTo>
                <a:cubicBezTo>
                  <a:pt x="114300" y="67486"/>
                  <a:pt x="111108" y="64294"/>
                  <a:pt x="107156" y="64294"/>
                </a:cubicBezTo>
                <a:lnTo>
                  <a:pt x="92869" y="64294"/>
                </a:lnTo>
                <a:cubicBezTo>
                  <a:pt x="88917" y="64294"/>
                  <a:pt x="85725" y="67486"/>
                  <a:pt x="85725" y="71438"/>
                </a:cubicBezTo>
                <a:lnTo>
                  <a:pt x="85725" y="75009"/>
                </a:lnTo>
                <a:lnTo>
                  <a:pt x="56904" y="75009"/>
                </a:lnTo>
                <a:cubicBezTo>
                  <a:pt x="59338" y="70812"/>
                  <a:pt x="60722" y="65923"/>
                  <a:pt x="60722" y="60722"/>
                </a:cubicBezTo>
                <a:cubicBezTo>
                  <a:pt x="60722" y="44939"/>
                  <a:pt x="47930" y="32147"/>
                  <a:pt x="32147" y="32147"/>
                </a:cubicBezTo>
                <a:cubicBezTo>
                  <a:pt x="30941" y="32147"/>
                  <a:pt x="29736" y="32214"/>
                  <a:pt x="28575" y="32370"/>
                </a:cubicBezTo>
                <a:lnTo>
                  <a:pt x="28575" y="21431"/>
                </a:lnTo>
                <a:close/>
                <a:moveTo>
                  <a:pt x="74340" y="100013"/>
                </a:moveTo>
                <a:cubicBezTo>
                  <a:pt x="73201" y="94610"/>
                  <a:pt x="70701" y="89721"/>
                  <a:pt x="67174" y="85725"/>
                </a:cubicBezTo>
                <a:lnTo>
                  <a:pt x="135731" y="85725"/>
                </a:lnTo>
                <a:cubicBezTo>
                  <a:pt x="135731" y="93605"/>
                  <a:pt x="129324" y="100013"/>
                  <a:pt x="121444" y="100013"/>
                </a:cubicBezTo>
                <a:lnTo>
                  <a:pt x="74340" y="100013"/>
                </a:lnTo>
                <a:close/>
                <a:moveTo>
                  <a:pt x="14288" y="60722"/>
                </a:moveTo>
                <a:cubicBezTo>
                  <a:pt x="14288" y="50865"/>
                  <a:pt x="22290" y="42863"/>
                  <a:pt x="32147" y="42863"/>
                </a:cubicBezTo>
                <a:cubicBezTo>
                  <a:pt x="42004" y="42863"/>
                  <a:pt x="50006" y="50865"/>
                  <a:pt x="50006" y="60722"/>
                </a:cubicBezTo>
                <a:cubicBezTo>
                  <a:pt x="50006" y="70579"/>
                  <a:pt x="42004" y="78581"/>
                  <a:pt x="32147" y="78581"/>
                </a:cubicBezTo>
                <a:cubicBezTo>
                  <a:pt x="22290" y="78581"/>
                  <a:pt x="14288" y="70579"/>
                  <a:pt x="14288" y="60722"/>
                </a:cubicBezTo>
                <a:close/>
                <a:moveTo>
                  <a:pt x="0" y="107156"/>
                </a:moveTo>
                <a:cubicBezTo>
                  <a:pt x="0" y="95324"/>
                  <a:pt x="9599" y="85725"/>
                  <a:pt x="21431" y="85725"/>
                </a:cubicBezTo>
                <a:lnTo>
                  <a:pt x="42863" y="85725"/>
                </a:lnTo>
                <a:cubicBezTo>
                  <a:pt x="54694" y="85725"/>
                  <a:pt x="64294" y="95324"/>
                  <a:pt x="64294" y="107156"/>
                </a:cubicBezTo>
                <a:cubicBezTo>
                  <a:pt x="64294" y="111108"/>
                  <a:pt x="61101" y="114300"/>
                  <a:pt x="57150" y="114300"/>
                </a:cubicBezTo>
                <a:lnTo>
                  <a:pt x="7144" y="114300"/>
                </a:lnTo>
                <a:cubicBezTo>
                  <a:pt x="3192" y="114300"/>
                  <a:pt x="0" y="111108"/>
                  <a:pt x="0" y="107156"/>
                </a:cubicBezTo>
                <a:close/>
              </a:path>
            </a:pathLst>
          </a:custGeom>
          <a:solidFill>
            <a:srgbClr val="1F2937"/>
          </a:solidFill>
          <a:ln/>
        </p:spPr>
        <p:txBody>
          <a:bodyPr/>
          <a:lstStyle/>
          <a:p>
            <a:endParaRPr lang="en-US"/>
          </a:p>
        </p:txBody>
      </p:sp>
      <p:sp>
        <p:nvSpPr>
          <p:cNvPr id="34" name="Text 32"/>
          <p:cNvSpPr/>
          <p:nvPr/>
        </p:nvSpPr>
        <p:spPr>
          <a:xfrm>
            <a:off x="4603671" y="3531868"/>
            <a:ext cx="3209925" cy="152400"/>
          </a:xfrm>
          <a:prstGeom prst="rect">
            <a:avLst/>
          </a:prstGeom>
          <a:noFill/>
          <a:ln/>
        </p:spPr>
        <p:txBody>
          <a:bodyPr wrap="square" lIns="0" tIns="0" rIns="0" bIns="0" rtlCol="0" anchor="ctr"/>
          <a:lstStyle/>
          <a:p>
            <a:pPr>
              <a:lnSpc>
                <a:spcPct val="110000"/>
              </a:lnSpc>
            </a:pPr>
            <a:r>
              <a:rPr lang="en-US" sz="900" dirty="0">
                <a:solidFill>
                  <a:srgbClr val="6B7280"/>
                </a:solidFill>
                <a:latin typeface="Sorts Mill Goudy" pitchFamily="34" charset="0"/>
                <a:ea typeface="Sorts Mill Goudy" pitchFamily="34" charset="-122"/>
                <a:cs typeface="Sorts Mill Goudy" pitchFamily="34" charset="-120"/>
              </a:rPr>
              <a:t>Pedagogical resource for question design</a:t>
            </a:r>
            <a:endParaRPr lang="en-US" sz="1600" dirty="0"/>
          </a:p>
        </p:txBody>
      </p:sp>
      <p:sp>
        <p:nvSpPr>
          <p:cNvPr id="35" name="Shape 33"/>
          <p:cNvSpPr/>
          <p:nvPr/>
        </p:nvSpPr>
        <p:spPr>
          <a:xfrm>
            <a:off x="8102561" y="1352550"/>
            <a:ext cx="3705225" cy="2524125"/>
          </a:xfrm>
          <a:custGeom>
            <a:avLst/>
            <a:gdLst/>
            <a:ahLst/>
            <a:cxnLst/>
            <a:rect l="l" t="t" r="r" b="b"/>
            <a:pathLst>
              <a:path w="3705225" h="2524125">
                <a:moveTo>
                  <a:pt x="0" y="0"/>
                </a:moveTo>
                <a:lnTo>
                  <a:pt x="3705225" y="0"/>
                </a:lnTo>
                <a:lnTo>
                  <a:pt x="3705225" y="2524125"/>
                </a:lnTo>
                <a:lnTo>
                  <a:pt x="0" y="2524125"/>
                </a:lnTo>
                <a:lnTo>
                  <a:pt x="0" y="0"/>
                </a:lnTo>
                <a:close/>
              </a:path>
            </a:pathLst>
          </a:custGeom>
          <a:solidFill>
            <a:srgbClr val="F9FAFB"/>
          </a:solidFill>
          <a:ln/>
        </p:spPr>
        <p:txBody>
          <a:bodyPr/>
          <a:lstStyle/>
          <a:p>
            <a:endParaRPr lang="en-US"/>
          </a:p>
        </p:txBody>
      </p:sp>
      <p:sp>
        <p:nvSpPr>
          <p:cNvPr id="36" name="Shape 34"/>
          <p:cNvSpPr/>
          <p:nvPr/>
        </p:nvSpPr>
        <p:spPr>
          <a:xfrm>
            <a:off x="8102561" y="1352550"/>
            <a:ext cx="3705225" cy="38100"/>
          </a:xfrm>
          <a:custGeom>
            <a:avLst/>
            <a:gdLst/>
            <a:ahLst/>
            <a:cxnLst/>
            <a:rect l="l" t="t" r="r" b="b"/>
            <a:pathLst>
              <a:path w="3705225" h="38100">
                <a:moveTo>
                  <a:pt x="0" y="0"/>
                </a:moveTo>
                <a:lnTo>
                  <a:pt x="3705225" y="0"/>
                </a:lnTo>
                <a:lnTo>
                  <a:pt x="3705225" y="38100"/>
                </a:lnTo>
                <a:lnTo>
                  <a:pt x="0" y="38100"/>
                </a:lnTo>
                <a:lnTo>
                  <a:pt x="0" y="0"/>
                </a:lnTo>
                <a:close/>
              </a:path>
            </a:pathLst>
          </a:custGeom>
          <a:solidFill>
            <a:srgbClr val="6B7280"/>
          </a:solidFill>
          <a:ln/>
        </p:spPr>
        <p:txBody>
          <a:bodyPr/>
          <a:lstStyle/>
          <a:p>
            <a:endParaRPr lang="en-US"/>
          </a:p>
        </p:txBody>
      </p:sp>
      <p:sp>
        <p:nvSpPr>
          <p:cNvPr id="37" name="Shape 35"/>
          <p:cNvSpPr/>
          <p:nvPr/>
        </p:nvSpPr>
        <p:spPr>
          <a:xfrm>
            <a:off x="8349020" y="1562100"/>
            <a:ext cx="250031" cy="285750"/>
          </a:xfrm>
          <a:custGeom>
            <a:avLst/>
            <a:gdLst/>
            <a:ahLst/>
            <a:cxnLst/>
            <a:rect l="l" t="t" r="r" b="b"/>
            <a:pathLst>
              <a:path w="250031" h="285750">
                <a:moveTo>
                  <a:pt x="160734" y="0"/>
                </a:moveTo>
                <a:lnTo>
                  <a:pt x="71438" y="0"/>
                </a:lnTo>
                <a:cubicBezTo>
                  <a:pt x="61559" y="0"/>
                  <a:pt x="53578" y="7981"/>
                  <a:pt x="53578" y="17859"/>
                </a:cubicBezTo>
                <a:cubicBezTo>
                  <a:pt x="53578" y="27738"/>
                  <a:pt x="61559" y="35719"/>
                  <a:pt x="71438" y="35719"/>
                </a:cubicBezTo>
                <a:lnTo>
                  <a:pt x="71438" y="120272"/>
                </a:lnTo>
                <a:lnTo>
                  <a:pt x="4186" y="237920"/>
                </a:lnTo>
                <a:cubicBezTo>
                  <a:pt x="1451" y="242776"/>
                  <a:pt x="0" y="248190"/>
                  <a:pt x="0" y="253771"/>
                </a:cubicBezTo>
                <a:cubicBezTo>
                  <a:pt x="0" y="271463"/>
                  <a:pt x="14288" y="285750"/>
                  <a:pt x="31979" y="285750"/>
                </a:cubicBezTo>
                <a:lnTo>
                  <a:pt x="218052" y="285750"/>
                </a:lnTo>
                <a:cubicBezTo>
                  <a:pt x="235688" y="285750"/>
                  <a:pt x="250031" y="271463"/>
                  <a:pt x="250031" y="253771"/>
                </a:cubicBezTo>
                <a:cubicBezTo>
                  <a:pt x="250031" y="248190"/>
                  <a:pt x="248580" y="242720"/>
                  <a:pt x="245845" y="237920"/>
                </a:cubicBezTo>
                <a:lnTo>
                  <a:pt x="178594" y="120272"/>
                </a:lnTo>
                <a:lnTo>
                  <a:pt x="178594" y="35719"/>
                </a:lnTo>
                <a:cubicBezTo>
                  <a:pt x="188472" y="35719"/>
                  <a:pt x="196453" y="27738"/>
                  <a:pt x="196453" y="17859"/>
                </a:cubicBezTo>
                <a:cubicBezTo>
                  <a:pt x="196453" y="7981"/>
                  <a:pt x="188472" y="0"/>
                  <a:pt x="178594" y="0"/>
                </a:cubicBezTo>
                <a:lnTo>
                  <a:pt x="160734" y="0"/>
                </a:lnTo>
                <a:close/>
                <a:moveTo>
                  <a:pt x="107156" y="120272"/>
                </a:moveTo>
                <a:lnTo>
                  <a:pt x="107156" y="35719"/>
                </a:lnTo>
                <a:lnTo>
                  <a:pt x="142875" y="35719"/>
                </a:lnTo>
                <a:lnTo>
                  <a:pt x="142875" y="120272"/>
                </a:lnTo>
                <a:cubicBezTo>
                  <a:pt x="142875" y="126467"/>
                  <a:pt x="144494" y="132606"/>
                  <a:pt x="147563" y="138019"/>
                </a:cubicBezTo>
                <a:lnTo>
                  <a:pt x="170780" y="178594"/>
                </a:lnTo>
                <a:lnTo>
                  <a:pt x="79251" y="178594"/>
                </a:lnTo>
                <a:lnTo>
                  <a:pt x="102468" y="138019"/>
                </a:lnTo>
                <a:cubicBezTo>
                  <a:pt x="105538" y="132606"/>
                  <a:pt x="107156" y="126523"/>
                  <a:pt x="107156" y="120272"/>
                </a:cubicBezTo>
                <a:close/>
              </a:path>
            </a:pathLst>
          </a:custGeom>
          <a:solidFill>
            <a:srgbClr val="6B7280"/>
          </a:solidFill>
          <a:ln/>
        </p:spPr>
        <p:txBody>
          <a:bodyPr/>
          <a:lstStyle/>
          <a:p>
            <a:endParaRPr lang="en-US"/>
          </a:p>
        </p:txBody>
      </p:sp>
      <p:sp>
        <p:nvSpPr>
          <p:cNvPr id="38" name="Text 36"/>
          <p:cNvSpPr/>
          <p:nvPr/>
        </p:nvSpPr>
        <p:spPr>
          <a:xfrm>
            <a:off x="8764548" y="1571625"/>
            <a:ext cx="15811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Research Corpora</a:t>
            </a:r>
            <a:endParaRPr lang="en-US" sz="1600" dirty="0"/>
          </a:p>
        </p:txBody>
      </p:sp>
      <p:sp>
        <p:nvSpPr>
          <p:cNvPr id="39" name="Text 37"/>
          <p:cNvSpPr/>
          <p:nvPr/>
        </p:nvSpPr>
        <p:spPr>
          <a:xfrm>
            <a:off x="8293061" y="1962150"/>
            <a:ext cx="34004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Domain-Specific Studies</a:t>
            </a:r>
            <a:endParaRPr lang="en-US" sz="1600" dirty="0"/>
          </a:p>
        </p:txBody>
      </p:sp>
      <p:sp>
        <p:nvSpPr>
          <p:cNvPr id="40" name="Text 38"/>
          <p:cNvSpPr/>
          <p:nvPr/>
        </p:nvSpPr>
        <p:spPr>
          <a:xfrm>
            <a:off x="8293061" y="2266950"/>
            <a:ext cx="33909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Various studies with limited data sharing</a:t>
            </a:r>
            <a:endParaRPr lang="en-US" sz="1600" dirty="0"/>
          </a:p>
        </p:txBody>
      </p:sp>
      <p:sp>
        <p:nvSpPr>
          <p:cNvPr id="41" name="Shape 39"/>
          <p:cNvSpPr/>
          <p:nvPr/>
        </p:nvSpPr>
        <p:spPr>
          <a:xfrm>
            <a:off x="8320445" y="2609850"/>
            <a:ext cx="116681" cy="133350"/>
          </a:xfrm>
          <a:custGeom>
            <a:avLst/>
            <a:gdLst/>
            <a:ahLst/>
            <a:cxnLst/>
            <a:rect l="l" t="t" r="r" b="b"/>
            <a:pathLst>
              <a:path w="116681" h="133350">
                <a:moveTo>
                  <a:pt x="62846" y="-3386"/>
                </a:moveTo>
                <a:cubicBezTo>
                  <a:pt x="59877" y="-3985"/>
                  <a:pt x="56830" y="-3985"/>
                  <a:pt x="53861" y="-3386"/>
                </a:cubicBezTo>
                <a:lnTo>
                  <a:pt x="5027" y="6381"/>
                </a:lnTo>
                <a:cubicBezTo>
                  <a:pt x="2110" y="6954"/>
                  <a:pt x="0" y="9532"/>
                  <a:pt x="0" y="12502"/>
                </a:cubicBezTo>
                <a:cubicBezTo>
                  <a:pt x="0" y="15184"/>
                  <a:pt x="1693" y="17528"/>
                  <a:pt x="4167" y="18388"/>
                </a:cubicBezTo>
                <a:lnTo>
                  <a:pt x="4167" y="37505"/>
                </a:lnTo>
                <a:lnTo>
                  <a:pt x="78" y="57976"/>
                </a:lnTo>
                <a:cubicBezTo>
                  <a:pt x="26" y="58210"/>
                  <a:pt x="0" y="58471"/>
                  <a:pt x="0" y="58731"/>
                </a:cubicBezTo>
                <a:cubicBezTo>
                  <a:pt x="0" y="60815"/>
                  <a:pt x="1693" y="62534"/>
                  <a:pt x="3803" y="62534"/>
                </a:cubicBezTo>
                <a:lnTo>
                  <a:pt x="12892" y="62534"/>
                </a:lnTo>
                <a:cubicBezTo>
                  <a:pt x="14976" y="62534"/>
                  <a:pt x="16695" y="60841"/>
                  <a:pt x="16695" y="58731"/>
                </a:cubicBezTo>
                <a:cubicBezTo>
                  <a:pt x="16695" y="58471"/>
                  <a:pt x="16669" y="58236"/>
                  <a:pt x="16617" y="57976"/>
                </a:cubicBezTo>
                <a:lnTo>
                  <a:pt x="12502" y="37505"/>
                </a:lnTo>
                <a:lnTo>
                  <a:pt x="12502" y="20133"/>
                </a:lnTo>
                <a:lnTo>
                  <a:pt x="25003" y="22633"/>
                </a:lnTo>
                <a:lnTo>
                  <a:pt x="25003" y="37505"/>
                </a:lnTo>
                <a:cubicBezTo>
                  <a:pt x="25003" y="55918"/>
                  <a:pt x="39927" y="70842"/>
                  <a:pt x="58341" y="70842"/>
                </a:cubicBezTo>
                <a:cubicBezTo>
                  <a:pt x="76754" y="70842"/>
                  <a:pt x="91678" y="55918"/>
                  <a:pt x="91678" y="37505"/>
                </a:cubicBezTo>
                <a:lnTo>
                  <a:pt x="91678" y="22633"/>
                </a:lnTo>
                <a:lnTo>
                  <a:pt x="111655" y="18648"/>
                </a:lnTo>
                <a:cubicBezTo>
                  <a:pt x="114572" y="18049"/>
                  <a:pt x="116681" y="15471"/>
                  <a:pt x="116681" y="12502"/>
                </a:cubicBezTo>
                <a:cubicBezTo>
                  <a:pt x="116681" y="9532"/>
                  <a:pt x="114572" y="6954"/>
                  <a:pt x="111655" y="6381"/>
                </a:cubicBezTo>
                <a:lnTo>
                  <a:pt x="62846" y="-3386"/>
                </a:lnTo>
                <a:close/>
                <a:moveTo>
                  <a:pt x="58341" y="58341"/>
                </a:moveTo>
                <a:cubicBezTo>
                  <a:pt x="46829" y="58341"/>
                  <a:pt x="37505" y="49017"/>
                  <a:pt x="37505" y="37505"/>
                </a:cubicBezTo>
                <a:lnTo>
                  <a:pt x="79177" y="37505"/>
                </a:lnTo>
                <a:cubicBezTo>
                  <a:pt x="79177" y="49017"/>
                  <a:pt x="69852" y="58341"/>
                  <a:pt x="58341" y="58341"/>
                </a:cubicBezTo>
                <a:close/>
                <a:moveTo>
                  <a:pt x="31280" y="83370"/>
                </a:moveTo>
                <a:cubicBezTo>
                  <a:pt x="15288" y="90714"/>
                  <a:pt x="4167" y="106862"/>
                  <a:pt x="4167" y="125615"/>
                </a:cubicBezTo>
                <a:cubicBezTo>
                  <a:pt x="4167" y="129886"/>
                  <a:pt x="7631" y="133350"/>
                  <a:pt x="11903" y="133350"/>
                </a:cubicBezTo>
                <a:lnTo>
                  <a:pt x="52090" y="133350"/>
                </a:lnTo>
                <a:lnTo>
                  <a:pt x="52090" y="95324"/>
                </a:lnTo>
                <a:lnTo>
                  <a:pt x="37140" y="84125"/>
                </a:lnTo>
                <a:cubicBezTo>
                  <a:pt x="35447" y="82849"/>
                  <a:pt x="33181" y="82510"/>
                  <a:pt x="31254" y="83396"/>
                </a:cubicBezTo>
                <a:close/>
                <a:moveTo>
                  <a:pt x="64591" y="133350"/>
                </a:moveTo>
                <a:lnTo>
                  <a:pt x="104779" y="133350"/>
                </a:lnTo>
                <a:cubicBezTo>
                  <a:pt x="109050" y="133350"/>
                  <a:pt x="112514" y="129886"/>
                  <a:pt x="112514" y="125615"/>
                </a:cubicBezTo>
                <a:cubicBezTo>
                  <a:pt x="112514" y="106862"/>
                  <a:pt x="101393" y="90714"/>
                  <a:pt x="85401" y="83396"/>
                </a:cubicBezTo>
                <a:cubicBezTo>
                  <a:pt x="83474" y="82510"/>
                  <a:pt x="81208" y="82849"/>
                  <a:pt x="79515" y="84125"/>
                </a:cubicBezTo>
                <a:lnTo>
                  <a:pt x="64565" y="95324"/>
                </a:lnTo>
                <a:lnTo>
                  <a:pt x="64565" y="133350"/>
                </a:lnTo>
                <a:close/>
              </a:path>
            </a:pathLst>
          </a:custGeom>
          <a:solidFill>
            <a:srgbClr val="6B7280"/>
          </a:solidFill>
          <a:ln/>
        </p:spPr>
        <p:txBody>
          <a:bodyPr/>
          <a:lstStyle/>
          <a:p>
            <a:endParaRPr lang="en-US"/>
          </a:p>
        </p:txBody>
      </p:sp>
      <p:sp>
        <p:nvSpPr>
          <p:cNvPr id="42" name="Text 40"/>
          <p:cNvSpPr/>
          <p:nvPr/>
        </p:nvSpPr>
        <p:spPr>
          <a:xfrm>
            <a:off x="8535948" y="2571750"/>
            <a:ext cx="19431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Harrison et al. (2019): ~1,500 items</a:t>
            </a:r>
            <a:endParaRPr lang="en-US" sz="1600" dirty="0"/>
          </a:p>
        </p:txBody>
      </p:sp>
      <p:sp>
        <p:nvSpPr>
          <p:cNvPr id="43" name="Shape 41"/>
          <p:cNvSpPr/>
          <p:nvPr/>
        </p:nvSpPr>
        <p:spPr>
          <a:xfrm>
            <a:off x="8303776" y="2876550"/>
            <a:ext cx="150019" cy="133350"/>
          </a:xfrm>
          <a:custGeom>
            <a:avLst/>
            <a:gdLst/>
            <a:ahLst/>
            <a:cxnLst/>
            <a:rect l="l" t="t" r="r" b="b"/>
            <a:pathLst>
              <a:path w="150019" h="133350">
                <a:moveTo>
                  <a:pt x="25003" y="16669"/>
                </a:moveTo>
                <a:cubicBezTo>
                  <a:pt x="15809" y="16669"/>
                  <a:pt x="8334" y="24144"/>
                  <a:pt x="8334" y="33337"/>
                </a:cubicBezTo>
                <a:lnTo>
                  <a:pt x="8334" y="100013"/>
                </a:lnTo>
                <a:cubicBezTo>
                  <a:pt x="3724" y="100013"/>
                  <a:pt x="0" y="103737"/>
                  <a:pt x="0" y="108347"/>
                </a:cubicBezTo>
                <a:cubicBezTo>
                  <a:pt x="0" y="112957"/>
                  <a:pt x="3724" y="116681"/>
                  <a:pt x="8334" y="116681"/>
                </a:cubicBezTo>
                <a:lnTo>
                  <a:pt x="141684" y="116681"/>
                </a:lnTo>
                <a:cubicBezTo>
                  <a:pt x="146294" y="116681"/>
                  <a:pt x="150019" y="112957"/>
                  <a:pt x="150019" y="108347"/>
                </a:cubicBezTo>
                <a:cubicBezTo>
                  <a:pt x="150019" y="103737"/>
                  <a:pt x="146294" y="100013"/>
                  <a:pt x="141684" y="100013"/>
                </a:cubicBezTo>
                <a:lnTo>
                  <a:pt x="141684" y="33337"/>
                </a:lnTo>
                <a:cubicBezTo>
                  <a:pt x="141684" y="24144"/>
                  <a:pt x="134209" y="16669"/>
                  <a:pt x="125016" y="16669"/>
                </a:cubicBezTo>
                <a:lnTo>
                  <a:pt x="25003" y="16669"/>
                </a:lnTo>
                <a:close/>
                <a:moveTo>
                  <a:pt x="125016" y="100013"/>
                </a:moveTo>
                <a:lnTo>
                  <a:pt x="108347" y="100013"/>
                </a:lnTo>
                <a:lnTo>
                  <a:pt x="108347" y="91678"/>
                </a:lnTo>
                <a:cubicBezTo>
                  <a:pt x="108347" y="87068"/>
                  <a:pt x="104622" y="83344"/>
                  <a:pt x="100013" y="83344"/>
                </a:cubicBezTo>
                <a:lnTo>
                  <a:pt x="75009" y="83344"/>
                </a:lnTo>
                <a:cubicBezTo>
                  <a:pt x="70399" y="83344"/>
                  <a:pt x="66675" y="87068"/>
                  <a:pt x="66675" y="91678"/>
                </a:cubicBezTo>
                <a:lnTo>
                  <a:pt x="66675" y="100013"/>
                </a:lnTo>
                <a:lnTo>
                  <a:pt x="25003" y="100013"/>
                </a:lnTo>
                <a:lnTo>
                  <a:pt x="25003" y="33337"/>
                </a:lnTo>
                <a:lnTo>
                  <a:pt x="125016" y="33337"/>
                </a:lnTo>
                <a:lnTo>
                  <a:pt x="125016" y="100013"/>
                </a:lnTo>
                <a:close/>
              </a:path>
            </a:pathLst>
          </a:custGeom>
          <a:solidFill>
            <a:srgbClr val="6B7280"/>
          </a:solidFill>
          <a:ln/>
        </p:spPr>
        <p:txBody>
          <a:bodyPr/>
          <a:lstStyle/>
          <a:p>
            <a:endParaRPr lang="en-US"/>
          </a:p>
        </p:txBody>
      </p:sp>
      <p:sp>
        <p:nvSpPr>
          <p:cNvPr id="44" name="Text 42"/>
          <p:cNvSpPr/>
          <p:nvPr/>
        </p:nvSpPr>
        <p:spPr>
          <a:xfrm>
            <a:off x="8535948" y="2838450"/>
            <a:ext cx="26003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Huang et al. (2021): K-12 classroom questions</a:t>
            </a:r>
            <a:endParaRPr lang="en-US" sz="1600" dirty="0"/>
          </a:p>
        </p:txBody>
      </p:sp>
      <p:sp>
        <p:nvSpPr>
          <p:cNvPr id="45" name="Shape 43"/>
          <p:cNvSpPr/>
          <p:nvPr/>
        </p:nvSpPr>
        <p:spPr>
          <a:xfrm>
            <a:off x="8303776" y="3143250"/>
            <a:ext cx="150019" cy="133350"/>
          </a:xfrm>
          <a:custGeom>
            <a:avLst/>
            <a:gdLst/>
            <a:ahLst/>
            <a:cxnLst/>
            <a:rect l="l" t="t" r="r" b="b"/>
            <a:pathLst>
              <a:path w="150019" h="133350">
                <a:moveTo>
                  <a:pt x="93970" y="313"/>
                </a:moveTo>
                <a:cubicBezTo>
                  <a:pt x="89542" y="-964"/>
                  <a:pt x="84932" y="1615"/>
                  <a:pt x="83656" y="6042"/>
                </a:cubicBezTo>
                <a:lnTo>
                  <a:pt x="50319" y="122724"/>
                </a:lnTo>
                <a:cubicBezTo>
                  <a:pt x="49043" y="127151"/>
                  <a:pt x="51621" y="131761"/>
                  <a:pt x="56049" y="133037"/>
                </a:cubicBezTo>
                <a:cubicBezTo>
                  <a:pt x="60476" y="134314"/>
                  <a:pt x="65086" y="131735"/>
                  <a:pt x="66362" y="127308"/>
                </a:cubicBezTo>
                <a:lnTo>
                  <a:pt x="99700" y="10626"/>
                </a:lnTo>
                <a:cubicBezTo>
                  <a:pt x="100976" y="6199"/>
                  <a:pt x="98398" y="1589"/>
                  <a:pt x="93970" y="313"/>
                </a:cubicBezTo>
                <a:close/>
                <a:moveTo>
                  <a:pt x="110795" y="35760"/>
                </a:moveTo>
                <a:cubicBezTo>
                  <a:pt x="107539" y="39015"/>
                  <a:pt x="107539" y="44302"/>
                  <a:pt x="110795" y="47558"/>
                </a:cubicBezTo>
                <a:lnTo>
                  <a:pt x="129912" y="66675"/>
                </a:lnTo>
                <a:lnTo>
                  <a:pt x="110795" y="85792"/>
                </a:lnTo>
                <a:cubicBezTo>
                  <a:pt x="107539" y="89048"/>
                  <a:pt x="107539" y="94335"/>
                  <a:pt x="110795" y="97590"/>
                </a:cubicBezTo>
                <a:cubicBezTo>
                  <a:pt x="114051" y="100846"/>
                  <a:pt x="119338" y="100846"/>
                  <a:pt x="122593" y="97590"/>
                </a:cubicBezTo>
                <a:lnTo>
                  <a:pt x="147597" y="72587"/>
                </a:lnTo>
                <a:cubicBezTo>
                  <a:pt x="150852" y="69332"/>
                  <a:pt x="150852" y="64044"/>
                  <a:pt x="147597" y="60789"/>
                </a:cubicBezTo>
                <a:lnTo>
                  <a:pt x="122593" y="35786"/>
                </a:lnTo>
                <a:cubicBezTo>
                  <a:pt x="119338" y="32530"/>
                  <a:pt x="114051" y="32530"/>
                  <a:pt x="110795" y="35786"/>
                </a:cubicBezTo>
                <a:close/>
                <a:moveTo>
                  <a:pt x="39250" y="35760"/>
                </a:moveTo>
                <a:cubicBezTo>
                  <a:pt x="35994" y="32504"/>
                  <a:pt x="30707" y="32504"/>
                  <a:pt x="27451" y="35760"/>
                </a:cubicBezTo>
                <a:lnTo>
                  <a:pt x="2448" y="60763"/>
                </a:lnTo>
                <a:cubicBezTo>
                  <a:pt x="-807" y="64018"/>
                  <a:pt x="-807" y="69306"/>
                  <a:pt x="2448" y="72561"/>
                </a:cubicBezTo>
                <a:lnTo>
                  <a:pt x="27451" y="97564"/>
                </a:lnTo>
                <a:cubicBezTo>
                  <a:pt x="30707" y="100820"/>
                  <a:pt x="35994" y="100820"/>
                  <a:pt x="39250" y="97564"/>
                </a:cubicBezTo>
                <a:cubicBezTo>
                  <a:pt x="42505" y="94309"/>
                  <a:pt x="42505" y="89022"/>
                  <a:pt x="39250" y="85766"/>
                </a:cubicBezTo>
                <a:lnTo>
                  <a:pt x="20133" y="66675"/>
                </a:lnTo>
                <a:lnTo>
                  <a:pt x="39224" y="47558"/>
                </a:lnTo>
                <a:cubicBezTo>
                  <a:pt x="42479" y="44302"/>
                  <a:pt x="42479" y="39015"/>
                  <a:pt x="39224" y="35760"/>
                </a:cubicBezTo>
                <a:close/>
              </a:path>
            </a:pathLst>
          </a:custGeom>
          <a:solidFill>
            <a:srgbClr val="6B7280"/>
          </a:solidFill>
          <a:ln/>
        </p:spPr>
        <p:txBody>
          <a:bodyPr/>
          <a:lstStyle/>
          <a:p>
            <a:endParaRPr lang="en-US"/>
          </a:p>
        </p:txBody>
      </p:sp>
      <p:sp>
        <p:nvSpPr>
          <p:cNvPr id="46" name="Text 44"/>
          <p:cNvSpPr/>
          <p:nvPr/>
        </p:nvSpPr>
        <p:spPr>
          <a:xfrm>
            <a:off x="8535948" y="3105150"/>
            <a:ext cx="22955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Programming exam questions (various)</a:t>
            </a:r>
            <a:endParaRPr lang="en-US" sz="1600" dirty="0"/>
          </a:p>
        </p:txBody>
      </p:sp>
      <p:sp>
        <p:nvSpPr>
          <p:cNvPr id="47" name="Shape 45"/>
          <p:cNvSpPr/>
          <p:nvPr/>
        </p:nvSpPr>
        <p:spPr>
          <a:xfrm>
            <a:off x="8293061" y="3413760"/>
            <a:ext cx="3324225" cy="7620"/>
          </a:xfrm>
          <a:custGeom>
            <a:avLst/>
            <a:gdLst/>
            <a:ahLst/>
            <a:cxnLst/>
            <a:rect l="l" t="t" r="r" b="b"/>
            <a:pathLst>
              <a:path w="3324225" h="7620">
                <a:moveTo>
                  <a:pt x="0" y="0"/>
                </a:moveTo>
                <a:lnTo>
                  <a:pt x="3324225" y="0"/>
                </a:lnTo>
                <a:lnTo>
                  <a:pt x="3324225" y="7620"/>
                </a:lnTo>
                <a:lnTo>
                  <a:pt x="0" y="7620"/>
                </a:lnTo>
                <a:lnTo>
                  <a:pt x="0" y="0"/>
                </a:lnTo>
                <a:close/>
              </a:path>
            </a:pathLst>
          </a:custGeom>
          <a:solidFill>
            <a:srgbClr val="6B7280">
              <a:alpha val="20000"/>
            </a:srgbClr>
          </a:solidFill>
          <a:ln/>
        </p:spPr>
        <p:txBody>
          <a:bodyPr/>
          <a:lstStyle/>
          <a:p>
            <a:endParaRPr lang="en-US"/>
          </a:p>
        </p:txBody>
      </p:sp>
      <p:sp>
        <p:nvSpPr>
          <p:cNvPr id="48" name="Shape 46"/>
          <p:cNvSpPr/>
          <p:nvPr/>
        </p:nvSpPr>
        <p:spPr>
          <a:xfrm>
            <a:off x="8321636" y="3539491"/>
            <a:ext cx="85725" cy="114300"/>
          </a:xfrm>
          <a:custGeom>
            <a:avLst/>
            <a:gdLst/>
            <a:ahLst/>
            <a:cxnLst/>
            <a:rect l="l" t="t" r="r" b="b"/>
            <a:pathLst>
              <a:path w="85725" h="114300">
                <a:moveTo>
                  <a:pt x="28575" y="21431"/>
                </a:moveTo>
                <a:lnTo>
                  <a:pt x="28575" y="35719"/>
                </a:lnTo>
                <a:lnTo>
                  <a:pt x="57150" y="35719"/>
                </a:lnTo>
                <a:lnTo>
                  <a:pt x="57150" y="21431"/>
                </a:lnTo>
                <a:cubicBezTo>
                  <a:pt x="57150" y="13551"/>
                  <a:pt x="50743" y="7144"/>
                  <a:pt x="42863" y="7144"/>
                </a:cubicBezTo>
                <a:cubicBezTo>
                  <a:pt x="34982" y="7144"/>
                  <a:pt x="28575" y="13551"/>
                  <a:pt x="28575" y="21431"/>
                </a:cubicBezTo>
                <a:close/>
                <a:moveTo>
                  <a:pt x="14288" y="35719"/>
                </a:moveTo>
                <a:lnTo>
                  <a:pt x="14288" y="21431"/>
                </a:lnTo>
                <a:cubicBezTo>
                  <a:pt x="14288" y="5648"/>
                  <a:pt x="27079" y="-7144"/>
                  <a:pt x="42863" y="-7144"/>
                </a:cubicBezTo>
                <a:cubicBezTo>
                  <a:pt x="58646" y="-7144"/>
                  <a:pt x="71438" y="5648"/>
                  <a:pt x="71438" y="21431"/>
                </a:cubicBezTo>
                <a:lnTo>
                  <a:pt x="71438" y="35719"/>
                </a:lnTo>
                <a:cubicBezTo>
                  <a:pt x="79318" y="35719"/>
                  <a:pt x="85725" y="42126"/>
                  <a:pt x="85725" y="50006"/>
                </a:cubicBezTo>
                <a:lnTo>
                  <a:pt x="85725" y="100013"/>
                </a:lnTo>
                <a:cubicBezTo>
                  <a:pt x="85725" y="107893"/>
                  <a:pt x="79318" y="114300"/>
                  <a:pt x="71438" y="114300"/>
                </a:cubicBezTo>
                <a:lnTo>
                  <a:pt x="14288" y="114300"/>
                </a:lnTo>
                <a:cubicBezTo>
                  <a:pt x="6407" y="114300"/>
                  <a:pt x="0" y="107893"/>
                  <a:pt x="0" y="100013"/>
                </a:cubicBezTo>
                <a:lnTo>
                  <a:pt x="0" y="50006"/>
                </a:lnTo>
                <a:cubicBezTo>
                  <a:pt x="0" y="42126"/>
                  <a:pt x="6407" y="35719"/>
                  <a:pt x="14288" y="35719"/>
                </a:cubicBezTo>
                <a:close/>
              </a:path>
            </a:pathLst>
          </a:custGeom>
          <a:solidFill>
            <a:srgbClr val="6B7280"/>
          </a:solidFill>
          <a:ln/>
        </p:spPr>
        <p:txBody>
          <a:bodyPr/>
          <a:lstStyle/>
          <a:p>
            <a:endParaRPr lang="en-US"/>
          </a:p>
        </p:txBody>
      </p:sp>
      <p:sp>
        <p:nvSpPr>
          <p:cNvPr id="49" name="Text 47"/>
          <p:cNvSpPr/>
          <p:nvPr/>
        </p:nvSpPr>
        <p:spPr>
          <a:xfrm>
            <a:off x="8464511" y="3531868"/>
            <a:ext cx="3209925" cy="152400"/>
          </a:xfrm>
          <a:prstGeom prst="rect">
            <a:avLst/>
          </a:prstGeom>
          <a:noFill/>
          <a:ln/>
        </p:spPr>
        <p:txBody>
          <a:bodyPr wrap="square" lIns="0" tIns="0" rIns="0" bIns="0" rtlCol="0" anchor="ctr"/>
          <a:lstStyle/>
          <a:p>
            <a:pPr>
              <a:lnSpc>
                <a:spcPct val="110000"/>
              </a:lnSpc>
            </a:pPr>
            <a:r>
              <a:rPr lang="en-US" sz="900" dirty="0">
                <a:solidFill>
                  <a:srgbClr val="6B7280"/>
                </a:solidFill>
                <a:latin typeface="Sorts Mill Goudy" pitchFamily="34" charset="0"/>
                <a:ea typeface="Sorts Mill Goudy" pitchFamily="34" charset="-122"/>
                <a:cs typeface="Sorts Mill Goudy" pitchFamily="34" charset="-120"/>
              </a:rPr>
              <a:t>Most not openly available</a:t>
            </a:r>
            <a:endParaRPr lang="en-US" sz="1600" dirty="0"/>
          </a:p>
        </p:txBody>
      </p:sp>
      <p:sp>
        <p:nvSpPr>
          <p:cNvPr id="50" name="Shape 48"/>
          <p:cNvSpPr/>
          <p:nvPr/>
        </p:nvSpPr>
        <p:spPr>
          <a:xfrm>
            <a:off x="381000" y="4027052"/>
            <a:ext cx="11430000" cy="1866900"/>
          </a:xfrm>
          <a:custGeom>
            <a:avLst/>
            <a:gdLst/>
            <a:ahLst/>
            <a:cxnLst/>
            <a:rect l="l" t="t" r="r" b="b"/>
            <a:pathLst>
              <a:path w="11430000" h="1866900">
                <a:moveTo>
                  <a:pt x="0" y="0"/>
                </a:moveTo>
                <a:lnTo>
                  <a:pt x="11430000" y="0"/>
                </a:lnTo>
                <a:lnTo>
                  <a:pt x="11430000" y="1866900"/>
                </a:lnTo>
                <a:lnTo>
                  <a:pt x="0" y="1866900"/>
                </a:lnTo>
                <a:lnTo>
                  <a:pt x="0" y="0"/>
                </a:lnTo>
                <a:close/>
              </a:path>
            </a:pathLst>
          </a:custGeom>
          <a:solidFill>
            <a:srgbClr val="F9FAFB"/>
          </a:solidFill>
          <a:ln/>
        </p:spPr>
        <p:txBody>
          <a:bodyPr/>
          <a:lstStyle/>
          <a:p>
            <a:endParaRPr lang="en-US"/>
          </a:p>
        </p:txBody>
      </p:sp>
      <p:sp>
        <p:nvSpPr>
          <p:cNvPr id="51" name="Shape 49"/>
          <p:cNvSpPr/>
          <p:nvPr/>
        </p:nvSpPr>
        <p:spPr>
          <a:xfrm>
            <a:off x="583406" y="4255652"/>
            <a:ext cx="214313" cy="190500"/>
          </a:xfrm>
          <a:custGeom>
            <a:avLst/>
            <a:gdLst/>
            <a:ahLst/>
            <a:cxnLst/>
            <a:rect l="l" t="t" r="r" b="b"/>
            <a:pathLst>
              <a:path w="214313" h="190500">
                <a:moveTo>
                  <a:pt x="92273" y="32742"/>
                </a:moveTo>
                <a:lnTo>
                  <a:pt x="122039" y="32742"/>
                </a:lnTo>
                <a:lnTo>
                  <a:pt x="122039" y="50602"/>
                </a:lnTo>
                <a:lnTo>
                  <a:pt x="92273" y="50602"/>
                </a:lnTo>
                <a:lnTo>
                  <a:pt x="92273" y="32742"/>
                </a:lnTo>
                <a:close/>
                <a:moveTo>
                  <a:pt x="89297" y="11906"/>
                </a:moveTo>
                <a:cubicBezTo>
                  <a:pt x="79437" y="11906"/>
                  <a:pt x="71438" y="19906"/>
                  <a:pt x="71438" y="29766"/>
                </a:cubicBezTo>
                <a:lnTo>
                  <a:pt x="71438" y="53578"/>
                </a:lnTo>
                <a:cubicBezTo>
                  <a:pt x="71438" y="63438"/>
                  <a:pt x="79437" y="71438"/>
                  <a:pt x="89297" y="71438"/>
                </a:cubicBezTo>
                <a:lnTo>
                  <a:pt x="95250" y="71438"/>
                </a:lnTo>
                <a:lnTo>
                  <a:pt x="95250" y="83344"/>
                </a:lnTo>
                <a:lnTo>
                  <a:pt x="11906" y="83344"/>
                </a:lnTo>
                <a:cubicBezTo>
                  <a:pt x="5321" y="83344"/>
                  <a:pt x="0" y="88664"/>
                  <a:pt x="0" y="95250"/>
                </a:cubicBezTo>
                <a:cubicBezTo>
                  <a:pt x="0" y="101836"/>
                  <a:pt x="5321" y="107156"/>
                  <a:pt x="11906" y="107156"/>
                </a:cubicBezTo>
                <a:lnTo>
                  <a:pt x="47625" y="107156"/>
                </a:lnTo>
                <a:lnTo>
                  <a:pt x="47625" y="119063"/>
                </a:lnTo>
                <a:lnTo>
                  <a:pt x="41672" y="119063"/>
                </a:lnTo>
                <a:cubicBezTo>
                  <a:pt x="31812" y="119063"/>
                  <a:pt x="23812" y="127062"/>
                  <a:pt x="23812" y="136922"/>
                </a:cubicBezTo>
                <a:lnTo>
                  <a:pt x="23812" y="160734"/>
                </a:lnTo>
                <a:cubicBezTo>
                  <a:pt x="23812" y="170594"/>
                  <a:pt x="31812" y="178594"/>
                  <a:pt x="41672" y="178594"/>
                </a:cubicBezTo>
                <a:lnTo>
                  <a:pt x="77391" y="178594"/>
                </a:lnTo>
                <a:cubicBezTo>
                  <a:pt x="87250" y="178594"/>
                  <a:pt x="95250" y="170594"/>
                  <a:pt x="95250" y="160734"/>
                </a:cubicBezTo>
                <a:lnTo>
                  <a:pt x="95250" y="136922"/>
                </a:lnTo>
                <a:cubicBezTo>
                  <a:pt x="95250" y="127062"/>
                  <a:pt x="87250" y="119063"/>
                  <a:pt x="77391" y="119063"/>
                </a:cubicBezTo>
                <a:lnTo>
                  <a:pt x="71438" y="119063"/>
                </a:lnTo>
                <a:lnTo>
                  <a:pt x="71438" y="107156"/>
                </a:lnTo>
                <a:lnTo>
                  <a:pt x="142875" y="107156"/>
                </a:lnTo>
                <a:lnTo>
                  <a:pt x="142875" y="119063"/>
                </a:lnTo>
                <a:lnTo>
                  <a:pt x="136922" y="119063"/>
                </a:lnTo>
                <a:cubicBezTo>
                  <a:pt x="127062" y="119063"/>
                  <a:pt x="119063" y="127062"/>
                  <a:pt x="119063" y="136922"/>
                </a:cubicBezTo>
                <a:lnTo>
                  <a:pt x="119063" y="160734"/>
                </a:lnTo>
                <a:cubicBezTo>
                  <a:pt x="119063" y="170594"/>
                  <a:pt x="127062" y="178594"/>
                  <a:pt x="136922" y="178594"/>
                </a:cubicBezTo>
                <a:lnTo>
                  <a:pt x="172641" y="178594"/>
                </a:lnTo>
                <a:cubicBezTo>
                  <a:pt x="182500" y="178594"/>
                  <a:pt x="190500" y="170594"/>
                  <a:pt x="190500" y="160734"/>
                </a:cubicBezTo>
                <a:lnTo>
                  <a:pt x="190500" y="136922"/>
                </a:lnTo>
                <a:cubicBezTo>
                  <a:pt x="190500" y="127062"/>
                  <a:pt x="182500" y="119063"/>
                  <a:pt x="172641" y="119063"/>
                </a:cubicBezTo>
                <a:lnTo>
                  <a:pt x="166688" y="119063"/>
                </a:lnTo>
                <a:lnTo>
                  <a:pt x="166688" y="107156"/>
                </a:lnTo>
                <a:lnTo>
                  <a:pt x="202406" y="107156"/>
                </a:lnTo>
                <a:cubicBezTo>
                  <a:pt x="208992" y="107156"/>
                  <a:pt x="214313" y="101836"/>
                  <a:pt x="214313" y="95250"/>
                </a:cubicBezTo>
                <a:cubicBezTo>
                  <a:pt x="214313" y="88664"/>
                  <a:pt x="208992" y="83344"/>
                  <a:pt x="202406" y="83344"/>
                </a:cubicBezTo>
                <a:lnTo>
                  <a:pt x="119063" y="83344"/>
                </a:lnTo>
                <a:lnTo>
                  <a:pt x="119063" y="71438"/>
                </a:lnTo>
                <a:lnTo>
                  <a:pt x="125016" y="71438"/>
                </a:lnTo>
                <a:cubicBezTo>
                  <a:pt x="134875" y="71438"/>
                  <a:pt x="142875" y="63438"/>
                  <a:pt x="142875" y="53578"/>
                </a:cubicBezTo>
                <a:lnTo>
                  <a:pt x="142875" y="29766"/>
                </a:lnTo>
                <a:cubicBezTo>
                  <a:pt x="142875" y="19906"/>
                  <a:pt x="134875" y="11906"/>
                  <a:pt x="125016" y="11906"/>
                </a:cubicBezTo>
                <a:lnTo>
                  <a:pt x="89297" y="11906"/>
                </a:lnTo>
                <a:close/>
                <a:moveTo>
                  <a:pt x="166688" y="139898"/>
                </a:moveTo>
                <a:lnTo>
                  <a:pt x="169664" y="139898"/>
                </a:lnTo>
                <a:lnTo>
                  <a:pt x="169664" y="157758"/>
                </a:lnTo>
                <a:lnTo>
                  <a:pt x="139898" y="157758"/>
                </a:lnTo>
                <a:lnTo>
                  <a:pt x="139898" y="139898"/>
                </a:lnTo>
                <a:lnTo>
                  <a:pt x="166688" y="139898"/>
                </a:lnTo>
                <a:close/>
                <a:moveTo>
                  <a:pt x="71438" y="139898"/>
                </a:moveTo>
                <a:lnTo>
                  <a:pt x="74414" y="139898"/>
                </a:lnTo>
                <a:lnTo>
                  <a:pt x="74414" y="157758"/>
                </a:lnTo>
                <a:lnTo>
                  <a:pt x="44648" y="157758"/>
                </a:lnTo>
                <a:lnTo>
                  <a:pt x="44648" y="139898"/>
                </a:lnTo>
                <a:lnTo>
                  <a:pt x="71438" y="139898"/>
                </a:lnTo>
                <a:close/>
              </a:path>
            </a:pathLst>
          </a:custGeom>
          <a:solidFill>
            <a:srgbClr val="8B0000"/>
          </a:solidFill>
          <a:ln/>
        </p:spPr>
        <p:txBody>
          <a:bodyPr/>
          <a:lstStyle/>
          <a:p>
            <a:endParaRPr lang="en-US"/>
          </a:p>
        </p:txBody>
      </p:sp>
      <p:sp>
        <p:nvSpPr>
          <p:cNvPr id="52" name="Text 50"/>
          <p:cNvSpPr/>
          <p:nvPr/>
        </p:nvSpPr>
        <p:spPr>
          <a:xfrm>
            <a:off x="809625" y="4217552"/>
            <a:ext cx="1090612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Community Dataset Ecosystem</a:t>
            </a:r>
            <a:endParaRPr lang="en-US" sz="1600" dirty="0"/>
          </a:p>
        </p:txBody>
      </p:sp>
      <p:sp>
        <p:nvSpPr>
          <p:cNvPr id="53" name="Text 51"/>
          <p:cNvSpPr/>
          <p:nvPr/>
        </p:nvSpPr>
        <p:spPr>
          <a:xfrm>
            <a:off x="571500" y="4636652"/>
            <a:ext cx="55054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Available Resources</a:t>
            </a:r>
            <a:endParaRPr lang="en-US" sz="1600" dirty="0"/>
          </a:p>
        </p:txBody>
      </p:sp>
      <p:sp>
        <p:nvSpPr>
          <p:cNvPr id="54" name="Shape 52"/>
          <p:cNvSpPr/>
          <p:nvPr/>
        </p:nvSpPr>
        <p:spPr>
          <a:xfrm>
            <a:off x="571500" y="5036702"/>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8B0000"/>
          </a:solidFill>
          <a:ln/>
        </p:spPr>
        <p:txBody>
          <a:bodyPr/>
          <a:lstStyle/>
          <a:p>
            <a:endParaRPr lang="en-US"/>
          </a:p>
        </p:txBody>
      </p:sp>
      <p:sp>
        <p:nvSpPr>
          <p:cNvPr id="55" name="Text 53"/>
          <p:cNvSpPr/>
          <p:nvPr/>
        </p:nvSpPr>
        <p:spPr>
          <a:xfrm>
            <a:off x="723900" y="4979552"/>
            <a:ext cx="3171825"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Kaggle provides accessible platform for dataset sharing</a:t>
            </a:r>
            <a:endParaRPr lang="en-US" sz="1600" dirty="0"/>
          </a:p>
        </p:txBody>
      </p:sp>
      <p:sp>
        <p:nvSpPr>
          <p:cNvPr id="56" name="Shape 54"/>
          <p:cNvSpPr/>
          <p:nvPr/>
        </p:nvSpPr>
        <p:spPr>
          <a:xfrm>
            <a:off x="571500" y="5303402"/>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8B0000"/>
          </a:solidFill>
          <a:ln/>
        </p:spPr>
        <p:txBody>
          <a:bodyPr/>
          <a:lstStyle/>
          <a:p>
            <a:endParaRPr lang="en-US"/>
          </a:p>
        </p:txBody>
      </p:sp>
      <p:sp>
        <p:nvSpPr>
          <p:cNvPr id="57" name="Text 55"/>
          <p:cNvSpPr/>
          <p:nvPr/>
        </p:nvSpPr>
        <p:spPr>
          <a:xfrm>
            <a:off x="723900" y="5246252"/>
            <a:ext cx="30289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Quick Flip Questions serve as pedagogical reference</a:t>
            </a:r>
            <a:endParaRPr lang="en-US" sz="1600" dirty="0"/>
          </a:p>
        </p:txBody>
      </p:sp>
      <p:sp>
        <p:nvSpPr>
          <p:cNvPr id="58" name="Shape 56"/>
          <p:cNvSpPr/>
          <p:nvPr/>
        </p:nvSpPr>
        <p:spPr>
          <a:xfrm>
            <a:off x="571500" y="5570102"/>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8B0000"/>
          </a:solidFill>
          <a:ln/>
        </p:spPr>
        <p:txBody>
          <a:bodyPr/>
          <a:lstStyle/>
          <a:p>
            <a:endParaRPr lang="en-US"/>
          </a:p>
        </p:txBody>
      </p:sp>
      <p:sp>
        <p:nvSpPr>
          <p:cNvPr id="59" name="Text 57"/>
          <p:cNvSpPr/>
          <p:nvPr/>
        </p:nvSpPr>
        <p:spPr>
          <a:xfrm>
            <a:off x="723900" y="5512952"/>
            <a:ext cx="33718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Figshare and PLOS One enable academic data publication</a:t>
            </a:r>
            <a:endParaRPr lang="en-US" sz="1600" dirty="0"/>
          </a:p>
        </p:txBody>
      </p:sp>
      <p:sp>
        <p:nvSpPr>
          <p:cNvPr id="60" name="Text 58"/>
          <p:cNvSpPr/>
          <p:nvPr/>
        </p:nvSpPr>
        <p:spPr>
          <a:xfrm>
            <a:off x="6191250" y="4636652"/>
            <a:ext cx="55054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Limitations</a:t>
            </a:r>
            <a:endParaRPr lang="en-US" sz="1600" dirty="0"/>
          </a:p>
        </p:txBody>
      </p:sp>
      <p:sp>
        <p:nvSpPr>
          <p:cNvPr id="61" name="Shape 59"/>
          <p:cNvSpPr/>
          <p:nvPr/>
        </p:nvSpPr>
        <p:spPr>
          <a:xfrm>
            <a:off x="6191250" y="5036702"/>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1F2937"/>
          </a:solidFill>
          <a:ln/>
        </p:spPr>
        <p:txBody>
          <a:bodyPr/>
          <a:lstStyle/>
          <a:p>
            <a:endParaRPr lang="en-US"/>
          </a:p>
        </p:txBody>
      </p:sp>
      <p:sp>
        <p:nvSpPr>
          <p:cNvPr id="62" name="Text 60"/>
          <p:cNvSpPr/>
          <p:nvPr/>
        </p:nvSpPr>
        <p:spPr>
          <a:xfrm>
            <a:off x="6343650" y="4979552"/>
            <a:ext cx="29908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Many domain-specific datasets remain unpublished</a:t>
            </a:r>
            <a:endParaRPr lang="en-US" sz="1600" dirty="0"/>
          </a:p>
        </p:txBody>
      </p:sp>
      <p:sp>
        <p:nvSpPr>
          <p:cNvPr id="63" name="Shape 61"/>
          <p:cNvSpPr/>
          <p:nvPr/>
        </p:nvSpPr>
        <p:spPr>
          <a:xfrm>
            <a:off x="6191250" y="5303402"/>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1F2937"/>
          </a:solidFill>
          <a:ln/>
        </p:spPr>
        <p:txBody>
          <a:bodyPr/>
          <a:lstStyle/>
          <a:p>
            <a:endParaRPr lang="en-US"/>
          </a:p>
        </p:txBody>
      </p:sp>
      <p:sp>
        <p:nvSpPr>
          <p:cNvPr id="64" name="Text 62"/>
          <p:cNvSpPr/>
          <p:nvPr/>
        </p:nvSpPr>
        <p:spPr>
          <a:xfrm>
            <a:off x="6343650" y="5246252"/>
            <a:ext cx="289560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Small-scale studies lack resources for data sharing</a:t>
            </a:r>
            <a:endParaRPr lang="en-US" sz="1600" dirty="0"/>
          </a:p>
        </p:txBody>
      </p:sp>
      <p:sp>
        <p:nvSpPr>
          <p:cNvPr id="65" name="Shape 63"/>
          <p:cNvSpPr/>
          <p:nvPr/>
        </p:nvSpPr>
        <p:spPr>
          <a:xfrm>
            <a:off x="6191250" y="5570102"/>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1F2937"/>
          </a:solidFill>
          <a:ln/>
        </p:spPr>
        <p:txBody>
          <a:bodyPr/>
          <a:lstStyle/>
          <a:p>
            <a:endParaRPr lang="en-US"/>
          </a:p>
        </p:txBody>
      </p:sp>
      <p:sp>
        <p:nvSpPr>
          <p:cNvPr id="66" name="Text 64"/>
          <p:cNvSpPr/>
          <p:nvPr/>
        </p:nvSpPr>
        <p:spPr>
          <a:xfrm>
            <a:off x="6343650" y="5512952"/>
            <a:ext cx="3295650" cy="190500"/>
          </a:xfrm>
          <a:prstGeom prst="rect">
            <a:avLst/>
          </a:prstGeom>
          <a:noFill/>
          <a:ln/>
        </p:spPr>
        <p:txBody>
          <a:bodyPr wrap="square" lIns="0" tIns="0" rIns="0" bIns="0" rtlCol="0" anchor="ctr"/>
          <a:lstStyle/>
          <a:p>
            <a:pPr>
              <a:lnSpc>
                <a:spcPct val="120000"/>
              </a:lnSpc>
            </a:pPr>
            <a:r>
              <a:rPr lang="en-US" sz="1050" dirty="0">
                <a:solidFill>
                  <a:srgbClr val="6B7280"/>
                </a:solidFill>
                <a:latin typeface="Sorts Mill Goudy" pitchFamily="34" charset="0"/>
                <a:ea typeface="Sorts Mill Goudy" pitchFamily="34" charset="-122"/>
                <a:cs typeface="Sorts Mill Goudy" pitchFamily="34" charset="-120"/>
              </a:rPr>
              <a:t>No centralized repository for Bloom's taxonomy datasets</a:t>
            </a:r>
            <a:endParaRPr lang="en-US" sz="1600" dirty="0"/>
          </a:p>
        </p:txBody>
      </p:sp>
      <p:sp>
        <p:nvSpPr>
          <p:cNvPr id="67" name="Shape 65"/>
          <p:cNvSpPr/>
          <p:nvPr/>
        </p:nvSpPr>
        <p:spPr>
          <a:xfrm>
            <a:off x="381000" y="6046352"/>
            <a:ext cx="11430000" cy="762000"/>
          </a:xfrm>
          <a:custGeom>
            <a:avLst/>
            <a:gdLst/>
            <a:ahLst/>
            <a:cxnLst/>
            <a:rect l="l" t="t" r="r" b="b"/>
            <a:pathLst>
              <a:path w="11430000" h="762000">
                <a:moveTo>
                  <a:pt x="0" y="0"/>
                </a:moveTo>
                <a:lnTo>
                  <a:pt x="11430000" y="0"/>
                </a:lnTo>
                <a:lnTo>
                  <a:pt x="11430000" y="762000"/>
                </a:lnTo>
                <a:lnTo>
                  <a:pt x="0" y="762000"/>
                </a:lnTo>
                <a:lnTo>
                  <a:pt x="0" y="0"/>
                </a:lnTo>
                <a:close/>
              </a:path>
            </a:pathLst>
          </a:custGeom>
          <a:solidFill>
            <a:srgbClr val="1F2937"/>
          </a:solidFill>
          <a:ln/>
        </p:spPr>
        <p:txBody>
          <a:bodyPr/>
          <a:lstStyle/>
          <a:p>
            <a:endParaRPr lang="en-US"/>
          </a:p>
        </p:txBody>
      </p:sp>
      <p:sp>
        <p:nvSpPr>
          <p:cNvPr id="68" name="Shape 66"/>
          <p:cNvSpPr/>
          <p:nvPr/>
        </p:nvSpPr>
        <p:spPr>
          <a:xfrm>
            <a:off x="533400" y="6213993"/>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8B0000"/>
          </a:solidFill>
          <a:ln/>
        </p:spPr>
        <p:txBody>
          <a:bodyPr/>
          <a:lstStyle/>
          <a:p>
            <a:endParaRPr lang="en-US"/>
          </a:p>
        </p:txBody>
      </p:sp>
      <p:sp>
        <p:nvSpPr>
          <p:cNvPr id="69" name="Text 67"/>
          <p:cNvSpPr/>
          <p:nvPr/>
        </p:nvSpPr>
        <p:spPr>
          <a:xfrm>
            <a:off x="781050" y="6198752"/>
            <a:ext cx="10953750" cy="457200"/>
          </a:xfrm>
          <a:prstGeom prst="rect">
            <a:avLst/>
          </a:prstGeom>
          <a:noFill/>
          <a:ln/>
        </p:spPr>
        <p:txBody>
          <a:bodyPr wrap="square" lIns="0" tIns="0" rIns="0" bIns="0" rtlCol="0" anchor="ctr"/>
          <a:lstStyle/>
          <a:p>
            <a:pPr>
              <a:lnSpc>
                <a:spcPct val="130000"/>
              </a:lnSpc>
            </a:pPr>
            <a:r>
              <a:rPr lang="en-US" sz="1200" b="1" dirty="0">
                <a:solidFill>
                  <a:srgbClr val="F9FAFB"/>
                </a:solidFill>
                <a:latin typeface="Sorts Mill Goudy" pitchFamily="34" charset="0"/>
                <a:ea typeface="Sorts Mill Goudy" pitchFamily="34" charset="-122"/>
                <a:cs typeface="Sorts Mill Goudy" pitchFamily="34" charset="-120"/>
              </a:rPr>
              <a:t>Community Need:</a:t>
            </a:r>
            <a:r>
              <a:rPr lang="en-US" sz="1200" dirty="0">
                <a:solidFill>
                  <a:srgbClr val="F9FAFB"/>
                </a:solidFill>
                <a:latin typeface="Sorts Mill Goudy" pitchFamily="34" charset="0"/>
                <a:ea typeface="Sorts Mill Goudy" pitchFamily="34" charset="-122"/>
                <a:cs typeface="Sorts Mill Goudy" pitchFamily="34" charset="-120"/>
              </a:rPr>
              <a:t> While individual researchers continue to produce labeled datasets, the field would benefit from a centralized, community-curated repository to consolidate resources and promote reproducible research.</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7537" y="357537"/>
            <a:ext cx="11539496" cy="178768"/>
          </a:xfrm>
          <a:prstGeom prst="rect">
            <a:avLst/>
          </a:prstGeom>
          <a:noFill/>
          <a:ln/>
        </p:spPr>
        <p:txBody>
          <a:bodyPr wrap="square" lIns="0" tIns="0" rIns="0" bIns="0" rtlCol="0" anchor="ctr"/>
          <a:lstStyle/>
          <a:p>
            <a:pPr>
              <a:lnSpc>
                <a:spcPct val="120000"/>
              </a:lnSpc>
            </a:pPr>
            <a:r>
              <a:rPr lang="en-US" sz="985" b="1" kern="0" spc="99" dirty="0">
                <a:solidFill>
                  <a:srgbClr val="8B0000"/>
                </a:solidFill>
                <a:latin typeface="Sorts Mill Goudy" pitchFamily="34" charset="0"/>
                <a:ea typeface="Sorts Mill Goudy" pitchFamily="34" charset="-122"/>
                <a:cs typeface="Sorts Mill Goudy" pitchFamily="34" charset="-120"/>
              </a:rPr>
              <a:t>4.1 COMPARATIVE ANALYSIS</a:t>
            </a:r>
            <a:endParaRPr lang="en-US" sz="1600" dirty="0"/>
          </a:p>
        </p:txBody>
      </p:sp>
      <p:sp>
        <p:nvSpPr>
          <p:cNvPr id="3" name="Text 1"/>
          <p:cNvSpPr/>
          <p:nvPr/>
        </p:nvSpPr>
        <p:spPr>
          <a:xfrm>
            <a:off x="357537" y="607812"/>
            <a:ext cx="11637818" cy="357537"/>
          </a:xfrm>
          <a:prstGeom prst="rect">
            <a:avLst/>
          </a:prstGeom>
          <a:noFill/>
          <a:ln/>
        </p:spPr>
        <p:txBody>
          <a:bodyPr wrap="square" lIns="0" tIns="0" rIns="0" bIns="0" rtlCol="0" anchor="ctr"/>
          <a:lstStyle/>
          <a:p>
            <a:pPr>
              <a:lnSpc>
                <a:spcPct val="90000"/>
              </a:lnSpc>
            </a:pPr>
            <a:r>
              <a:rPr lang="en-US" sz="2534" b="1" dirty="0">
                <a:solidFill>
                  <a:srgbClr val="1F2937"/>
                </a:solidFill>
                <a:latin typeface="Sorts Mill Goudy" pitchFamily="34" charset="0"/>
                <a:ea typeface="Sorts Mill Goudy" pitchFamily="34" charset="-122"/>
                <a:cs typeface="Sorts Mill Goudy" pitchFamily="34" charset="-120"/>
              </a:rPr>
              <a:t>Dataset Comparison: Size, Type, and Availability</a:t>
            </a:r>
            <a:endParaRPr lang="en-US" sz="1600" dirty="0"/>
          </a:p>
        </p:txBody>
      </p:sp>
      <p:sp>
        <p:nvSpPr>
          <p:cNvPr id="4" name="Shape 2"/>
          <p:cNvSpPr/>
          <p:nvPr/>
        </p:nvSpPr>
        <p:spPr>
          <a:xfrm>
            <a:off x="357537" y="1072610"/>
            <a:ext cx="715073" cy="35754"/>
          </a:xfrm>
          <a:custGeom>
            <a:avLst/>
            <a:gdLst/>
            <a:ahLst/>
            <a:cxnLst/>
            <a:rect l="l" t="t" r="r" b="b"/>
            <a:pathLst>
              <a:path w="715073" h="35754">
                <a:moveTo>
                  <a:pt x="0" y="0"/>
                </a:moveTo>
                <a:lnTo>
                  <a:pt x="715073" y="0"/>
                </a:lnTo>
                <a:lnTo>
                  <a:pt x="715073" y="35754"/>
                </a:lnTo>
                <a:lnTo>
                  <a:pt x="0" y="35754"/>
                </a:lnTo>
                <a:lnTo>
                  <a:pt x="0" y="0"/>
                </a:lnTo>
                <a:close/>
              </a:path>
            </a:pathLst>
          </a:custGeom>
          <a:solidFill>
            <a:srgbClr val="8B0000"/>
          </a:solidFill>
          <a:ln/>
        </p:spPr>
        <p:txBody>
          <a:bodyPr/>
          <a:lstStyle/>
          <a:p>
            <a:endParaRPr lang="en-US"/>
          </a:p>
        </p:txBody>
      </p:sp>
      <p:sp>
        <p:nvSpPr>
          <p:cNvPr id="5" name="Shape 3"/>
          <p:cNvSpPr/>
          <p:nvPr/>
        </p:nvSpPr>
        <p:spPr>
          <a:xfrm>
            <a:off x="357537" y="1251378"/>
            <a:ext cx="11476927" cy="4138487"/>
          </a:xfrm>
          <a:custGeom>
            <a:avLst/>
            <a:gdLst/>
            <a:ahLst/>
            <a:cxnLst/>
            <a:rect l="l" t="t" r="r" b="b"/>
            <a:pathLst>
              <a:path w="11476927" h="4138487">
                <a:moveTo>
                  <a:pt x="0" y="0"/>
                </a:moveTo>
                <a:lnTo>
                  <a:pt x="11476927" y="0"/>
                </a:lnTo>
                <a:lnTo>
                  <a:pt x="11476927" y="4138487"/>
                </a:lnTo>
                <a:lnTo>
                  <a:pt x="0" y="4138487"/>
                </a:lnTo>
                <a:lnTo>
                  <a:pt x="0" y="0"/>
                </a:lnTo>
                <a:close/>
              </a:path>
            </a:pathLst>
          </a:custGeom>
          <a:solidFill>
            <a:srgbClr val="F9FAFB"/>
          </a:solidFill>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139995906"/>
              </p:ext>
            </p:extLst>
          </p:nvPr>
        </p:nvGraphicFramePr>
        <p:xfrm>
          <a:off x="500551" y="1394393"/>
          <a:ext cx="11190897" cy="3852459"/>
        </p:xfrm>
        <a:graphic>
          <a:graphicData uri="http://schemas.openxmlformats.org/drawingml/2006/table">
            <a:tbl>
              <a:tblPr/>
              <a:tblGrid>
                <a:gridCol w="3336694">
                  <a:extLst>
                    <a:ext uri="{9D8B030D-6E8A-4147-A177-3AD203B41FA5}">
                      <a16:colId xmlns:a16="http://schemas.microsoft.com/office/drawing/2014/main" val="20000"/>
                    </a:ext>
                  </a:extLst>
                </a:gridCol>
                <a:gridCol w="1547582">
                  <a:extLst>
                    <a:ext uri="{9D8B030D-6E8A-4147-A177-3AD203B41FA5}">
                      <a16:colId xmlns:a16="http://schemas.microsoft.com/office/drawing/2014/main" val="20001"/>
                    </a:ext>
                  </a:extLst>
                </a:gridCol>
                <a:gridCol w="2477921">
                  <a:extLst>
                    <a:ext uri="{9D8B030D-6E8A-4147-A177-3AD203B41FA5}">
                      <a16:colId xmlns:a16="http://schemas.microsoft.com/office/drawing/2014/main" val="20002"/>
                    </a:ext>
                  </a:extLst>
                </a:gridCol>
                <a:gridCol w="2218499">
                  <a:extLst>
                    <a:ext uri="{9D8B030D-6E8A-4147-A177-3AD203B41FA5}">
                      <a16:colId xmlns:a16="http://schemas.microsoft.com/office/drawing/2014/main" val="20003"/>
                    </a:ext>
                  </a:extLst>
                </a:gridCol>
                <a:gridCol w="1610201">
                  <a:extLst>
                    <a:ext uri="{9D8B030D-6E8A-4147-A177-3AD203B41FA5}">
                      <a16:colId xmlns:a16="http://schemas.microsoft.com/office/drawing/2014/main" val="20004"/>
                    </a:ext>
                  </a:extLst>
                </a:gridCol>
              </a:tblGrid>
              <a:tr h="428051">
                <a:tc>
                  <a:txBody>
                    <a:bodyPr/>
                    <a:lstStyle/>
                    <a:p>
                      <a:pPr algn="l"/>
                      <a:r>
                        <a:rPr lang="en-US" sz="1100" b="1" u="none" dirty="0">
                          <a:solidFill>
                            <a:srgbClr val="1F2937"/>
                          </a:solidFill>
                          <a:latin typeface="微软雅黑" pitchFamily="34" charset="0"/>
                          <a:ea typeface="微软雅黑" pitchFamily="34" charset="-122"/>
                          <a:cs typeface="微软雅黑" pitchFamily="34" charset="-120"/>
                        </a:rPr>
                        <a:t>Dataset</a:t>
                      </a:r>
                      <a:endParaRPr lang="en-US" sz="11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0" cap="flat" cmpd="sng" algn="ctr">
                      <a:noFill/>
                    </a:lnT>
                    <a:lnB w="20320" cap="flat" cmpd="sng" algn="ctr">
                      <a:solidFill>
                        <a:srgbClr val="8B0000"/>
                      </a:solidFill>
                      <a:prstDash val="solid"/>
                      <a:round/>
                      <a:headEnd type="none" w="med" len="med"/>
                      <a:tailEnd type="none" w="med" len="med"/>
                    </a:lnB>
                    <a:solidFill>
                      <a:srgbClr val="FFFFFF">
                        <a:alpha val="0"/>
                      </a:srgbClr>
                    </a:solidFill>
                  </a:tcPr>
                </a:tc>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Size</a:t>
                      </a:r>
                      <a:endParaRPr lang="en-US" sz="11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0" cap="flat" cmpd="sng" algn="ctr">
                      <a:noFill/>
                    </a:lnT>
                    <a:lnB w="20320" cap="flat" cmpd="sng" algn="ctr">
                      <a:solidFill>
                        <a:srgbClr val="8B0000"/>
                      </a:solidFill>
                      <a:prstDash val="solid"/>
                      <a:round/>
                      <a:headEnd type="none" w="med" len="med"/>
                      <a:tailEnd type="none" w="med" len="med"/>
                    </a:lnB>
                    <a:solidFill>
                      <a:srgbClr val="FFFFFF">
                        <a:alpha val="0"/>
                      </a:srgbClr>
                    </a:solidFill>
                  </a:tcPr>
                </a:tc>
                <a:tc>
                  <a:txBody>
                    <a:bodyPr/>
                    <a:lstStyle/>
                    <a:p>
                      <a:pPr algn="l"/>
                      <a:r>
                        <a:rPr lang="en-US" sz="1100" b="1" u="none" dirty="0">
                          <a:solidFill>
                            <a:srgbClr val="1F2937"/>
                          </a:solidFill>
                          <a:latin typeface="微软雅黑" pitchFamily="34" charset="0"/>
                          <a:ea typeface="微软雅黑" pitchFamily="34" charset="-122"/>
                          <a:cs typeface="微软雅黑" pitchFamily="34" charset="-120"/>
                        </a:rPr>
                        <a:t>Type</a:t>
                      </a:r>
                      <a:endParaRPr lang="en-US" sz="11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0" cap="flat" cmpd="sng" algn="ctr">
                      <a:noFill/>
                    </a:lnT>
                    <a:lnB w="20320" cap="flat" cmpd="sng" algn="ctr">
                      <a:solidFill>
                        <a:srgbClr val="8B0000"/>
                      </a:solidFill>
                      <a:prstDash val="solid"/>
                      <a:round/>
                      <a:headEnd type="none" w="med" len="med"/>
                      <a:tailEnd type="none" w="med" len="med"/>
                    </a:lnB>
                    <a:solidFill>
                      <a:srgbClr val="FFFFFF">
                        <a:alpha val="0"/>
                      </a:srgbClr>
                    </a:solidFill>
                  </a:tcPr>
                </a:tc>
                <a:tc>
                  <a:txBody>
                    <a:bodyPr/>
                    <a:lstStyle/>
                    <a:p>
                      <a:pPr algn="l"/>
                      <a:r>
                        <a:rPr lang="en-US" sz="1100" b="1" u="none" dirty="0">
                          <a:solidFill>
                            <a:srgbClr val="1F2937"/>
                          </a:solidFill>
                          <a:latin typeface="微软雅黑" pitchFamily="34" charset="0"/>
                          <a:ea typeface="微软雅黑" pitchFamily="34" charset="-122"/>
                          <a:cs typeface="微软雅黑" pitchFamily="34" charset="-120"/>
                        </a:rPr>
                        <a:t>Taxonomy</a:t>
                      </a:r>
                      <a:endParaRPr lang="en-US" sz="11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0" cap="flat" cmpd="sng" algn="ctr">
                      <a:noFill/>
                    </a:lnT>
                    <a:lnB w="20320" cap="flat" cmpd="sng" algn="ctr">
                      <a:solidFill>
                        <a:srgbClr val="8B0000"/>
                      </a:solidFill>
                      <a:prstDash val="solid"/>
                      <a:round/>
                      <a:headEnd type="none" w="med" len="med"/>
                      <a:tailEnd type="none" w="med" len="med"/>
                    </a:lnB>
                    <a:solidFill>
                      <a:srgbClr val="FFFFFF">
                        <a:alpha val="0"/>
                      </a:srgbClr>
                    </a:solidFill>
                  </a:tcPr>
                </a:tc>
                <a:tc>
                  <a:txBody>
                    <a:bodyPr/>
                    <a:lstStyle/>
                    <a:p>
                      <a:pPr algn="ctr"/>
                      <a:r>
                        <a:rPr lang="en-US" sz="1100" b="1" u="none" dirty="0">
                          <a:solidFill>
                            <a:srgbClr val="1F2937"/>
                          </a:solidFill>
                          <a:latin typeface="微软雅黑" pitchFamily="34" charset="0"/>
                          <a:ea typeface="微软雅黑" pitchFamily="34" charset="-122"/>
                          <a:cs typeface="微软雅黑" pitchFamily="34" charset="-120"/>
                        </a:rPr>
                        <a:t>Status</a:t>
                      </a:r>
                      <a:endParaRPr lang="en-US" sz="11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0" cap="flat" cmpd="sng" algn="ctr">
                      <a:noFill/>
                    </a:lnT>
                    <a:lnB w="20320" cap="flat" cmpd="sng" algn="ctr">
                      <a:solidFill>
                        <a:srgbClr val="8B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Li et al. (2022)</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20320" cap="flat" cmpd="sng" algn="ctr">
                      <a:solidFill>
                        <a:srgbClr val="8B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21,380</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20320" cap="flat" cmpd="sng" algn="ctr">
                      <a:solidFill>
                        <a:srgbClr val="8B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Learning Objectives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20320" cap="flat" cmpd="sng" algn="ctr">
                      <a:solidFill>
                        <a:srgbClr val="8B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Original (6 levels)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20320" cap="flat" cmpd="sng" algn="ctr">
                      <a:solidFill>
                        <a:srgbClr val="8B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PRIVATE</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20320" cap="flat" cmpd="sng" algn="ctr">
                      <a:solidFill>
                        <a:srgbClr val="8B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Banujan et al. (2023)</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16,584</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Exam Questions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Revised</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PRIVATE</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Gani &amp; </a:t>
                      </a:r>
                      <a:r>
                        <a:rPr lang="en-US" sz="900" b="1" u="none" dirty="0" err="1">
                          <a:solidFill>
                            <a:srgbClr val="1F2937"/>
                          </a:solidFill>
                          <a:latin typeface="微软雅黑" pitchFamily="34" charset="0"/>
                          <a:ea typeface="微软雅黑" pitchFamily="34" charset="-122"/>
                          <a:cs typeface="微软雅黑" pitchFamily="34" charset="-120"/>
                        </a:rPr>
                        <a:t>Sangodiah</a:t>
                      </a:r>
                      <a:r>
                        <a:rPr lang="en-US" sz="900" b="1" u="none" dirty="0">
                          <a:solidFill>
                            <a:srgbClr val="1F2937"/>
                          </a:solidFill>
                          <a:latin typeface="微软雅黑" pitchFamily="34" charset="0"/>
                          <a:ea typeface="微软雅黑" pitchFamily="34" charset="-122"/>
                          <a:cs typeface="微软雅黑" pitchFamily="34" charset="-120"/>
                        </a:rPr>
                        <a:t> (2024)</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~2,500</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Exam Questions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Original (6 levels)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PUBLIC</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Sebbaq &amp; El </a:t>
                      </a:r>
                      <a:r>
                        <a:rPr lang="en-US" sz="900" b="1" u="none" dirty="0" err="1">
                          <a:solidFill>
                            <a:srgbClr val="1F2937"/>
                          </a:solidFill>
                          <a:latin typeface="微软雅黑" pitchFamily="34" charset="0"/>
                          <a:ea typeface="微软雅黑" pitchFamily="34" charset="-122"/>
                          <a:cs typeface="微软雅黑" pitchFamily="34" charset="-120"/>
                        </a:rPr>
                        <a:t>Faddouli</a:t>
                      </a:r>
                      <a:r>
                        <a:rPr lang="en-US" sz="900" b="1" u="none" dirty="0">
                          <a:solidFill>
                            <a:srgbClr val="1F2937"/>
                          </a:solidFill>
                          <a:latin typeface="微软雅黑" pitchFamily="34" charset="0"/>
                          <a:ea typeface="微软雅黑" pitchFamily="34" charset="-122"/>
                          <a:cs typeface="微软雅黑" pitchFamily="34" charset="-120"/>
                        </a:rPr>
                        <a:t> (2022)</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2,394</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Learning Objectives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Original (6 levels)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PRIVATE</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Yahya et al. (2012)</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600</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Exam Questions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Original (6 levels)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PUBLIC</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Waheed et al. (2021)</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741</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Exam Questions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Original (6 levels)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PUBLIC</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6"/>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Haris &amp; Omar (2015)</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141</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Exam Questions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Original (6 levels)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PUBLIC</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1016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7"/>
                  </a:ext>
                </a:extLst>
              </a:tr>
              <a:tr h="428051">
                <a:tc>
                  <a:txBody>
                    <a:bodyPr/>
                    <a:lstStyle/>
                    <a:p>
                      <a:r>
                        <a:rPr lang="en-US" sz="900" b="1" u="none" dirty="0">
                          <a:solidFill>
                            <a:srgbClr val="1F2937"/>
                          </a:solidFill>
                          <a:latin typeface="微软雅黑" pitchFamily="34" charset="0"/>
                          <a:ea typeface="微软雅黑" pitchFamily="34" charset="-122"/>
                          <a:cs typeface="微软雅黑" pitchFamily="34" charset="-120"/>
                        </a:rPr>
                        <a:t>Devane (2023) - Kaggle</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Varies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Exam Questions</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900" u="none" dirty="0">
                          <a:solidFill>
                            <a:srgbClr val="6B7280"/>
                          </a:solidFill>
                          <a:latin typeface="微软雅黑" pitchFamily="34" charset="0"/>
                          <a:ea typeface="微软雅黑" pitchFamily="34" charset="-122"/>
                          <a:cs typeface="微软雅黑" pitchFamily="34" charset="-120"/>
                        </a:rPr>
                        <a:t>Mixed</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900" u="none" dirty="0">
                          <a:solidFill>
                            <a:srgbClr val="1F2937"/>
                          </a:solidFill>
                          <a:latin typeface="微软雅黑" pitchFamily="34" charset="0"/>
                          <a:ea typeface="微软雅黑" pitchFamily="34" charset="-122"/>
                          <a:cs typeface="微软雅黑" pitchFamily="34" charset="-120"/>
                        </a:rPr>
                        <a:t>PUBLIC</a:t>
                      </a:r>
                      <a:endParaRPr lang="en-US" sz="900" dirty="0">
                        <a:latin typeface="微软雅黑" charset="0"/>
                        <a:ea typeface="微软雅黑" charset="0"/>
                        <a:cs typeface="微软雅黑" charset="0"/>
                      </a:endParaRPr>
                    </a:p>
                  </a:txBody>
                  <a:tcPr marL="107261" marR="107261" marT="71507" marB="71507" anchor="ctr">
                    <a:lnL w="0" cap="flat" cmpd="sng" algn="ctr">
                      <a:noFill/>
                    </a:lnL>
                    <a:lnR w="0" cap="flat" cmpd="sng" algn="ctr">
                      <a:noFill/>
                    </a:lnR>
                    <a:lnT w="1016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8"/>
                  </a:ext>
                </a:extLst>
              </a:tr>
            </a:tbl>
          </a:graphicData>
        </a:graphic>
      </p:graphicFrame>
      <p:sp>
        <p:nvSpPr>
          <p:cNvPr id="7" name="Shape 4"/>
          <p:cNvSpPr/>
          <p:nvPr/>
        </p:nvSpPr>
        <p:spPr>
          <a:xfrm>
            <a:off x="375413" y="5533774"/>
            <a:ext cx="3709443" cy="1322886"/>
          </a:xfrm>
          <a:custGeom>
            <a:avLst/>
            <a:gdLst/>
            <a:ahLst/>
            <a:cxnLst/>
            <a:rect l="l" t="t" r="r" b="b"/>
            <a:pathLst>
              <a:path w="3709443" h="1322886">
                <a:moveTo>
                  <a:pt x="0" y="0"/>
                </a:moveTo>
                <a:lnTo>
                  <a:pt x="3709443" y="0"/>
                </a:lnTo>
                <a:lnTo>
                  <a:pt x="3709443" y="1322886"/>
                </a:lnTo>
                <a:lnTo>
                  <a:pt x="0" y="1322886"/>
                </a:lnTo>
                <a:lnTo>
                  <a:pt x="0" y="0"/>
                </a:lnTo>
                <a:close/>
              </a:path>
            </a:pathLst>
          </a:custGeom>
          <a:solidFill>
            <a:srgbClr val="F9FAFB"/>
          </a:solidFill>
          <a:ln/>
        </p:spPr>
        <p:txBody>
          <a:bodyPr/>
          <a:lstStyle/>
          <a:p>
            <a:endParaRPr lang="en-US"/>
          </a:p>
        </p:txBody>
      </p:sp>
      <p:sp>
        <p:nvSpPr>
          <p:cNvPr id="8" name="Shape 5"/>
          <p:cNvSpPr/>
          <p:nvPr/>
        </p:nvSpPr>
        <p:spPr>
          <a:xfrm>
            <a:off x="375413" y="5533774"/>
            <a:ext cx="35754" cy="1322886"/>
          </a:xfrm>
          <a:custGeom>
            <a:avLst/>
            <a:gdLst/>
            <a:ahLst/>
            <a:cxnLst/>
            <a:rect l="l" t="t" r="r" b="b"/>
            <a:pathLst>
              <a:path w="35754" h="1322886">
                <a:moveTo>
                  <a:pt x="0" y="0"/>
                </a:moveTo>
                <a:lnTo>
                  <a:pt x="35754" y="0"/>
                </a:lnTo>
                <a:lnTo>
                  <a:pt x="35754" y="1322886"/>
                </a:lnTo>
                <a:lnTo>
                  <a:pt x="0" y="1322886"/>
                </a:lnTo>
                <a:lnTo>
                  <a:pt x="0" y="0"/>
                </a:lnTo>
                <a:close/>
              </a:path>
            </a:pathLst>
          </a:custGeom>
          <a:solidFill>
            <a:srgbClr val="8B0000"/>
          </a:solidFill>
          <a:ln/>
        </p:spPr>
        <p:txBody>
          <a:bodyPr/>
          <a:lstStyle/>
          <a:p>
            <a:endParaRPr lang="en-US"/>
          </a:p>
        </p:txBody>
      </p:sp>
      <p:sp>
        <p:nvSpPr>
          <p:cNvPr id="9" name="Text 6"/>
          <p:cNvSpPr/>
          <p:nvPr/>
        </p:nvSpPr>
        <p:spPr>
          <a:xfrm>
            <a:off x="536305" y="5676789"/>
            <a:ext cx="3485982" cy="250276"/>
          </a:xfrm>
          <a:prstGeom prst="rect">
            <a:avLst/>
          </a:prstGeom>
          <a:noFill/>
          <a:ln/>
        </p:spPr>
        <p:txBody>
          <a:bodyPr wrap="square" lIns="0" tIns="0" rIns="0" bIns="0" rtlCol="0" anchor="ctr"/>
          <a:lstStyle/>
          <a:p>
            <a:pPr>
              <a:lnSpc>
                <a:spcPct val="130000"/>
              </a:lnSpc>
            </a:pPr>
            <a:r>
              <a:rPr lang="en-US" sz="1267" b="1" dirty="0">
                <a:solidFill>
                  <a:srgbClr val="1F2937"/>
                </a:solidFill>
                <a:latin typeface="Sorts Mill Goudy" pitchFamily="34" charset="0"/>
                <a:ea typeface="Sorts Mill Goudy" pitchFamily="34" charset="-122"/>
                <a:cs typeface="Sorts Mill Goudy" pitchFamily="34" charset="-120"/>
              </a:rPr>
              <a:t>Size Distribution</a:t>
            </a:r>
            <a:endParaRPr lang="en-US" sz="1600" dirty="0"/>
          </a:p>
        </p:txBody>
      </p:sp>
      <p:sp>
        <p:nvSpPr>
          <p:cNvPr id="10" name="Text 7"/>
          <p:cNvSpPr/>
          <p:nvPr/>
        </p:nvSpPr>
        <p:spPr>
          <a:xfrm>
            <a:off x="536305" y="6034326"/>
            <a:ext cx="732950"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Large (&gt;10K)</a:t>
            </a:r>
            <a:endParaRPr lang="en-US" sz="1600" dirty="0"/>
          </a:p>
        </p:txBody>
      </p:sp>
      <p:sp>
        <p:nvSpPr>
          <p:cNvPr id="6" name="Text 8"/>
          <p:cNvSpPr/>
          <p:nvPr/>
        </p:nvSpPr>
        <p:spPr>
          <a:xfrm>
            <a:off x="3429782" y="6034326"/>
            <a:ext cx="572059" cy="178768"/>
          </a:xfrm>
          <a:prstGeom prst="rect">
            <a:avLst/>
          </a:prstGeom>
          <a:noFill/>
          <a:ln/>
        </p:spPr>
        <p:txBody>
          <a:bodyPr wrap="square" lIns="0" tIns="0" rIns="0" bIns="0" rtlCol="0" anchor="ctr"/>
          <a:lstStyle/>
          <a:p>
            <a:pPr>
              <a:lnSpc>
                <a:spcPct val="120000"/>
              </a:lnSpc>
            </a:pPr>
            <a:r>
              <a:rPr lang="en-US" sz="985" b="1" dirty="0">
                <a:solidFill>
                  <a:srgbClr val="8B0000"/>
                </a:solidFill>
                <a:latin typeface="Sorts Mill Goudy" pitchFamily="34" charset="0"/>
                <a:ea typeface="Sorts Mill Goudy" pitchFamily="34" charset="-122"/>
                <a:cs typeface="Sorts Mill Goudy" pitchFamily="34" charset="-120"/>
              </a:rPr>
              <a:t>2 datasets</a:t>
            </a:r>
            <a:endParaRPr lang="en-US" sz="1600" dirty="0"/>
          </a:p>
        </p:txBody>
      </p:sp>
      <p:sp>
        <p:nvSpPr>
          <p:cNvPr id="12" name="Text 9"/>
          <p:cNvSpPr/>
          <p:nvPr/>
        </p:nvSpPr>
        <p:spPr>
          <a:xfrm>
            <a:off x="536305" y="6284601"/>
            <a:ext cx="1001103"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Medium (1K-10K)</a:t>
            </a:r>
            <a:endParaRPr lang="en-US" sz="1600" dirty="0"/>
          </a:p>
        </p:txBody>
      </p:sp>
      <p:sp>
        <p:nvSpPr>
          <p:cNvPr id="13" name="Text 10"/>
          <p:cNvSpPr/>
          <p:nvPr/>
        </p:nvSpPr>
        <p:spPr>
          <a:xfrm>
            <a:off x="3429782" y="6284601"/>
            <a:ext cx="572059" cy="178768"/>
          </a:xfrm>
          <a:prstGeom prst="rect">
            <a:avLst/>
          </a:prstGeom>
          <a:noFill/>
          <a:ln/>
        </p:spPr>
        <p:txBody>
          <a:bodyPr wrap="square" lIns="0" tIns="0" rIns="0" bIns="0" rtlCol="0" anchor="ctr"/>
          <a:lstStyle/>
          <a:p>
            <a:pPr>
              <a:lnSpc>
                <a:spcPct val="120000"/>
              </a:lnSpc>
            </a:pPr>
            <a:r>
              <a:rPr lang="en-US" sz="985" b="1" dirty="0">
                <a:solidFill>
                  <a:srgbClr val="1F2937"/>
                </a:solidFill>
                <a:latin typeface="Sorts Mill Goudy" pitchFamily="34" charset="0"/>
                <a:ea typeface="Sorts Mill Goudy" pitchFamily="34" charset="-122"/>
                <a:cs typeface="Sorts Mill Goudy" pitchFamily="34" charset="-120"/>
              </a:rPr>
              <a:t>2 datasets</a:t>
            </a:r>
            <a:endParaRPr lang="en-US" sz="1600" dirty="0"/>
          </a:p>
        </p:txBody>
      </p:sp>
      <p:sp>
        <p:nvSpPr>
          <p:cNvPr id="14" name="Text 11"/>
          <p:cNvSpPr/>
          <p:nvPr/>
        </p:nvSpPr>
        <p:spPr>
          <a:xfrm>
            <a:off x="536305" y="6534877"/>
            <a:ext cx="679320"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Small (&lt;1K)</a:t>
            </a:r>
            <a:endParaRPr lang="en-US" sz="1600" dirty="0"/>
          </a:p>
        </p:txBody>
      </p:sp>
      <p:sp>
        <p:nvSpPr>
          <p:cNvPr id="15" name="Text 12"/>
          <p:cNvSpPr/>
          <p:nvPr/>
        </p:nvSpPr>
        <p:spPr>
          <a:xfrm>
            <a:off x="3359280" y="6534877"/>
            <a:ext cx="643566" cy="178768"/>
          </a:xfrm>
          <a:prstGeom prst="rect">
            <a:avLst/>
          </a:prstGeom>
          <a:noFill/>
          <a:ln/>
        </p:spPr>
        <p:txBody>
          <a:bodyPr wrap="square" lIns="0" tIns="0" rIns="0" bIns="0" rtlCol="0" anchor="ctr"/>
          <a:lstStyle/>
          <a:p>
            <a:pPr>
              <a:lnSpc>
                <a:spcPct val="120000"/>
              </a:lnSpc>
            </a:pPr>
            <a:r>
              <a:rPr lang="en-US" sz="985" b="1" dirty="0">
                <a:solidFill>
                  <a:srgbClr val="6B7280"/>
                </a:solidFill>
                <a:latin typeface="Sorts Mill Goudy" pitchFamily="34" charset="0"/>
                <a:ea typeface="Sorts Mill Goudy" pitchFamily="34" charset="-122"/>
                <a:cs typeface="Sorts Mill Goudy" pitchFamily="34" charset="-120"/>
              </a:rPr>
              <a:t>4+ datasets</a:t>
            </a:r>
            <a:endParaRPr lang="en-US" sz="1600" dirty="0"/>
          </a:p>
        </p:txBody>
      </p:sp>
      <p:sp>
        <p:nvSpPr>
          <p:cNvPr id="16" name="Shape 13"/>
          <p:cNvSpPr/>
          <p:nvPr/>
        </p:nvSpPr>
        <p:spPr>
          <a:xfrm>
            <a:off x="4247312" y="5533774"/>
            <a:ext cx="3709443" cy="1322886"/>
          </a:xfrm>
          <a:custGeom>
            <a:avLst/>
            <a:gdLst/>
            <a:ahLst/>
            <a:cxnLst/>
            <a:rect l="l" t="t" r="r" b="b"/>
            <a:pathLst>
              <a:path w="3709443" h="1322886">
                <a:moveTo>
                  <a:pt x="0" y="0"/>
                </a:moveTo>
                <a:lnTo>
                  <a:pt x="3709443" y="0"/>
                </a:lnTo>
                <a:lnTo>
                  <a:pt x="3709443" y="1322886"/>
                </a:lnTo>
                <a:lnTo>
                  <a:pt x="0" y="1322886"/>
                </a:lnTo>
                <a:lnTo>
                  <a:pt x="0" y="0"/>
                </a:lnTo>
                <a:close/>
              </a:path>
            </a:pathLst>
          </a:custGeom>
          <a:solidFill>
            <a:srgbClr val="F9FAFB"/>
          </a:solidFill>
          <a:ln/>
        </p:spPr>
        <p:txBody>
          <a:bodyPr/>
          <a:lstStyle/>
          <a:p>
            <a:endParaRPr lang="en-US"/>
          </a:p>
        </p:txBody>
      </p:sp>
      <p:sp>
        <p:nvSpPr>
          <p:cNvPr id="17" name="Shape 14"/>
          <p:cNvSpPr/>
          <p:nvPr/>
        </p:nvSpPr>
        <p:spPr>
          <a:xfrm>
            <a:off x="4247312" y="5533774"/>
            <a:ext cx="35754" cy="1322886"/>
          </a:xfrm>
          <a:custGeom>
            <a:avLst/>
            <a:gdLst/>
            <a:ahLst/>
            <a:cxnLst/>
            <a:rect l="l" t="t" r="r" b="b"/>
            <a:pathLst>
              <a:path w="35754" h="1322886">
                <a:moveTo>
                  <a:pt x="0" y="0"/>
                </a:moveTo>
                <a:lnTo>
                  <a:pt x="35754" y="0"/>
                </a:lnTo>
                <a:lnTo>
                  <a:pt x="35754" y="1322886"/>
                </a:lnTo>
                <a:lnTo>
                  <a:pt x="0" y="1322886"/>
                </a:lnTo>
                <a:lnTo>
                  <a:pt x="0" y="0"/>
                </a:lnTo>
                <a:close/>
              </a:path>
            </a:pathLst>
          </a:custGeom>
          <a:solidFill>
            <a:srgbClr val="1F2937"/>
          </a:solidFill>
          <a:ln/>
        </p:spPr>
        <p:txBody>
          <a:bodyPr/>
          <a:lstStyle/>
          <a:p>
            <a:endParaRPr lang="en-US"/>
          </a:p>
        </p:txBody>
      </p:sp>
      <p:sp>
        <p:nvSpPr>
          <p:cNvPr id="18" name="Text 15"/>
          <p:cNvSpPr/>
          <p:nvPr/>
        </p:nvSpPr>
        <p:spPr>
          <a:xfrm>
            <a:off x="4408204" y="5676789"/>
            <a:ext cx="3485982" cy="250276"/>
          </a:xfrm>
          <a:prstGeom prst="rect">
            <a:avLst/>
          </a:prstGeom>
          <a:noFill/>
          <a:ln/>
        </p:spPr>
        <p:txBody>
          <a:bodyPr wrap="square" lIns="0" tIns="0" rIns="0" bIns="0" rtlCol="0" anchor="ctr"/>
          <a:lstStyle/>
          <a:p>
            <a:pPr>
              <a:lnSpc>
                <a:spcPct val="130000"/>
              </a:lnSpc>
            </a:pPr>
            <a:r>
              <a:rPr lang="en-US" sz="1267" b="1" dirty="0">
                <a:solidFill>
                  <a:srgbClr val="1F2937"/>
                </a:solidFill>
                <a:latin typeface="Sorts Mill Goudy" pitchFamily="34" charset="0"/>
                <a:ea typeface="Sorts Mill Goudy" pitchFamily="34" charset="-122"/>
                <a:cs typeface="Sorts Mill Goudy" pitchFamily="34" charset="-120"/>
              </a:rPr>
              <a:t>Content Type</a:t>
            </a:r>
            <a:endParaRPr lang="en-US" sz="1600" dirty="0"/>
          </a:p>
        </p:txBody>
      </p:sp>
      <p:sp>
        <p:nvSpPr>
          <p:cNvPr id="19" name="Text 16"/>
          <p:cNvSpPr/>
          <p:nvPr/>
        </p:nvSpPr>
        <p:spPr>
          <a:xfrm>
            <a:off x="4408204" y="6034326"/>
            <a:ext cx="1153056"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Learning Objectives</a:t>
            </a:r>
            <a:endParaRPr lang="en-US" sz="1600" dirty="0"/>
          </a:p>
        </p:txBody>
      </p:sp>
      <p:sp>
        <p:nvSpPr>
          <p:cNvPr id="20" name="Text 17"/>
          <p:cNvSpPr/>
          <p:nvPr/>
        </p:nvSpPr>
        <p:spPr>
          <a:xfrm>
            <a:off x="7301793" y="6034326"/>
            <a:ext cx="572059" cy="178768"/>
          </a:xfrm>
          <a:prstGeom prst="rect">
            <a:avLst/>
          </a:prstGeom>
          <a:noFill/>
          <a:ln/>
        </p:spPr>
        <p:txBody>
          <a:bodyPr wrap="square" lIns="0" tIns="0" rIns="0" bIns="0" rtlCol="0" anchor="ctr"/>
          <a:lstStyle/>
          <a:p>
            <a:pPr>
              <a:lnSpc>
                <a:spcPct val="120000"/>
              </a:lnSpc>
            </a:pPr>
            <a:r>
              <a:rPr lang="en-US" sz="985" b="1" dirty="0">
                <a:solidFill>
                  <a:srgbClr val="8B0000"/>
                </a:solidFill>
                <a:latin typeface="Sorts Mill Goudy" pitchFamily="34" charset="0"/>
                <a:ea typeface="Sorts Mill Goudy" pitchFamily="34" charset="-122"/>
                <a:cs typeface="Sorts Mill Goudy" pitchFamily="34" charset="-120"/>
              </a:rPr>
              <a:t>2 datasets</a:t>
            </a:r>
            <a:endParaRPr lang="en-US" sz="1600" dirty="0"/>
          </a:p>
        </p:txBody>
      </p:sp>
      <p:sp>
        <p:nvSpPr>
          <p:cNvPr id="21" name="Text 18"/>
          <p:cNvSpPr/>
          <p:nvPr/>
        </p:nvSpPr>
        <p:spPr>
          <a:xfrm>
            <a:off x="4408204" y="6284601"/>
            <a:ext cx="947472"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Exam Questions</a:t>
            </a:r>
            <a:endParaRPr lang="en-US" sz="1600" dirty="0"/>
          </a:p>
        </p:txBody>
      </p:sp>
      <p:sp>
        <p:nvSpPr>
          <p:cNvPr id="22" name="Text 19"/>
          <p:cNvSpPr/>
          <p:nvPr/>
        </p:nvSpPr>
        <p:spPr>
          <a:xfrm>
            <a:off x="7232184" y="6284601"/>
            <a:ext cx="643566" cy="178768"/>
          </a:xfrm>
          <a:prstGeom prst="rect">
            <a:avLst/>
          </a:prstGeom>
          <a:noFill/>
          <a:ln/>
        </p:spPr>
        <p:txBody>
          <a:bodyPr wrap="square" lIns="0" tIns="0" rIns="0" bIns="0" rtlCol="0" anchor="ctr"/>
          <a:lstStyle/>
          <a:p>
            <a:pPr>
              <a:lnSpc>
                <a:spcPct val="120000"/>
              </a:lnSpc>
            </a:pPr>
            <a:r>
              <a:rPr lang="en-US" sz="985" b="1" dirty="0">
                <a:solidFill>
                  <a:srgbClr val="1F2937"/>
                </a:solidFill>
                <a:latin typeface="Sorts Mill Goudy" pitchFamily="34" charset="0"/>
                <a:ea typeface="Sorts Mill Goudy" pitchFamily="34" charset="-122"/>
                <a:cs typeface="Sorts Mill Goudy" pitchFamily="34" charset="-120"/>
              </a:rPr>
              <a:t>6+ datasets</a:t>
            </a:r>
            <a:endParaRPr lang="en-US" sz="1600" dirty="0"/>
          </a:p>
        </p:txBody>
      </p:sp>
      <p:sp>
        <p:nvSpPr>
          <p:cNvPr id="23" name="Text 20"/>
          <p:cNvSpPr/>
          <p:nvPr/>
        </p:nvSpPr>
        <p:spPr>
          <a:xfrm>
            <a:off x="4408204" y="6534877"/>
            <a:ext cx="795519"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Mixed/Other</a:t>
            </a:r>
            <a:endParaRPr lang="en-US" sz="1600" dirty="0"/>
          </a:p>
        </p:txBody>
      </p:sp>
      <p:sp>
        <p:nvSpPr>
          <p:cNvPr id="24" name="Text 21"/>
          <p:cNvSpPr/>
          <p:nvPr/>
        </p:nvSpPr>
        <p:spPr>
          <a:xfrm>
            <a:off x="7367043" y="6534877"/>
            <a:ext cx="509490" cy="178768"/>
          </a:xfrm>
          <a:prstGeom prst="rect">
            <a:avLst/>
          </a:prstGeom>
          <a:noFill/>
          <a:ln/>
        </p:spPr>
        <p:txBody>
          <a:bodyPr wrap="square" lIns="0" tIns="0" rIns="0" bIns="0" rtlCol="0" anchor="ctr"/>
          <a:lstStyle/>
          <a:p>
            <a:pPr>
              <a:lnSpc>
                <a:spcPct val="120000"/>
              </a:lnSpc>
            </a:pPr>
            <a:r>
              <a:rPr lang="en-US" sz="985" b="1" dirty="0">
                <a:solidFill>
                  <a:srgbClr val="6B7280"/>
                </a:solidFill>
                <a:latin typeface="Sorts Mill Goudy" pitchFamily="34" charset="0"/>
                <a:ea typeface="Sorts Mill Goudy" pitchFamily="34" charset="-122"/>
                <a:cs typeface="Sorts Mill Goudy" pitchFamily="34" charset="-120"/>
              </a:rPr>
              <a:t>1 dataset</a:t>
            </a:r>
            <a:endParaRPr lang="en-US" sz="1600" dirty="0"/>
          </a:p>
        </p:txBody>
      </p:sp>
      <p:sp>
        <p:nvSpPr>
          <p:cNvPr id="25" name="Shape 22"/>
          <p:cNvSpPr/>
          <p:nvPr/>
        </p:nvSpPr>
        <p:spPr>
          <a:xfrm>
            <a:off x="8119322" y="5533774"/>
            <a:ext cx="3709443" cy="1322886"/>
          </a:xfrm>
          <a:custGeom>
            <a:avLst/>
            <a:gdLst/>
            <a:ahLst/>
            <a:cxnLst/>
            <a:rect l="l" t="t" r="r" b="b"/>
            <a:pathLst>
              <a:path w="3709443" h="1322886">
                <a:moveTo>
                  <a:pt x="0" y="0"/>
                </a:moveTo>
                <a:lnTo>
                  <a:pt x="3709443" y="0"/>
                </a:lnTo>
                <a:lnTo>
                  <a:pt x="3709443" y="1322886"/>
                </a:lnTo>
                <a:lnTo>
                  <a:pt x="0" y="1322886"/>
                </a:lnTo>
                <a:lnTo>
                  <a:pt x="0" y="0"/>
                </a:lnTo>
                <a:close/>
              </a:path>
            </a:pathLst>
          </a:custGeom>
          <a:solidFill>
            <a:srgbClr val="F9FAFB"/>
          </a:solidFill>
          <a:ln/>
        </p:spPr>
        <p:txBody>
          <a:bodyPr/>
          <a:lstStyle/>
          <a:p>
            <a:endParaRPr lang="en-US"/>
          </a:p>
        </p:txBody>
      </p:sp>
      <p:sp>
        <p:nvSpPr>
          <p:cNvPr id="26" name="Shape 23"/>
          <p:cNvSpPr/>
          <p:nvPr/>
        </p:nvSpPr>
        <p:spPr>
          <a:xfrm>
            <a:off x="8119322" y="5533774"/>
            <a:ext cx="35754" cy="1322886"/>
          </a:xfrm>
          <a:custGeom>
            <a:avLst/>
            <a:gdLst/>
            <a:ahLst/>
            <a:cxnLst/>
            <a:rect l="l" t="t" r="r" b="b"/>
            <a:pathLst>
              <a:path w="35754" h="1322886">
                <a:moveTo>
                  <a:pt x="0" y="0"/>
                </a:moveTo>
                <a:lnTo>
                  <a:pt x="35754" y="0"/>
                </a:lnTo>
                <a:lnTo>
                  <a:pt x="35754" y="1322886"/>
                </a:lnTo>
                <a:lnTo>
                  <a:pt x="0" y="1322886"/>
                </a:lnTo>
                <a:lnTo>
                  <a:pt x="0" y="0"/>
                </a:lnTo>
                <a:close/>
              </a:path>
            </a:pathLst>
          </a:custGeom>
          <a:solidFill>
            <a:srgbClr val="6B7280"/>
          </a:solidFill>
          <a:ln/>
        </p:spPr>
        <p:txBody>
          <a:bodyPr/>
          <a:lstStyle/>
          <a:p>
            <a:endParaRPr lang="en-US"/>
          </a:p>
        </p:txBody>
      </p:sp>
      <p:sp>
        <p:nvSpPr>
          <p:cNvPr id="27" name="Text 24"/>
          <p:cNvSpPr/>
          <p:nvPr/>
        </p:nvSpPr>
        <p:spPr>
          <a:xfrm>
            <a:off x="8280214" y="5676789"/>
            <a:ext cx="3485982" cy="250276"/>
          </a:xfrm>
          <a:prstGeom prst="rect">
            <a:avLst/>
          </a:prstGeom>
          <a:noFill/>
          <a:ln/>
        </p:spPr>
        <p:txBody>
          <a:bodyPr wrap="square" lIns="0" tIns="0" rIns="0" bIns="0" rtlCol="0" anchor="ctr"/>
          <a:lstStyle/>
          <a:p>
            <a:pPr>
              <a:lnSpc>
                <a:spcPct val="130000"/>
              </a:lnSpc>
            </a:pPr>
            <a:r>
              <a:rPr lang="en-US" sz="1267" b="1" dirty="0">
                <a:solidFill>
                  <a:srgbClr val="1F2937"/>
                </a:solidFill>
                <a:latin typeface="Sorts Mill Goudy" pitchFamily="34" charset="0"/>
                <a:ea typeface="Sorts Mill Goudy" pitchFamily="34" charset="-122"/>
                <a:cs typeface="Sorts Mill Goudy" pitchFamily="34" charset="-120"/>
              </a:rPr>
              <a:t>Availability</a:t>
            </a:r>
            <a:endParaRPr lang="en-US" sz="1600" dirty="0"/>
          </a:p>
        </p:txBody>
      </p:sp>
      <p:sp>
        <p:nvSpPr>
          <p:cNvPr id="28" name="Text 25"/>
          <p:cNvSpPr/>
          <p:nvPr/>
        </p:nvSpPr>
        <p:spPr>
          <a:xfrm>
            <a:off x="8280214" y="6034326"/>
            <a:ext cx="402229"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Public</a:t>
            </a:r>
            <a:endParaRPr lang="en-US" sz="1600" dirty="0"/>
          </a:p>
        </p:txBody>
      </p:sp>
      <p:sp>
        <p:nvSpPr>
          <p:cNvPr id="29" name="Text 26"/>
          <p:cNvSpPr/>
          <p:nvPr/>
        </p:nvSpPr>
        <p:spPr>
          <a:xfrm>
            <a:off x="11189556" y="6034326"/>
            <a:ext cx="563120" cy="178768"/>
          </a:xfrm>
          <a:prstGeom prst="rect">
            <a:avLst/>
          </a:prstGeom>
          <a:noFill/>
          <a:ln/>
        </p:spPr>
        <p:txBody>
          <a:bodyPr wrap="square" lIns="0" tIns="0" rIns="0" bIns="0" rtlCol="0" anchor="ctr"/>
          <a:lstStyle/>
          <a:p>
            <a:pPr>
              <a:lnSpc>
                <a:spcPct val="120000"/>
              </a:lnSpc>
            </a:pPr>
            <a:r>
              <a:rPr lang="en-US" sz="985" b="1" dirty="0">
                <a:solidFill>
                  <a:srgbClr val="8B0000"/>
                </a:solidFill>
                <a:latin typeface="Sorts Mill Goudy" pitchFamily="34" charset="0"/>
                <a:ea typeface="Sorts Mill Goudy" pitchFamily="34" charset="-122"/>
                <a:cs typeface="Sorts Mill Goudy" pitchFamily="34" charset="-120"/>
              </a:rPr>
              <a:t>5 datasets</a:t>
            </a:r>
            <a:endParaRPr lang="en-US" sz="1600" dirty="0"/>
          </a:p>
        </p:txBody>
      </p:sp>
      <p:sp>
        <p:nvSpPr>
          <p:cNvPr id="30" name="Text 27"/>
          <p:cNvSpPr/>
          <p:nvPr/>
        </p:nvSpPr>
        <p:spPr>
          <a:xfrm>
            <a:off x="8280214" y="6284601"/>
            <a:ext cx="437982"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Private</a:t>
            </a:r>
            <a:endParaRPr lang="en-US" sz="1600" dirty="0"/>
          </a:p>
        </p:txBody>
      </p:sp>
      <p:sp>
        <p:nvSpPr>
          <p:cNvPr id="31" name="Text 28"/>
          <p:cNvSpPr/>
          <p:nvPr/>
        </p:nvSpPr>
        <p:spPr>
          <a:xfrm>
            <a:off x="11181848" y="6284601"/>
            <a:ext cx="572059" cy="178768"/>
          </a:xfrm>
          <a:prstGeom prst="rect">
            <a:avLst/>
          </a:prstGeom>
          <a:noFill/>
          <a:ln/>
        </p:spPr>
        <p:txBody>
          <a:bodyPr wrap="square" lIns="0" tIns="0" rIns="0" bIns="0" rtlCol="0" anchor="ctr"/>
          <a:lstStyle/>
          <a:p>
            <a:pPr>
              <a:lnSpc>
                <a:spcPct val="120000"/>
              </a:lnSpc>
            </a:pPr>
            <a:r>
              <a:rPr lang="en-US" sz="985" b="1" dirty="0">
                <a:solidFill>
                  <a:srgbClr val="1F2937"/>
                </a:solidFill>
                <a:latin typeface="Sorts Mill Goudy" pitchFamily="34" charset="0"/>
                <a:ea typeface="Sorts Mill Goudy" pitchFamily="34" charset="-122"/>
                <a:cs typeface="Sorts Mill Goudy" pitchFamily="34" charset="-120"/>
              </a:rPr>
              <a:t>3 datasets</a:t>
            </a:r>
            <a:endParaRPr lang="en-US" sz="1600" dirty="0"/>
          </a:p>
        </p:txBody>
      </p:sp>
      <p:sp>
        <p:nvSpPr>
          <p:cNvPr id="32" name="Text 29"/>
          <p:cNvSpPr/>
          <p:nvPr/>
        </p:nvSpPr>
        <p:spPr>
          <a:xfrm>
            <a:off x="8280214" y="6534877"/>
            <a:ext cx="527367" cy="178768"/>
          </a:xfrm>
          <a:prstGeom prst="rect">
            <a:avLst/>
          </a:prstGeom>
          <a:noFill/>
          <a:ln/>
        </p:spPr>
        <p:txBody>
          <a:bodyPr wrap="square" lIns="0" tIns="0" rIns="0" bIns="0" rtlCol="0" anchor="ctr"/>
          <a:lstStyle/>
          <a:p>
            <a:pPr>
              <a:lnSpc>
                <a:spcPct val="120000"/>
              </a:lnSpc>
            </a:pPr>
            <a:r>
              <a:rPr lang="en-US" sz="985" dirty="0">
                <a:solidFill>
                  <a:srgbClr val="6B7280"/>
                </a:solidFill>
                <a:latin typeface="Sorts Mill Goudy" pitchFamily="34" charset="0"/>
                <a:ea typeface="Sorts Mill Goudy" pitchFamily="34" charset="-122"/>
                <a:cs typeface="Sorts Mill Goudy" pitchFamily="34" charset="-120"/>
              </a:rPr>
              <a:t>Public %</a:t>
            </a:r>
            <a:endParaRPr lang="en-US" sz="1600" dirty="0"/>
          </a:p>
        </p:txBody>
      </p:sp>
      <p:sp>
        <p:nvSpPr>
          <p:cNvPr id="33" name="Text 30"/>
          <p:cNvSpPr/>
          <p:nvPr/>
        </p:nvSpPr>
        <p:spPr>
          <a:xfrm>
            <a:off x="11348213" y="6534877"/>
            <a:ext cx="402229" cy="178768"/>
          </a:xfrm>
          <a:prstGeom prst="rect">
            <a:avLst/>
          </a:prstGeom>
          <a:noFill/>
          <a:ln/>
        </p:spPr>
        <p:txBody>
          <a:bodyPr wrap="square" lIns="0" tIns="0" rIns="0" bIns="0" rtlCol="0" anchor="ctr"/>
          <a:lstStyle/>
          <a:p>
            <a:pPr>
              <a:lnSpc>
                <a:spcPct val="120000"/>
              </a:lnSpc>
            </a:pPr>
            <a:r>
              <a:rPr lang="en-US" sz="985" b="1" dirty="0">
                <a:solidFill>
                  <a:srgbClr val="6B7280"/>
                </a:solidFill>
                <a:latin typeface="Sorts Mill Goudy" pitchFamily="34" charset="0"/>
                <a:ea typeface="Sorts Mill Goudy" pitchFamily="34" charset="-122"/>
                <a:cs typeface="Sorts Mill Goudy" pitchFamily="34" charset="-120"/>
              </a:rPr>
              <a:t>~62.5%</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ttps://kimi-web-img.moonshot.cn/img/img.freepik.com/d8c46134e5a892285b80d0ac2d0461cc55b17274.jpg"/>
          <p:cNvPicPr>
            <a:picLocks noChangeAspect="1"/>
          </p:cNvPicPr>
          <p:nvPr/>
        </p:nvPicPr>
        <p:blipFill>
          <a:blip r:embed="rId3">
            <a:alphaModFix amt="15000"/>
          </a:blip>
          <a:srcRect l="147" r="147"/>
          <a:stretch/>
        </p:blipFill>
        <p:spPr>
          <a:xfrm>
            <a:off x="0" y="0"/>
            <a:ext cx="12192000" cy="6856272"/>
          </a:xfrm>
          <a:prstGeom prst="roundRect">
            <a:avLst>
              <a:gd name="adj" fmla="val 0"/>
            </a:avLst>
          </a:prstGeom>
        </p:spPr>
      </p:pic>
      <p:sp>
        <p:nvSpPr>
          <p:cNvPr id="3" name="Shape 0"/>
          <p:cNvSpPr/>
          <p:nvPr/>
        </p:nvSpPr>
        <p:spPr>
          <a:xfrm>
            <a:off x="0" y="0"/>
            <a:ext cx="12192000" cy="6856272"/>
          </a:xfrm>
          <a:custGeom>
            <a:avLst/>
            <a:gdLst/>
            <a:ahLst/>
            <a:cxnLst/>
            <a:rect l="l" t="t" r="r" b="b"/>
            <a:pathLst>
              <a:path w="12192000" h="6856272">
                <a:moveTo>
                  <a:pt x="0" y="0"/>
                </a:moveTo>
                <a:lnTo>
                  <a:pt x="12192000" y="0"/>
                </a:lnTo>
                <a:lnTo>
                  <a:pt x="12192000" y="6856272"/>
                </a:lnTo>
                <a:lnTo>
                  <a:pt x="0" y="6856272"/>
                </a:lnTo>
                <a:lnTo>
                  <a:pt x="0" y="0"/>
                </a:lnTo>
                <a:close/>
              </a:path>
            </a:pathLst>
          </a:custGeom>
          <a:gradFill flip="none" rotWithShape="1">
            <a:gsLst>
              <a:gs pos="0">
                <a:srgbClr val="1F2937">
                  <a:alpha val="95000"/>
                </a:srgbClr>
              </a:gs>
              <a:gs pos="50000">
                <a:srgbClr val="1F2937">
                  <a:alpha val="90000"/>
                </a:srgbClr>
              </a:gs>
              <a:gs pos="100000">
                <a:srgbClr val="8B0000">
                  <a:alpha val="80000"/>
                </a:srgbClr>
              </a:gs>
            </a:gsLst>
            <a:lin ang="2700000" scaled="1"/>
          </a:gradFill>
          <a:ln/>
        </p:spPr>
        <p:txBody>
          <a:bodyPr/>
          <a:lstStyle/>
          <a:p>
            <a:endParaRPr lang="en-US"/>
          </a:p>
        </p:txBody>
      </p:sp>
      <p:sp>
        <p:nvSpPr>
          <p:cNvPr id="4" name="Shape 1"/>
          <p:cNvSpPr/>
          <p:nvPr/>
        </p:nvSpPr>
        <p:spPr>
          <a:xfrm>
            <a:off x="368617" y="368617"/>
            <a:ext cx="1446821" cy="331755"/>
          </a:xfrm>
          <a:custGeom>
            <a:avLst/>
            <a:gdLst/>
            <a:ahLst/>
            <a:cxnLst/>
            <a:rect l="l" t="t" r="r" b="b"/>
            <a:pathLst>
              <a:path w="1446821" h="331755">
                <a:moveTo>
                  <a:pt x="0" y="0"/>
                </a:moveTo>
                <a:lnTo>
                  <a:pt x="1446821" y="0"/>
                </a:lnTo>
                <a:lnTo>
                  <a:pt x="1446821" y="331755"/>
                </a:lnTo>
                <a:lnTo>
                  <a:pt x="0" y="331755"/>
                </a:lnTo>
                <a:lnTo>
                  <a:pt x="0" y="0"/>
                </a:lnTo>
                <a:close/>
              </a:path>
            </a:pathLst>
          </a:custGeom>
          <a:solidFill>
            <a:srgbClr val="8B0000"/>
          </a:solidFill>
          <a:ln/>
        </p:spPr>
        <p:txBody>
          <a:bodyPr/>
          <a:lstStyle/>
          <a:p>
            <a:endParaRPr lang="en-US"/>
          </a:p>
        </p:txBody>
      </p:sp>
      <p:sp>
        <p:nvSpPr>
          <p:cNvPr id="5" name="Text 2"/>
          <p:cNvSpPr/>
          <p:nvPr/>
        </p:nvSpPr>
        <p:spPr>
          <a:xfrm>
            <a:off x="368617" y="368617"/>
            <a:ext cx="1511329" cy="331755"/>
          </a:xfrm>
          <a:prstGeom prst="rect">
            <a:avLst/>
          </a:prstGeom>
          <a:noFill/>
          <a:ln/>
        </p:spPr>
        <p:txBody>
          <a:bodyPr wrap="square" lIns="147447" tIns="73723" rIns="147447" bIns="73723" rtlCol="0" anchor="ctr"/>
          <a:lstStyle/>
          <a:p>
            <a:pPr>
              <a:lnSpc>
                <a:spcPct val="120000"/>
              </a:lnSpc>
            </a:pPr>
            <a:r>
              <a:rPr lang="en-US" sz="1016" b="1" kern="0" spc="102" dirty="0">
                <a:solidFill>
                  <a:srgbClr val="F9FAFB"/>
                </a:solidFill>
                <a:latin typeface="Sorts Mill Goudy" pitchFamily="34" charset="0"/>
                <a:ea typeface="Sorts Mill Goudy" pitchFamily="34" charset="-122"/>
                <a:cs typeface="Sorts Mill Goudy" pitchFamily="34" charset="-120"/>
              </a:rPr>
              <a:t>CONCLUSIONS</a:t>
            </a:r>
            <a:endParaRPr lang="en-US" sz="1600" dirty="0"/>
          </a:p>
        </p:txBody>
      </p:sp>
      <p:sp>
        <p:nvSpPr>
          <p:cNvPr id="6" name="Text 3"/>
          <p:cNvSpPr/>
          <p:nvPr/>
        </p:nvSpPr>
        <p:spPr>
          <a:xfrm>
            <a:off x="368617" y="847819"/>
            <a:ext cx="11675937" cy="442340"/>
          </a:xfrm>
          <a:prstGeom prst="rect">
            <a:avLst/>
          </a:prstGeom>
          <a:noFill/>
          <a:ln/>
        </p:spPr>
        <p:txBody>
          <a:bodyPr wrap="square" lIns="0" tIns="0" rIns="0" bIns="0" rtlCol="0" anchor="ctr"/>
          <a:lstStyle/>
          <a:p>
            <a:pPr>
              <a:lnSpc>
                <a:spcPct val="80000"/>
              </a:lnSpc>
            </a:pPr>
            <a:r>
              <a:rPr lang="en-US" sz="3483" b="1" dirty="0">
                <a:solidFill>
                  <a:srgbClr val="F9FAFB"/>
                </a:solidFill>
                <a:latin typeface="Sorts Mill Goudy" pitchFamily="34" charset="0"/>
                <a:ea typeface="Sorts Mill Goudy" pitchFamily="34" charset="-122"/>
                <a:cs typeface="Sorts Mill Goudy" pitchFamily="34" charset="-120"/>
              </a:rPr>
              <a:t>Key Findings and Future Directions</a:t>
            </a:r>
            <a:endParaRPr lang="en-US" sz="1600" dirty="0"/>
          </a:p>
        </p:txBody>
      </p:sp>
      <p:sp>
        <p:nvSpPr>
          <p:cNvPr id="7" name="Shape 4"/>
          <p:cNvSpPr/>
          <p:nvPr/>
        </p:nvSpPr>
        <p:spPr>
          <a:xfrm>
            <a:off x="368617" y="1400744"/>
            <a:ext cx="884680" cy="36862"/>
          </a:xfrm>
          <a:custGeom>
            <a:avLst/>
            <a:gdLst/>
            <a:ahLst/>
            <a:cxnLst/>
            <a:rect l="l" t="t" r="r" b="b"/>
            <a:pathLst>
              <a:path w="884680" h="36862">
                <a:moveTo>
                  <a:pt x="0" y="0"/>
                </a:moveTo>
                <a:lnTo>
                  <a:pt x="884680" y="0"/>
                </a:lnTo>
                <a:lnTo>
                  <a:pt x="884680" y="36862"/>
                </a:lnTo>
                <a:lnTo>
                  <a:pt x="0" y="36862"/>
                </a:lnTo>
                <a:lnTo>
                  <a:pt x="0" y="0"/>
                </a:lnTo>
                <a:close/>
              </a:path>
            </a:pathLst>
          </a:custGeom>
          <a:solidFill>
            <a:srgbClr val="8B0000"/>
          </a:solidFill>
          <a:ln/>
        </p:spPr>
        <p:txBody>
          <a:bodyPr/>
          <a:lstStyle/>
          <a:p>
            <a:endParaRPr lang="en-US"/>
          </a:p>
        </p:txBody>
      </p:sp>
      <p:sp>
        <p:nvSpPr>
          <p:cNvPr id="8" name="Shape 5"/>
          <p:cNvSpPr/>
          <p:nvPr/>
        </p:nvSpPr>
        <p:spPr>
          <a:xfrm>
            <a:off x="387048" y="1585052"/>
            <a:ext cx="5612190" cy="3059519"/>
          </a:xfrm>
          <a:custGeom>
            <a:avLst/>
            <a:gdLst/>
            <a:ahLst/>
            <a:cxnLst/>
            <a:rect l="l" t="t" r="r" b="b"/>
            <a:pathLst>
              <a:path w="5612190" h="3059519">
                <a:moveTo>
                  <a:pt x="0" y="0"/>
                </a:moveTo>
                <a:lnTo>
                  <a:pt x="5612190" y="0"/>
                </a:lnTo>
                <a:lnTo>
                  <a:pt x="5612190" y="3059519"/>
                </a:lnTo>
                <a:lnTo>
                  <a:pt x="0" y="3059519"/>
                </a:lnTo>
                <a:lnTo>
                  <a:pt x="0" y="0"/>
                </a:lnTo>
                <a:close/>
              </a:path>
            </a:pathLst>
          </a:custGeom>
          <a:solidFill>
            <a:srgbClr val="F9FAFB">
              <a:alpha val="10196"/>
            </a:srgbClr>
          </a:solidFill>
          <a:ln/>
        </p:spPr>
        <p:txBody>
          <a:bodyPr/>
          <a:lstStyle/>
          <a:p>
            <a:endParaRPr lang="en-US"/>
          </a:p>
        </p:txBody>
      </p:sp>
      <p:sp>
        <p:nvSpPr>
          <p:cNvPr id="9" name="Shape 6"/>
          <p:cNvSpPr/>
          <p:nvPr/>
        </p:nvSpPr>
        <p:spPr>
          <a:xfrm>
            <a:off x="387048" y="1585052"/>
            <a:ext cx="36862" cy="3059519"/>
          </a:xfrm>
          <a:custGeom>
            <a:avLst/>
            <a:gdLst/>
            <a:ahLst/>
            <a:cxnLst/>
            <a:rect l="l" t="t" r="r" b="b"/>
            <a:pathLst>
              <a:path w="36862" h="3059519">
                <a:moveTo>
                  <a:pt x="0" y="0"/>
                </a:moveTo>
                <a:lnTo>
                  <a:pt x="36862" y="0"/>
                </a:lnTo>
                <a:lnTo>
                  <a:pt x="36862" y="3059519"/>
                </a:lnTo>
                <a:lnTo>
                  <a:pt x="0" y="3059519"/>
                </a:lnTo>
                <a:lnTo>
                  <a:pt x="0" y="0"/>
                </a:lnTo>
                <a:close/>
              </a:path>
            </a:pathLst>
          </a:custGeom>
          <a:solidFill>
            <a:srgbClr val="8B0000"/>
          </a:solidFill>
          <a:ln/>
        </p:spPr>
        <p:txBody>
          <a:bodyPr/>
          <a:lstStyle/>
          <a:p>
            <a:endParaRPr lang="en-US"/>
          </a:p>
        </p:txBody>
      </p:sp>
      <p:sp>
        <p:nvSpPr>
          <p:cNvPr id="10" name="Shape 7"/>
          <p:cNvSpPr/>
          <p:nvPr/>
        </p:nvSpPr>
        <p:spPr>
          <a:xfrm>
            <a:off x="617433" y="1806105"/>
            <a:ext cx="221170" cy="221170"/>
          </a:xfrm>
          <a:custGeom>
            <a:avLst/>
            <a:gdLst/>
            <a:ahLst/>
            <a:cxnLst/>
            <a:rect l="l" t="t" r="r" b="b"/>
            <a:pathLst>
              <a:path w="221170" h="221170">
                <a:moveTo>
                  <a:pt x="110585" y="221170"/>
                </a:moveTo>
                <a:cubicBezTo>
                  <a:pt x="171619" y="221170"/>
                  <a:pt x="221170" y="171619"/>
                  <a:pt x="221170" y="110585"/>
                </a:cubicBezTo>
                <a:cubicBezTo>
                  <a:pt x="221170" y="49551"/>
                  <a:pt x="171619" y="0"/>
                  <a:pt x="110585" y="0"/>
                </a:cubicBezTo>
                <a:cubicBezTo>
                  <a:pt x="49551" y="0"/>
                  <a:pt x="0" y="49551"/>
                  <a:pt x="0" y="110585"/>
                </a:cubicBezTo>
                <a:cubicBezTo>
                  <a:pt x="0" y="171619"/>
                  <a:pt x="49551" y="221170"/>
                  <a:pt x="110585" y="221170"/>
                </a:cubicBezTo>
                <a:close/>
                <a:moveTo>
                  <a:pt x="147044" y="91881"/>
                </a:moveTo>
                <a:lnTo>
                  <a:pt x="112486" y="147173"/>
                </a:lnTo>
                <a:cubicBezTo>
                  <a:pt x="110671" y="150067"/>
                  <a:pt x="107561" y="151882"/>
                  <a:pt x="104149" y="152054"/>
                </a:cubicBezTo>
                <a:cubicBezTo>
                  <a:pt x="100736" y="152227"/>
                  <a:pt x="97453" y="150672"/>
                  <a:pt x="95423" y="147907"/>
                </a:cubicBezTo>
                <a:lnTo>
                  <a:pt x="74688" y="120261"/>
                </a:lnTo>
                <a:cubicBezTo>
                  <a:pt x="71232" y="115682"/>
                  <a:pt x="72183" y="109203"/>
                  <a:pt x="76762" y="105747"/>
                </a:cubicBezTo>
                <a:cubicBezTo>
                  <a:pt x="81340" y="102291"/>
                  <a:pt x="87820" y="103241"/>
                  <a:pt x="91276" y="107820"/>
                </a:cubicBezTo>
                <a:lnTo>
                  <a:pt x="102939" y="123371"/>
                </a:lnTo>
                <a:lnTo>
                  <a:pt x="129462" y="80909"/>
                </a:lnTo>
                <a:cubicBezTo>
                  <a:pt x="132486" y="76070"/>
                  <a:pt x="138879" y="74559"/>
                  <a:pt x="143761" y="77626"/>
                </a:cubicBezTo>
                <a:cubicBezTo>
                  <a:pt x="148642" y="80693"/>
                  <a:pt x="150111" y="87043"/>
                  <a:pt x="147044" y="91924"/>
                </a:cubicBezTo>
                <a:close/>
              </a:path>
            </a:pathLst>
          </a:custGeom>
          <a:solidFill>
            <a:srgbClr val="8B0000"/>
          </a:solidFill>
          <a:ln/>
        </p:spPr>
        <p:txBody>
          <a:bodyPr/>
          <a:lstStyle/>
          <a:p>
            <a:endParaRPr lang="en-US"/>
          </a:p>
        </p:txBody>
      </p:sp>
      <p:sp>
        <p:nvSpPr>
          <p:cNvPr id="11" name="Text 8"/>
          <p:cNvSpPr/>
          <p:nvPr/>
        </p:nvSpPr>
        <p:spPr>
          <a:xfrm>
            <a:off x="866249" y="1769361"/>
            <a:ext cx="5059265" cy="294893"/>
          </a:xfrm>
          <a:prstGeom prst="rect">
            <a:avLst/>
          </a:prstGeom>
          <a:noFill/>
          <a:ln/>
        </p:spPr>
        <p:txBody>
          <a:bodyPr wrap="square" lIns="0" tIns="0" rIns="0" bIns="0" rtlCol="0" anchor="ctr"/>
          <a:lstStyle/>
          <a:p>
            <a:pPr>
              <a:lnSpc>
                <a:spcPct val="110000"/>
              </a:lnSpc>
            </a:pPr>
            <a:r>
              <a:rPr lang="en-US" sz="1742" b="1" dirty="0">
                <a:solidFill>
                  <a:srgbClr val="F9FAFB"/>
                </a:solidFill>
                <a:latin typeface="Sorts Mill Goudy" pitchFamily="34" charset="0"/>
                <a:ea typeface="Sorts Mill Goudy" pitchFamily="34" charset="-122"/>
                <a:cs typeface="Sorts Mill Goudy" pitchFamily="34" charset="-120"/>
              </a:rPr>
              <a:t>Key Findings</a:t>
            </a:r>
            <a:endParaRPr lang="en-US" sz="1600" dirty="0"/>
          </a:p>
        </p:txBody>
      </p:sp>
      <p:sp>
        <p:nvSpPr>
          <p:cNvPr id="12" name="Shape 9"/>
          <p:cNvSpPr/>
          <p:nvPr/>
        </p:nvSpPr>
        <p:spPr>
          <a:xfrm>
            <a:off x="589787" y="2211584"/>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13" name="Text 10"/>
          <p:cNvSpPr/>
          <p:nvPr/>
        </p:nvSpPr>
        <p:spPr>
          <a:xfrm>
            <a:off x="557533" y="2211584"/>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1</a:t>
            </a:r>
            <a:endParaRPr lang="en-US" sz="1600" dirty="0"/>
          </a:p>
        </p:txBody>
      </p:sp>
      <p:sp>
        <p:nvSpPr>
          <p:cNvPr id="14" name="Text 11"/>
          <p:cNvSpPr/>
          <p:nvPr/>
        </p:nvSpPr>
        <p:spPr>
          <a:xfrm>
            <a:off x="995265" y="2211584"/>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Diverse Ecosystem:</a:t>
            </a:r>
            <a:r>
              <a:rPr lang="en-US" sz="1161" dirty="0">
                <a:solidFill>
                  <a:srgbClr val="F9FAFB">
                    <a:alpha val="90000"/>
                  </a:srgbClr>
                </a:solidFill>
                <a:latin typeface="Sorts Mill Goudy" pitchFamily="34" charset="0"/>
                <a:ea typeface="Sorts Mill Goudy" pitchFamily="34" charset="-122"/>
                <a:cs typeface="Sorts Mill Goudy" pitchFamily="34" charset="-120"/>
              </a:rPr>
              <a:t> Nine+ major datasets support LLM-based Bloom's taxonomy classification, spanning learning objectives and exam questions</a:t>
            </a:r>
            <a:endParaRPr lang="en-US" sz="1600" dirty="0"/>
          </a:p>
        </p:txBody>
      </p:sp>
      <p:sp>
        <p:nvSpPr>
          <p:cNvPr id="15" name="Shape 12"/>
          <p:cNvSpPr/>
          <p:nvPr/>
        </p:nvSpPr>
        <p:spPr>
          <a:xfrm>
            <a:off x="589787" y="2801371"/>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16" name="Text 13"/>
          <p:cNvSpPr/>
          <p:nvPr/>
        </p:nvSpPr>
        <p:spPr>
          <a:xfrm>
            <a:off x="557533" y="2801371"/>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2</a:t>
            </a:r>
            <a:endParaRPr lang="en-US" sz="1600" dirty="0"/>
          </a:p>
        </p:txBody>
      </p:sp>
      <p:sp>
        <p:nvSpPr>
          <p:cNvPr id="17" name="Text 14"/>
          <p:cNvSpPr/>
          <p:nvPr/>
        </p:nvSpPr>
        <p:spPr>
          <a:xfrm>
            <a:off x="995265" y="2801371"/>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Size Variation:</a:t>
            </a:r>
            <a:r>
              <a:rPr lang="en-US" sz="1161" dirty="0">
                <a:solidFill>
                  <a:srgbClr val="F9FAFB">
                    <a:alpha val="90000"/>
                  </a:srgbClr>
                </a:solidFill>
                <a:latin typeface="Sorts Mill Goudy" pitchFamily="34" charset="0"/>
                <a:ea typeface="Sorts Mill Goudy" pitchFamily="34" charset="-122"/>
                <a:cs typeface="Sorts Mill Goudy" pitchFamily="34" charset="-120"/>
              </a:rPr>
              <a:t> Datasets range from 141 to 21,380 items, with larger datasets predominantly remaining private</a:t>
            </a:r>
            <a:endParaRPr lang="en-US" sz="1600" dirty="0"/>
          </a:p>
        </p:txBody>
      </p:sp>
      <p:sp>
        <p:nvSpPr>
          <p:cNvPr id="18" name="Shape 15"/>
          <p:cNvSpPr/>
          <p:nvPr/>
        </p:nvSpPr>
        <p:spPr>
          <a:xfrm>
            <a:off x="589787" y="3391157"/>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19" name="Text 16"/>
          <p:cNvSpPr/>
          <p:nvPr/>
        </p:nvSpPr>
        <p:spPr>
          <a:xfrm>
            <a:off x="557533" y="3391157"/>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3</a:t>
            </a:r>
            <a:endParaRPr lang="en-US" sz="1600" dirty="0"/>
          </a:p>
        </p:txBody>
      </p:sp>
      <p:sp>
        <p:nvSpPr>
          <p:cNvPr id="20" name="Text 17"/>
          <p:cNvSpPr/>
          <p:nvPr/>
        </p:nvSpPr>
        <p:spPr>
          <a:xfrm>
            <a:off x="995265" y="3391157"/>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Public Foundations:</a:t>
            </a:r>
            <a:r>
              <a:rPr lang="en-US" sz="1161" dirty="0">
                <a:solidFill>
                  <a:srgbClr val="F9FAFB">
                    <a:alpha val="90000"/>
                  </a:srgbClr>
                </a:solidFill>
                <a:latin typeface="Sorts Mill Goudy" pitchFamily="34" charset="0"/>
                <a:ea typeface="Sorts Mill Goudy" pitchFamily="34" charset="-122"/>
                <a:cs typeface="Sorts Mill Goudy" pitchFamily="34" charset="-120"/>
              </a:rPr>
              <a:t> Classic datasets (Yahya, Haris &amp; Omar) provide solid benchmarks for model development</a:t>
            </a:r>
            <a:endParaRPr lang="en-US" sz="1600" dirty="0"/>
          </a:p>
        </p:txBody>
      </p:sp>
      <p:sp>
        <p:nvSpPr>
          <p:cNvPr id="21" name="Shape 18"/>
          <p:cNvSpPr/>
          <p:nvPr/>
        </p:nvSpPr>
        <p:spPr>
          <a:xfrm>
            <a:off x="589787" y="3980944"/>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22" name="Text 19"/>
          <p:cNvSpPr/>
          <p:nvPr/>
        </p:nvSpPr>
        <p:spPr>
          <a:xfrm>
            <a:off x="557533" y="3980944"/>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4</a:t>
            </a:r>
            <a:endParaRPr lang="en-US" sz="1600" dirty="0"/>
          </a:p>
        </p:txBody>
      </p:sp>
      <p:sp>
        <p:nvSpPr>
          <p:cNvPr id="23" name="Text 20"/>
          <p:cNvSpPr/>
          <p:nvPr/>
        </p:nvSpPr>
        <p:spPr>
          <a:xfrm>
            <a:off x="995265" y="3980944"/>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Accessibility Gap:</a:t>
            </a:r>
            <a:r>
              <a:rPr lang="en-US" sz="1161" dirty="0">
                <a:solidFill>
                  <a:srgbClr val="F9FAFB">
                    <a:alpha val="90000"/>
                  </a:srgbClr>
                </a:solidFill>
                <a:latin typeface="Sorts Mill Goudy" pitchFamily="34" charset="0"/>
                <a:ea typeface="Sorts Mill Goudy" pitchFamily="34" charset="-122"/>
                <a:cs typeface="Sorts Mill Goudy" pitchFamily="34" charset="-120"/>
              </a:rPr>
              <a:t> 60% of total dataset items remain inaccessible due to institutional constraints</a:t>
            </a:r>
            <a:endParaRPr lang="en-US" sz="1600" dirty="0"/>
          </a:p>
        </p:txBody>
      </p:sp>
      <p:sp>
        <p:nvSpPr>
          <p:cNvPr id="24" name="Shape 21"/>
          <p:cNvSpPr/>
          <p:nvPr/>
        </p:nvSpPr>
        <p:spPr>
          <a:xfrm>
            <a:off x="6204972" y="1585052"/>
            <a:ext cx="5612190" cy="3059519"/>
          </a:xfrm>
          <a:custGeom>
            <a:avLst/>
            <a:gdLst/>
            <a:ahLst/>
            <a:cxnLst/>
            <a:rect l="l" t="t" r="r" b="b"/>
            <a:pathLst>
              <a:path w="5612190" h="3059519">
                <a:moveTo>
                  <a:pt x="0" y="0"/>
                </a:moveTo>
                <a:lnTo>
                  <a:pt x="5612190" y="0"/>
                </a:lnTo>
                <a:lnTo>
                  <a:pt x="5612190" y="3059519"/>
                </a:lnTo>
                <a:lnTo>
                  <a:pt x="0" y="3059519"/>
                </a:lnTo>
                <a:lnTo>
                  <a:pt x="0" y="0"/>
                </a:lnTo>
                <a:close/>
              </a:path>
            </a:pathLst>
          </a:custGeom>
          <a:solidFill>
            <a:srgbClr val="F9FAFB">
              <a:alpha val="10196"/>
            </a:srgbClr>
          </a:solidFill>
          <a:ln/>
        </p:spPr>
        <p:txBody>
          <a:bodyPr/>
          <a:lstStyle/>
          <a:p>
            <a:endParaRPr lang="en-US"/>
          </a:p>
        </p:txBody>
      </p:sp>
      <p:sp>
        <p:nvSpPr>
          <p:cNvPr id="25" name="Shape 22"/>
          <p:cNvSpPr/>
          <p:nvPr/>
        </p:nvSpPr>
        <p:spPr>
          <a:xfrm>
            <a:off x="6204972" y="1585052"/>
            <a:ext cx="36862" cy="3059519"/>
          </a:xfrm>
          <a:custGeom>
            <a:avLst/>
            <a:gdLst/>
            <a:ahLst/>
            <a:cxnLst/>
            <a:rect l="l" t="t" r="r" b="b"/>
            <a:pathLst>
              <a:path w="36862" h="3059519">
                <a:moveTo>
                  <a:pt x="0" y="0"/>
                </a:moveTo>
                <a:lnTo>
                  <a:pt x="36862" y="0"/>
                </a:lnTo>
                <a:lnTo>
                  <a:pt x="36862" y="3059519"/>
                </a:lnTo>
                <a:lnTo>
                  <a:pt x="0" y="3059519"/>
                </a:lnTo>
                <a:lnTo>
                  <a:pt x="0" y="0"/>
                </a:lnTo>
                <a:close/>
              </a:path>
            </a:pathLst>
          </a:custGeom>
          <a:solidFill>
            <a:srgbClr val="8B0000"/>
          </a:solidFill>
          <a:ln/>
        </p:spPr>
        <p:txBody>
          <a:bodyPr/>
          <a:lstStyle/>
          <a:p>
            <a:endParaRPr lang="en-US"/>
          </a:p>
        </p:txBody>
      </p:sp>
      <p:sp>
        <p:nvSpPr>
          <p:cNvPr id="26" name="Shape 23"/>
          <p:cNvSpPr/>
          <p:nvPr/>
        </p:nvSpPr>
        <p:spPr>
          <a:xfrm>
            <a:off x="6435358" y="1806105"/>
            <a:ext cx="221170" cy="221170"/>
          </a:xfrm>
          <a:custGeom>
            <a:avLst/>
            <a:gdLst/>
            <a:ahLst/>
            <a:cxnLst/>
            <a:rect l="l" t="t" r="r" b="b"/>
            <a:pathLst>
              <a:path w="221170" h="221170">
                <a:moveTo>
                  <a:pt x="96719" y="13823"/>
                </a:moveTo>
                <a:lnTo>
                  <a:pt x="63802" y="13823"/>
                </a:lnTo>
                <a:cubicBezTo>
                  <a:pt x="51102" y="13823"/>
                  <a:pt x="40001" y="22506"/>
                  <a:pt x="36977" y="34817"/>
                </a:cubicBezTo>
                <a:lnTo>
                  <a:pt x="605" y="181645"/>
                </a:lnTo>
                <a:cubicBezTo>
                  <a:pt x="-2635" y="194690"/>
                  <a:pt x="7257" y="207347"/>
                  <a:pt x="20735" y="207347"/>
                </a:cubicBezTo>
                <a:lnTo>
                  <a:pt x="96719" y="207347"/>
                </a:lnTo>
                <a:lnTo>
                  <a:pt x="96719" y="179701"/>
                </a:lnTo>
                <a:cubicBezTo>
                  <a:pt x="96719" y="172055"/>
                  <a:pt x="102896" y="165878"/>
                  <a:pt x="110542" y="165878"/>
                </a:cubicBezTo>
                <a:cubicBezTo>
                  <a:pt x="118188" y="165878"/>
                  <a:pt x="124365" y="172055"/>
                  <a:pt x="124365" y="179701"/>
                </a:cubicBezTo>
                <a:lnTo>
                  <a:pt x="124365" y="207347"/>
                </a:lnTo>
                <a:lnTo>
                  <a:pt x="200435" y="207347"/>
                </a:lnTo>
                <a:cubicBezTo>
                  <a:pt x="213913" y="207347"/>
                  <a:pt x="223805" y="194690"/>
                  <a:pt x="220565" y="181645"/>
                </a:cubicBezTo>
                <a:lnTo>
                  <a:pt x="184236" y="34817"/>
                </a:lnTo>
                <a:cubicBezTo>
                  <a:pt x="181169" y="22506"/>
                  <a:pt x="170111" y="13823"/>
                  <a:pt x="157368" y="13823"/>
                </a:cubicBezTo>
                <a:lnTo>
                  <a:pt x="124365" y="13823"/>
                </a:lnTo>
                <a:lnTo>
                  <a:pt x="124365" y="41469"/>
                </a:lnTo>
                <a:cubicBezTo>
                  <a:pt x="124365" y="49115"/>
                  <a:pt x="118188" y="55293"/>
                  <a:pt x="110542" y="55293"/>
                </a:cubicBezTo>
                <a:cubicBezTo>
                  <a:pt x="102896" y="55293"/>
                  <a:pt x="96719" y="49115"/>
                  <a:pt x="96719" y="41469"/>
                </a:cubicBezTo>
                <a:lnTo>
                  <a:pt x="96719" y="13823"/>
                </a:lnTo>
                <a:close/>
                <a:moveTo>
                  <a:pt x="124365" y="96762"/>
                </a:moveTo>
                <a:lnTo>
                  <a:pt x="124365" y="124408"/>
                </a:lnTo>
                <a:cubicBezTo>
                  <a:pt x="124365" y="132054"/>
                  <a:pt x="118188" y="138231"/>
                  <a:pt x="110542" y="138231"/>
                </a:cubicBezTo>
                <a:cubicBezTo>
                  <a:pt x="102896" y="138231"/>
                  <a:pt x="96719" y="132054"/>
                  <a:pt x="96719" y="124408"/>
                </a:cubicBezTo>
                <a:lnTo>
                  <a:pt x="96719" y="96762"/>
                </a:lnTo>
                <a:cubicBezTo>
                  <a:pt x="96719" y="89116"/>
                  <a:pt x="102896" y="82939"/>
                  <a:pt x="110542" y="82939"/>
                </a:cubicBezTo>
                <a:cubicBezTo>
                  <a:pt x="118188" y="82939"/>
                  <a:pt x="124365" y="89116"/>
                  <a:pt x="124365" y="96762"/>
                </a:cubicBezTo>
                <a:close/>
              </a:path>
            </a:pathLst>
          </a:custGeom>
          <a:solidFill>
            <a:srgbClr val="8B0000"/>
          </a:solidFill>
          <a:ln/>
        </p:spPr>
        <p:txBody>
          <a:bodyPr/>
          <a:lstStyle/>
          <a:p>
            <a:endParaRPr lang="en-US"/>
          </a:p>
        </p:txBody>
      </p:sp>
      <p:sp>
        <p:nvSpPr>
          <p:cNvPr id="27" name="Text 24"/>
          <p:cNvSpPr/>
          <p:nvPr/>
        </p:nvSpPr>
        <p:spPr>
          <a:xfrm>
            <a:off x="6684174" y="1769361"/>
            <a:ext cx="5059265" cy="294893"/>
          </a:xfrm>
          <a:prstGeom prst="rect">
            <a:avLst/>
          </a:prstGeom>
          <a:noFill/>
          <a:ln/>
        </p:spPr>
        <p:txBody>
          <a:bodyPr wrap="square" lIns="0" tIns="0" rIns="0" bIns="0" rtlCol="0" anchor="ctr"/>
          <a:lstStyle/>
          <a:p>
            <a:pPr>
              <a:lnSpc>
                <a:spcPct val="110000"/>
              </a:lnSpc>
            </a:pPr>
            <a:r>
              <a:rPr lang="en-US" sz="1742" b="1" dirty="0">
                <a:solidFill>
                  <a:srgbClr val="F9FAFB"/>
                </a:solidFill>
                <a:latin typeface="Sorts Mill Goudy" pitchFamily="34" charset="0"/>
                <a:ea typeface="Sorts Mill Goudy" pitchFamily="34" charset="-122"/>
                <a:cs typeface="Sorts Mill Goudy" pitchFamily="34" charset="-120"/>
              </a:rPr>
              <a:t>Future Directions</a:t>
            </a:r>
            <a:endParaRPr lang="en-US" sz="1600" dirty="0"/>
          </a:p>
        </p:txBody>
      </p:sp>
      <p:sp>
        <p:nvSpPr>
          <p:cNvPr id="28" name="Shape 25"/>
          <p:cNvSpPr/>
          <p:nvPr/>
        </p:nvSpPr>
        <p:spPr>
          <a:xfrm>
            <a:off x="6407712" y="2211584"/>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29" name="Text 26"/>
          <p:cNvSpPr/>
          <p:nvPr/>
        </p:nvSpPr>
        <p:spPr>
          <a:xfrm>
            <a:off x="6375458" y="2211584"/>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1</a:t>
            </a:r>
            <a:endParaRPr lang="en-US" sz="1600" dirty="0"/>
          </a:p>
        </p:txBody>
      </p:sp>
      <p:sp>
        <p:nvSpPr>
          <p:cNvPr id="30" name="Text 27"/>
          <p:cNvSpPr/>
          <p:nvPr/>
        </p:nvSpPr>
        <p:spPr>
          <a:xfrm>
            <a:off x="6813190" y="2211584"/>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Data Sharing:</a:t>
            </a:r>
            <a:r>
              <a:rPr lang="en-US" sz="1161" dirty="0">
                <a:solidFill>
                  <a:srgbClr val="F9FAFB">
                    <a:alpha val="90000"/>
                  </a:srgbClr>
                </a:solidFill>
                <a:latin typeface="Sorts Mill Goudy" pitchFamily="34" charset="0"/>
                <a:ea typeface="Sorts Mill Goudy" pitchFamily="34" charset="-122"/>
                <a:cs typeface="Sorts Mill Goudy" pitchFamily="34" charset="-120"/>
              </a:rPr>
              <a:t> Develop protocols and incentives for institutional dataset sharing</a:t>
            </a:r>
            <a:endParaRPr lang="en-US" sz="1600" dirty="0"/>
          </a:p>
        </p:txBody>
      </p:sp>
      <p:sp>
        <p:nvSpPr>
          <p:cNvPr id="31" name="Shape 28"/>
          <p:cNvSpPr/>
          <p:nvPr/>
        </p:nvSpPr>
        <p:spPr>
          <a:xfrm>
            <a:off x="6407712" y="2801371"/>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32" name="Text 29"/>
          <p:cNvSpPr/>
          <p:nvPr/>
        </p:nvSpPr>
        <p:spPr>
          <a:xfrm>
            <a:off x="6375458" y="2801371"/>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2</a:t>
            </a:r>
            <a:endParaRPr lang="en-US" sz="1600" dirty="0"/>
          </a:p>
        </p:txBody>
      </p:sp>
      <p:sp>
        <p:nvSpPr>
          <p:cNvPr id="33" name="Text 30"/>
          <p:cNvSpPr/>
          <p:nvPr/>
        </p:nvSpPr>
        <p:spPr>
          <a:xfrm>
            <a:off x="6813190" y="2801371"/>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Centralized Repository:</a:t>
            </a:r>
            <a:r>
              <a:rPr lang="en-US" sz="1161" dirty="0">
                <a:solidFill>
                  <a:srgbClr val="F9FAFB">
                    <a:alpha val="90000"/>
                  </a:srgbClr>
                </a:solidFill>
                <a:latin typeface="Sorts Mill Goudy" pitchFamily="34" charset="0"/>
                <a:ea typeface="Sorts Mill Goudy" pitchFamily="34" charset="-122"/>
                <a:cs typeface="Sorts Mill Goudy" pitchFamily="34" charset="-120"/>
              </a:rPr>
              <a:t> Create community-curated dataset hub for consolidated access</a:t>
            </a:r>
            <a:endParaRPr lang="en-US" sz="1600" dirty="0"/>
          </a:p>
        </p:txBody>
      </p:sp>
      <p:sp>
        <p:nvSpPr>
          <p:cNvPr id="34" name="Shape 31"/>
          <p:cNvSpPr/>
          <p:nvPr/>
        </p:nvSpPr>
        <p:spPr>
          <a:xfrm>
            <a:off x="6407712" y="3391157"/>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35" name="Text 32"/>
          <p:cNvSpPr/>
          <p:nvPr/>
        </p:nvSpPr>
        <p:spPr>
          <a:xfrm>
            <a:off x="6375458" y="3391157"/>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3</a:t>
            </a:r>
            <a:endParaRPr lang="en-US" sz="1600" dirty="0"/>
          </a:p>
        </p:txBody>
      </p:sp>
      <p:sp>
        <p:nvSpPr>
          <p:cNvPr id="36" name="Text 33"/>
          <p:cNvSpPr/>
          <p:nvPr/>
        </p:nvSpPr>
        <p:spPr>
          <a:xfrm>
            <a:off x="6813190" y="3391157"/>
            <a:ext cx="4893388" cy="479202"/>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Standardization:</a:t>
            </a:r>
            <a:r>
              <a:rPr lang="en-US" sz="1161" dirty="0">
                <a:solidFill>
                  <a:srgbClr val="F9FAFB">
                    <a:alpha val="90000"/>
                  </a:srgbClr>
                </a:solidFill>
                <a:latin typeface="Sorts Mill Goudy" pitchFamily="34" charset="0"/>
                <a:ea typeface="Sorts Mill Goudy" pitchFamily="34" charset="-122"/>
                <a:cs typeface="Sorts Mill Goudy" pitchFamily="34" charset="-120"/>
              </a:rPr>
              <a:t> Establish common annotation guidelines and evaluation protocols</a:t>
            </a:r>
            <a:endParaRPr lang="en-US" sz="1600" dirty="0"/>
          </a:p>
        </p:txBody>
      </p:sp>
      <p:sp>
        <p:nvSpPr>
          <p:cNvPr id="37" name="Shape 34"/>
          <p:cNvSpPr/>
          <p:nvPr/>
        </p:nvSpPr>
        <p:spPr>
          <a:xfrm>
            <a:off x="6407712" y="3980944"/>
            <a:ext cx="294893" cy="294893"/>
          </a:xfrm>
          <a:custGeom>
            <a:avLst/>
            <a:gdLst/>
            <a:ahLst/>
            <a:cxnLst/>
            <a:rect l="l" t="t" r="r" b="b"/>
            <a:pathLst>
              <a:path w="294893" h="294893">
                <a:moveTo>
                  <a:pt x="147447" y="0"/>
                </a:moveTo>
                <a:lnTo>
                  <a:pt x="147447" y="0"/>
                </a:lnTo>
                <a:cubicBezTo>
                  <a:pt x="228825" y="0"/>
                  <a:pt x="294893" y="66069"/>
                  <a:pt x="294893" y="147447"/>
                </a:cubicBezTo>
                <a:lnTo>
                  <a:pt x="294893" y="147447"/>
                </a:lnTo>
                <a:cubicBezTo>
                  <a:pt x="294893" y="228825"/>
                  <a:pt x="228825" y="294893"/>
                  <a:pt x="147447" y="294893"/>
                </a:cubicBezTo>
                <a:lnTo>
                  <a:pt x="147447" y="294893"/>
                </a:lnTo>
                <a:cubicBezTo>
                  <a:pt x="66069" y="294893"/>
                  <a:pt x="0" y="228825"/>
                  <a:pt x="0" y="147447"/>
                </a:cubicBezTo>
                <a:lnTo>
                  <a:pt x="0" y="147447"/>
                </a:lnTo>
                <a:cubicBezTo>
                  <a:pt x="0" y="66069"/>
                  <a:pt x="66069" y="0"/>
                  <a:pt x="147447" y="0"/>
                </a:cubicBezTo>
                <a:close/>
              </a:path>
            </a:pathLst>
          </a:custGeom>
          <a:solidFill>
            <a:srgbClr val="8B0000"/>
          </a:solidFill>
          <a:ln/>
        </p:spPr>
        <p:txBody>
          <a:bodyPr/>
          <a:lstStyle/>
          <a:p>
            <a:endParaRPr lang="en-US"/>
          </a:p>
        </p:txBody>
      </p:sp>
      <p:sp>
        <p:nvSpPr>
          <p:cNvPr id="38" name="Text 35"/>
          <p:cNvSpPr/>
          <p:nvPr/>
        </p:nvSpPr>
        <p:spPr>
          <a:xfrm>
            <a:off x="6375458" y="3980944"/>
            <a:ext cx="359401" cy="294893"/>
          </a:xfrm>
          <a:prstGeom prst="rect">
            <a:avLst/>
          </a:prstGeom>
          <a:noFill/>
          <a:ln/>
        </p:spPr>
        <p:txBody>
          <a:bodyPr wrap="square" lIns="0" tIns="0" rIns="0" bIns="0" rtlCol="0" anchor="ctr"/>
          <a:lstStyle/>
          <a:p>
            <a:pPr algn="ctr">
              <a:lnSpc>
                <a:spcPct val="120000"/>
              </a:lnSpc>
            </a:pPr>
            <a:r>
              <a:rPr lang="en-US" sz="1016" b="1" dirty="0">
                <a:solidFill>
                  <a:srgbClr val="F9FAFB"/>
                </a:solidFill>
                <a:latin typeface="Sorts Mill Goudy" pitchFamily="34" charset="0"/>
                <a:ea typeface="Sorts Mill Goudy" pitchFamily="34" charset="-122"/>
                <a:cs typeface="Sorts Mill Goudy" pitchFamily="34" charset="-120"/>
              </a:rPr>
              <a:t>4</a:t>
            </a:r>
            <a:endParaRPr lang="en-US" sz="1600" dirty="0"/>
          </a:p>
        </p:txBody>
      </p:sp>
      <p:sp>
        <p:nvSpPr>
          <p:cNvPr id="39" name="Text 36"/>
          <p:cNvSpPr/>
          <p:nvPr/>
        </p:nvSpPr>
        <p:spPr>
          <a:xfrm>
            <a:off x="6813190" y="3980944"/>
            <a:ext cx="4874957" cy="239601"/>
          </a:xfrm>
          <a:prstGeom prst="rect">
            <a:avLst/>
          </a:prstGeom>
          <a:noFill/>
          <a:ln/>
        </p:spPr>
        <p:txBody>
          <a:bodyPr wrap="square" lIns="0" tIns="0" rIns="0" bIns="0" rtlCol="0" anchor="ctr"/>
          <a:lstStyle/>
          <a:p>
            <a:pPr>
              <a:lnSpc>
                <a:spcPct val="140000"/>
              </a:lnSpc>
            </a:pPr>
            <a:r>
              <a:rPr lang="en-US" sz="1161" b="1" dirty="0">
                <a:solidFill>
                  <a:srgbClr val="F9FAFB">
                    <a:alpha val="90000"/>
                  </a:srgbClr>
                </a:solidFill>
                <a:latin typeface="Sorts Mill Goudy" pitchFamily="34" charset="0"/>
                <a:ea typeface="Sorts Mill Goudy" pitchFamily="34" charset="-122"/>
                <a:cs typeface="Sorts Mill Goudy" pitchFamily="34" charset="-120"/>
              </a:rPr>
              <a:t>Large-Scale Public Sets:</a:t>
            </a:r>
            <a:r>
              <a:rPr lang="en-US" sz="1161" dirty="0">
                <a:solidFill>
                  <a:srgbClr val="F9FAFB">
                    <a:alpha val="90000"/>
                  </a:srgbClr>
                </a:solidFill>
                <a:latin typeface="Sorts Mill Goudy" pitchFamily="34" charset="0"/>
                <a:ea typeface="Sorts Mill Goudy" pitchFamily="34" charset="-122"/>
                <a:cs typeface="Sorts Mill Goudy" pitchFamily="34" charset="-120"/>
              </a:rPr>
              <a:t> Create new large, diverse, openly accessible datasets</a:t>
            </a:r>
            <a:endParaRPr lang="en-US" sz="1600" dirty="0"/>
          </a:p>
        </p:txBody>
      </p:sp>
      <p:sp>
        <p:nvSpPr>
          <p:cNvPr id="40" name="Shape 37"/>
          <p:cNvSpPr/>
          <p:nvPr/>
        </p:nvSpPr>
        <p:spPr>
          <a:xfrm>
            <a:off x="368617" y="4791901"/>
            <a:ext cx="11454766" cy="1456036"/>
          </a:xfrm>
          <a:custGeom>
            <a:avLst/>
            <a:gdLst/>
            <a:ahLst/>
            <a:cxnLst/>
            <a:rect l="l" t="t" r="r" b="b"/>
            <a:pathLst>
              <a:path w="11454766" h="1456036">
                <a:moveTo>
                  <a:pt x="0" y="0"/>
                </a:moveTo>
                <a:lnTo>
                  <a:pt x="11454766" y="0"/>
                </a:lnTo>
                <a:lnTo>
                  <a:pt x="11454766" y="1456036"/>
                </a:lnTo>
                <a:lnTo>
                  <a:pt x="0" y="1456036"/>
                </a:lnTo>
                <a:lnTo>
                  <a:pt x="0" y="0"/>
                </a:lnTo>
                <a:close/>
              </a:path>
            </a:pathLst>
          </a:custGeom>
          <a:solidFill>
            <a:srgbClr val="F9FAFB">
              <a:alpha val="10196"/>
            </a:srgbClr>
          </a:solidFill>
          <a:ln/>
        </p:spPr>
        <p:txBody>
          <a:bodyPr/>
          <a:lstStyle/>
          <a:p>
            <a:endParaRPr lang="en-US"/>
          </a:p>
        </p:txBody>
      </p:sp>
      <p:sp>
        <p:nvSpPr>
          <p:cNvPr id="41" name="Shape 38"/>
          <p:cNvSpPr/>
          <p:nvPr/>
        </p:nvSpPr>
        <p:spPr>
          <a:xfrm>
            <a:off x="564444" y="5013071"/>
            <a:ext cx="207347" cy="184308"/>
          </a:xfrm>
          <a:custGeom>
            <a:avLst/>
            <a:gdLst/>
            <a:ahLst/>
            <a:cxnLst/>
            <a:rect l="l" t="t" r="r" b="b"/>
            <a:pathLst>
              <a:path w="207347" h="184308">
                <a:moveTo>
                  <a:pt x="111413" y="-6804"/>
                </a:moveTo>
                <a:cubicBezTo>
                  <a:pt x="109937" y="-9683"/>
                  <a:pt x="106949" y="-11519"/>
                  <a:pt x="103709" y="-11519"/>
                </a:cubicBezTo>
                <a:cubicBezTo>
                  <a:pt x="100470" y="-11519"/>
                  <a:pt x="97482" y="-9683"/>
                  <a:pt x="96006" y="-6804"/>
                </a:cubicBezTo>
                <a:lnTo>
                  <a:pt x="69512" y="45105"/>
                </a:lnTo>
                <a:lnTo>
                  <a:pt x="11951" y="54249"/>
                </a:lnTo>
                <a:cubicBezTo>
                  <a:pt x="8747" y="54753"/>
                  <a:pt x="6084" y="57020"/>
                  <a:pt x="5076" y="60116"/>
                </a:cubicBezTo>
                <a:cubicBezTo>
                  <a:pt x="4068" y="63212"/>
                  <a:pt x="4896" y="66596"/>
                  <a:pt x="7164" y="68900"/>
                </a:cubicBezTo>
                <a:lnTo>
                  <a:pt x="48345" y="110117"/>
                </a:lnTo>
                <a:lnTo>
                  <a:pt x="39274" y="167677"/>
                </a:lnTo>
                <a:cubicBezTo>
                  <a:pt x="38770" y="170881"/>
                  <a:pt x="40101" y="174121"/>
                  <a:pt x="42729" y="176029"/>
                </a:cubicBezTo>
                <a:cubicBezTo>
                  <a:pt x="45357" y="177937"/>
                  <a:pt x="48813" y="178225"/>
                  <a:pt x="51729" y="176749"/>
                </a:cubicBezTo>
                <a:lnTo>
                  <a:pt x="103709" y="150327"/>
                </a:lnTo>
                <a:lnTo>
                  <a:pt x="155654" y="176749"/>
                </a:lnTo>
                <a:cubicBezTo>
                  <a:pt x="158534" y="178225"/>
                  <a:pt x="162026" y="177937"/>
                  <a:pt x="164654" y="176029"/>
                </a:cubicBezTo>
                <a:cubicBezTo>
                  <a:pt x="167281" y="174121"/>
                  <a:pt x="168613" y="170917"/>
                  <a:pt x="168109" y="167677"/>
                </a:cubicBezTo>
                <a:lnTo>
                  <a:pt x="159002" y="110117"/>
                </a:lnTo>
                <a:lnTo>
                  <a:pt x="200183" y="68900"/>
                </a:lnTo>
                <a:cubicBezTo>
                  <a:pt x="202487" y="66596"/>
                  <a:pt x="203279" y="63212"/>
                  <a:pt x="202271" y="60116"/>
                </a:cubicBezTo>
                <a:cubicBezTo>
                  <a:pt x="201263" y="57020"/>
                  <a:pt x="198635" y="54753"/>
                  <a:pt x="195396" y="54249"/>
                </a:cubicBezTo>
                <a:lnTo>
                  <a:pt x="137871" y="45105"/>
                </a:lnTo>
                <a:lnTo>
                  <a:pt x="111413" y="-6804"/>
                </a:lnTo>
                <a:close/>
              </a:path>
            </a:pathLst>
          </a:custGeom>
          <a:solidFill>
            <a:srgbClr val="8B0000"/>
          </a:solidFill>
          <a:ln/>
        </p:spPr>
        <p:txBody>
          <a:bodyPr/>
          <a:lstStyle/>
          <a:p>
            <a:endParaRPr lang="en-US"/>
          </a:p>
        </p:txBody>
      </p:sp>
      <p:sp>
        <p:nvSpPr>
          <p:cNvPr id="42" name="Text 39"/>
          <p:cNvSpPr/>
          <p:nvPr/>
        </p:nvSpPr>
        <p:spPr>
          <a:xfrm>
            <a:off x="783311" y="4976210"/>
            <a:ext cx="10947918" cy="258032"/>
          </a:xfrm>
          <a:prstGeom prst="rect">
            <a:avLst/>
          </a:prstGeom>
          <a:noFill/>
          <a:ln/>
        </p:spPr>
        <p:txBody>
          <a:bodyPr wrap="square" lIns="0" tIns="0" rIns="0" bIns="0" rtlCol="0" anchor="ctr"/>
          <a:lstStyle/>
          <a:p>
            <a:pPr>
              <a:lnSpc>
                <a:spcPct val="120000"/>
              </a:lnSpc>
            </a:pPr>
            <a:r>
              <a:rPr lang="en-US" sz="1451" b="1" dirty="0">
                <a:solidFill>
                  <a:srgbClr val="F9FAFB"/>
                </a:solidFill>
                <a:latin typeface="Sorts Mill Goudy" pitchFamily="34" charset="0"/>
                <a:ea typeface="Sorts Mill Goudy" pitchFamily="34" charset="-122"/>
                <a:cs typeface="Sorts Mill Goudy" pitchFamily="34" charset="-120"/>
              </a:rPr>
              <a:t>Research Impact and Implications</a:t>
            </a:r>
            <a:endParaRPr lang="en-US" sz="1600" dirty="0"/>
          </a:p>
        </p:txBody>
      </p:sp>
      <p:sp>
        <p:nvSpPr>
          <p:cNvPr id="43" name="Text 40"/>
          <p:cNvSpPr/>
          <p:nvPr/>
        </p:nvSpPr>
        <p:spPr>
          <a:xfrm>
            <a:off x="552925" y="5344826"/>
            <a:ext cx="11159873" cy="718803"/>
          </a:xfrm>
          <a:prstGeom prst="rect">
            <a:avLst/>
          </a:prstGeom>
          <a:noFill/>
          <a:ln/>
        </p:spPr>
        <p:txBody>
          <a:bodyPr wrap="square" lIns="0" tIns="0" rIns="0" bIns="0" rtlCol="0" anchor="ctr"/>
          <a:lstStyle/>
          <a:p>
            <a:pPr>
              <a:lnSpc>
                <a:spcPct val="140000"/>
              </a:lnSpc>
            </a:pPr>
            <a:r>
              <a:rPr lang="en-US" sz="1161" dirty="0">
                <a:solidFill>
                  <a:srgbClr val="F9FAFB">
                    <a:alpha val="90000"/>
                  </a:srgbClr>
                </a:solidFill>
                <a:latin typeface="Sorts Mill Goudy" pitchFamily="34" charset="0"/>
                <a:ea typeface="Sorts Mill Goudy" pitchFamily="34" charset="-122"/>
                <a:cs typeface="Sorts Mill Goudy" pitchFamily="34" charset="-120"/>
              </a:rPr>
              <a:t>This survey reveals that while the field has made significant progress in automated Bloom's taxonomy classification, realizing the full potential of LLM-based approaches requires addressing data accessibility challenges. By fostering a culture of open science and collaborative dataset development, the research community can accelerate innovation and improve educational assessment practices worldwide.</a:t>
            </a:r>
            <a:endParaRPr lang="en-US" sz="1600" dirty="0"/>
          </a:p>
        </p:txBody>
      </p:sp>
      <p:sp>
        <p:nvSpPr>
          <p:cNvPr id="44" name="Shape 41"/>
          <p:cNvSpPr/>
          <p:nvPr/>
        </p:nvSpPr>
        <p:spPr>
          <a:xfrm>
            <a:off x="396263" y="6432246"/>
            <a:ext cx="129016" cy="147447"/>
          </a:xfrm>
          <a:custGeom>
            <a:avLst/>
            <a:gdLst/>
            <a:ahLst/>
            <a:cxnLst/>
            <a:rect l="l" t="t" r="r" b="b"/>
            <a:pathLst>
              <a:path w="129016" h="147447">
                <a:moveTo>
                  <a:pt x="129016" y="59267"/>
                </a:moveTo>
                <a:cubicBezTo>
                  <a:pt x="124754" y="62089"/>
                  <a:pt x="119858" y="64364"/>
                  <a:pt x="114761" y="66178"/>
                </a:cubicBezTo>
                <a:cubicBezTo>
                  <a:pt x="101226" y="71016"/>
                  <a:pt x="83457" y="73723"/>
                  <a:pt x="64508" y="73723"/>
                </a:cubicBezTo>
                <a:cubicBezTo>
                  <a:pt x="45559" y="73723"/>
                  <a:pt x="27761" y="70988"/>
                  <a:pt x="14255" y="66178"/>
                </a:cubicBezTo>
                <a:cubicBezTo>
                  <a:pt x="9187" y="64364"/>
                  <a:pt x="4262" y="62089"/>
                  <a:pt x="0" y="59267"/>
                </a:cubicBezTo>
                <a:lnTo>
                  <a:pt x="0" y="82939"/>
                </a:lnTo>
                <a:cubicBezTo>
                  <a:pt x="0" y="95668"/>
                  <a:pt x="28885" y="105977"/>
                  <a:pt x="64508" y="105977"/>
                </a:cubicBezTo>
                <a:cubicBezTo>
                  <a:pt x="100131" y="105977"/>
                  <a:pt x="129016" y="95668"/>
                  <a:pt x="129016" y="82939"/>
                </a:cubicBezTo>
                <a:lnTo>
                  <a:pt x="129016" y="59267"/>
                </a:lnTo>
                <a:close/>
                <a:moveTo>
                  <a:pt x="129016" y="36862"/>
                </a:moveTo>
                <a:lnTo>
                  <a:pt x="129016" y="23039"/>
                </a:lnTo>
                <a:cubicBezTo>
                  <a:pt x="129016" y="10310"/>
                  <a:pt x="100131" y="0"/>
                  <a:pt x="64508" y="0"/>
                </a:cubicBezTo>
                <a:cubicBezTo>
                  <a:pt x="28885" y="0"/>
                  <a:pt x="0" y="10310"/>
                  <a:pt x="0" y="23039"/>
                </a:cubicBezTo>
                <a:lnTo>
                  <a:pt x="0" y="36862"/>
                </a:lnTo>
                <a:cubicBezTo>
                  <a:pt x="0" y="49590"/>
                  <a:pt x="28885" y="59900"/>
                  <a:pt x="64508" y="59900"/>
                </a:cubicBezTo>
                <a:cubicBezTo>
                  <a:pt x="100131" y="59900"/>
                  <a:pt x="129016" y="49590"/>
                  <a:pt x="129016" y="36862"/>
                </a:cubicBezTo>
                <a:close/>
                <a:moveTo>
                  <a:pt x="114761" y="112255"/>
                </a:moveTo>
                <a:cubicBezTo>
                  <a:pt x="101254" y="117065"/>
                  <a:pt x="83486" y="119800"/>
                  <a:pt x="64508" y="119800"/>
                </a:cubicBezTo>
                <a:cubicBezTo>
                  <a:pt x="45530" y="119800"/>
                  <a:pt x="27761" y="117065"/>
                  <a:pt x="14255" y="112255"/>
                </a:cubicBezTo>
                <a:cubicBezTo>
                  <a:pt x="9187" y="110441"/>
                  <a:pt x="4262" y="108166"/>
                  <a:pt x="0" y="105344"/>
                </a:cubicBezTo>
                <a:lnTo>
                  <a:pt x="0" y="124408"/>
                </a:lnTo>
                <a:cubicBezTo>
                  <a:pt x="0" y="137137"/>
                  <a:pt x="28885" y="147447"/>
                  <a:pt x="64508" y="147447"/>
                </a:cubicBezTo>
                <a:cubicBezTo>
                  <a:pt x="100131" y="147447"/>
                  <a:pt x="129016" y="137137"/>
                  <a:pt x="129016" y="124408"/>
                </a:cubicBezTo>
                <a:lnTo>
                  <a:pt x="129016" y="105344"/>
                </a:lnTo>
                <a:cubicBezTo>
                  <a:pt x="124754" y="108166"/>
                  <a:pt x="119858" y="110441"/>
                  <a:pt x="114761" y="112255"/>
                </a:cubicBezTo>
                <a:close/>
              </a:path>
            </a:pathLst>
          </a:custGeom>
          <a:solidFill>
            <a:srgbClr val="8B0000"/>
          </a:solidFill>
          <a:ln/>
        </p:spPr>
        <p:txBody>
          <a:bodyPr/>
          <a:lstStyle/>
          <a:p>
            <a:endParaRPr lang="en-US"/>
          </a:p>
        </p:txBody>
      </p:sp>
      <p:sp>
        <p:nvSpPr>
          <p:cNvPr id="45" name="Text 42"/>
          <p:cNvSpPr/>
          <p:nvPr/>
        </p:nvSpPr>
        <p:spPr>
          <a:xfrm>
            <a:off x="626649" y="6395384"/>
            <a:ext cx="1419175" cy="221170"/>
          </a:xfrm>
          <a:prstGeom prst="rect">
            <a:avLst/>
          </a:prstGeom>
          <a:noFill/>
          <a:ln/>
        </p:spPr>
        <p:txBody>
          <a:bodyPr wrap="square" lIns="0" tIns="0" rIns="0" bIns="0" rtlCol="0" anchor="ctr"/>
          <a:lstStyle/>
          <a:p>
            <a:pPr>
              <a:lnSpc>
                <a:spcPct val="130000"/>
              </a:lnSpc>
            </a:pPr>
            <a:r>
              <a:rPr lang="en-US" sz="1161" dirty="0">
                <a:solidFill>
                  <a:srgbClr val="F9FAFB">
                    <a:alpha val="70000"/>
                  </a:srgbClr>
                </a:solidFill>
                <a:latin typeface="Sorts Mill Goudy" pitchFamily="34" charset="0"/>
                <a:ea typeface="Sorts Mill Goudy" pitchFamily="34" charset="-122"/>
                <a:cs typeface="Sorts Mill Goudy" pitchFamily="34" charset="-120"/>
              </a:rPr>
              <a:t>9+ Datasets Surveyed</a:t>
            </a:r>
            <a:endParaRPr lang="en-US" sz="1600" dirty="0"/>
          </a:p>
        </p:txBody>
      </p:sp>
      <p:sp>
        <p:nvSpPr>
          <p:cNvPr id="46" name="Shape 43"/>
          <p:cNvSpPr/>
          <p:nvPr/>
        </p:nvSpPr>
        <p:spPr>
          <a:xfrm>
            <a:off x="2225293" y="6432246"/>
            <a:ext cx="129016" cy="147447"/>
          </a:xfrm>
          <a:custGeom>
            <a:avLst/>
            <a:gdLst/>
            <a:ahLst/>
            <a:cxnLst/>
            <a:rect l="l" t="t" r="r" b="b"/>
            <a:pathLst>
              <a:path w="129016" h="147447">
                <a:moveTo>
                  <a:pt x="36862" y="0"/>
                </a:moveTo>
                <a:cubicBezTo>
                  <a:pt x="41959" y="0"/>
                  <a:pt x="46077" y="4118"/>
                  <a:pt x="46077" y="9215"/>
                </a:cubicBezTo>
                <a:lnTo>
                  <a:pt x="46077" y="18431"/>
                </a:lnTo>
                <a:lnTo>
                  <a:pt x="82939" y="18431"/>
                </a:lnTo>
                <a:lnTo>
                  <a:pt x="82939" y="9215"/>
                </a:lnTo>
                <a:cubicBezTo>
                  <a:pt x="82939" y="4118"/>
                  <a:pt x="87057" y="0"/>
                  <a:pt x="92154" y="0"/>
                </a:cubicBezTo>
                <a:cubicBezTo>
                  <a:pt x="97251" y="0"/>
                  <a:pt x="101370" y="4118"/>
                  <a:pt x="101370" y="9215"/>
                </a:cubicBezTo>
                <a:lnTo>
                  <a:pt x="101370" y="18431"/>
                </a:lnTo>
                <a:lnTo>
                  <a:pt x="110585" y="18431"/>
                </a:lnTo>
                <a:cubicBezTo>
                  <a:pt x="120751" y="18431"/>
                  <a:pt x="129016" y="26696"/>
                  <a:pt x="129016" y="36862"/>
                </a:cubicBezTo>
                <a:lnTo>
                  <a:pt x="129016" y="119800"/>
                </a:lnTo>
                <a:cubicBezTo>
                  <a:pt x="129016" y="129966"/>
                  <a:pt x="120751" y="138231"/>
                  <a:pt x="110585" y="138231"/>
                </a:cubicBezTo>
                <a:lnTo>
                  <a:pt x="18431" y="138231"/>
                </a:lnTo>
                <a:cubicBezTo>
                  <a:pt x="8265" y="138231"/>
                  <a:pt x="0" y="129966"/>
                  <a:pt x="0" y="119800"/>
                </a:cubicBezTo>
                <a:lnTo>
                  <a:pt x="0" y="36862"/>
                </a:lnTo>
                <a:cubicBezTo>
                  <a:pt x="0" y="26696"/>
                  <a:pt x="8265" y="18431"/>
                  <a:pt x="18431" y="18431"/>
                </a:cubicBezTo>
                <a:lnTo>
                  <a:pt x="27646" y="18431"/>
                </a:lnTo>
                <a:lnTo>
                  <a:pt x="27646" y="9215"/>
                </a:lnTo>
                <a:cubicBezTo>
                  <a:pt x="27646" y="4118"/>
                  <a:pt x="31764" y="0"/>
                  <a:pt x="36862" y="0"/>
                </a:cubicBezTo>
                <a:close/>
                <a:moveTo>
                  <a:pt x="18431" y="69116"/>
                </a:moveTo>
                <a:lnTo>
                  <a:pt x="18431" y="78331"/>
                </a:lnTo>
                <a:cubicBezTo>
                  <a:pt x="18431" y="80865"/>
                  <a:pt x="20504" y="82939"/>
                  <a:pt x="23039" y="82939"/>
                </a:cubicBezTo>
                <a:lnTo>
                  <a:pt x="32254" y="82939"/>
                </a:lnTo>
                <a:cubicBezTo>
                  <a:pt x="34788" y="82939"/>
                  <a:pt x="36862" y="80865"/>
                  <a:pt x="36862" y="78331"/>
                </a:cubicBezTo>
                <a:lnTo>
                  <a:pt x="36862" y="69116"/>
                </a:lnTo>
                <a:cubicBezTo>
                  <a:pt x="36862" y="66581"/>
                  <a:pt x="34788" y="64508"/>
                  <a:pt x="32254" y="64508"/>
                </a:cubicBezTo>
                <a:lnTo>
                  <a:pt x="23039" y="64508"/>
                </a:lnTo>
                <a:cubicBezTo>
                  <a:pt x="20504" y="64508"/>
                  <a:pt x="18431" y="66581"/>
                  <a:pt x="18431" y="69116"/>
                </a:cubicBezTo>
                <a:close/>
                <a:moveTo>
                  <a:pt x="55293" y="69116"/>
                </a:moveTo>
                <a:lnTo>
                  <a:pt x="55293" y="78331"/>
                </a:lnTo>
                <a:cubicBezTo>
                  <a:pt x="55293" y="80865"/>
                  <a:pt x="57366" y="82939"/>
                  <a:pt x="59900" y="82939"/>
                </a:cubicBezTo>
                <a:lnTo>
                  <a:pt x="69116" y="82939"/>
                </a:lnTo>
                <a:cubicBezTo>
                  <a:pt x="71650" y="82939"/>
                  <a:pt x="73723" y="80865"/>
                  <a:pt x="73723" y="78331"/>
                </a:cubicBezTo>
                <a:lnTo>
                  <a:pt x="73723" y="69116"/>
                </a:lnTo>
                <a:cubicBezTo>
                  <a:pt x="73723" y="66581"/>
                  <a:pt x="71650" y="64508"/>
                  <a:pt x="69116" y="64508"/>
                </a:cubicBezTo>
                <a:lnTo>
                  <a:pt x="59900" y="64508"/>
                </a:lnTo>
                <a:cubicBezTo>
                  <a:pt x="57366" y="64508"/>
                  <a:pt x="55293" y="66581"/>
                  <a:pt x="55293" y="69116"/>
                </a:cubicBezTo>
                <a:close/>
                <a:moveTo>
                  <a:pt x="96762" y="64508"/>
                </a:moveTo>
                <a:cubicBezTo>
                  <a:pt x="94228" y="64508"/>
                  <a:pt x="92154" y="66581"/>
                  <a:pt x="92154" y="69116"/>
                </a:cubicBezTo>
                <a:lnTo>
                  <a:pt x="92154" y="78331"/>
                </a:lnTo>
                <a:cubicBezTo>
                  <a:pt x="92154" y="80865"/>
                  <a:pt x="94228" y="82939"/>
                  <a:pt x="96762" y="82939"/>
                </a:cubicBezTo>
                <a:lnTo>
                  <a:pt x="105977" y="82939"/>
                </a:lnTo>
                <a:cubicBezTo>
                  <a:pt x="108512" y="82939"/>
                  <a:pt x="110585" y="80865"/>
                  <a:pt x="110585" y="78331"/>
                </a:cubicBezTo>
                <a:lnTo>
                  <a:pt x="110585" y="69116"/>
                </a:lnTo>
                <a:cubicBezTo>
                  <a:pt x="110585" y="66581"/>
                  <a:pt x="108512" y="64508"/>
                  <a:pt x="105977" y="64508"/>
                </a:cubicBezTo>
                <a:lnTo>
                  <a:pt x="96762" y="64508"/>
                </a:lnTo>
                <a:close/>
                <a:moveTo>
                  <a:pt x="18431" y="105977"/>
                </a:moveTo>
                <a:lnTo>
                  <a:pt x="18431" y="115193"/>
                </a:lnTo>
                <a:cubicBezTo>
                  <a:pt x="18431" y="117727"/>
                  <a:pt x="20504" y="119800"/>
                  <a:pt x="23039" y="119800"/>
                </a:cubicBezTo>
                <a:lnTo>
                  <a:pt x="32254" y="119800"/>
                </a:lnTo>
                <a:cubicBezTo>
                  <a:pt x="34788" y="119800"/>
                  <a:pt x="36862" y="117727"/>
                  <a:pt x="36862" y="115193"/>
                </a:cubicBezTo>
                <a:lnTo>
                  <a:pt x="36862" y="105977"/>
                </a:lnTo>
                <a:cubicBezTo>
                  <a:pt x="36862" y="103443"/>
                  <a:pt x="34788" y="101370"/>
                  <a:pt x="32254" y="101370"/>
                </a:cubicBezTo>
                <a:lnTo>
                  <a:pt x="23039" y="101370"/>
                </a:lnTo>
                <a:cubicBezTo>
                  <a:pt x="20504" y="101370"/>
                  <a:pt x="18431" y="103443"/>
                  <a:pt x="18431" y="105977"/>
                </a:cubicBezTo>
                <a:close/>
                <a:moveTo>
                  <a:pt x="59900" y="101370"/>
                </a:moveTo>
                <a:cubicBezTo>
                  <a:pt x="57366" y="101370"/>
                  <a:pt x="55293" y="103443"/>
                  <a:pt x="55293" y="105977"/>
                </a:cubicBezTo>
                <a:lnTo>
                  <a:pt x="55293" y="115193"/>
                </a:lnTo>
                <a:cubicBezTo>
                  <a:pt x="55293" y="117727"/>
                  <a:pt x="57366" y="119800"/>
                  <a:pt x="59900" y="119800"/>
                </a:cubicBezTo>
                <a:lnTo>
                  <a:pt x="69116" y="119800"/>
                </a:lnTo>
                <a:cubicBezTo>
                  <a:pt x="71650" y="119800"/>
                  <a:pt x="73723" y="117727"/>
                  <a:pt x="73723" y="115193"/>
                </a:cubicBezTo>
                <a:lnTo>
                  <a:pt x="73723" y="105977"/>
                </a:lnTo>
                <a:cubicBezTo>
                  <a:pt x="73723" y="103443"/>
                  <a:pt x="71650" y="101370"/>
                  <a:pt x="69116" y="101370"/>
                </a:cubicBezTo>
                <a:lnTo>
                  <a:pt x="59900" y="101370"/>
                </a:lnTo>
                <a:close/>
                <a:moveTo>
                  <a:pt x="92154" y="105977"/>
                </a:moveTo>
                <a:lnTo>
                  <a:pt x="92154" y="115193"/>
                </a:lnTo>
                <a:cubicBezTo>
                  <a:pt x="92154" y="117727"/>
                  <a:pt x="94228" y="119800"/>
                  <a:pt x="96762" y="119800"/>
                </a:cubicBezTo>
                <a:lnTo>
                  <a:pt x="105977" y="119800"/>
                </a:lnTo>
                <a:cubicBezTo>
                  <a:pt x="108512" y="119800"/>
                  <a:pt x="110585" y="117727"/>
                  <a:pt x="110585" y="115193"/>
                </a:cubicBezTo>
                <a:lnTo>
                  <a:pt x="110585" y="105977"/>
                </a:lnTo>
                <a:cubicBezTo>
                  <a:pt x="110585" y="103443"/>
                  <a:pt x="108512" y="101370"/>
                  <a:pt x="105977" y="101370"/>
                </a:cubicBezTo>
                <a:lnTo>
                  <a:pt x="96762" y="101370"/>
                </a:lnTo>
                <a:cubicBezTo>
                  <a:pt x="94228" y="101370"/>
                  <a:pt x="92154" y="103443"/>
                  <a:pt x="92154" y="105977"/>
                </a:cubicBezTo>
                <a:close/>
              </a:path>
            </a:pathLst>
          </a:custGeom>
          <a:solidFill>
            <a:srgbClr val="8B0000"/>
          </a:solidFill>
          <a:ln/>
        </p:spPr>
        <p:txBody>
          <a:bodyPr/>
          <a:lstStyle/>
          <a:p>
            <a:endParaRPr lang="en-US"/>
          </a:p>
        </p:txBody>
      </p:sp>
      <p:sp>
        <p:nvSpPr>
          <p:cNvPr id="47" name="Text 44"/>
          <p:cNvSpPr/>
          <p:nvPr/>
        </p:nvSpPr>
        <p:spPr>
          <a:xfrm>
            <a:off x="2455679" y="6395384"/>
            <a:ext cx="1317805" cy="221170"/>
          </a:xfrm>
          <a:prstGeom prst="rect">
            <a:avLst/>
          </a:prstGeom>
          <a:noFill/>
          <a:ln/>
        </p:spPr>
        <p:txBody>
          <a:bodyPr wrap="square" lIns="0" tIns="0" rIns="0" bIns="0" rtlCol="0" anchor="ctr"/>
          <a:lstStyle/>
          <a:p>
            <a:pPr>
              <a:lnSpc>
                <a:spcPct val="130000"/>
              </a:lnSpc>
            </a:pPr>
            <a:r>
              <a:rPr lang="en-US" sz="1161" dirty="0">
                <a:solidFill>
                  <a:srgbClr val="F9FAFB">
                    <a:alpha val="70000"/>
                  </a:srgbClr>
                </a:solidFill>
                <a:latin typeface="Sorts Mill Goudy" pitchFamily="34" charset="0"/>
                <a:ea typeface="Sorts Mill Goudy" pitchFamily="34" charset="-122"/>
                <a:cs typeface="Sorts Mill Goudy" pitchFamily="34" charset="-120"/>
              </a:rPr>
              <a:t>2012-2024 Coverage</a:t>
            </a:r>
            <a:endParaRPr lang="en-US" sz="1600" dirty="0"/>
          </a:p>
        </p:txBody>
      </p:sp>
      <p:sp>
        <p:nvSpPr>
          <p:cNvPr id="48" name="Text 45"/>
          <p:cNvSpPr/>
          <p:nvPr/>
        </p:nvSpPr>
        <p:spPr>
          <a:xfrm>
            <a:off x="9951271" y="6413815"/>
            <a:ext cx="1870730" cy="184308"/>
          </a:xfrm>
          <a:prstGeom prst="rect">
            <a:avLst/>
          </a:prstGeom>
          <a:noFill/>
          <a:ln/>
        </p:spPr>
        <p:txBody>
          <a:bodyPr wrap="square" lIns="0" tIns="0" rIns="0" bIns="0" rtlCol="0" anchor="ctr"/>
          <a:lstStyle/>
          <a:p>
            <a:pPr algn="r">
              <a:lnSpc>
                <a:spcPct val="120000"/>
              </a:lnSpc>
            </a:pPr>
            <a:r>
              <a:rPr lang="en-US" sz="1016" dirty="0">
                <a:solidFill>
                  <a:srgbClr val="F9FAFB">
                    <a:alpha val="60000"/>
                  </a:srgbClr>
                </a:solidFill>
                <a:latin typeface="Sorts Mill Goudy" pitchFamily="34" charset="0"/>
                <a:ea typeface="Sorts Mill Goudy" pitchFamily="34" charset="-122"/>
                <a:cs typeface="Sorts Mill Goudy" pitchFamily="34" charset="-120"/>
              </a:rPr>
              <a:t>Survey completed February 2026</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1592</Words>
  <Application>Microsoft Office PowerPoint</Application>
  <PresentationFormat>Widescreen</PresentationFormat>
  <Paragraphs>320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Sorts Mill Goudy</vt:lpstr>
      <vt:lpstr>微软雅黑</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LLM-Based Bloom's Taxonomy Classification Studies: Datasets Used</dc:title>
  <dc:subject>LLM-Based Bloom's Taxonomy Classification Studies: Datasets Used</dc:subject>
  <dc:creator>Kimi</dc:creator>
  <cp:lastModifiedBy>Muhammad Daniyal Qureshi</cp:lastModifiedBy>
  <cp:revision>4</cp:revision>
  <dcterms:created xsi:type="dcterms:W3CDTF">2026-02-05T09:14:49Z</dcterms:created>
  <dcterms:modified xsi:type="dcterms:W3CDTF">2026-02-05T14:19:23Z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{"Label":"LLM-Based Bloom's Taxonomy Classification Studies: Datasets Used","ContentProducer":"001191110108MACG2KBH8F10000","ProduceID":"19c2d104-ab22-8258-8000-000068c5f808","ReservedCode1":"","ContentPropagator":"001191110108MACG2KBH8F20000","PropagateID":"19c2d104-ab22-8258-8000-000068c5f808","ReservedCode2":""}</vt:lpwstr>
  </property>
</Properties>
</file>
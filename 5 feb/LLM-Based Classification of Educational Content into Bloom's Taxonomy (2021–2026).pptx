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微软雅黑" panose="020B0503020204020204" pitchFamily="34" charset="-122"/>
      <p:regular r:id="rId17"/>
      <p:bold r:id="rId18"/>
    </p:embeddedFont>
    <p:embeddedFont>
      <p:font typeface="MiSans" panose="020B0604020202020204" charset="-122"/>
      <p:regular r:id="rId19"/>
    </p:embeddedFont>
    <p:embeddedFont>
      <p:font typeface="Sorts Mill Goud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195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howtolearnmachinelearning.com/2ac522ce82b10bca7bd71c12902b9e99c600896f.jp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90000"/>
                </a:srgbClr>
              </a:gs>
              <a:gs pos="50000">
                <a:srgbClr val="1F2937">
                  <a:alpha val="85000"/>
                </a:srgbClr>
              </a:gs>
              <a:gs pos="100000">
                <a:srgbClr val="1F2937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463040"/>
            <a:ext cx="3055620" cy="388620"/>
          </a:xfrm>
          <a:custGeom>
            <a:avLst/>
            <a:gdLst/>
            <a:ahLst/>
            <a:cxnLst/>
            <a:rect l="l" t="t" r="r" b="b"/>
            <a:pathLst>
              <a:path w="3055620" h="388620">
                <a:moveTo>
                  <a:pt x="38100" y="0"/>
                </a:moveTo>
                <a:lnTo>
                  <a:pt x="3017520" y="0"/>
                </a:lnTo>
                <a:cubicBezTo>
                  <a:pt x="3038562" y="0"/>
                  <a:pt x="3055620" y="17058"/>
                  <a:pt x="3055620" y="38100"/>
                </a:cubicBezTo>
                <a:lnTo>
                  <a:pt x="3055620" y="350520"/>
                </a:lnTo>
                <a:cubicBezTo>
                  <a:pt x="3055620" y="371562"/>
                  <a:pt x="3038562" y="388620"/>
                  <a:pt x="301752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15430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REVIEW </a:t>
            </a:r>
            <a:r>
              <a:rPr lang="en-US" sz="1200" b="1" kern="0" spc="6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| 2021–2026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8407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LLM-Based Classification of Educational Content into Bloom's Taxonomy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6522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3931920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Review </a:t>
            </a: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 Large Language Models for Cognitive Level Classification in Education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3425" y="621030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2021–2026 Literature Review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99316" y="6248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04116" y="62103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 Studies Analyzed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29324" y="598170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810274" y="62103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08" y="439510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4671" y="562572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6482" y="49445"/>
                </a:moveTo>
                <a:cubicBezTo>
                  <a:pt x="25578" y="49445"/>
                  <a:pt x="32963" y="42060"/>
                  <a:pt x="32963" y="32963"/>
                </a:cubicBezTo>
                <a:cubicBezTo>
                  <a:pt x="32963" y="23867"/>
                  <a:pt x="25578" y="16482"/>
                  <a:pt x="16482" y="16482"/>
                </a:cubicBezTo>
                <a:cubicBezTo>
                  <a:pt x="7385" y="16482"/>
                  <a:pt x="0" y="23867"/>
                  <a:pt x="0" y="32963"/>
                </a:cubicBezTo>
                <a:cubicBezTo>
                  <a:pt x="0" y="42060"/>
                  <a:pt x="7385" y="49445"/>
                  <a:pt x="16482" y="49445"/>
                </a:cubicBezTo>
                <a:close/>
                <a:moveTo>
                  <a:pt x="65926" y="21975"/>
                </a:moveTo>
                <a:cubicBezTo>
                  <a:pt x="59849" y="21975"/>
                  <a:pt x="54939" y="26886"/>
                  <a:pt x="54939" y="32963"/>
                </a:cubicBezTo>
                <a:cubicBezTo>
                  <a:pt x="54939" y="39041"/>
                  <a:pt x="59849" y="43951"/>
                  <a:pt x="65926" y="43951"/>
                </a:cubicBezTo>
                <a:lnTo>
                  <a:pt x="164816" y="43951"/>
                </a:lnTo>
                <a:cubicBezTo>
                  <a:pt x="170894" y="43951"/>
                  <a:pt x="175804" y="39041"/>
                  <a:pt x="175804" y="32963"/>
                </a:cubicBezTo>
                <a:cubicBezTo>
                  <a:pt x="175804" y="26886"/>
                  <a:pt x="170894" y="21975"/>
                  <a:pt x="164816" y="21975"/>
                </a:cubicBezTo>
                <a:lnTo>
                  <a:pt x="65926" y="21975"/>
                </a:lnTo>
                <a:close/>
                <a:moveTo>
                  <a:pt x="65926" y="76914"/>
                </a:moveTo>
                <a:cubicBezTo>
                  <a:pt x="59849" y="76914"/>
                  <a:pt x="54939" y="81824"/>
                  <a:pt x="54939" y="87902"/>
                </a:cubicBezTo>
                <a:cubicBezTo>
                  <a:pt x="54939" y="93980"/>
                  <a:pt x="59849" y="98890"/>
                  <a:pt x="65926" y="98890"/>
                </a:cubicBezTo>
                <a:lnTo>
                  <a:pt x="164816" y="98890"/>
                </a:lnTo>
                <a:cubicBezTo>
                  <a:pt x="170894" y="98890"/>
                  <a:pt x="175804" y="93980"/>
                  <a:pt x="175804" y="87902"/>
                </a:cubicBezTo>
                <a:cubicBezTo>
                  <a:pt x="175804" y="81824"/>
                  <a:pt x="170894" y="76914"/>
                  <a:pt x="164816" y="76914"/>
                </a:cubicBezTo>
                <a:lnTo>
                  <a:pt x="65926" y="76914"/>
                </a:lnTo>
                <a:close/>
                <a:moveTo>
                  <a:pt x="65926" y="131853"/>
                </a:moveTo>
                <a:cubicBezTo>
                  <a:pt x="59849" y="131853"/>
                  <a:pt x="54939" y="136763"/>
                  <a:pt x="54939" y="142841"/>
                </a:cubicBezTo>
                <a:cubicBezTo>
                  <a:pt x="54939" y="148918"/>
                  <a:pt x="59849" y="153828"/>
                  <a:pt x="65926" y="153828"/>
                </a:cubicBezTo>
                <a:lnTo>
                  <a:pt x="164816" y="153828"/>
                </a:lnTo>
                <a:cubicBezTo>
                  <a:pt x="170894" y="153828"/>
                  <a:pt x="175804" y="148918"/>
                  <a:pt x="175804" y="142841"/>
                </a:cubicBezTo>
                <a:cubicBezTo>
                  <a:pt x="175804" y="136763"/>
                  <a:pt x="170894" y="131853"/>
                  <a:pt x="164816" y="131853"/>
                </a:cubicBezTo>
                <a:lnTo>
                  <a:pt x="65926" y="131853"/>
                </a:lnTo>
                <a:close/>
                <a:moveTo>
                  <a:pt x="16482" y="159322"/>
                </a:moveTo>
                <a:cubicBezTo>
                  <a:pt x="25578" y="159322"/>
                  <a:pt x="32963" y="151937"/>
                  <a:pt x="32963" y="142841"/>
                </a:cubicBezTo>
                <a:cubicBezTo>
                  <a:pt x="32963" y="133744"/>
                  <a:pt x="25578" y="126359"/>
                  <a:pt x="16482" y="126359"/>
                </a:cubicBezTo>
                <a:cubicBezTo>
                  <a:pt x="7385" y="126359"/>
                  <a:pt x="0" y="133744"/>
                  <a:pt x="0" y="142841"/>
                </a:cubicBezTo>
                <a:cubicBezTo>
                  <a:pt x="0" y="151937"/>
                  <a:pt x="7385" y="159322"/>
                  <a:pt x="16482" y="159322"/>
                </a:cubicBezTo>
                <a:close/>
                <a:moveTo>
                  <a:pt x="32963" y="87902"/>
                </a:moveTo>
                <a:cubicBezTo>
                  <a:pt x="32963" y="78805"/>
                  <a:pt x="25578" y="71420"/>
                  <a:pt x="16482" y="71420"/>
                </a:cubicBezTo>
                <a:cubicBezTo>
                  <a:pt x="7385" y="71420"/>
                  <a:pt x="0" y="78805"/>
                  <a:pt x="0" y="87902"/>
                </a:cubicBezTo>
                <a:cubicBezTo>
                  <a:pt x="0" y="96998"/>
                  <a:pt x="7385" y="104384"/>
                  <a:pt x="16482" y="104384"/>
                </a:cubicBezTo>
                <a:cubicBezTo>
                  <a:pt x="25578" y="104384"/>
                  <a:pt x="32963" y="96998"/>
                  <a:pt x="32963" y="8790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9019" y="351608"/>
            <a:ext cx="337543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kern="0" spc="48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9019" y="527412"/>
            <a:ext cx="3524868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188" y="1336110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9188" y="1336110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7412" y="1476753"/>
            <a:ext cx="36039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7259" y="1476753"/>
            <a:ext cx="325237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7259" y="1758039"/>
            <a:ext cx="323479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Bloom's Taxonomy framework and LLM capabilities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2685" y="1336110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52685" y="1336110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0909" y="1476753"/>
            <a:ext cx="39555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4488" y="1476753"/>
            <a:ext cx="248762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4488" y="1758039"/>
            <a:ext cx="247004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Scope and aims of the systematic review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9188" y="2322040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9188" y="2322040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7412" y="2462683"/>
            <a:ext cx="37797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180" y="2462683"/>
            <a:ext cx="302382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180" y="2743969"/>
            <a:ext cx="300624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2685" y="2322040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52685" y="2322040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0909" y="2462683"/>
            <a:ext cx="40434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4048" y="2462683"/>
            <a:ext cx="262826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 Characteristics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24048" y="2743969"/>
            <a:ext cx="261068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Overview of included studies and datasets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9188" y="330797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9188" y="330797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7412" y="3448614"/>
            <a:ext cx="36039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7809" y="3448614"/>
            <a:ext cx="198658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Quality Assessment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7809" y="3729900"/>
            <a:ext cx="196900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CASP evaluation of study rigor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52685" y="330797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52685" y="330797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0909" y="3448614"/>
            <a:ext cx="40434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2180" y="3448614"/>
            <a:ext cx="247004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Classification Performance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22180" y="3729900"/>
            <a:ext cx="245246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LLMs vs traditional models comparison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9188" y="429390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9188" y="429390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7412" y="4434544"/>
            <a:ext cx="40434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9672" y="4434544"/>
            <a:ext cx="226787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Meta-Analysis Results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9672" y="4715830"/>
            <a:ext cx="225029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Statistical synthesis of accuracy data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52685" y="429390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52685" y="429390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0909" y="4434544"/>
            <a:ext cx="40434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2949" y="4434544"/>
            <a:ext cx="25931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Prompting Strategies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22949" y="4715830"/>
            <a:ext cx="25755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 of different prompting approaches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9188" y="527983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69188" y="527983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7412" y="5420474"/>
            <a:ext cx="39555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5716" y="5420474"/>
            <a:ext cx="253157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Error Patterns &amp; Biases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35716" y="5701760"/>
            <a:ext cx="251399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Systematic errors and domain challenges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52685" y="527983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52685" y="527983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10909" y="5420474"/>
            <a:ext cx="36039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80756" y="5420474"/>
            <a:ext cx="27073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Discussion &amp; Implications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80756" y="5701760"/>
            <a:ext cx="268980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Principal findings and practical applications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69188" y="626587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69188" y="626587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27412" y="6406514"/>
            <a:ext cx="307657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7375" y="6406514"/>
            <a:ext cx="227666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7375" y="6687800"/>
            <a:ext cx="22590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Priority areas for continued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52685" y="6265871"/>
            <a:ext cx="5581774" cy="808698"/>
          </a:xfrm>
          <a:custGeom>
            <a:avLst/>
            <a:gdLst/>
            <a:ahLst/>
            <a:cxnLst/>
            <a:rect l="l" t="t" r="r" b="b"/>
            <a:pathLst>
              <a:path w="5581774" h="808698">
                <a:moveTo>
                  <a:pt x="0" y="0"/>
                </a:moveTo>
                <a:lnTo>
                  <a:pt x="5581774" y="0"/>
                </a:lnTo>
                <a:lnTo>
                  <a:pt x="5581774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252685" y="6265871"/>
            <a:ext cx="35161" cy="808698"/>
          </a:xfrm>
          <a:custGeom>
            <a:avLst/>
            <a:gdLst/>
            <a:ahLst/>
            <a:cxnLst/>
            <a:rect l="l" t="t" r="r" b="b"/>
            <a:pathLst>
              <a:path w="35161" h="808698">
                <a:moveTo>
                  <a:pt x="0" y="0"/>
                </a:moveTo>
                <a:lnTo>
                  <a:pt x="35161" y="0"/>
                </a:lnTo>
                <a:lnTo>
                  <a:pt x="35161" y="808698"/>
                </a:lnTo>
                <a:lnTo>
                  <a:pt x="0" y="8086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10909" y="6406514"/>
            <a:ext cx="34281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64714" y="6406514"/>
            <a:ext cx="210964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64714" y="6687800"/>
            <a:ext cx="209206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takeaways and final synthesis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73571"/>
            <a:ext cx="28866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31462" y="339610"/>
            <a:ext cx="6129961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Introduction: Bloom's Taxonomy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610" y="747142"/>
            <a:ext cx="815064" cy="33961"/>
          </a:xfrm>
          <a:custGeom>
            <a:avLst/>
            <a:gdLst/>
            <a:ahLst/>
            <a:cxnLst/>
            <a:rect l="l" t="t" r="r" b="b"/>
            <a:pathLst>
              <a:path w="815064" h="33961">
                <a:moveTo>
                  <a:pt x="0" y="0"/>
                </a:moveTo>
                <a:lnTo>
                  <a:pt x="815064" y="0"/>
                </a:lnTo>
                <a:lnTo>
                  <a:pt x="815064" y="33961"/>
                </a:lnTo>
                <a:lnTo>
                  <a:pt x="0" y="3396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081" y="1018724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92530" y="2069"/>
                </a:moveTo>
                <a:cubicBezTo>
                  <a:pt x="98460" y="-677"/>
                  <a:pt x="105306" y="-677"/>
                  <a:pt x="111236" y="2069"/>
                </a:cubicBezTo>
                <a:lnTo>
                  <a:pt x="198234" y="42266"/>
                </a:lnTo>
                <a:cubicBezTo>
                  <a:pt x="201617" y="43818"/>
                  <a:pt x="203766" y="47200"/>
                  <a:pt x="203766" y="50942"/>
                </a:cubicBezTo>
                <a:cubicBezTo>
                  <a:pt x="203766" y="54683"/>
                  <a:pt x="201617" y="58065"/>
                  <a:pt x="198234" y="59617"/>
                </a:cubicBezTo>
                <a:lnTo>
                  <a:pt x="111236" y="99814"/>
                </a:lnTo>
                <a:cubicBezTo>
                  <a:pt x="105306" y="102560"/>
                  <a:pt x="98460" y="102560"/>
                  <a:pt x="92530" y="99814"/>
                </a:cubicBezTo>
                <a:lnTo>
                  <a:pt x="5532" y="59617"/>
                </a:lnTo>
                <a:cubicBezTo>
                  <a:pt x="2149" y="58026"/>
                  <a:pt x="0" y="54643"/>
                  <a:pt x="0" y="50942"/>
                </a:cubicBezTo>
                <a:cubicBezTo>
                  <a:pt x="0" y="47240"/>
                  <a:pt x="2149" y="43818"/>
                  <a:pt x="5532" y="42266"/>
                </a:cubicBezTo>
                <a:lnTo>
                  <a:pt x="92530" y="2069"/>
                </a:lnTo>
                <a:close/>
                <a:moveTo>
                  <a:pt x="19143" y="86919"/>
                </a:moveTo>
                <a:lnTo>
                  <a:pt x="84531" y="117126"/>
                </a:lnTo>
                <a:cubicBezTo>
                  <a:pt x="95555" y="122220"/>
                  <a:pt x="108251" y="122220"/>
                  <a:pt x="119275" y="117126"/>
                </a:cubicBezTo>
                <a:lnTo>
                  <a:pt x="184663" y="86919"/>
                </a:lnTo>
                <a:lnTo>
                  <a:pt x="198234" y="93207"/>
                </a:lnTo>
                <a:cubicBezTo>
                  <a:pt x="201617" y="94759"/>
                  <a:pt x="203766" y="98142"/>
                  <a:pt x="203766" y="101883"/>
                </a:cubicBezTo>
                <a:cubicBezTo>
                  <a:pt x="203766" y="105624"/>
                  <a:pt x="201617" y="109007"/>
                  <a:pt x="198234" y="110559"/>
                </a:cubicBezTo>
                <a:lnTo>
                  <a:pt x="111236" y="150755"/>
                </a:lnTo>
                <a:cubicBezTo>
                  <a:pt x="105306" y="153501"/>
                  <a:pt x="98460" y="153501"/>
                  <a:pt x="92530" y="150755"/>
                </a:cubicBezTo>
                <a:lnTo>
                  <a:pt x="5532" y="110559"/>
                </a:lnTo>
                <a:cubicBezTo>
                  <a:pt x="2149" y="108967"/>
                  <a:pt x="0" y="105584"/>
                  <a:pt x="0" y="101883"/>
                </a:cubicBezTo>
                <a:cubicBezTo>
                  <a:pt x="0" y="98182"/>
                  <a:pt x="2149" y="94759"/>
                  <a:pt x="5532" y="93207"/>
                </a:cubicBezTo>
                <a:lnTo>
                  <a:pt x="19103" y="86919"/>
                </a:lnTo>
                <a:close/>
                <a:moveTo>
                  <a:pt x="5532" y="144149"/>
                </a:moveTo>
                <a:lnTo>
                  <a:pt x="19103" y="137860"/>
                </a:lnTo>
                <a:lnTo>
                  <a:pt x="84491" y="168067"/>
                </a:lnTo>
                <a:cubicBezTo>
                  <a:pt x="95515" y="173161"/>
                  <a:pt x="108211" y="173161"/>
                  <a:pt x="119235" y="168067"/>
                </a:cubicBezTo>
                <a:lnTo>
                  <a:pt x="184623" y="137860"/>
                </a:lnTo>
                <a:lnTo>
                  <a:pt x="198194" y="144149"/>
                </a:lnTo>
                <a:cubicBezTo>
                  <a:pt x="201577" y="145701"/>
                  <a:pt x="203726" y="149083"/>
                  <a:pt x="203726" y="152825"/>
                </a:cubicBezTo>
                <a:cubicBezTo>
                  <a:pt x="203726" y="156566"/>
                  <a:pt x="201577" y="159948"/>
                  <a:pt x="198194" y="161500"/>
                </a:cubicBezTo>
                <a:lnTo>
                  <a:pt x="111196" y="201697"/>
                </a:lnTo>
                <a:cubicBezTo>
                  <a:pt x="105266" y="204443"/>
                  <a:pt x="98421" y="204443"/>
                  <a:pt x="92491" y="201697"/>
                </a:cubicBezTo>
                <a:lnTo>
                  <a:pt x="5532" y="161500"/>
                </a:lnTo>
                <a:cubicBezTo>
                  <a:pt x="2149" y="159909"/>
                  <a:pt x="0" y="156526"/>
                  <a:pt x="0" y="152825"/>
                </a:cubicBezTo>
                <a:cubicBezTo>
                  <a:pt x="0" y="149123"/>
                  <a:pt x="2149" y="145701"/>
                  <a:pt x="5532" y="14414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18" y="984869"/>
            <a:ext cx="701294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Hierarchical Cognitive Framework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9610" y="1392295"/>
            <a:ext cx="7242184" cy="500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Bloom's Taxonomy</a:t>
            </a:r>
            <a:r>
              <a:rPr lang="en-US" sz="12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provides a hierarchical framework for classifying educational objectives and assessment items into six cognitive levels, ranging from basic recall to higher-order creative skills.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9610" y="2228585"/>
            <a:ext cx="725067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Six Cognitive Levels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9610" y="2602156"/>
            <a:ext cx="7165772" cy="611298"/>
          </a:xfrm>
          <a:custGeom>
            <a:avLst/>
            <a:gdLst/>
            <a:ahLst/>
            <a:cxnLst/>
            <a:rect l="l" t="t" r="r" b="b"/>
            <a:pathLst>
              <a:path w="7165772" h="611298">
                <a:moveTo>
                  <a:pt x="67921" y="0"/>
                </a:moveTo>
                <a:lnTo>
                  <a:pt x="7097850" y="0"/>
                </a:lnTo>
                <a:cubicBezTo>
                  <a:pt x="7135362" y="0"/>
                  <a:pt x="7165772" y="30409"/>
                  <a:pt x="7165772" y="67921"/>
                </a:cubicBezTo>
                <a:lnTo>
                  <a:pt x="7165772" y="543377"/>
                </a:lnTo>
                <a:cubicBezTo>
                  <a:pt x="7165772" y="580889"/>
                  <a:pt x="7135362" y="611298"/>
                  <a:pt x="7097850" y="611298"/>
                </a:cubicBezTo>
                <a:lnTo>
                  <a:pt x="67921" y="611298"/>
                </a:lnTo>
                <a:cubicBezTo>
                  <a:pt x="30435" y="611298"/>
                  <a:pt x="0" y="580864"/>
                  <a:pt x="0" y="543377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gradFill flip="none" rotWithShape="1">
            <a:gsLst>
              <a:gs pos="0">
                <a:srgbClr val="8B0000"/>
              </a:gs>
              <a:gs pos="100000">
                <a:srgbClr val="8B0000">
                  <a:alpha val="8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0552" y="2771961"/>
            <a:ext cx="37357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064" y="2704039"/>
            <a:ext cx="157918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5064" y="2941766"/>
            <a:ext cx="156220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Produce new or original 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9610" y="3281376"/>
            <a:ext cx="7165772" cy="611298"/>
          </a:xfrm>
          <a:custGeom>
            <a:avLst/>
            <a:gdLst/>
            <a:ahLst/>
            <a:cxnLst/>
            <a:rect l="l" t="t" r="r" b="b"/>
            <a:pathLst>
              <a:path w="7165772" h="611298">
                <a:moveTo>
                  <a:pt x="67921" y="0"/>
                </a:moveTo>
                <a:lnTo>
                  <a:pt x="7097850" y="0"/>
                </a:lnTo>
                <a:cubicBezTo>
                  <a:pt x="7135362" y="0"/>
                  <a:pt x="7165772" y="30409"/>
                  <a:pt x="7165772" y="67921"/>
                </a:cubicBezTo>
                <a:lnTo>
                  <a:pt x="7165772" y="543377"/>
                </a:lnTo>
                <a:cubicBezTo>
                  <a:pt x="7165772" y="580889"/>
                  <a:pt x="7135362" y="611298"/>
                  <a:pt x="7097850" y="611298"/>
                </a:cubicBezTo>
                <a:lnTo>
                  <a:pt x="67921" y="611298"/>
                </a:lnTo>
                <a:cubicBezTo>
                  <a:pt x="30435" y="611298"/>
                  <a:pt x="0" y="580864"/>
                  <a:pt x="0" y="543377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552" y="3451181"/>
            <a:ext cx="37357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064" y="3383259"/>
            <a:ext cx="137542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5064" y="3620986"/>
            <a:ext cx="135844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Justify a stand or decision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9610" y="3960596"/>
            <a:ext cx="7165772" cy="611298"/>
          </a:xfrm>
          <a:custGeom>
            <a:avLst/>
            <a:gdLst/>
            <a:ahLst/>
            <a:cxnLst/>
            <a:rect l="l" t="t" r="r" b="b"/>
            <a:pathLst>
              <a:path w="7165772" h="611298">
                <a:moveTo>
                  <a:pt x="67921" y="0"/>
                </a:moveTo>
                <a:lnTo>
                  <a:pt x="7097850" y="0"/>
                </a:lnTo>
                <a:cubicBezTo>
                  <a:pt x="7135362" y="0"/>
                  <a:pt x="7165772" y="30409"/>
                  <a:pt x="7165772" y="67921"/>
                </a:cubicBezTo>
                <a:lnTo>
                  <a:pt x="7165772" y="543377"/>
                </a:lnTo>
                <a:cubicBezTo>
                  <a:pt x="7165772" y="580889"/>
                  <a:pt x="7135362" y="611298"/>
                  <a:pt x="7097850" y="611298"/>
                </a:cubicBezTo>
                <a:lnTo>
                  <a:pt x="67921" y="611298"/>
                </a:lnTo>
                <a:cubicBezTo>
                  <a:pt x="30435" y="611298"/>
                  <a:pt x="0" y="580864"/>
                  <a:pt x="0" y="543377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0552" y="4130401"/>
            <a:ext cx="37357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5064" y="4062479"/>
            <a:ext cx="166408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5064" y="4300206"/>
            <a:ext cx="164710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Draw connections among ideas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9610" y="4639816"/>
            <a:ext cx="7165772" cy="611298"/>
          </a:xfrm>
          <a:custGeom>
            <a:avLst/>
            <a:gdLst/>
            <a:ahLst/>
            <a:cxnLst/>
            <a:rect l="l" t="t" r="r" b="b"/>
            <a:pathLst>
              <a:path w="7165772" h="611298">
                <a:moveTo>
                  <a:pt x="67921" y="0"/>
                </a:moveTo>
                <a:lnTo>
                  <a:pt x="7097850" y="0"/>
                </a:lnTo>
                <a:cubicBezTo>
                  <a:pt x="7135362" y="0"/>
                  <a:pt x="7165772" y="30409"/>
                  <a:pt x="7165772" y="67921"/>
                </a:cubicBezTo>
                <a:lnTo>
                  <a:pt x="7165772" y="543377"/>
                </a:lnTo>
                <a:cubicBezTo>
                  <a:pt x="7165772" y="580889"/>
                  <a:pt x="7135362" y="611298"/>
                  <a:pt x="7097850" y="611298"/>
                </a:cubicBezTo>
                <a:lnTo>
                  <a:pt x="67921" y="611298"/>
                </a:lnTo>
                <a:cubicBezTo>
                  <a:pt x="30435" y="611298"/>
                  <a:pt x="0" y="580864"/>
                  <a:pt x="0" y="543377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0552" y="4809621"/>
            <a:ext cx="37357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5064" y="4741699"/>
            <a:ext cx="181691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5064" y="4979426"/>
            <a:ext cx="179993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 information in new situations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9610" y="5319036"/>
            <a:ext cx="7165772" cy="611298"/>
          </a:xfrm>
          <a:custGeom>
            <a:avLst/>
            <a:gdLst/>
            <a:ahLst/>
            <a:cxnLst/>
            <a:rect l="l" t="t" r="r" b="b"/>
            <a:pathLst>
              <a:path w="7165772" h="611298">
                <a:moveTo>
                  <a:pt x="67921" y="0"/>
                </a:moveTo>
                <a:lnTo>
                  <a:pt x="7097850" y="0"/>
                </a:lnTo>
                <a:cubicBezTo>
                  <a:pt x="7135362" y="0"/>
                  <a:pt x="7165772" y="30409"/>
                  <a:pt x="7165772" y="67921"/>
                </a:cubicBezTo>
                <a:lnTo>
                  <a:pt x="7165772" y="543377"/>
                </a:lnTo>
                <a:cubicBezTo>
                  <a:pt x="7165772" y="580889"/>
                  <a:pt x="7135362" y="611298"/>
                  <a:pt x="7097850" y="611298"/>
                </a:cubicBezTo>
                <a:lnTo>
                  <a:pt x="67921" y="611298"/>
                </a:lnTo>
                <a:cubicBezTo>
                  <a:pt x="30435" y="611298"/>
                  <a:pt x="0" y="580864"/>
                  <a:pt x="0" y="543377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0552" y="5488841"/>
            <a:ext cx="37357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064" y="5420919"/>
            <a:ext cx="136693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5064" y="5658646"/>
            <a:ext cx="134995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1F2937">
                    <a:alpha val="7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Explain ideas or concepts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9610" y="5998256"/>
            <a:ext cx="7165772" cy="611298"/>
          </a:xfrm>
          <a:custGeom>
            <a:avLst/>
            <a:gdLst/>
            <a:ahLst/>
            <a:cxnLst/>
            <a:rect l="l" t="t" r="r" b="b"/>
            <a:pathLst>
              <a:path w="7165772" h="611298">
                <a:moveTo>
                  <a:pt x="67921" y="0"/>
                </a:moveTo>
                <a:lnTo>
                  <a:pt x="7097850" y="0"/>
                </a:lnTo>
                <a:cubicBezTo>
                  <a:pt x="7135362" y="0"/>
                  <a:pt x="7165772" y="30409"/>
                  <a:pt x="7165772" y="67921"/>
                </a:cubicBezTo>
                <a:lnTo>
                  <a:pt x="7165772" y="543377"/>
                </a:lnTo>
                <a:cubicBezTo>
                  <a:pt x="7165772" y="580889"/>
                  <a:pt x="7135362" y="611298"/>
                  <a:pt x="7097850" y="611298"/>
                </a:cubicBezTo>
                <a:lnTo>
                  <a:pt x="67921" y="611298"/>
                </a:lnTo>
                <a:cubicBezTo>
                  <a:pt x="30435" y="611298"/>
                  <a:pt x="0" y="580864"/>
                  <a:pt x="0" y="543377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0552" y="6168061"/>
            <a:ext cx="37357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5064" y="6100139"/>
            <a:ext cx="163012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5064" y="6337866"/>
            <a:ext cx="161314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1F2937">
                    <a:alpha val="7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Recall facts and basic concepts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97765" y="984869"/>
            <a:ext cx="4058340" cy="2037660"/>
          </a:xfrm>
          <a:custGeom>
            <a:avLst/>
            <a:gdLst/>
            <a:ahLst/>
            <a:cxnLst/>
            <a:rect l="l" t="t" r="r" b="b"/>
            <a:pathLst>
              <a:path w="4058340" h="2037660">
                <a:moveTo>
                  <a:pt x="33961" y="0"/>
                </a:moveTo>
                <a:lnTo>
                  <a:pt x="3990425" y="0"/>
                </a:lnTo>
                <a:cubicBezTo>
                  <a:pt x="4027933" y="0"/>
                  <a:pt x="4058340" y="30407"/>
                  <a:pt x="4058340" y="67915"/>
                </a:cubicBezTo>
                <a:lnTo>
                  <a:pt x="4058340" y="1969745"/>
                </a:lnTo>
                <a:cubicBezTo>
                  <a:pt x="4058340" y="2007253"/>
                  <a:pt x="4027933" y="2037660"/>
                  <a:pt x="3990425" y="2037660"/>
                </a:cubicBezTo>
                <a:lnTo>
                  <a:pt x="33961" y="2037660"/>
                </a:lnTo>
                <a:cubicBezTo>
                  <a:pt x="15205" y="2037660"/>
                  <a:pt x="0" y="2022455"/>
                  <a:pt x="0" y="2003699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97765" y="984869"/>
            <a:ext cx="33961" cy="2037660"/>
          </a:xfrm>
          <a:custGeom>
            <a:avLst/>
            <a:gdLst/>
            <a:ahLst/>
            <a:cxnLst/>
            <a:rect l="l" t="t" r="r" b="b"/>
            <a:pathLst>
              <a:path w="33961" h="2037660">
                <a:moveTo>
                  <a:pt x="33961" y="0"/>
                </a:moveTo>
                <a:lnTo>
                  <a:pt x="33961" y="0"/>
                </a:lnTo>
                <a:lnTo>
                  <a:pt x="33961" y="2037660"/>
                </a:lnTo>
                <a:lnTo>
                  <a:pt x="33961" y="2037660"/>
                </a:lnTo>
                <a:cubicBezTo>
                  <a:pt x="15205" y="2037660"/>
                  <a:pt x="0" y="2022455"/>
                  <a:pt x="0" y="200369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18511" y="1222596"/>
            <a:ext cx="212256" cy="169805"/>
          </a:xfrm>
          <a:custGeom>
            <a:avLst/>
            <a:gdLst/>
            <a:ahLst/>
            <a:cxnLst/>
            <a:rect l="l" t="t" r="r" b="b"/>
            <a:pathLst>
              <a:path w="212256" h="169805">
                <a:moveTo>
                  <a:pt x="116741" y="0"/>
                </a:moveTo>
                <a:cubicBezTo>
                  <a:pt x="116741" y="-5870"/>
                  <a:pt x="111998" y="-10613"/>
                  <a:pt x="106128" y="-10613"/>
                </a:cubicBezTo>
                <a:cubicBezTo>
                  <a:pt x="100258" y="-10613"/>
                  <a:pt x="95515" y="-5870"/>
                  <a:pt x="95515" y="0"/>
                </a:cubicBezTo>
                <a:lnTo>
                  <a:pt x="95515" y="21226"/>
                </a:lnTo>
                <a:lnTo>
                  <a:pt x="63677" y="21226"/>
                </a:lnTo>
                <a:cubicBezTo>
                  <a:pt x="46099" y="21226"/>
                  <a:pt x="31838" y="35487"/>
                  <a:pt x="31838" y="53064"/>
                </a:cubicBezTo>
                <a:lnTo>
                  <a:pt x="31838" y="127354"/>
                </a:lnTo>
                <a:cubicBezTo>
                  <a:pt x="31838" y="144931"/>
                  <a:pt x="46099" y="159192"/>
                  <a:pt x="63677" y="159192"/>
                </a:cubicBezTo>
                <a:lnTo>
                  <a:pt x="148579" y="159192"/>
                </a:lnTo>
                <a:cubicBezTo>
                  <a:pt x="166157" y="159192"/>
                  <a:pt x="180418" y="144931"/>
                  <a:pt x="180418" y="127354"/>
                </a:cubicBezTo>
                <a:lnTo>
                  <a:pt x="180418" y="53064"/>
                </a:lnTo>
                <a:cubicBezTo>
                  <a:pt x="180418" y="35487"/>
                  <a:pt x="166157" y="21226"/>
                  <a:pt x="148579" y="21226"/>
                </a:cubicBezTo>
                <a:lnTo>
                  <a:pt x="116741" y="21226"/>
                </a:lnTo>
                <a:lnTo>
                  <a:pt x="116741" y="0"/>
                </a:lnTo>
                <a:close/>
                <a:moveTo>
                  <a:pt x="53064" y="122047"/>
                </a:moveTo>
                <a:cubicBezTo>
                  <a:pt x="53064" y="117636"/>
                  <a:pt x="56613" y="114088"/>
                  <a:pt x="61024" y="114088"/>
                </a:cubicBezTo>
                <a:lnTo>
                  <a:pt x="71636" y="114088"/>
                </a:lnTo>
                <a:cubicBezTo>
                  <a:pt x="76047" y="114088"/>
                  <a:pt x="79596" y="117636"/>
                  <a:pt x="79596" y="122047"/>
                </a:cubicBezTo>
                <a:cubicBezTo>
                  <a:pt x="79596" y="126458"/>
                  <a:pt x="76047" y="130007"/>
                  <a:pt x="71636" y="130007"/>
                </a:cubicBezTo>
                <a:lnTo>
                  <a:pt x="61024" y="130007"/>
                </a:lnTo>
                <a:cubicBezTo>
                  <a:pt x="56613" y="130007"/>
                  <a:pt x="53064" y="126458"/>
                  <a:pt x="53064" y="122047"/>
                </a:cubicBezTo>
                <a:close/>
                <a:moveTo>
                  <a:pt x="92862" y="122047"/>
                </a:moveTo>
                <a:cubicBezTo>
                  <a:pt x="92862" y="117636"/>
                  <a:pt x="96411" y="114088"/>
                  <a:pt x="100822" y="114088"/>
                </a:cubicBezTo>
                <a:lnTo>
                  <a:pt x="111435" y="114088"/>
                </a:lnTo>
                <a:cubicBezTo>
                  <a:pt x="115845" y="114088"/>
                  <a:pt x="119394" y="117636"/>
                  <a:pt x="119394" y="122047"/>
                </a:cubicBezTo>
                <a:cubicBezTo>
                  <a:pt x="119394" y="126458"/>
                  <a:pt x="115845" y="130007"/>
                  <a:pt x="111435" y="130007"/>
                </a:cubicBezTo>
                <a:lnTo>
                  <a:pt x="100822" y="130007"/>
                </a:lnTo>
                <a:cubicBezTo>
                  <a:pt x="96411" y="130007"/>
                  <a:pt x="92862" y="126458"/>
                  <a:pt x="92862" y="122047"/>
                </a:cubicBezTo>
                <a:close/>
                <a:moveTo>
                  <a:pt x="132660" y="122047"/>
                </a:moveTo>
                <a:cubicBezTo>
                  <a:pt x="132660" y="117636"/>
                  <a:pt x="136209" y="114088"/>
                  <a:pt x="140620" y="114088"/>
                </a:cubicBezTo>
                <a:lnTo>
                  <a:pt x="151233" y="114088"/>
                </a:lnTo>
                <a:cubicBezTo>
                  <a:pt x="155644" y="114088"/>
                  <a:pt x="159192" y="117636"/>
                  <a:pt x="159192" y="122047"/>
                </a:cubicBezTo>
                <a:cubicBezTo>
                  <a:pt x="159192" y="126458"/>
                  <a:pt x="155644" y="130007"/>
                  <a:pt x="151233" y="130007"/>
                </a:cubicBezTo>
                <a:lnTo>
                  <a:pt x="140620" y="130007"/>
                </a:lnTo>
                <a:cubicBezTo>
                  <a:pt x="136209" y="130007"/>
                  <a:pt x="132660" y="126458"/>
                  <a:pt x="132660" y="122047"/>
                </a:cubicBezTo>
                <a:close/>
                <a:moveTo>
                  <a:pt x="74290" y="58370"/>
                </a:moveTo>
                <a:cubicBezTo>
                  <a:pt x="83076" y="58370"/>
                  <a:pt x="90209" y="65504"/>
                  <a:pt x="90209" y="74290"/>
                </a:cubicBezTo>
                <a:cubicBezTo>
                  <a:pt x="90209" y="83076"/>
                  <a:pt x="83076" y="90209"/>
                  <a:pt x="74290" y="90209"/>
                </a:cubicBezTo>
                <a:cubicBezTo>
                  <a:pt x="65504" y="90209"/>
                  <a:pt x="58370" y="83076"/>
                  <a:pt x="58370" y="74290"/>
                </a:cubicBezTo>
                <a:cubicBezTo>
                  <a:pt x="58370" y="65504"/>
                  <a:pt x="65504" y="58370"/>
                  <a:pt x="74290" y="58370"/>
                </a:cubicBezTo>
                <a:close/>
                <a:moveTo>
                  <a:pt x="122047" y="74290"/>
                </a:moveTo>
                <a:cubicBezTo>
                  <a:pt x="122047" y="65504"/>
                  <a:pt x="129181" y="58370"/>
                  <a:pt x="137967" y="58370"/>
                </a:cubicBezTo>
                <a:cubicBezTo>
                  <a:pt x="146753" y="58370"/>
                  <a:pt x="153886" y="65504"/>
                  <a:pt x="153886" y="74290"/>
                </a:cubicBezTo>
                <a:cubicBezTo>
                  <a:pt x="153886" y="83076"/>
                  <a:pt x="146753" y="90209"/>
                  <a:pt x="137967" y="90209"/>
                </a:cubicBezTo>
                <a:cubicBezTo>
                  <a:pt x="129181" y="90209"/>
                  <a:pt x="122047" y="83076"/>
                  <a:pt x="122047" y="74290"/>
                </a:cubicBezTo>
                <a:close/>
                <a:moveTo>
                  <a:pt x="21226" y="74290"/>
                </a:moveTo>
                <a:cubicBezTo>
                  <a:pt x="21226" y="68419"/>
                  <a:pt x="16483" y="63677"/>
                  <a:pt x="10613" y="63677"/>
                </a:cubicBezTo>
                <a:cubicBezTo>
                  <a:pt x="4743" y="63677"/>
                  <a:pt x="0" y="68419"/>
                  <a:pt x="0" y="74290"/>
                </a:cubicBezTo>
                <a:lnTo>
                  <a:pt x="0" y="106128"/>
                </a:lnTo>
                <a:cubicBezTo>
                  <a:pt x="0" y="111998"/>
                  <a:pt x="4743" y="116741"/>
                  <a:pt x="10613" y="116741"/>
                </a:cubicBezTo>
                <a:cubicBezTo>
                  <a:pt x="16483" y="116741"/>
                  <a:pt x="21226" y="111998"/>
                  <a:pt x="21226" y="106128"/>
                </a:cubicBezTo>
                <a:lnTo>
                  <a:pt x="21226" y="74290"/>
                </a:lnTo>
                <a:close/>
                <a:moveTo>
                  <a:pt x="201643" y="63677"/>
                </a:moveTo>
                <a:cubicBezTo>
                  <a:pt x="195773" y="63677"/>
                  <a:pt x="191031" y="68419"/>
                  <a:pt x="191031" y="74290"/>
                </a:cubicBezTo>
                <a:lnTo>
                  <a:pt x="191031" y="106128"/>
                </a:lnTo>
                <a:cubicBezTo>
                  <a:pt x="191031" y="111998"/>
                  <a:pt x="195773" y="116741"/>
                  <a:pt x="201643" y="116741"/>
                </a:cubicBezTo>
                <a:cubicBezTo>
                  <a:pt x="207514" y="116741"/>
                  <a:pt x="212256" y="111998"/>
                  <a:pt x="212256" y="106128"/>
                </a:cubicBezTo>
                <a:lnTo>
                  <a:pt x="212256" y="74290"/>
                </a:lnTo>
                <a:cubicBezTo>
                  <a:pt x="212256" y="68419"/>
                  <a:pt x="207514" y="63677"/>
                  <a:pt x="201643" y="63677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30767" y="1188635"/>
            <a:ext cx="350647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Challenge of Automation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18511" y="1528245"/>
            <a:ext cx="3701749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Automating Bloom's taxonomy classification is challenging due to: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69453" y="2105582"/>
            <a:ext cx="67922" cy="135844"/>
          </a:xfrm>
          <a:custGeom>
            <a:avLst/>
            <a:gdLst/>
            <a:ahLst/>
            <a:cxnLst/>
            <a:rect l="l" t="t" r="r" b="b"/>
            <a:pathLst>
              <a:path w="67922" h="135844">
                <a:moveTo>
                  <a:pt x="65561" y="61926"/>
                </a:moveTo>
                <a:cubicBezTo>
                  <a:pt x="68877" y="65242"/>
                  <a:pt x="68877" y="70628"/>
                  <a:pt x="65561" y="73945"/>
                </a:cubicBezTo>
                <a:lnTo>
                  <a:pt x="23109" y="116396"/>
                </a:lnTo>
                <a:cubicBezTo>
                  <a:pt x="19793" y="119713"/>
                  <a:pt x="14407" y="119713"/>
                  <a:pt x="11090" y="116396"/>
                </a:cubicBezTo>
                <a:cubicBezTo>
                  <a:pt x="7774" y="113080"/>
                  <a:pt x="7774" y="107694"/>
                  <a:pt x="11090" y="104377"/>
                </a:cubicBezTo>
                <a:lnTo>
                  <a:pt x="47545" y="67922"/>
                </a:lnTo>
                <a:lnTo>
                  <a:pt x="11117" y="31467"/>
                </a:lnTo>
                <a:cubicBezTo>
                  <a:pt x="7800" y="28150"/>
                  <a:pt x="7800" y="22764"/>
                  <a:pt x="11117" y="19448"/>
                </a:cubicBezTo>
                <a:cubicBezTo>
                  <a:pt x="14433" y="16131"/>
                  <a:pt x="19819" y="16131"/>
                  <a:pt x="23136" y="19448"/>
                </a:cubicBezTo>
                <a:lnTo>
                  <a:pt x="65587" y="6189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56238" y="2071621"/>
            <a:ext cx="3226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Nuanced differences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between adjacent cognitive levels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69453" y="2377270"/>
            <a:ext cx="67922" cy="135844"/>
          </a:xfrm>
          <a:custGeom>
            <a:avLst/>
            <a:gdLst/>
            <a:ahLst/>
            <a:cxnLst/>
            <a:rect l="l" t="t" r="r" b="b"/>
            <a:pathLst>
              <a:path w="67922" h="135844">
                <a:moveTo>
                  <a:pt x="65561" y="61926"/>
                </a:moveTo>
                <a:cubicBezTo>
                  <a:pt x="68877" y="65242"/>
                  <a:pt x="68877" y="70628"/>
                  <a:pt x="65561" y="73945"/>
                </a:cubicBezTo>
                <a:lnTo>
                  <a:pt x="23109" y="116396"/>
                </a:lnTo>
                <a:cubicBezTo>
                  <a:pt x="19793" y="119713"/>
                  <a:pt x="14407" y="119713"/>
                  <a:pt x="11090" y="116396"/>
                </a:cubicBezTo>
                <a:cubicBezTo>
                  <a:pt x="7774" y="113080"/>
                  <a:pt x="7774" y="107694"/>
                  <a:pt x="11090" y="104377"/>
                </a:cubicBezTo>
                <a:lnTo>
                  <a:pt x="47545" y="67922"/>
                </a:lnTo>
                <a:lnTo>
                  <a:pt x="11117" y="31467"/>
                </a:lnTo>
                <a:cubicBezTo>
                  <a:pt x="7800" y="28150"/>
                  <a:pt x="7800" y="22764"/>
                  <a:pt x="11117" y="19448"/>
                </a:cubicBezTo>
                <a:cubicBezTo>
                  <a:pt x="14433" y="16131"/>
                  <a:pt x="19819" y="16131"/>
                  <a:pt x="23136" y="19448"/>
                </a:cubicBezTo>
                <a:lnTo>
                  <a:pt x="65587" y="6189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56238" y="2343309"/>
            <a:ext cx="306498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Expert judgment required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accurate classification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69453" y="2648958"/>
            <a:ext cx="67922" cy="135844"/>
          </a:xfrm>
          <a:custGeom>
            <a:avLst/>
            <a:gdLst/>
            <a:ahLst/>
            <a:cxnLst/>
            <a:rect l="l" t="t" r="r" b="b"/>
            <a:pathLst>
              <a:path w="67922" h="135844">
                <a:moveTo>
                  <a:pt x="65561" y="61926"/>
                </a:moveTo>
                <a:cubicBezTo>
                  <a:pt x="68877" y="65242"/>
                  <a:pt x="68877" y="70628"/>
                  <a:pt x="65561" y="73945"/>
                </a:cubicBezTo>
                <a:lnTo>
                  <a:pt x="23109" y="116396"/>
                </a:lnTo>
                <a:cubicBezTo>
                  <a:pt x="19793" y="119713"/>
                  <a:pt x="14407" y="119713"/>
                  <a:pt x="11090" y="116396"/>
                </a:cubicBezTo>
                <a:cubicBezTo>
                  <a:pt x="7774" y="113080"/>
                  <a:pt x="7774" y="107694"/>
                  <a:pt x="11090" y="104377"/>
                </a:cubicBezTo>
                <a:lnTo>
                  <a:pt x="47545" y="67922"/>
                </a:lnTo>
                <a:lnTo>
                  <a:pt x="11117" y="31467"/>
                </a:lnTo>
                <a:cubicBezTo>
                  <a:pt x="7800" y="28150"/>
                  <a:pt x="7800" y="22764"/>
                  <a:pt x="11117" y="19448"/>
                </a:cubicBezTo>
                <a:cubicBezTo>
                  <a:pt x="14433" y="16131"/>
                  <a:pt x="19819" y="16131"/>
                  <a:pt x="23136" y="19448"/>
                </a:cubicBezTo>
                <a:lnTo>
                  <a:pt x="65587" y="6189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56238" y="2614997"/>
            <a:ext cx="213105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Context-dependent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interpretations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97765" y="3192334"/>
            <a:ext cx="4058340" cy="2037660"/>
          </a:xfrm>
          <a:custGeom>
            <a:avLst/>
            <a:gdLst/>
            <a:ahLst/>
            <a:cxnLst/>
            <a:rect l="l" t="t" r="r" b="b"/>
            <a:pathLst>
              <a:path w="4058340" h="2037660">
                <a:moveTo>
                  <a:pt x="33961" y="0"/>
                </a:moveTo>
                <a:lnTo>
                  <a:pt x="3990425" y="0"/>
                </a:lnTo>
                <a:cubicBezTo>
                  <a:pt x="4027933" y="0"/>
                  <a:pt x="4058340" y="30407"/>
                  <a:pt x="4058340" y="67915"/>
                </a:cubicBezTo>
                <a:lnTo>
                  <a:pt x="4058340" y="1969745"/>
                </a:lnTo>
                <a:cubicBezTo>
                  <a:pt x="4058340" y="2007253"/>
                  <a:pt x="4027933" y="2037660"/>
                  <a:pt x="3990425" y="2037660"/>
                </a:cubicBezTo>
                <a:lnTo>
                  <a:pt x="33961" y="2037660"/>
                </a:lnTo>
                <a:cubicBezTo>
                  <a:pt x="15205" y="2037660"/>
                  <a:pt x="0" y="2022455"/>
                  <a:pt x="0" y="2003699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97765" y="3192334"/>
            <a:ext cx="33961" cy="2037660"/>
          </a:xfrm>
          <a:custGeom>
            <a:avLst/>
            <a:gdLst/>
            <a:ahLst/>
            <a:cxnLst/>
            <a:rect l="l" t="t" r="r" b="b"/>
            <a:pathLst>
              <a:path w="33961" h="2037660">
                <a:moveTo>
                  <a:pt x="33961" y="0"/>
                </a:moveTo>
                <a:lnTo>
                  <a:pt x="33961" y="0"/>
                </a:lnTo>
                <a:lnTo>
                  <a:pt x="33961" y="2037660"/>
                </a:lnTo>
                <a:lnTo>
                  <a:pt x="33961" y="2037660"/>
                </a:lnTo>
                <a:cubicBezTo>
                  <a:pt x="15205" y="2037660"/>
                  <a:pt x="0" y="2022455"/>
                  <a:pt x="0" y="200369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39737" y="3430061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39798" y="18572"/>
                </a:moveTo>
                <a:cubicBezTo>
                  <a:pt x="39798" y="8324"/>
                  <a:pt x="48122" y="0"/>
                  <a:pt x="58370" y="0"/>
                </a:cubicBezTo>
                <a:lnTo>
                  <a:pt x="66330" y="0"/>
                </a:lnTo>
                <a:cubicBezTo>
                  <a:pt x="72200" y="0"/>
                  <a:pt x="76943" y="4743"/>
                  <a:pt x="76943" y="10613"/>
                </a:cubicBezTo>
                <a:lnTo>
                  <a:pt x="76943" y="159192"/>
                </a:lnTo>
                <a:cubicBezTo>
                  <a:pt x="76943" y="165062"/>
                  <a:pt x="72200" y="169805"/>
                  <a:pt x="66330" y="169805"/>
                </a:cubicBezTo>
                <a:lnTo>
                  <a:pt x="55717" y="169805"/>
                </a:lnTo>
                <a:cubicBezTo>
                  <a:pt x="45834" y="169805"/>
                  <a:pt x="37510" y="163039"/>
                  <a:pt x="35155" y="153886"/>
                </a:cubicBezTo>
                <a:cubicBezTo>
                  <a:pt x="34923" y="153886"/>
                  <a:pt x="34724" y="153886"/>
                  <a:pt x="34492" y="153886"/>
                </a:cubicBezTo>
                <a:cubicBezTo>
                  <a:pt x="19833" y="153886"/>
                  <a:pt x="7960" y="142013"/>
                  <a:pt x="7960" y="127354"/>
                </a:cubicBezTo>
                <a:cubicBezTo>
                  <a:pt x="7960" y="121384"/>
                  <a:pt x="9950" y="115879"/>
                  <a:pt x="13266" y="111435"/>
                </a:cubicBezTo>
                <a:cubicBezTo>
                  <a:pt x="6832" y="106592"/>
                  <a:pt x="2653" y="98898"/>
                  <a:pt x="2653" y="90209"/>
                </a:cubicBezTo>
                <a:cubicBezTo>
                  <a:pt x="2653" y="79961"/>
                  <a:pt x="8490" y="71040"/>
                  <a:pt x="16981" y="66629"/>
                </a:cubicBezTo>
                <a:cubicBezTo>
                  <a:pt x="14626" y="62649"/>
                  <a:pt x="13266" y="58006"/>
                  <a:pt x="13266" y="53064"/>
                </a:cubicBezTo>
                <a:cubicBezTo>
                  <a:pt x="13266" y="38405"/>
                  <a:pt x="25139" y="26532"/>
                  <a:pt x="39798" y="26532"/>
                </a:cubicBezTo>
                <a:lnTo>
                  <a:pt x="39798" y="18572"/>
                </a:lnTo>
                <a:close/>
                <a:moveTo>
                  <a:pt x="130007" y="18572"/>
                </a:moveTo>
                <a:lnTo>
                  <a:pt x="130007" y="26532"/>
                </a:lnTo>
                <a:cubicBezTo>
                  <a:pt x="144666" y="26532"/>
                  <a:pt x="156539" y="38405"/>
                  <a:pt x="156539" y="53064"/>
                </a:cubicBezTo>
                <a:cubicBezTo>
                  <a:pt x="156539" y="58039"/>
                  <a:pt x="155179" y="62682"/>
                  <a:pt x="152825" y="66629"/>
                </a:cubicBezTo>
                <a:cubicBezTo>
                  <a:pt x="161348" y="71040"/>
                  <a:pt x="167152" y="79928"/>
                  <a:pt x="167152" y="90209"/>
                </a:cubicBezTo>
                <a:cubicBezTo>
                  <a:pt x="167152" y="98898"/>
                  <a:pt x="162973" y="106592"/>
                  <a:pt x="156539" y="111435"/>
                </a:cubicBezTo>
                <a:cubicBezTo>
                  <a:pt x="159856" y="115879"/>
                  <a:pt x="161845" y="121384"/>
                  <a:pt x="161845" y="127354"/>
                </a:cubicBezTo>
                <a:cubicBezTo>
                  <a:pt x="161845" y="142013"/>
                  <a:pt x="149972" y="153886"/>
                  <a:pt x="135313" y="153886"/>
                </a:cubicBezTo>
                <a:cubicBezTo>
                  <a:pt x="135081" y="153886"/>
                  <a:pt x="134882" y="153886"/>
                  <a:pt x="134650" y="153886"/>
                </a:cubicBezTo>
                <a:cubicBezTo>
                  <a:pt x="132295" y="163039"/>
                  <a:pt x="123971" y="169805"/>
                  <a:pt x="114088" y="169805"/>
                </a:cubicBezTo>
                <a:lnTo>
                  <a:pt x="103475" y="169805"/>
                </a:lnTo>
                <a:cubicBezTo>
                  <a:pt x="97605" y="169805"/>
                  <a:pt x="92862" y="165062"/>
                  <a:pt x="92862" y="159192"/>
                </a:cubicBezTo>
                <a:lnTo>
                  <a:pt x="92862" y="10613"/>
                </a:lnTo>
                <a:cubicBezTo>
                  <a:pt x="92862" y="4743"/>
                  <a:pt x="97605" y="0"/>
                  <a:pt x="103475" y="0"/>
                </a:cubicBezTo>
                <a:lnTo>
                  <a:pt x="111435" y="0"/>
                </a:lnTo>
                <a:cubicBezTo>
                  <a:pt x="121683" y="0"/>
                  <a:pt x="130007" y="8324"/>
                  <a:pt x="130007" y="1857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30767" y="3396100"/>
            <a:ext cx="350647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Capabilities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18511" y="3735710"/>
            <a:ext cx="3701749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Recent advances in </a:t>
            </a: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Large Language Models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(GPT-4, Claude, LLaMA) offer new capabilities: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43982" y="4313047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56238" y="4279086"/>
            <a:ext cx="340459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Zero-shot learning: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Classify without task-specific training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43982" y="4584735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256238" y="4550774"/>
            <a:ext cx="29291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Few-shot learning: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Adapt with minimal examples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43982" y="4856423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56238" y="4822462"/>
            <a:ext cx="32857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Natural language understanding</a:t>
            </a:r>
            <a:r>
              <a:rPr lang="en-US" sz="107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of educational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7711" y="381000"/>
            <a:ext cx="453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Objectives &amp;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104900"/>
            <a:ext cx="11410950" cy="1466850"/>
          </a:xfrm>
          <a:custGeom>
            <a:avLst/>
            <a:gdLst/>
            <a:ahLst/>
            <a:cxnLst/>
            <a:rect l="l" t="t" r="r" b="b"/>
            <a:pathLst>
              <a:path w="11410950" h="1466850">
                <a:moveTo>
                  <a:pt x="38100" y="0"/>
                </a:moveTo>
                <a:lnTo>
                  <a:pt x="11334747" y="0"/>
                </a:lnTo>
                <a:cubicBezTo>
                  <a:pt x="11376805" y="0"/>
                  <a:pt x="11410950" y="34145"/>
                  <a:pt x="11410950" y="76203"/>
                </a:cubicBezTo>
                <a:lnTo>
                  <a:pt x="11410950" y="1390647"/>
                </a:lnTo>
                <a:cubicBezTo>
                  <a:pt x="11410950" y="1432705"/>
                  <a:pt x="11376805" y="1466850"/>
                  <a:pt x="113347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1049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275" y="13714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3450" y="1333500"/>
            <a:ext cx="1076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Primary Research 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1790579"/>
            <a:ext cx="11020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systematic review synthesizes research from 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2021 to 2026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on using Large Language Models—especially GPT-4 and contemporary models—to automatically classify educational content (exam questions, learning outcomes, teacher prompts) into Bloom's taxonomy categories.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766892"/>
            <a:ext cx="5619750" cy="2533650"/>
          </a:xfrm>
          <a:custGeom>
            <a:avLst/>
            <a:gdLst/>
            <a:ahLst/>
            <a:cxnLst/>
            <a:rect l="l" t="t" r="r" b="b"/>
            <a:pathLst>
              <a:path w="5619750" h="2533650">
                <a:moveTo>
                  <a:pt x="76212" y="0"/>
                </a:moveTo>
                <a:lnTo>
                  <a:pt x="5543538" y="0"/>
                </a:lnTo>
                <a:cubicBezTo>
                  <a:pt x="5585629" y="0"/>
                  <a:pt x="5619750" y="34121"/>
                  <a:pt x="5619750" y="76212"/>
                </a:cubicBezTo>
                <a:lnTo>
                  <a:pt x="5619750" y="2457438"/>
                </a:lnTo>
                <a:cubicBezTo>
                  <a:pt x="5619750" y="2499529"/>
                  <a:pt x="5585629" y="2533650"/>
                  <a:pt x="554353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3413" y="30335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7725" y="2995492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34336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263" y="343364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3414592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Evaluate LLM performance using metrics like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accuracy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F1-score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precision/recall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Cohen's kappa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0051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263" y="400514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3986092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Compare LLM-based approaches to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traditional supervised methods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(BERT, SVM, Random Forest)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5766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263" y="457664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2500" y="4557592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Assess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zero-shot and few-shot learning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capabilities without task-specific training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2766892"/>
            <a:ext cx="5619750" cy="2533650"/>
          </a:xfrm>
          <a:custGeom>
            <a:avLst/>
            <a:gdLst/>
            <a:ahLst/>
            <a:cxnLst/>
            <a:rect l="l" t="t" r="r" b="b"/>
            <a:pathLst>
              <a:path w="5619750" h="2533650">
                <a:moveTo>
                  <a:pt x="76212" y="0"/>
                </a:moveTo>
                <a:lnTo>
                  <a:pt x="5543538" y="0"/>
                </a:lnTo>
                <a:cubicBezTo>
                  <a:pt x="5585629" y="0"/>
                  <a:pt x="5619750" y="34121"/>
                  <a:pt x="5619750" y="76212"/>
                </a:cubicBezTo>
                <a:lnTo>
                  <a:pt x="5619750" y="2457438"/>
                </a:lnTo>
                <a:cubicBezTo>
                  <a:pt x="5619750" y="2499529"/>
                  <a:pt x="5585629" y="2533650"/>
                  <a:pt x="554353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3663" y="30335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57975" y="2995492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Thematic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9850" y="34336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86513" y="343364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2750" y="3414592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Examine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 engineering strategies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their impact on classification accuracy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19850" y="40051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86513" y="400514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2750" y="3986092"/>
            <a:ext cx="420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Identify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domain-specific challenges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across educational contexts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9850" y="43670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86513" y="436709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2750" y="4348042"/>
            <a:ext cx="442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Investigate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potential biases and error patterns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 LLM classification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83" y="361001"/>
            <a:ext cx="30356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35444" y="328183"/>
            <a:ext cx="5308361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Methodology: Review Protocol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183" y="722003"/>
            <a:ext cx="787639" cy="32818"/>
          </a:xfrm>
          <a:custGeom>
            <a:avLst/>
            <a:gdLst/>
            <a:ahLst/>
            <a:cxnLst/>
            <a:rect l="l" t="t" r="r" b="b"/>
            <a:pathLst>
              <a:path w="787639" h="32818">
                <a:moveTo>
                  <a:pt x="0" y="0"/>
                </a:moveTo>
                <a:lnTo>
                  <a:pt x="787639" y="0"/>
                </a:lnTo>
                <a:lnTo>
                  <a:pt x="787639" y="32818"/>
                </a:lnTo>
                <a:lnTo>
                  <a:pt x="0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4592" y="951731"/>
            <a:ext cx="3429513" cy="2920829"/>
          </a:xfrm>
          <a:custGeom>
            <a:avLst/>
            <a:gdLst/>
            <a:ahLst/>
            <a:cxnLst/>
            <a:rect l="l" t="t" r="r" b="b"/>
            <a:pathLst>
              <a:path w="3429513" h="2920829">
                <a:moveTo>
                  <a:pt x="32818" y="0"/>
                </a:moveTo>
                <a:lnTo>
                  <a:pt x="3363882" y="0"/>
                </a:lnTo>
                <a:cubicBezTo>
                  <a:pt x="3400129" y="0"/>
                  <a:pt x="3429513" y="29384"/>
                  <a:pt x="3429513" y="65631"/>
                </a:cubicBezTo>
                <a:lnTo>
                  <a:pt x="3429513" y="2855198"/>
                </a:lnTo>
                <a:cubicBezTo>
                  <a:pt x="3429513" y="2891445"/>
                  <a:pt x="3400129" y="2920829"/>
                  <a:pt x="3363882" y="2920829"/>
                </a:cubicBezTo>
                <a:lnTo>
                  <a:pt x="32818" y="2920829"/>
                </a:lnTo>
                <a:cubicBezTo>
                  <a:pt x="14693" y="2920829"/>
                  <a:pt x="0" y="2906136"/>
                  <a:pt x="0" y="2888011"/>
                </a:cubicBezTo>
                <a:lnTo>
                  <a:pt x="0" y="32818"/>
                </a:lnTo>
                <a:cubicBezTo>
                  <a:pt x="0" y="14705"/>
                  <a:pt x="14705" y="0"/>
                  <a:pt x="32818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4592" y="951731"/>
            <a:ext cx="32818" cy="2920829"/>
          </a:xfrm>
          <a:custGeom>
            <a:avLst/>
            <a:gdLst/>
            <a:ahLst/>
            <a:cxnLst/>
            <a:rect l="l" t="t" r="r" b="b"/>
            <a:pathLst>
              <a:path w="32818" h="2920829">
                <a:moveTo>
                  <a:pt x="32818" y="0"/>
                </a:moveTo>
                <a:lnTo>
                  <a:pt x="32818" y="0"/>
                </a:lnTo>
                <a:lnTo>
                  <a:pt x="32818" y="2920829"/>
                </a:lnTo>
                <a:lnTo>
                  <a:pt x="32818" y="2920829"/>
                </a:lnTo>
                <a:cubicBezTo>
                  <a:pt x="14693" y="2920829"/>
                  <a:pt x="0" y="2906136"/>
                  <a:pt x="0" y="2888011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116" y="1148641"/>
            <a:ext cx="123069" cy="164092"/>
          </a:xfrm>
          <a:custGeom>
            <a:avLst/>
            <a:gdLst/>
            <a:ahLst/>
            <a:cxnLst/>
            <a:rect l="l" t="t" r="r" b="b"/>
            <a:pathLst>
              <a:path w="123069" h="164092">
                <a:moveTo>
                  <a:pt x="99801" y="10256"/>
                </a:moveTo>
                <a:lnTo>
                  <a:pt x="102557" y="10256"/>
                </a:lnTo>
                <a:cubicBezTo>
                  <a:pt x="113871" y="10256"/>
                  <a:pt x="123069" y="19454"/>
                  <a:pt x="123069" y="30767"/>
                </a:cubicBezTo>
                <a:lnTo>
                  <a:pt x="123069" y="143580"/>
                </a:lnTo>
                <a:cubicBezTo>
                  <a:pt x="123069" y="154893"/>
                  <a:pt x="113871" y="164092"/>
                  <a:pt x="102557" y="164092"/>
                </a:cubicBezTo>
                <a:lnTo>
                  <a:pt x="20511" y="164092"/>
                </a:lnTo>
                <a:cubicBezTo>
                  <a:pt x="9198" y="164092"/>
                  <a:pt x="0" y="154893"/>
                  <a:pt x="0" y="143580"/>
                </a:cubicBezTo>
                <a:lnTo>
                  <a:pt x="0" y="30767"/>
                </a:lnTo>
                <a:cubicBezTo>
                  <a:pt x="0" y="19454"/>
                  <a:pt x="9198" y="10256"/>
                  <a:pt x="20511" y="10256"/>
                </a:cubicBezTo>
                <a:lnTo>
                  <a:pt x="23268" y="10256"/>
                </a:lnTo>
                <a:cubicBezTo>
                  <a:pt x="26793" y="4134"/>
                  <a:pt x="33427" y="0"/>
                  <a:pt x="41023" y="0"/>
                </a:cubicBezTo>
                <a:lnTo>
                  <a:pt x="82046" y="0"/>
                </a:lnTo>
                <a:cubicBezTo>
                  <a:pt x="89641" y="0"/>
                  <a:pt x="96276" y="4134"/>
                  <a:pt x="99801" y="10256"/>
                </a:cubicBezTo>
                <a:close/>
                <a:moveTo>
                  <a:pt x="79482" y="35895"/>
                </a:moveTo>
                <a:cubicBezTo>
                  <a:pt x="83744" y="35895"/>
                  <a:pt x="87174" y="32466"/>
                  <a:pt x="87174" y="28203"/>
                </a:cubicBezTo>
                <a:cubicBezTo>
                  <a:pt x="87174" y="23941"/>
                  <a:pt x="83744" y="20511"/>
                  <a:pt x="79482" y="20511"/>
                </a:cubicBezTo>
                <a:lnTo>
                  <a:pt x="43587" y="20511"/>
                </a:lnTo>
                <a:cubicBezTo>
                  <a:pt x="39324" y="20511"/>
                  <a:pt x="35895" y="23941"/>
                  <a:pt x="35895" y="28203"/>
                </a:cubicBezTo>
                <a:cubicBezTo>
                  <a:pt x="35895" y="32466"/>
                  <a:pt x="39324" y="35895"/>
                  <a:pt x="43587" y="35895"/>
                </a:cubicBezTo>
                <a:lnTo>
                  <a:pt x="79482" y="35895"/>
                </a:lnTo>
                <a:close/>
                <a:moveTo>
                  <a:pt x="88584" y="83552"/>
                </a:moveTo>
                <a:cubicBezTo>
                  <a:pt x="90827" y="79963"/>
                  <a:pt x="89738" y="75219"/>
                  <a:pt x="86148" y="72944"/>
                </a:cubicBezTo>
                <a:cubicBezTo>
                  <a:pt x="82559" y="70668"/>
                  <a:pt x="77815" y="71790"/>
                  <a:pt x="75540" y="75380"/>
                </a:cubicBezTo>
                <a:lnTo>
                  <a:pt x="55862" y="106884"/>
                </a:lnTo>
                <a:lnTo>
                  <a:pt x="47208" y="95346"/>
                </a:lnTo>
                <a:cubicBezTo>
                  <a:pt x="44644" y="91949"/>
                  <a:pt x="39837" y="91244"/>
                  <a:pt x="36440" y="93808"/>
                </a:cubicBezTo>
                <a:cubicBezTo>
                  <a:pt x="33043" y="96372"/>
                  <a:pt x="32338" y="101179"/>
                  <a:pt x="34901" y="104576"/>
                </a:cubicBezTo>
                <a:lnTo>
                  <a:pt x="50285" y="125088"/>
                </a:lnTo>
                <a:cubicBezTo>
                  <a:pt x="51791" y="127107"/>
                  <a:pt x="54227" y="128261"/>
                  <a:pt x="56759" y="128164"/>
                </a:cubicBezTo>
                <a:cubicBezTo>
                  <a:pt x="59291" y="128068"/>
                  <a:pt x="61598" y="126722"/>
                  <a:pt x="62944" y="124543"/>
                </a:cubicBezTo>
                <a:lnTo>
                  <a:pt x="88584" y="8352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0207" y="1115822"/>
            <a:ext cx="2961852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Inclusion Criteria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093" y="1476824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2275" y="1476824"/>
            <a:ext cx="32818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094" y="1476824"/>
            <a:ext cx="278955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Requirements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094" y="1673734"/>
            <a:ext cx="2781351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Generative/foundation models with &gt;100M parameters (GPT-3/4, Claude, LLaMA)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5093" y="2100371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2275" y="2100371"/>
            <a:ext cx="32818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094" y="2100371"/>
            <a:ext cx="278955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Target Task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094" y="2297281"/>
            <a:ext cx="2781351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Classifying educational text into Bloom's cognitive levels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5093" y="2723919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2275" y="2723919"/>
            <a:ext cx="32818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094" y="2723919"/>
            <a:ext cx="278955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Empirical Evaluation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094" y="2920829"/>
            <a:ext cx="2781351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metrics: accuracy, precision/recall, F1, kappa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5093" y="3347467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2275" y="3347467"/>
            <a:ext cx="32818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094" y="3347467"/>
            <a:ext cx="262546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 Design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6094" y="3544377"/>
            <a:ext cx="261726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Experimental or observational (excluding editorials)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8183" y="4036651"/>
            <a:ext cx="3445922" cy="2034735"/>
          </a:xfrm>
          <a:custGeom>
            <a:avLst/>
            <a:gdLst/>
            <a:ahLst/>
            <a:cxnLst/>
            <a:rect l="l" t="t" r="r" b="b"/>
            <a:pathLst>
              <a:path w="3445922" h="2034735">
                <a:moveTo>
                  <a:pt x="65641" y="0"/>
                </a:moveTo>
                <a:lnTo>
                  <a:pt x="3380281" y="0"/>
                </a:lnTo>
                <a:cubicBezTo>
                  <a:pt x="3416534" y="0"/>
                  <a:pt x="3445922" y="29388"/>
                  <a:pt x="3445922" y="65641"/>
                </a:cubicBezTo>
                <a:lnTo>
                  <a:pt x="3445922" y="1969094"/>
                </a:lnTo>
                <a:cubicBezTo>
                  <a:pt x="3445922" y="2005347"/>
                  <a:pt x="3416534" y="2034735"/>
                  <a:pt x="3380281" y="2034735"/>
                </a:cubicBezTo>
                <a:lnTo>
                  <a:pt x="65641" y="2034735"/>
                </a:lnTo>
                <a:cubicBezTo>
                  <a:pt x="29388" y="2034735"/>
                  <a:pt x="0" y="2005347"/>
                  <a:pt x="0" y="1969094"/>
                </a:cubicBezTo>
                <a:lnTo>
                  <a:pt x="0" y="65641"/>
                </a:lnTo>
                <a:cubicBezTo>
                  <a:pt x="0" y="29388"/>
                  <a:pt x="29388" y="0"/>
                  <a:pt x="6564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786" y="4233561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133324" y="66662"/>
                </a:moveTo>
                <a:cubicBezTo>
                  <a:pt x="133324" y="81373"/>
                  <a:pt x="128549" y="94962"/>
                  <a:pt x="120505" y="105986"/>
                </a:cubicBezTo>
                <a:lnTo>
                  <a:pt x="161079" y="146593"/>
                </a:lnTo>
                <a:cubicBezTo>
                  <a:pt x="165085" y="150599"/>
                  <a:pt x="165085" y="157105"/>
                  <a:pt x="161079" y="161111"/>
                </a:cubicBezTo>
                <a:cubicBezTo>
                  <a:pt x="157073" y="165117"/>
                  <a:pt x="150567" y="165117"/>
                  <a:pt x="146561" y="161111"/>
                </a:cubicBezTo>
                <a:lnTo>
                  <a:pt x="105986" y="120505"/>
                </a:lnTo>
                <a:cubicBezTo>
                  <a:pt x="94962" y="128549"/>
                  <a:pt x="81373" y="133324"/>
                  <a:pt x="66662" y="133324"/>
                </a:cubicBezTo>
                <a:cubicBezTo>
                  <a:pt x="29838" y="133324"/>
                  <a:pt x="0" y="103487"/>
                  <a:pt x="0" y="66662"/>
                </a:cubicBezTo>
                <a:cubicBezTo>
                  <a:pt x="0" y="29838"/>
                  <a:pt x="29838" y="0"/>
                  <a:pt x="66662" y="0"/>
                </a:cubicBezTo>
                <a:cubicBezTo>
                  <a:pt x="103487" y="0"/>
                  <a:pt x="133324" y="29838"/>
                  <a:pt x="133324" y="66662"/>
                </a:cubicBezTo>
                <a:close/>
                <a:moveTo>
                  <a:pt x="66662" y="112813"/>
                </a:moveTo>
                <a:cubicBezTo>
                  <a:pt x="92133" y="112813"/>
                  <a:pt x="112813" y="92133"/>
                  <a:pt x="112813" y="66662"/>
                </a:cubicBezTo>
                <a:cubicBezTo>
                  <a:pt x="112813" y="41191"/>
                  <a:pt x="92133" y="20511"/>
                  <a:pt x="66662" y="20511"/>
                </a:cubicBezTo>
                <a:cubicBezTo>
                  <a:pt x="41191" y="20511"/>
                  <a:pt x="20511" y="41191"/>
                  <a:pt x="20511" y="66662"/>
                </a:cubicBezTo>
                <a:cubicBezTo>
                  <a:pt x="20511" y="92133"/>
                  <a:pt x="41191" y="112813"/>
                  <a:pt x="66662" y="11281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7389" y="4200743"/>
            <a:ext cx="299467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Search Strategy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2275" y="4528926"/>
            <a:ext cx="3183376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Sources:</a:t>
            </a:r>
            <a:r>
              <a:rPr lang="en-US" sz="103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Google Scholar, IEEE Xplore, ACM Digital Library, arXiv, medRxiv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2275" y="4988382"/>
            <a:ext cx="3183376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Keywords:</a:t>
            </a:r>
            <a:r>
              <a:rPr lang="en-US" sz="103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"Bloom's taxonomy classification", "large language model", "GPT-4 education Bloom"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2275" y="5447838"/>
            <a:ext cx="318337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Timeframe:</a:t>
            </a:r>
            <a:r>
              <a:rPr lang="en-US" sz="103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2021–2026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2275" y="5710385"/>
            <a:ext cx="318337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Language:</a:t>
            </a:r>
            <a:r>
              <a:rPr lang="en-US" sz="103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English only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71015" y="951731"/>
            <a:ext cx="7892802" cy="5800635"/>
          </a:xfrm>
          <a:custGeom>
            <a:avLst/>
            <a:gdLst/>
            <a:ahLst/>
            <a:cxnLst/>
            <a:rect l="l" t="t" r="r" b="b"/>
            <a:pathLst>
              <a:path w="7892802" h="5800635">
                <a:moveTo>
                  <a:pt x="65663" y="0"/>
                </a:moveTo>
                <a:lnTo>
                  <a:pt x="7827139" y="0"/>
                </a:lnTo>
                <a:cubicBezTo>
                  <a:pt x="7863404" y="0"/>
                  <a:pt x="7892802" y="29398"/>
                  <a:pt x="7892802" y="65663"/>
                </a:cubicBezTo>
                <a:lnTo>
                  <a:pt x="7892802" y="5734972"/>
                </a:lnTo>
                <a:cubicBezTo>
                  <a:pt x="7892802" y="5771237"/>
                  <a:pt x="7863404" y="5800635"/>
                  <a:pt x="7827139" y="5800635"/>
                </a:cubicBezTo>
                <a:lnTo>
                  <a:pt x="65663" y="5800635"/>
                </a:lnTo>
                <a:cubicBezTo>
                  <a:pt x="29398" y="5800635"/>
                  <a:pt x="0" y="5771237"/>
                  <a:pt x="0" y="5734972"/>
                </a:cubicBezTo>
                <a:lnTo>
                  <a:pt x="0" y="65663"/>
                </a:lnTo>
                <a:cubicBezTo>
                  <a:pt x="0" y="29398"/>
                  <a:pt x="29398" y="0"/>
                  <a:pt x="6566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55618" y="1148641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61534" y="20511"/>
                </a:moveTo>
                <a:cubicBezTo>
                  <a:pt x="61534" y="14839"/>
                  <a:pt x="66117" y="10256"/>
                  <a:pt x="71790" y="10256"/>
                </a:cubicBezTo>
                <a:lnTo>
                  <a:pt x="92301" y="10256"/>
                </a:lnTo>
                <a:cubicBezTo>
                  <a:pt x="97974" y="10256"/>
                  <a:pt x="102557" y="14839"/>
                  <a:pt x="102557" y="20511"/>
                </a:cubicBezTo>
                <a:lnTo>
                  <a:pt x="102557" y="41023"/>
                </a:lnTo>
                <a:cubicBezTo>
                  <a:pt x="102557" y="46696"/>
                  <a:pt x="97974" y="51279"/>
                  <a:pt x="92301" y="51279"/>
                </a:cubicBezTo>
                <a:lnTo>
                  <a:pt x="89738" y="51279"/>
                </a:lnTo>
                <a:lnTo>
                  <a:pt x="89738" y="71790"/>
                </a:lnTo>
                <a:lnTo>
                  <a:pt x="128197" y="71790"/>
                </a:lnTo>
                <a:cubicBezTo>
                  <a:pt x="140952" y="71790"/>
                  <a:pt x="151272" y="82110"/>
                  <a:pt x="151272" y="94865"/>
                </a:cubicBezTo>
                <a:lnTo>
                  <a:pt x="151272" y="112813"/>
                </a:lnTo>
                <a:lnTo>
                  <a:pt x="153836" y="112813"/>
                </a:lnTo>
                <a:cubicBezTo>
                  <a:pt x="159508" y="112813"/>
                  <a:pt x="164092" y="117396"/>
                  <a:pt x="164092" y="123069"/>
                </a:cubicBezTo>
                <a:lnTo>
                  <a:pt x="164092" y="143580"/>
                </a:lnTo>
                <a:cubicBezTo>
                  <a:pt x="164092" y="149253"/>
                  <a:pt x="159508" y="153836"/>
                  <a:pt x="153836" y="153836"/>
                </a:cubicBezTo>
                <a:lnTo>
                  <a:pt x="133324" y="153836"/>
                </a:lnTo>
                <a:cubicBezTo>
                  <a:pt x="127652" y="153836"/>
                  <a:pt x="123069" y="149253"/>
                  <a:pt x="123069" y="143580"/>
                </a:cubicBezTo>
                <a:lnTo>
                  <a:pt x="123069" y="123069"/>
                </a:lnTo>
                <a:cubicBezTo>
                  <a:pt x="123069" y="117396"/>
                  <a:pt x="127652" y="112813"/>
                  <a:pt x="133324" y="112813"/>
                </a:cubicBezTo>
                <a:lnTo>
                  <a:pt x="135888" y="112813"/>
                </a:lnTo>
                <a:lnTo>
                  <a:pt x="135888" y="94865"/>
                </a:lnTo>
                <a:cubicBezTo>
                  <a:pt x="135888" y="90603"/>
                  <a:pt x="132459" y="87174"/>
                  <a:pt x="128197" y="87174"/>
                </a:cubicBezTo>
                <a:lnTo>
                  <a:pt x="89738" y="87174"/>
                </a:lnTo>
                <a:lnTo>
                  <a:pt x="89738" y="112813"/>
                </a:lnTo>
                <a:lnTo>
                  <a:pt x="92301" y="112813"/>
                </a:lnTo>
                <a:cubicBezTo>
                  <a:pt x="97974" y="112813"/>
                  <a:pt x="102557" y="117396"/>
                  <a:pt x="102557" y="123069"/>
                </a:cubicBezTo>
                <a:lnTo>
                  <a:pt x="102557" y="143580"/>
                </a:lnTo>
                <a:cubicBezTo>
                  <a:pt x="102557" y="149253"/>
                  <a:pt x="97974" y="153836"/>
                  <a:pt x="92301" y="153836"/>
                </a:cubicBezTo>
                <a:lnTo>
                  <a:pt x="71790" y="153836"/>
                </a:lnTo>
                <a:cubicBezTo>
                  <a:pt x="66117" y="153836"/>
                  <a:pt x="61534" y="149253"/>
                  <a:pt x="61534" y="143580"/>
                </a:cubicBezTo>
                <a:lnTo>
                  <a:pt x="61534" y="123069"/>
                </a:lnTo>
                <a:cubicBezTo>
                  <a:pt x="61534" y="117396"/>
                  <a:pt x="66117" y="112813"/>
                  <a:pt x="71790" y="112813"/>
                </a:cubicBezTo>
                <a:lnTo>
                  <a:pt x="74354" y="112813"/>
                </a:lnTo>
                <a:lnTo>
                  <a:pt x="74354" y="87174"/>
                </a:lnTo>
                <a:lnTo>
                  <a:pt x="35895" y="87174"/>
                </a:lnTo>
                <a:cubicBezTo>
                  <a:pt x="31632" y="87174"/>
                  <a:pt x="28203" y="90603"/>
                  <a:pt x="28203" y="94865"/>
                </a:cubicBezTo>
                <a:lnTo>
                  <a:pt x="28203" y="112813"/>
                </a:lnTo>
                <a:lnTo>
                  <a:pt x="30767" y="112813"/>
                </a:lnTo>
                <a:cubicBezTo>
                  <a:pt x="36440" y="112813"/>
                  <a:pt x="41023" y="117396"/>
                  <a:pt x="41023" y="123069"/>
                </a:cubicBezTo>
                <a:lnTo>
                  <a:pt x="41023" y="143580"/>
                </a:lnTo>
                <a:cubicBezTo>
                  <a:pt x="41023" y="149253"/>
                  <a:pt x="36440" y="153836"/>
                  <a:pt x="30767" y="153836"/>
                </a:cubicBezTo>
                <a:lnTo>
                  <a:pt x="10256" y="153836"/>
                </a:lnTo>
                <a:cubicBezTo>
                  <a:pt x="4583" y="153836"/>
                  <a:pt x="0" y="149253"/>
                  <a:pt x="0" y="143580"/>
                </a:cubicBezTo>
                <a:lnTo>
                  <a:pt x="0" y="123069"/>
                </a:lnTo>
                <a:cubicBezTo>
                  <a:pt x="0" y="117396"/>
                  <a:pt x="4583" y="112813"/>
                  <a:pt x="10256" y="112813"/>
                </a:cubicBezTo>
                <a:lnTo>
                  <a:pt x="12820" y="112813"/>
                </a:lnTo>
                <a:lnTo>
                  <a:pt x="12820" y="94865"/>
                </a:lnTo>
                <a:cubicBezTo>
                  <a:pt x="12820" y="82110"/>
                  <a:pt x="23139" y="71790"/>
                  <a:pt x="35895" y="71790"/>
                </a:cubicBezTo>
                <a:lnTo>
                  <a:pt x="74354" y="71790"/>
                </a:lnTo>
                <a:lnTo>
                  <a:pt x="74354" y="51279"/>
                </a:lnTo>
                <a:lnTo>
                  <a:pt x="71790" y="51279"/>
                </a:lnTo>
                <a:cubicBezTo>
                  <a:pt x="66117" y="51279"/>
                  <a:pt x="61534" y="46696"/>
                  <a:pt x="61534" y="41023"/>
                </a:cubicBezTo>
                <a:lnTo>
                  <a:pt x="61534" y="20511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40221" y="1115822"/>
            <a:ext cx="744155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 Selection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35106" y="1476824"/>
            <a:ext cx="7564619" cy="787639"/>
          </a:xfrm>
          <a:custGeom>
            <a:avLst/>
            <a:gdLst/>
            <a:ahLst/>
            <a:cxnLst/>
            <a:rect l="l" t="t" r="r" b="b"/>
            <a:pathLst>
              <a:path w="7564619" h="787639">
                <a:moveTo>
                  <a:pt x="65634" y="0"/>
                </a:moveTo>
                <a:lnTo>
                  <a:pt x="7498985" y="0"/>
                </a:lnTo>
                <a:cubicBezTo>
                  <a:pt x="7535234" y="0"/>
                  <a:pt x="7564619" y="29385"/>
                  <a:pt x="7564619" y="65634"/>
                </a:cubicBezTo>
                <a:lnTo>
                  <a:pt x="7564619" y="722005"/>
                </a:lnTo>
                <a:cubicBezTo>
                  <a:pt x="7564619" y="758254"/>
                  <a:pt x="7535234" y="787639"/>
                  <a:pt x="7498985" y="787639"/>
                </a:cubicBezTo>
                <a:lnTo>
                  <a:pt x="65634" y="787639"/>
                </a:lnTo>
                <a:cubicBezTo>
                  <a:pt x="29410" y="787639"/>
                  <a:pt x="0" y="758230"/>
                  <a:pt x="0" y="722005"/>
                </a:cubicBezTo>
                <a:lnTo>
                  <a:pt x="0" y="65634"/>
                </a:lnTo>
                <a:cubicBezTo>
                  <a:pt x="0" y="29410"/>
                  <a:pt x="29410" y="0"/>
                  <a:pt x="6563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29459" y="1608097"/>
            <a:ext cx="737591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Initial Search Results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04845" y="1837825"/>
            <a:ext cx="7425141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Multiple Sources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844395" y="2362918"/>
            <a:ext cx="147682" cy="196910"/>
          </a:xfrm>
          <a:custGeom>
            <a:avLst/>
            <a:gdLst/>
            <a:ahLst/>
            <a:cxnLst/>
            <a:rect l="l" t="t" r="r" b="b"/>
            <a:pathLst>
              <a:path w="147682" h="196910">
                <a:moveTo>
                  <a:pt x="65149" y="193295"/>
                </a:moveTo>
                <a:cubicBezTo>
                  <a:pt x="69957" y="198102"/>
                  <a:pt x="77764" y="198102"/>
                  <a:pt x="82571" y="193295"/>
                </a:cubicBezTo>
                <a:lnTo>
                  <a:pt x="144106" y="131760"/>
                </a:lnTo>
                <a:cubicBezTo>
                  <a:pt x="148913" y="126953"/>
                  <a:pt x="148913" y="119146"/>
                  <a:pt x="144106" y="114338"/>
                </a:cubicBezTo>
                <a:cubicBezTo>
                  <a:pt x="139298" y="109531"/>
                  <a:pt x="131491" y="109531"/>
                  <a:pt x="126684" y="114338"/>
                </a:cubicBezTo>
                <a:lnTo>
                  <a:pt x="86148" y="154874"/>
                </a:lnTo>
                <a:lnTo>
                  <a:pt x="86148" y="12307"/>
                </a:lnTo>
                <a:cubicBezTo>
                  <a:pt x="86148" y="5500"/>
                  <a:pt x="80648" y="0"/>
                  <a:pt x="73841" y="0"/>
                </a:cubicBezTo>
                <a:cubicBezTo>
                  <a:pt x="67034" y="0"/>
                  <a:pt x="61534" y="5500"/>
                  <a:pt x="61534" y="12307"/>
                </a:cubicBezTo>
                <a:lnTo>
                  <a:pt x="61534" y="154874"/>
                </a:lnTo>
                <a:lnTo>
                  <a:pt x="20999" y="114338"/>
                </a:lnTo>
                <a:cubicBezTo>
                  <a:pt x="16191" y="109531"/>
                  <a:pt x="8384" y="109531"/>
                  <a:pt x="3577" y="114338"/>
                </a:cubicBezTo>
                <a:cubicBezTo>
                  <a:pt x="-1231" y="119146"/>
                  <a:pt x="-1231" y="126953"/>
                  <a:pt x="3577" y="131760"/>
                </a:cubicBezTo>
                <a:lnTo>
                  <a:pt x="65111" y="193295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135106" y="2658283"/>
            <a:ext cx="7564619" cy="787639"/>
          </a:xfrm>
          <a:custGeom>
            <a:avLst/>
            <a:gdLst/>
            <a:ahLst/>
            <a:cxnLst/>
            <a:rect l="l" t="t" r="r" b="b"/>
            <a:pathLst>
              <a:path w="7564619" h="787639">
                <a:moveTo>
                  <a:pt x="65634" y="0"/>
                </a:moveTo>
                <a:lnTo>
                  <a:pt x="7498985" y="0"/>
                </a:lnTo>
                <a:cubicBezTo>
                  <a:pt x="7535234" y="0"/>
                  <a:pt x="7564619" y="29385"/>
                  <a:pt x="7564619" y="65634"/>
                </a:cubicBezTo>
                <a:lnTo>
                  <a:pt x="7564619" y="722005"/>
                </a:lnTo>
                <a:cubicBezTo>
                  <a:pt x="7564619" y="758254"/>
                  <a:pt x="7535234" y="787639"/>
                  <a:pt x="7498985" y="787639"/>
                </a:cubicBezTo>
                <a:lnTo>
                  <a:pt x="65634" y="787639"/>
                </a:lnTo>
                <a:cubicBezTo>
                  <a:pt x="29410" y="787639"/>
                  <a:pt x="0" y="758230"/>
                  <a:pt x="0" y="722005"/>
                </a:cubicBezTo>
                <a:lnTo>
                  <a:pt x="0" y="65634"/>
                </a:lnTo>
                <a:cubicBezTo>
                  <a:pt x="0" y="29410"/>
                  <a:pt x="29410" y="0"/>
                  <a:pt x="65634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29459" y="2789556"/>
            <a:ext cx="737591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After Duplicate Removal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204845" y="3019284"/>
            <a:ext cx="7425141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Title/Abstract Screening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844395" y="3544377"/>
            <a:ext cx="147682" cy="196910"/>
          </a:xfrm>
          <a:custGeom>
            <a:avLst/>
            <a:gdLst/>
            <a:ahLst/>
            <a:cxnLst/>
            <a:rect l="l" t="t" r="r" b="b"/>
            <a:pathLst>
              <a:path w="147682" h="196910">
                <a:moveTo>
                  <a:pt x="65149" y="193295"/>
                </a:moveTo>
                <a:cubicBezTo>
                  <a:pt x="69957" y="198102"/>
                  <a:pt x="77764" y="198102"/>
                  <a:pt x="82571" y="193295"/>
                </a:cubicBezTo>
                <a:lnTo>
                  <a:pt x="144106" y="131760"/>
                </a:lnTo>
                <a:cubicBezTo>
                  <a:pt x="148913" y="126953"/>
                  <a:pt x="148913" y="119146"/>
                  <a:pt x="144106" y="114338"/>
                </a:cubicBezTo>
                <a:cubicBezTo>
                  <a:pt x="139298" y="109531"/>
                  <a:pt x="131491" y="109531"/>
                  <a:pt x="126684" y="114338"/>
                </a:cubicBezTo>
                <a:lnTo>
                  <a:pt x="86148" y="154874"/>
                </a:lnTo>
                <a:lnTo>
                  <a:pt x="86148" y="12307"/>
                </a:lnTo>
                <a:cubicBezTo>
                  <a:pt x="86148" y="5500"/>
                  <a:pt x="80648" y="0"/>
                  <a:pt x="73841" y="0"/>
                </a:cubicBezTo>
                <a:cubicBezTo>
                  <a:pt x="67034" y="0"/>
                  <a:pt x="61534" y="5500"/>
                  <a:pt x="61534" y="12307"/>
                </a:cubicBezTo>
                <a:lnTo>
                  <a:pt x="61534" y="154874"/>
                </a:lnTo>
                <a:lnTo>
                  <a:pt x="20999" y="114338"/>
                </a:lnTo>
                <a:cubicBezTo>
                  <a:pt x="16191" y="109531"/>
                  <a:pt x="8384" y="109531"/>
                  <a:pt x="3577" y="114338"/>
                </a:cubicBezTo>
                <a:cubicBezTo>
                  <a:pt x="-1231" y="119146"/>
                  <a:pt x="-1231" y="126953"/>
                  <a:pt x="3577" y="131760"/>
                </a:cubicBezTo>
                <a:lnTo>
                  <a:pt x="65111" y="193295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35106" y="3839742"/>
            <a:ext cx="7564619" cy="787639"/>
          </a:xfrm>
          <a:custGeom>
            <a:avLst/>
            <a:gdLst/>
            <a:ahLst/>
            <a:cxnLst/>
            <a:rect l="l" t="t" r="r" b="b"/>
            <a:pathLst>
              <a:path w="7564619" h="787639">
                <a:moveTo>
                  <a:pt x="65634" y="0"/>
                </a:moveTo>
                <a:lnTo>
                  <a:pt x="7498985" y="0"/>
                </a:lnTo>
                <a:cubicBezTo>
                  <a:pt x="7535234" y="0"/>
                  <a:pt x="7564619" y="29385"/>
                  <a:pt x="7564619" y="65634"/>
                </a:cubicBezTo>
                <a:lnTo>
                  <a:pt x="7564619" y="722005"/>
                </a:lnTo>
                <a:cubicBezTo>
                  <a:pt x="7564619" y="758254"/>
                  <a:pt x="7535234" y="787639"/>
                  <a:pt x="7498985" y="787639"/>
                </a:cubicBezTo>
                <a:lnTo>
                  <a:pt x="65634" y="787639"/>
                </a:lnTo>
                <a:cubicBezTo>
                  <a:pt x="29410" y="787639"/>
                  <a:pt x="0" y="758230"/>
                  <a:pt x="0" y="722005"/>
                </a:cubicBezTo>
                <a:lnTo>
                  <a:pt x="0" y="65634"/>
                </a:lnTo>
                <a:cubicBezTo>
                  <a:pt x="0" y="29410"/>
                  <a:pt x="29410" y="0"/>
                  <a:pt x="65634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29459" y="3971015"/>
            <a:ext cx="737591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Full-Text Screening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204845" y="4200743"/>
            <a:ext cx="7425141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 Candidate Papers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844395" y="4725836"/>
            <a:ext cx="147682" cy="196910"/>
          </a:xfrm>
          <a:custGeom>
            <a:avLst/>
            <a:gdLst/>
            <a:ahLst/>
            <a:cxnLst/>
            <a:rect l="l" t="t" r="r" b="b"/>
            <a:pathLst>
              <a:path w="147682" h="196910">
                <a:moveTo>
                  <a:pt x="65149" y="193295"/>
                </a:moveTo>
                <a:cubicBezTo>
                  <a:pt x="69957" y="198102"/>
                  <a:pt x="77764" y="198102"/>
                  <a:pt x="82571" y="193295"/>
                </a:cubicBezTo>
                <a:lnTo>
                  <a:pt x="144106" y="131760"/>
                </a:lnTo>
                <a:cubicBezTo>
                  <a:pt x="148913" y="126953"/>
                  <a:pt x="148913" y="119146"/>
                  <a:pt x="144106" y="114338"/>
                </a:cubicBezTo>
                <a:cubicBezTo>
                  <a:pt x="139298" y="109531"/>
                  <a:pt x="131491" y="109531"/>
                  <a:pt x="126684" y="114338"/>
                </a:cubicBezTo>
                <a:lnTo>
                  <a:pt x="86148" y="154874"/>
                </a:lnTo>
                <a:lnTo>
                  <a:pt x="86148" y="12307"/>
                </a:lnTo>
                <a:cubicBezTo>
                  <a:pt x="86148" y="5500"/>
                  <a:pt x="80648" y="0"/>
                  <a:pt x="73841" y="0"/>
                </a:cubicBezTo>
                <a:cubicBezTo>
                  <a:pt x="67034" y="0"/>
                  <a:pt x="61534" y="5500"/>
                  <a:pt x="61534" y="12307"/>
                </a:cubicBezTo>
                <a:lnTo>
                  <a:pt x="61534" y="154874"/>
                </a:lnTo>
                <a:lnTo>
                  <a:pt x="20999" y="114338"/>
                </a:lnTo>
                <a:cubicBezTo>
                  <a:pt x="16191" y="109531"/>
                  <a:pt x="8384" y="109531"/>
                  <a:pt x="3577" y="114338"/>
                </a:cubicBezTo>
                <a:cubicBezTo>
                  <a:pt x="-1231" y="119146"/>
                  <a:pt x="-1231" y="126953"/>
                  <a:pt x="3577" y="131760"/>
                </a:cubicBezTo>
                <a:lnTo>
                  <a:pt x="65111" y="193295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135106" y="5021201"/>
            <a:ext cx="7564619" cy="787639"/>
          </a:xfrm>
          <a:custGeom>
            <a:avLst/>
            <a:gdLst/>
            <a:ahLst/>
            <a:cxnLst/>
            <a:rect l="l" t="t" r="r" b="b"/>
            <a:pathLst>
              <a:path w="7564619" h="787639">
                <a:moveTo>
                  <a:pt x="65634" y="0"/>
                </a:moveTo>
                <a:lnTo>
                  <a:pt x="7498985" y="0"/>
                </a:lnTo>
                <a:cubicBezTo>
                  <a:pt x="7535234" y="0"/>
                  <a:pt x="7564619" y="29385"/>
                  <a:pt x="7564619" y="65634"/>
                </a:cubicBezTo>
                <a:lnTo>
                  <a:pt x="7564619" y="722005"/>
                </a:lnTo>
                <a:cubicBezTo>
                  <a:pt x="7564619" y="758254"/>
                  <a:pt x="7535234" y="787639"/>
                  <a:pt x="7498985" y="787639"/>
                </a:cubicBezTo>
                <a:lnTo>
                  <a:pt x="65634" y="787639"/>
                </a:lnTo>
                <a:cubicBezTo>
                  <a:pt x="29410" y="787639"/>
                  <a:pt x="0" y="758230"/>
                  <a:pt x="0" y="722005"/>
                </a:cubicBezTo>
                <a:lnTo>
                  <a:pt x="0" y="65634"/>
                </a:lnTo>
                <a:cubicBezTo>
                  <a:pt x="0" y="29410"/>
                  <a:pt x="29410" y="0"/>
                  <a:pt x="6563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29459" y="5152474"/>
            <a:ext cx="737591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Inclusion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04845" y="5382202"/>
            <a:ext cx="7425141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 Studies Selected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971015" y="6913996"/>
            <a:ext cx="3880764" cy="722003"/>
          </a:xfrm>
          <a:custGeom>
            <a:avLst/>
            <a:gdLst/>
            <a:ahLst/>
            <a:cxnLst/>
            <a:rect l="l" t="t" r="r" b="b"/>
            <a:pathLst>
              <a:path w="3880764" h="722003">
                <a:moveTo>
                  <a:pt x="65637" y="0"/>
                </a:moveTo>
                <a:lnTo>
                  <a:pt x="3815127" y="0"/>
                </a:lnTo>
                <a:cubicBezTo>
                  <a:pt x="3851378" y="0"/>
                  <a:pt x="3880764" y="29387"/>
                  <a:pt x="3880764" y="65637"/>
                </a:cubicBezTo>
                <a:lnTo>
                  <a:pt x="3880764" y="656365"/>
                </a:lnTo>
                <a:cubicBezTo>
                  <a:pt x="3880764" y="692616"/>
                  <a:pt x="3851378" y="722003"/>
                  <a:pt x="3815127" y="722003"/>
                </a:cubicBezTo>
                <a:lnTo>
                  <a:pt x="65637" y="722003"/>
                </a:lnTo>
                <a:cubicBezTo>
                  <a:pt x="29387" y="722003"/>
                  <a:pt x="0" y="692616"/>
                  <a:pt x="0" y="656365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73572" y="7045269"/>
            <a:ext cx="367565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 Types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053061" y="7242179"/>
            <a:ext cx="371667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 Papers + 1 Preprint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983873" y="6913996"/>
            <a:ext cx="3880764" cy="722003"/>
          </a:xfrm>
          <a:custGeom>
            <a:avLst/>
            <a:gdLst/>
            <a:ahLst/>
            <a:cxnLst/>
            <a:rect l="l" t="t" r="r" b="b"/>
            <a:pathLst>
              <a:path w="3880764" h="722003">
                <a:moveTo>
                  <a:pt x="65637" y="0"/>
                </a:moveTo>
                <a:lnTo>
                  <a:pt x="3815127" y="0"/>
                </a:lnTo>
                <a:cubicBezTo>
                  <a:pt x="3851378" y="0"/>
                  <a:pt x="3880764" y="29387"/>
                  <a:pt x="3880764" y="65637"/>
                </a:cubicBezTo>
                <a:lnTo>
                  <a:pt x="3880764" y="656365"/>
                </a:lnTo>
                <a:cubicBezTo>
                  <a:pt x="3880764" y="692616"/>
                  <a:pt x="3851378" y="722003"/>
                  <a:pt x="3815127" y="722003"/>
                </a:cubicBezTo>
                <a:lnTo>
                  <a:pt x="65637" y="722003"/>
                </a:lnTo>
                <a:cubicBezTo>
                  <a:pt x="29387" y="722003"/>
                  <a:pt x="0" y="692616"/>
                  <a:pt x="0" y="656365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086430" y="7045269"/>
            <a:ext cx="367565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Publication Years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65919" y="7242179"/>
            <a:ext cx="371667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2022–2026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404561"/>
            <a:ext cx="376977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40278" y="367783"/>
            <a:ext cx="6233919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 Characteristics &amp; Dataset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783" y="809122"/>
            <a:ext cx="882679" cy="36778"/>
          </a:xfrm>
          <a:custGeom>
            <a:avLst/>
            <a:gdLst/>
            <a:ahLst/>
            <a:cxnLst/>
            <a:rect l="l" t="t" r="r" b="b"/>
            <a:pathLst>
              <a:path w="882679" h="36778">
                <a:moveTo>
                  <a:pt x="0" y="0"/>
                </a:moveTo>
                <a:lnTo>
                  <a:pt x="882679" y="0"/>
                </a:lnTo>
                <a:lnTo>
                  <a:pt x="882679" y="36778"/>
                </a:lnTo>
                <a:lnTo>
                  <a:pt x="0" y="3677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7783" y="993014"/>
            <a:ext cx="11456434" cy="2969846"/>
          </a:xfrm>
          <a:custGeom>
            <a:avLst/>
            <a:gdLst/>
            <a:ahLst/>
            <a:cxnLst/>
            <a:rect l="l" t="t" r="r" b="b"/>
            <a:pathLst>
              <a:path w="11456434" h="2969846">
                <a:moveTo>
                  <a:pt x="73563" y="0"/>
                </a:moveTo>
                <a:lnTo>
                  <a:pt x="11382871" y="0"/>
                </a:lnTo>
                <a:cubicBezTo>
                  <a:pt x="11423499" y="0"/>
                  <a:pt x="11456434" y="32935"/>
                  <a:pt x="11456434" y="73563"/>
                </a:cubicBezTo>
                <a:lnTo>
                  <a:pt x="11456434" y="2896283"/>
                </a:lnTo>
                <a:cubicBezTo>
                  <a:pt x="11456434" y="2936911"/>
                  <a:pt x="11423499" y="2969846"/>
                  <a:pt x="11382871" y="2969846"/>
                </a:cubicBezTo>
                <a:lnTo>
                  <a:pt x="73563" y="2969846"/>
                </a:lnTo>
                <a:cubicBezTo>
                  <a:pt x="32935" y="2969846"/>
                  <a:pt x="0" y="2936911"/>
                  <a:pt x="0" y="2896283"/>
                </a:cubicBezTo>
                <a:lnTo>
                  <a:pt x="0" y="73563"/>
                </a:lnTo>
                <a:cubicBezTo>
                  <a:pt x="0" y="32963"/>
                  <a:pt x="32963" y="0"/>
                  <a:pt x="7356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896" y="1140127"/>
          <a:ext cx="11162208" cy="2675622"/>
        </p:xfrm>
        <a:graphic>
          <a:graphicData uri="http://schemas.openxmlformats.org/drawingml/2006/table">
            <a:tbl>
              <a:tblPr/>
              <a:tblGrid>
                <a:gridCol w="2289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8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937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Study (Year)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Educational Content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Model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Performance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3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 et al. (2022)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21,380 course learning objectives (6 Bloom levels)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BERT-base (110M) fine-tuned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F1: 0.95, κ: 0.93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93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Almatrafi &amp; Johri (2025)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1,000 learning outcomes (balanced across 6 levels)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 via API, no fine-tuning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Acc: 87%, F1: 0.88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93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Kumar et al. (2025)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600 sentences: exam questions + outcomes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GPT-4, Claude, Gemini, LLaMA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GPT-4: 72% acc; SVM: 94%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93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Kim &amp; Joo (2026)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350 teacher questions from K-12 classroom audio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 zero-shot + Whisper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Acc: 64.2%, κ: 0.547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93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Kazemi Vanhari et al. (2025)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726 interview Q&amp;A segments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GPT-4o-mini, LLaMA-3 8B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GPT-4: 53.7% acc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335" marR="110335" marT="110335" marB="110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75138" y="4119169"/>
            <a:ext cx="3710929" cy="1927182"/>
          </a:xfrm>
          <a:custGeom>
            <a:avLst/>
            <a:gdLst/>
            <a:ahLst/>
            <a:cxnLst/>
            <a:rect l="l" t="t" r="r" b="b"/>
            <a:pathLst>
              <a:path w="3710929" h="1927182">
                <a:moveTo>
                  <a:pt x="73561" y="0"/>
                </a:moveTo>
                <a:lnTo>
                  <a:pt x="3637368" y="0"/>
                </a:lnTo>
                <a:cubicBezTo>
                  <a:pt x="3677994" y="0"/>
                  <a:pt x="3710929" y="32934"/>
                  <a:pt x="3710929" y="73561"/>
                </a:cubicBezTo>
                <a:lnTo>
                  <a:pt x="3710929" y="1853621"/>
                </a:lnTo>
                <a:cubicBezTo>
                  <a:pt x="3710929" y="1894248"/>
                  <a:pt x="3677994" y="1927182"/>
                  <a:pt x="3637368" y="1927182"/>
                </a:cubicBezTo>
                <a:lnTo>
                  <a:pt x="73561" y="1927182"/>
                </a:lnTo>
                <a:cubicBezTo>
                  <a:pt x="32934" y="1927182"/>
                  <a:pt x="0" y="1894248"/>
                  <a:pt x="0" y="1853621"/>
                </a:cubicBezTo>
                <a:lnTo>
                  <a:pt x="0" y="73561"/>
                </a:lnTo>
                <a:cubicBezTo>
                  <a:pt x="0" y="32934"/>
                  <a:pt x="32934" y="0"/>
                  <a:pt x="7356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0983" y="4292028"/>
            <a:ext cx="193086" cy="220670"/>
          </a:xfrm>
          <a:custGeom>
            <a:avLst/>
            <a:gdLst/>
            <a:ahLst/>
            <a:cxnLst/>
            <a:rect l="l" t="t" r="r" b="b"/>
            <a:pathLst>
              <a:path w="193086" h="220670">
                <a:moveTo>
                  <a:pt x="193086" y="88699"/>
                </a:moveTo>
                <a:cubicBezTo>
                  <a:pt x="186707" y="92923"/>
                  <a:pt x="179380" y="96327"/>
                  <a:pt x="171752" y="99043"/>
                </a:cubicBezTo>
                <a:cubicBezTo>
                  <a:pt x="151495" y="106283"/>
                  <a:pt x="124902" y="110335"/>
                  <a:pt x="96543" y="110335"/>
                </a:cubicBezTo>
                <a:cubicBezTo>
                  <a:pt x="68183" y="110335"/>
                  <a:pt x="41548" y="106240"/>
                  <a:pt x="21334" y="99043"/>
                </a:cubicBezTo>
                <a:cubicBezTo>
                  <a:pt x="13749" y="96327"/>
                  <a:pt x="6379" y="92923"/>
                  <a:pt x="0" y="88699"/>
                </a:cubicBezTo>
                <a:lnTo>
                  <a:pt x="0" y="124127"/>
                </a:lnTo>
                <a:cubicBezTo>
                  <a:pt x="0" y="143177"/>
                  <a:pt x="43229" y="158606"/>
                  <a:pt x="96543" y="158606"/>
                </a:cubicBezTo>
                <a:cubicBezTo>
                  <a:pt x="149857" y="158606"/>
                  <a:pt x="193086" y="143177"/>
                  <a:pt x="193086" y="124127"/>
                </a:cubicBezTo>
                <a:lnTo>
                  <a:pt x="193086" y="88699"/>
                </a:lnTo>
                <a:close/>
                <a:moveTo>
                  <a:pt x="193086" y="55167"/>
                </a:moveTo>
                <a:lnTo>
                  <a:pt x="193086" y="34480"/>
                </a:lnTo>
                <a:cubicBezTo>
                  <a:pt x="193086" y="15430"/>
                  <a:pt x="149857" y="0"/>
                  <a:pt x="96543" y="0"/>
                </a:cubicBezTo>
                <a:cubicBezTo>
                  <a:pt x="43229" y="0"/>
                  <a:pt x="0" y="15430"/>
                  <a:pt x="0" y="34480"/>
                </a:cubicBezTo>
                <a:lnTo>
                  <a:pt x="0" y="55167"/>
                </a:lnTo>
                <a:cubicBezTo>
                  <a:pt x="0" y="74217"/>
                  <a:pt x="43229" y="89647"/>
                  <a:pt x="96543" y="89647"/>
                </a:cubicBezTo>
                <a:cubicBezTo>
                  <a:pt x="149857" y="89647"/>
                  <a:pt x="193086" y="74217"/>
                  <a:pt x="193086" y="55167"/>
                </a:cubicBezTo>
                <a:close/>
                <a:moveTo>
                  <a:pt x="171752" y="168002"/>
                </a:moveTo>
                <a:cubicBezTo>
                  <a:pt x="151538" y="175200"/>
                  <a:pt x="124946" y="179294"/>
                  <a:pt x="96543" y="179294"/>
                </a:cubicBezTo>
                <a:cubicBezTo>
                  <a:pt x="68140" y="179294"/>
                  <a:pt x="41548" y="175200"/>
                  <a:pt x="21334" y="168002"/>
                </a:cubicBezTo>
                <a:cubicBezTo>
                  <a:pt x="13749" y="165287"/>
                  <a:pt x="6379" y="161882"/>
                  <a:pt x="0" y="157658"/>
                </a:cubicBezTo>
                <a:lnTo>
                  <a:pt x="0" y="186190"/>
                </a:lnTo>
                <a:cubicBezTo>
                  <a:pt x="0" y="205240"/>
                  <a:pt x="43229" y="220670"/>
                  <a:pt x="96543" y="220670"/>
                </a:cubicBezTo>
                <a:cubicBezTo>
                  <a:pt x="149857" y="220670"/>
                  <a:pt x="193086" y="205240"/>
                  <a:pt x="193086" y="186190"/>
                </a:cubicBezTo>
                <a:lnTo>
                  <a:pt x="193086" y="157658"/>
                </a:lnTo>
                <a:cubicBezTo>
                  <a:pt x="186707" y="161882"/>
                  <a:pt x="179380" y="165287"/>
                  <a:pt x="171752" y="16800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5779" y="4273639"/>
            <a:ext cx="101140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Dataset Sizes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9607" y="4659811"/>
            <a:ext cx="53328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Largest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04900" y="4641422"/>
            <a:ext cx="101140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21,380 items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9607" y="4990815"/>
            <a:ext cx="60684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Smallest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28558" y="4972426"/>
            <a:ext cx="79073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350 items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9607" y="5321820"/>
            <a:ext cx="56086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Median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93389" y="5303431"/>
            <a:ext cx="82751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726 items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43639" y="4119169"/>
            <a:ext cx="3710929" cy="1927182"/>
          </a:xfrm>
          <a:custGeom>
            <a:avLst/>
            <a:gdLst/>
            <a:ahLst/>
            <a:cxnLst/>
            <a:rect l="l" t="t" r="r" b="b"/>
            <a:pathLst>
              <a:path w="3710929" h="1927182">
                <a:moveTo>
                  <a:pt x="73561" y="0"/>
                </a:moveTo>
                <a:lnTo>
                  <a:pt x="3637368" y="0"/>
                </a:lnTo>
                <a:cubicBezTo>
                  <a:pt x="3677994" y="0"/>
                  <a:pt x="3710929" y="32934"/>
                  <a:pt x="3710929" y="73561"/>
                </a:cubicBezTo>
                <a:lnTo>
                  <a:pt x="3710929" y="1853621"/>
                </a:lnTo>
                <a:cubicBezTo>
                  <a:pt x="3710929" y="1894248"/>
                  <a:pt x="3677994" y="1927182"/>
                  <a:pt x="3637368" y="1927182"/>
                </a:cubicBezTo>
                <a:lnTo>
                  <a:pt x="73561" y="1927182"/>
                </a:lnTo>
                <a:cubicBezTo>
                  <a:pt x="32934" y="1927182"/>
                  <a:pt x="0" y="1894248"/>
                  <a:pt x="0" y="1853621"/>
                </a:cubicBezTo>
                <a:lnTo>
                  <a:pt x="0" y="73561"/>
                </a:lnTo>
                <a:cubicBezTo>
                  <a:pt x="0" y="32934"/>
                  <a:pt x="32934" y="0"/>
                  <a:pt x="7356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11899" y="4292028"/>
            <a:ext cx="248253" cy="220670"/>
          </a:xfrm>
          <a:custGeom>
            <a:avLst/>
            <a:gdLst/>
            <a:ahLst/>
            <a:cxnLst/>
            <a:rect l="l" t="t" r="r" b="b"/>
            <a:pathLst>
              <a:path w="248253" h="220670">
                <a:moveTo>
                  <a:pt x="20688" y="84389"/>
                </a:moveTo>
                <a:lnTo>
                  <a:pt x="110852" y="121498"/>
                </a:lnTo>
                <a:cubicBezTo>
                  <a:pt x="115076" y="123222"/>
                  <a:pt x="119558" y="124127"/>
                  <a:pt x="124127" y="124127"/>
                </a:cubicBezTo>
                <a:cubicBezTo>
                  <a:pt x="128695" y="124127"/>
                  <a:pt x="133178" y="123222"/>
                  <a:pt x="137401" y="121498"/>
                </a:cubicBezTo>
                <a:lnTo>
                  <a:pt x="241875" y="78484"/>
                </a:lnTo>
                <a:cubicBezTo>
                  <a:pt x="245754" y="76890"/>
                  <a:pt x="248253" y="73140"/>
                  <a:pt x="248253" y="68959"/>
                </a:cubicBezTo>
                <a:cubicBezTo>
                  <a:pt x="248253" y="64779"/>
                  <a:pt x="245754" y="61029"/>
                  <a:pt x="241875" y="59434"/>
                </a:cubicBezTo>
                <a:lnTo>
                  <a:pt x="137401" y="16421"/>
                </a:lnTo>
                <a:cubicBezTo>
                  <a:pt x="133178" y="14697"/>
                  <a:pt x="128695" y="13792"/>
                  <a:pt x="124127" y="13792"/>
                </a:cubicBezTo>
                <a:cubicBezTo>
                  <a:pt x="119558" y="13792"/>
                  <a:pt x="115076" y="14697"/>
                  <a:pt x="110852" y="16421"/>
                </a:cubicBezTo>
                <a:lnTo>
                  <a:pt x="6379" y="59434"/>
                </a:lnTo>
                <a:cubicBezTo>
                  <a:pt x="2500" y="61029"/>
                  <a:pt x="0" y="64779"/>
                  <a:pt x="0" y="68959"/>
                </a:cubicBezTo>
                <a:lnTo>
                  <a:pt x="0" y="196534"/>
                </a:lnTo>
                <a:cubicBezTo>
                  <a:pt x="0" y="202266"/>
                  <a:pt x="4612" y="206878"/>
                  <a:pt x="10344" y="206878"/>
                </a:cubicBezTo>
                <a:cubicBezTo>
                  <a:pt x="16076" y="206878"/>
                  <a:pt x="20688" y="202266"/>
                  <a:pt x="20688" y="196534"/>
                </a:cubicBezTo>
                <a:lnTo>
                  <a:pt x="20688" y="84389"/>
                </a:lnTo>
                <a:close/>
                <a:moveTo>
                  <a:pt x="41376" y="115291"/>
                </a:moveTo>
                <a:lnTo>
                  <a:pt x="41376" y="165502"/>
                </a:lnTo>
                <a:cubicBezTo>
                  <a:pt x="41376" y="188345"/>
                  <a:pt x="78441" y="206878"/>
                  <a:pt x="124127" y="206878"/>
                </a:cubicBezTo>
                <a:cubicBezTo>
                  <a:pt x="169812" y="206878"/>
                  <a:pt x="206878" y="188345"/>
                  <a:pt x="206878" y="165502"/>
                </a:cubicBezTo>
                <a:lnTo>
                  <a:pt x="206878" y="115248"/>
                </a:lnTo>
                <a:lnTo>
                  <a:pt x="145289" y="140634"/>
                </a:lnTo>
                <a:cubicBezTo>
                  <a:pt x="138565" y="143392"/>
                  <a:pt x="131411" y="144814"/>
                  <a:pt x="124127" y="144814"/>
                </a:cubicBezTo>
                <a:cubicBezTo>
                  <a:pt x="116843" y="144814"/>
                  <a:pt x="109688" y="143392"/>
                  <a:pt x="102965" y="140634"/>
                </a:cubicBezTo>
                <a:lnTo>
                  <a:pt x="41376" y="115248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84280" y="4273639"/>
            <a:ext cx="163663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Educational Contexts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98108" y="4641422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Course learning outcomes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98108" y="4898870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Exam questions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98108" y="5156318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Teacher classroom questions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398108" y="5413766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Interview responses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398108" y="5671214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University &amp; K-12 settings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12140" y="4119169"/>
            <a:ext cx="3710929" cy="1927182"/>
          </a:xfrm>
          <a:custGeom>
            <a:avLst/>
            <a:gdLst/>
            <a:ahLst/>
            <a:cxnLst/>
            <a:rect l="l" t="t" r="r" b="b"/>
            <a:pathLst>
              <a:path w="3710929" h="1927182">
                <a:moveTo>
                  <a:pt x="73561" y="0"/>
                </a:moveTo>
                <a:lnTo>
                  <a:pt x="3637368" y="0"/>
                </a:lnTo>
                <a:cubicBezTo>
                  <a:pt x="3677994" y="0"/>
                  <a:pt x="3710929" y="32934"/>
                  <a:pt x="3710929" y="73561"/>
                </a:cubicBezTo>
                <a:lnTo>
                  <a:pt x="3710929" y="1853621"/>
                </a:lnTo>
                <a:cubicBezTo>
                  <a:pt x="3710929" y="1894248"/>
                  <a:pt x="3677994" y="1927182"/>
                  <a:pt x="3637368" y="1927182"/>
                </a:cubicBezTo>
                <a:lnTo>
                  <a:pt x="73561" y="1927182"/>
                </a:lnTo>
                <a:cubicBezTo>
                  <a:pt x="32934" y="1927182"/>
                  <a:pt x="0" y="1894248"/>
                  <a:pt x="0" y="1853621"/>
                </a:cubicBezTo>
                <a:lnTo>
                  <a:pt x="0" y="73561"/>
                </a:lnTo>
                <a:cubicBezTo>
                  <a:pt x="0" y="32934"/>
                  <a:pt x="32934" y="0"/>
                  <a:pt x="7356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66608" y="4292028"/>
            <a:ext cx="275837" cy="220670"/>
          </a:xfrm>
          <a:custGeom>
            <a:avLst/>
            <a:gdLst/>
            <a:ahLst/>
            <a:cxnLst/>
            <a:rect l="l" t="t" r="r" b="b"/>
            <a:pathLst>
              <a:path w="275837" h="220670">
                <a:moveTo>
                  <a:pt x="151710" y="0"/>
                </a:moveTo>
                <a:cubicBezTo>
                  <a:pt x="151710" y="-7629"/>
                  <a:pt x="145547" y="-13792"/>
                  <a:pt x="137919" y="-13792"/>
                </a:cubicBezTo>
                <a:cubicBezTo>
                  <a:pt x="130290" y="-13792"/>
                  <a:pt x="124127" y="-7629"/>
                  <a:pt x="124127" y="0"/>
                </a:cubicBezTo>
                <a:lnTo>
                  <a:pt x="124127" y="27584"/>
                </a:lnTo>
                <a:lnTo>
                  <a:pt x="82751" y="27584"/>
                </a:lnTo>
                <a:cubicBezTo>
                  <a:pt x="59908" y="27584"/>
                  <a:pt x="41376" y="46117"/>
                  <a:pt x="41376" y="68959"/>
                </a:cubicBezTo>
                <a:lnTo>
                  <a:pt x="41376" y="165502"/>
                </a:lnTo>
                <a:cubicBezTo>
                  <a:pt x="41376" y="188345"/>
                  <a:pt x="59908" y="206878"/>
                  <a:pt x="82751" y="206878"/>
                </a:cubicBezTo>
                <a:lnTo>
                  <a:pt x="193086" y="206878"/>
                </a:lnTo>
                <a:cubicBezTo>
                  <a:pt x="215929" y="206878"/>
                  <a:pt x="234462" y="188345"/>
                  <a:pt x="234462" y="165502"/>
                </a:cubicBezTo>
                <a:lnTo>
                  <a:pt x="234462" y="68959"/>
                </a:lnTo>
                <a:cubicBezTo>
                  <a:pt x="234462" y="46117"/>
                  <a:pt x="215929" y="27584"/>
                  <a:pt x="193086" y="27584"/>
                </a:cubicBezTo>
                <a:lnTo>
                  <a:pt x="151710" y="27584"/>
                </a:lnTo>
                <a:lnTo>
                  <a:pt x="151710" y="0"/>
                </a:lnTo>
                <a:close/>
                <a:moveTo>
                  <a:pt x="68959" y="158606"/>
                </a:moveTo>
                <a:cubicBezTo>
                  <a:pt x="68959" y="152874"/>
                  <a:pt x="73571" y="148262"/>
                  <a:pt x="79303" y="148262"/>
                </a:cubicBezTo>
                <a:lnTo>
                  <a:pt x="93095" y="148262"/>
                </a:lnTo>
                <a:cubicBezTo>
                  <a:pt x="98827" y="148262"/>
                  <a:pt x="103439" y="152874"/>
                  <a:pt x="103439" y="158606"/>
                </a:cubicBezTo>
                <a:cubicBezTo>
                  <a:pt x="103439" y="164339"/>
                  <a:pt x="98827" y="168950"/>
                  <a:pt x="93095" y="168950"/>
                </a:cubicBezTo>
                <a:lnTo>
                  <a:pt x="79303" y="168950"/>
                </a:lnTo>
                <a:cubicBezTo>
                  <a:pt x="73571" y="168950"/>
                  <a:pt x="68959" y="164339"/>
                  <a:pt x="68959" y="158606"/>
                </a:cubicBezTo>
                <a:close/>
                <a:moveTo>
                  <a:pt x="120679" y="158606"/>
                </a:moveTo>
                <a:cubicBezTo>
                  <a:pt x="120679" y="152874"/>
                  <a:pt x="125290" y="148262"/>
                  <a:pt x="131023" y="148262"/>
                </a:cubicBezTo>
                <a:lnTo>
                  <a:pt x="144814" y="148262"/>
                </a:lnTo>
                <a:cubicBezTo>
                  <a:pt x="150547" y="148262"/>
                  <a:pt x="155158" y="152874"/>
                  <a:pt x="155158" y="158606"/>
                </a:cubicBezTo>
                <a:cubicBezTo>
                  <a:pt x="155158" y="164339"/>
                  <a:pt x="150547" y="168950"/>
                  <a:pt x="144814" y="168950"/>
                </a:cubicBezTo>
                <a:lnTo>
                  <a:pt x="131023" y="168950"/>
                </a:lnTo>
                <a:cubicBezTo>
                  <a:pt x="125290" y="168950"/>
                  <a:pt x="120679" y="164339"/>
                  <a:pt x="120679" y="158606"/>
                </a:cubicBezTo>
                <a:close/>
                <a:moveTo>
                  <a:pt x="172398" y="158606"/>
                </a:moveTo>
                <a:cubicBezTo>
                  <a:pt x="172398" y="152874"/>
                  <a:pt x="177010" y="148262"/>
                  <a:pt x="182742" y="148262"/>
                </a:cubicBezTo>
                <a:lnTo>
                  <a:pt x="196534" y="148262"/>
                </a:lnTo>
                <a:cubicBezTo>
                  <a:pt x="202266" y="148262"/>
                  <a:pt x="206878" y="152874"/>
                  <a:pt x="206878" y="158606"/>
                </a:cubicBezTo>
                <a:cubicBezTo>
                  <a:pt x="206878" y="164339"/>
                  <a:pt x="202266" y="168950"/>
                  <a:pt x="196534" y="168950"/>
                </a:cubicBezTo>
                <a:lnTo>
                  <a:pt x="182742" y="168950"/>
                </a:lnTo>
                <a:cubicBezTo>
                  <a:pt x="177010" y="168950"/>
                  <a:pt x="172398" y="164339"/>
                  <a:pt x="172398" y="158606"/>
                </a:cubicBezTo>
                <a:close/>
                <a:moveTo>
                  <a:pt x="96543" y="75855"/>
                </a:moveTo>
                <a:cubicBezTo>
                  <a:pt x="107961" y="75855"/>
                  <a:pt x="117231" y="85125"/>
                  <a:pt x="117231" y="96543"/>
                </a:cubicBezTo>
                <a:cubicBezTo>
                  <a:pt x="117231" y="107961"/>
                  <a:pt x="107961" y="117231"/>
                  <a:pt x="96543" y="117231"/>
                </a:cubicBezTo>
                <a:cubicBezTo>
                  <a:pt x="85125" y="117231"/>
                  <a:pt x="75855" y="107961"/>
                  <a:pt x="75855" y="96543"/>
                </a:cubicBezTo>
                <a:cubicBezTo>
                  <a:pt x="75855" y="85125"/>
                  <a:pt x="85125" y="75855"/>
                  <a:pt x="96543" y="75855"/>
                </a:cubicBezTo>
                <a:close/>
                <a:moveTo>
                  <a:pt x="158606" y="96543"/>
                </a:moveTo>
                <a:cubicBezTo>
                  <a:pt x="158606" y="85125"/>
                  <a:pt x="167876" y="75855"/>
                  <a:pt x="179294" y="75855"/>
                </a:cubicBezTo>
                <a:cubicBezTo>
                  <a:pt x="190712" y="75855"/>
                  <a:pt x="199982" y="85125"/>
                  <a:pt x="199982" y="96543"/>
                </a:cubicBezTo>
                <a:cubicBezTo>
                  <a:pt x="199982" y="107961"/>
                  <a:pt x="190712" y="117231"/>
                  <a:pt x="179294" y="117231"/>
                </a:cubicBezTo>
                <a:cubicBezTo>
                  <a:pt x="167876" y="117231"/>
                  <a:pt x="158606" y="107961"/>
                  <a:pt x="158606" y="96543"/>
                </a:cubicBezTo>
                <a:close/>
                <a:moveTo>
                  <a:pt x="27584" y="96543"/>
                </a:moveTo>
                <a:cubicBezTo>
                  <a:pt x="27584" y="88914"/>
                  <a:pt x="21420" y="82751"/>
                  <a:pt x="13792" y="82751"/>
                </a:cubicBezTo>
                <a:cubicBezTo>
                  <a:pt x="6163" y="82751"/>
                  <a:pt x="0" y="88914"/>
                  <a:pt x="0" y="96543"/>
                </a:cubicBezTo>
                <a:lnTo>
                  <a:pt x="0" y="137919"/>
                </a:lnTo>
                <a:cubicBezTo>
                  <a:pt x="0" y="145547"/>
                  <a:pt x="6163" y="151710"/>
                  <a:pt x="13792" y="151710"/>
                </a:cubicBezTo>
                <a:cubicBezTo>
                  <a:pt x="21420" y="151710"/>
                  <a:pt x="27584" y="145547"/>
                  <a:pt x="27584" y="137919"/>
                </a:cubicBezTo>
                <a:lnTo>
                  <a:pt x="27584" y="96543"/>
                </a:lnTo>
                <a:close/>
                <a:moveTo>
                  <a:pt x="262045" y="82751"/>
                </a:moveTo>
                <a:cubicBezTo>
                  <a:pt x="254417" y="82751"/>
                  <a:pt x="248253" y="88914"/>
                  <a:pt x="248253" y="96543"/>
                </a:cubicBezTo>
                <a:lnTo>
                  <a:pt x="248253" y="137919"/>
                </a:lnTo>
                <a:cubicBezTo>
                  <a:pt x="248253" y="145547"/>
                  <a:pt x="254417" y="151710"/>
                  <a:pt x="262045" y="151710"/>
                </a:cubicBezTo>
                <a:cubicBezTo>
                  <a:pt x="269674" y="151710"/>
                  <a:pt x="275837" y="145547"/>
                  <a:pt x="275837" y="137919"/>
                </a:cubicBezTo>
                <a:lnTo>
                  <a:pt x="275837" y="96543"/>
                </a:lnTo>
                <a:cubicBezTo>
                  <a:pt x="275837" y="88914"/>
                  <a:pt x="269674" y="82751"/>
                  <a:pt x="262045" y="8275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52780" y="4273639"/>
            <a:ext cx="1351602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Models Evaluated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66608" y="4641422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GPT-4 / GPT-4o-mini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66608" y="4898870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BERT / RoBERTa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66608" y="5156318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LLaMA-3 8B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66608" y="5413766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Claude 3.5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266608" y="5671214"/>
            <a:ext cx="3475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Gemini 1.5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6172" y="6200822"/>
            <a:ext cx="11438045" cy="662009"/>
          </a:xfrm>
          <a:custGeom>
            <a:avLst/>
            <a:gdLst/>
            <a:ahLst/>
            <a:cxnLst/>
            <a:rect l="l" t="t" r="r" b="b"/>
            <a:pathLst>
              <a:path w="11438045" h="662009">
                <a:moveTo>
                  <a:pt x="36778" y="0"/>
                </a:moveTo>
                <a:lnTo>
                  <a:pt x="11364489" y="0"/>
                </a:lnTo>
                <a:cubicBezTo>
                  <a:pt x="11405113" y="0"/>
                  <a:pt x="11438045" y="32932"/>
                  <a:pt x="11438045" y="73556"/>
                </a:cubicBezTo>
                <a:lnTo>
                  <a:pt x="11438045" y="588453"/>
                </a:lnTo>
                <a:cubicBezTo>
                  <a:pt x="11438045" y="629077"/>
                  <a:pt x="11405113" y="662009"/>
                  <a:pt x="11364489" y="662009"/>
                </a:cubicBez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86172" y="6200822"/>
            <a:ext cx="36778" cy="662009"/>
          </a:xfrm>
          <a:custGeom>
            <a:avLst/>
            <a:gdLst/>
            <a:ahLst/>
            <a:cxnLst/>
            <a:rect l="l" t="t" r="r" b="b"/>
            <a:pathLst>
              <a:path w="36778" h="662009">
                <a:moveTo>
                  <a:pt x="36778" y="0"/>
                </a:moveTo>
                <a:lnTo>
                  <a:pt x="36778" y="0"/>
                </a:lnTo>
                <a:lnTo>
                  <a:pt x="36778" y="662009"/>
                </a:ln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33285" y="6325864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64362" y="45973"/>
                </a:moveTo>
                <a:cubicBezTo>
                  <a:pt x="64362" y="40898"/>
                  <a:pt x="68482" y="36778"/>
                  <a:pt x="73557" y="36778"/>
                </a:cubicBezTo>
                <a:cubicBezTo>
                  <a:pt x="78631" y="36778"/>
                  <a:pt x="82751" y="40898"/>
                  <a:pt x="82751" y="45973"/>
                </a:cubicBezTo>
                <a:cubicBezTo>
                  <a:pt x="82751" y="51047"/>
                  <a:pt x="78631" y="55167"/>
                  <a:pt x="73557" y="55167"/>
                </a:cubicBezTo>
                <a:cubicBezTo>
                  <a:pt x="68482" y="55167"/>
                  <a:pt x="64362" y="51047"/>
                  <a:pt x="64362" y="45973"/>
                </a:cubicBezTo>
                <a:close/>
                <a:moveTo>
                  <a:pt x="62063" y="64362"/>
                </a:moveTo>
                <a:lnTo>
                  <a:pt x="75855" y="64362"/>
                </a:lnTo>
                <a:cubicBezTo>
                  <a:pt x="79677" y="64362"/>
                  <a:pt x="82751" y="67436"/>
                  <a:pt x="82751" y="71258"/>
                </a:cubicBezTo>
                <a:lnTo>
                  <a:pt x="82751" y="96543"/>
                </a:lnTo>
                <a:lnTo>
                  <a:pt x="85050" y="96543"/>
                </a:lnTo>
                <a:cubicBezTo>
                  <a:pt x="88871" y="96543"/>
                  <a:pt x="91946" y="99617"/>
                  <a:pt x="91946" y="103439"/>
                </a:cubicBezTo>
                <a:cubicBezTo>
                  <a:pt x="91946" y="107260"/>
                  <a:pt x="88871" y="110335"/>
                  <a:pt x="85050" y="110335"/>
                </a:cubicBezTo>
                <a:lnTo>
                  <a:pt x="62063" y="110335"/>
                </a:lnTo>
                <a:cubicBezTo>
                  <a:pt x="58242" y="110335"/>
                  <a:pt x="55167" y="107260"/>
                  <a:pt x="55167" y="103439"/>
                </a:cubicBezTo>
                <a:cubicBezTo>
                  <a:pt x="55167" y="99617"/>
                  <a:pt x="58242" y="96543"/>
                  <a:pt x="62063" y="96543"/>
                </a:cubicBezTo>
                <a:lnTo>
                  <a:pt x="68959" y="96543"/>
                </a:lnTo>
                <a:lnTo>
                  <a:pt x="68959" y="78154"/>
                </a:lnTo>
                <a:lnTo>
                  <a:pt x="62063" y="78154"/>
                </a:lnTo>
                <a:cubicBezTo>
                  <a:pt x="58242" y="78154"/>
                  <a:pt x="55167" y="75079"/>
                  <a:pt x="55167" y="71258"/>
                </a:cubicBezTo>
                <a:cubicBezTo>
                  <a:pt x="55167" y="67436"/>
                  <a:pt x="58242" y="64362"/>
                  <a:pt x="62063" y="6436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52041" y="6311157"/>
            <a:ext cx="11035398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Note:</a:t>
            </a:r>
            <a:r>
              <a:rPr lang="en-US" sz="1158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All studies used six cognitive categories (Remember, Understand, Apply, Analyze, Evaluate, Create) except medical exam studies which sometimes merged highest levels.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52356" y="381000"/>
            <a:ext cx="426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Quality Assessment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4743450" cy="2819400"/>
          </a:xfrm>
          <a:custGeom>
            <a:avLst/>
            <a:gdLst/>
            <a:ahLst/>
            <a:cxnLst/>
            <a:rect l="l" t="t" r="r" b="b"/>
            <a:pathLst>
              <a:path w="4743450" h="2819400">
                <a:moveTo>
                  <a:pt x="38100" y="0"/>
                </a:moveTo>
                <a:lnTo>
                  <a:pt x="4667242" y="0"/>
                </a:lnTo>
                <a:cubicBezTo>
                  <a:pt x="4709330" y="0"/>
                  <a:pt x="4743450" y="34120"/>
                  <a:pt x="4743450" y="76208"/>
                </a:cubicBezTo>
                <a:lnTo>
                  <a:pt x="4743450" y="2743192"/>
                </a:lnTo>
                <a:cubicBezTo>
                  <a:pt x="4743450" y="2785280"/>
                  <a:pt x="4709330" y="2819400"/>
                  <a:pt x="4667242" y="2819400"/>
                </a:cubicBezTo>
                <a:lnTo>
                  <a:pt x="38100" y="2819400"/>
                </a:lnTo>
                <a:cubicBezTo>
                  <a:pt x="17072" y="2819400"/>
                  <a:pt x="0" y="2802328"/>
                  <a:pt x="0" y="2781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066800"/>
            <a:ext cx="38100" cy="2819400"/>
          </a:xfrm>
          <a:custGeom>
            <a:avLst/>
            <a:gdLst/>
            <a:ahLst/>
            <a:cxnLst/>
            <a:rect l="l" t="t" r="r" b="b"/>
            <a:pathLst>
              <a:path w="38100" h="2819400">
                <a:moveTo>
                  <a:pt x="38100" y="0"/>
                </a:moveTo>
                <a:lnTo>
                  <a:pt x="38100" y="0"/>
                </a:lnTo>
                <a:lnTo>
                  <a:pt x="38100" y="2819400"/>
                </a:lnTo>
                <a:lnTo>
                  <a:pt x="38100" y="2819400"/>
                </a:lnTo>
                <a:cubicBezTo>
                  <a:pt x="17072" y="2819400"/>
                  <a:pt x="0" y="2802328"/>
                  <a:pt x="0" y="2781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5319" y="1295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1492" y="-9637"/>
                </a:moveTo>
                <a:cubicBezTo>
                  <a:pt x="86506" y="-12688"/>
                  <a:pt x="80218" y="-12688"/>
                  <a:pt x="75233" y="-9637"/>
                </a:cubicBezTo>
                <a:cubicBezTo>
                  <a:pt x="66154" y="-4093"/>
                  <a:pt x="60536" y="-2604"/>
                  <a:pt x="49895" y="-2828"/>
                </a:cubicBezTo>
                <a:cubicBezTo>
                  <a:pt x="44053" y="-2977"/>
                  <a:pt x="38621" y="186"/>
                  <a:pt x="35793" y="5321"/>
                </a:cubicBezTo>
                <a:cubicBezTo>
                  <a:pt x="30696" y="14660"/>
                  <a:pt x="26566" y="18790"/>
                  <a:pt x="17227" y="23887"/>
                </a:cubicBezTo>
                <a:cubicBezTo>
                  <a:pt x="12092" y="26677"/>
                  <a:pt x="8967" y="32147"/>
                  <a:pt x="9079" y="37988"/>
                </a:cubicBezTo>
                <a:cubicBezTo>
                  <a:pt x="9339" y="48630"/>
                  <a:pt x="7813" y="54248"/>
                  <a:pt x="2270" y="63326"/>
                </a:cubicBezTo>
                <a:cubicBezTo>
                  <a:pt x="-781" y="68312"/>
                  <a:pt x="-781" y="74600"/>
                  <a:pt x="2270" y="79586"/>
                </a:cubicBezTo>
                <a:cubicBezTo>
                  <a:pt x="7813" y="88664"/>
                  <a:pt x="9302" y="94283"/>
                  <a:pt x="9079" y="104924"/>
                </a:cubicBezTo>
                <a:cubicBezTo>
                  <a:pt x="8930" y="110765"/>
                  <a:pt x="12092" y="116198"/>
                  <a:pt x="17227" y="119025"/>
                </a:cubicBezTo>
                <a:cubicBezTo>
                  <a:pt x="25450" y="123527"/>
                  <a:pt x="29617" y="127248"/>
                  <a:pt x="34007" y="134466"/>
                </a:cubicBezTo>
                <a:lnTo>
                  <a:pt x="15887" y="170594"/>
                </a:lnTo>
                <a:cubicBezTo>
                  <a:pt x="13692" y="175022"/>
                  <a:pt x="15478" y="180380"/>
                  <a:pt x="19869" y="182575"/>
                </a:cubicBezTo>
                <a:lnTo>
                  <a:pt x="51867" y="198574"/>
                </a:lnTo>
                <a:cubicBezTo>
                  <a:pt x="56145" y="200695"/>
                  <a:pt x="61354" y="199095"/>
                  <a:pt x="63661" y="194928"/>
                </a:cubicBezTo>
                <a:lnTo>
                  <a:pt x="83307" y="159544"/>
                </a:lnTo>
                <a:lnTo>
                  <a:pt x="102952" y="194928"/>
                </a:lnTo>
                <a:cubicBezTo>
                  <a:pt x="105259" y="199095"/>
                  <a:pt x="110468" y="200732"/>
                  <a:pt x="114746" y="198574"/>
                </a:cubicBezTo>
                <a:lnTo>
                  <a:pt x="146745" y="182575"/>
                </a:lnTo>
                <a:cubicBezTo>
                  <a:pt x="151172" y="180380"/>
                  <a:pt x="152958" y="175022"/>
                  <a:pt x="150726" y="170594"/>
                </a:cubicBezTo>
                <a:lnTo>
                  <a:pt x="132643" y="134429"/>
                </a:lnTo>
                <a:cubicBezTo>
                  <a:pt x="136996" y="127211"/>
                  <a:pt x="141201" y="123490"/>
                  <a:pt x="149423" y="118988"/>
                </a:cubicBezTo>
                <a:cubicBezTo>
                  <a:pt x="154558" y="116198"/>
                  <a:pt x="157683" y="110728"/>
                  <a:pt x="157572" y="104887"/>
                </a:cubicBezTo>
                <a:cubicBezTo>
                  <a:pt x="157311" y="94245"/>
                  <a:pt x="158837" y="88627"/>
                  <a:pt x="164381" y="79549"/>
                </a:cubicBezTo>
                <a:cubicBezTo>
                  <a:pt x="167432" y="74563"/>
                  <a:pt x="167432" y="68275"/>
                  <a:pt x="164381" y="63289"/>
                </a:cubicBezTo>
                <a:cubicBezTo>
                  <a:pt x="158837" y="54211"/>
                  <a:pt x="157349" y="48592"/>
                  <a:pt x="157572" y="37951"/>
                </a:cubicBezTo>
                <a:cubicBezTo>
                  <a:pt x="157721" y="32110"/>
                  <a:pt x="154558" y="26677"/>
                  <a:pt x="149423" y="23850"/>
                </a:cubicBezTo>
                <a:cubicBezTo>
                  <a:pt x="140084" y="18752"/>
                  <a:pt x="135954" y="14622"/>
                  <a:pt x="130857" y="5283"/>
                </a:cubicBezTo>
                <a:cubicBezTo>
                  <a:pt x="128067" y="149"/>
                  <a:pt x="122597" y="-2977"/>
                  <a:pt x="116756" y="-2865"/>
                </a:cubicBezTo>
                <a:cubicBezTo>
                  <a:pt x="106114" y="-2604"/>
                  <a:pt x="100496" y="-4130"/>
                  <a:pt x="91418" y="-9674"/>
                </a:cubicBezTo>
                <a:close/>
                <a:moveTo>
                  <a:pt x="83344" y="35719"/>
                </a:moveTo>
                <a:cubicBezTo>
                  <a:pt x="103057" y="35719"/>
                  <a:pt x="119063" y="51724"/>
                  <a:pt x="119063" y="71438"/>
                </a:cubicBezTo>
                <a:cubicBezTo>
                  <a:pt x="119063" y="91151"/>
                  <a:pt x="103057" y="107156"/>
                  <a:pt x="83344" y="107156"/>
                </a:cubicBezTo>
                <a:cubicBezTo>
                  <a:pt x="63630" y="107156"/>
                  <a:pt x="47625" y="91151"/>
                  <a:pt x="47625" y="71438"/>
                </a:cubicBezTo>
                <a:cubicBezTo>
                  <a:pt x="47625" y="51724"/>
                  <a:pt x="63630" y="35719"/>
                  <a:pt x="83344" y="3571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7725" y="1257300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Assessment Methodology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638300"/>
            <a:ext cx="441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Quality assessment conducted using a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modified CASP checklist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5 domains, each scored 0–2 points (maximum 10 points).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6300" y="22479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Clear research question/objective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650" y="259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6300" y="25527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Appropriate LLM choice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6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6300" y="28575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Transparent preprocessing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650" y="320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6300" y="31623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Valid evaluation metrics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8650" y="3505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6300" y="34671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4038600"/>
            <a:ext cx="4762500" cy="1905000"/>
          </a:xfrm>
          <a:custGeom>
            <a:avLst/>
            <a:gdLst/>
            <a:ahLst/>
            <a:cxnLst/>
            <a:rect l="l" t="t" r="r" b="b"/>
            <a:pathLst>
              <a:path w="4762500" h="1905000">
                <a:moveTo>
                  <a:pt x="76200" y="0"/>
                </a:moveTo>
                <a:lnTo>
                  <a:pt x="4686300" y="0"/>
                </a:lnTo>
                <a:cubicBezTo>
                  <a:pt x="4728356" y="0"/>
                  <a:pt x="4762500" y="34144"/>
                  <a:pt x="4762500" y="76200"/>
                </a:cubicBezTo>
                <a:lnTo>
                  <a:pt x="4762500" y="1828800"/>
                </a:lnTo>
                <a:cubicBezTo>
                  <a:pt x="4762500" y="1870856"/>
                  <a:pt x="4728356" y="1905000"/>
                  <a:pt x="46863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3406" y="4267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9625" y="4229100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Overall Quality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5775" y="46101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8–10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3400" y="50292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Score Range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52725" y="46101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5/5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00350" y="50292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Studies Passed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" y="5372100"/>
            <a:ext cx="4381500" cy="381000"/>
          </a:xfrm>
          <a:custGeom>
            <a:avLst/>
            <a:gdLst/>
            <a:ahLst/>
            <a:cxnLst/>
            <a:rect l="l" t="t" r="r" b="b"/>
            <a:pathLst>
              <a:path w="4381500" h="381000">
                <a:moveTo>
                  <a:pt x="38100" y="0"/>
                </a:moveTo>
                <a:lnTo>
                  <a:pt x="4343400" y="0"/>
                </a:lnTo>
                <a:cubicBezTo>
                  <a:pt x="4364428" y="0"/>
                  <a:pt x="4381500" y="17072"/>
                  <a:pt x="4381500" y="38100"/>
                </a:cubicBezTo>
                <a:lnTo>
                  <a:pt x="4381500" y="342900"/>
                </a:lnTo>
                <a:cubicBezTo>
                  <a:pt x="4381500" y="363928"/>
                  <a:pt x="4364428" y="381000"/>
                  <a:pt x="43434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3400" y="5372100"/>
            <a:ext cx="44577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studies exceeded quality threshold (≥7/10)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72100" y="1066800"/>
            <a:ext cx="6438900" cy="5410200"/>
          </a:xfrm>
          <a:custGeom>
            <a:avLst/>
            <a:gdLst/>
            <a:ahLst/>
            <a:cxnLst/>
            <a:rect l="l" t="t" r="r" b="b"/>
            <a:pathLst>
              <a:path w="6438900" h="5410200">
                <a:moveTo>
                  <a:pt x="76176" y="0"/>
                </a:moveTo>
                <a:lnTo>
                  <a:pt x="6362724" y="0"/>
                </a:lnTo>
                <a:cubicBezTo>
                  <a:pt x="6404795" y="0"/>
                  <a:pt x="6438900" y="34105"/>
                  <a:pt x="6438900" y="76176"/>
                </a:cubicBezTo>
                <a:lnTo>
                  <a:pt x="6438900" y="5334024"/>
                </a:lnTo>
                <a:cubicBezTo>
                  <a:pt x="6438900" y="5376095"/>
                  <a:pt x="6404795" y="5410200"/>
                  <a:pt x="6362724" y="5410200"/>
                </a:cubicBezTo>
                <a:lnTo>
                  <a:pt x="76176" y="5410200"/>
                </a:lnTo>
                <a:cubicBezTo>
                  <a:pt x="34105" y="5410200"/>
                  <a:pt x="0" y="5376095"/>
                  <a:pt x="0" y="5334024"/>
                </a:cubicBezTo>
                <a:lnTo>
                  <a:pt x="0" y="76176"/>
                </a:lnTo>
                <a:cubicBezTo>
                  <a:pt x="0" y="34133"/>
                  <a:pt x="34133" y="0"/>
                  <a:pt x="7617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62600" y="1257300"/>
            <a:ext cx="615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Individual Study Scores</a:t>
            </a:r>
            <a:endParaRPr lang="en-US" sz="1600" dirty="0"/>
          </a:p>
        </p:txBody>
      </p:sp>
      <p:pic>
        <p:nvPicPr>
          <p:cNvPr id="31" name="Image 0" descr="https://kimi-img.moonshot.cn/pub/slides/26-02-05-16:59:19-d625npun3mk69e9sset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62600" y="1676400"/>
            <a:ext cx="6057900" cy="4572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93002"/>
            <a:ext cx="321547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8040" y="357275"/>
            <a:ext cx="7922567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Classification Performance: LLMs vs Traditional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275" y="786004"/>
            <a:ext cx="857459" cy="35727"/>
          </a:xfrm>
          <a:custGeom>
            <a:avLst/>
            <a:gdLst/>
            <a:ahLst/>
            <a:cxnLst/>
            <a:rect l="l" t="t" r="r" b="b"/>
            <a:pathLst>
              <a:path w="857459" h="35727">
                <a:moveTo>
                  <a:pt x="0" y="0"/>
                </a:moveTo>
                <a:lnTo>
                  <a:pt x="857459" y="0"/>
                </a:lnTo>
                <a:lnTo>
                  <a:pt x="857459" y="35727"/>
                </a:lnTo>
                <a:lnTo>
                  <a:pt x="0" y="3572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5138" y="1000369"/>
            <a:ext cx="5636009" cy="4224774"/>
          </a:xfrm>
          <a:custGeom>
            <a:avLst/>
            <a:gdLst/>
            <a:ahLst/>
            <a:cxnLst/>
            <a:rect l="l" t="t" r="r" b="b"/>
            <a:pathLst>
              <a:path w="5636009" h="4224774">
                <a:moveTo>
                  <a:pt x="35727" y="0"/>
                </a:moveTo>
                <a:lnTo>
                  <a:pt x="5564568" y="0"/>
                </a:lnTo>
                <a:cubicBezTo>
                  <a:pt x="5604024" y="0"/>
                  <a:pt x="5636009" y="31985"/>
                  <a:pt x="5636009" y="71441"/>
                </a:cubicBezTo>
                <a:lnTo>
                  <a:pt x="5636009" y="4153333"/>
                </a:lnTo>
                <a:cubicBezTo>
                  <a:pt x="5636009" y="4192788"/>
                  <a:pt x="5604024" y="4224774"/>
                  <a:pt x="5564568" y="4224774"/>
                </a:cubicBezTo>
                <a:lnTo>
                  <a:pt x="35727" y="4224774"/>
                </a:lnTo>
                <a:cubicBezTo>
                  <a:pt x="15996" y="4224774"/>
                  <a:pt x="0" y="4208778"/>
                  <a:pt x="0" y="4189046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5138" y="1000369"/>
            <a:ext cx="35727" cy="4224774"/>
          </a:xfrm>
          <a:custGeom>
            <a:avLst/>
            <a:gdLst/>
            <a:ahLst/>
            <a:cxnLst/>
            <a:rect l="l" t="t" r="r" b="b"/>
            <a:pathLst>
              <a:path w="35727" h="4224774">
                <a:moveTo>
                  <a:pt x="35727" y="0"/>
                </a:moveTo>
                <a:lnTo>
                  <a:pt x="35727" y="0"/>
                </a:lnTo>
                <a:lnTo>
                  <a:pt x="35727" y="4224774"/>
                </a:lnTo>
                <a:lnTo>
                  <a:pt x="35727" y="4224774"/>
                </a:lnTo>
                <a:cubicBezTo>
                  <a:pt x="15996" y="4224774"/>
                  <a:pt x="0" y="4208778"/>
                  <a:pt x="0" y="4189046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3969" y="1214734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50346" y="0"/>
                </a:moveTo>
                <a:lnTo>
                  <a:pt x="128500" y="0"/>
                </a:lnTo>
                <a:cubicBezTo>
                  <a:pt x="137746" y="0"/>
                  <a:pt x="145282" y="7606"/>
                  <a:pt x="144934" y="16817"/>
                </a:cubicBezTo>
                <a:cubicBezTo>
                  <a:pt x="144864" y="18666"/>
                  <a:pt x="144794" y="20515"/>
                  <a:pt x="144689" y="22330"/>
                </a:cubicBezTo>
                <a:lnTo>
                  <a:pt x="161995" y="22330"/>
                </a:lnTo>
                <a:cubicBezTo>
                  <a:pt x="171101" y="22330"/>
                  <a:pt x="179126" y="29866"/>
                  <a:pt x="178428" y="39705"/>
                </a:cubicBezTo>
                <a:cubicBezTo>
                  <a:pt x="175811" y="75886"/>
                  <a:pt x="157320" y="95773"/>
                  <a:pt x="137258" y="106171"/>
                </a:cubicBezTo>
                <a:cubicBezTo>
                  <a:pt x="131745" y="109032"/>
                  <a:pt x="126128" y="111160"/>
                  <a:pt x="120790" y="112730"/>
                </a:cubicBezTo>
                <a:cubicBezTo>
                  <a:pt x="113742" y="122709"/>
                  <a:pt x="106415" y="127977"/>
                  <a:pt x="100588" y="130803"/>
                </a:cubicBezTo>
                <a:lnTo>
                  <a:pt x="100588" y="156308"/>
                </a:lnTo>
                <a:lnTo>
                  <a:pt x="122918" y="156308"/>
                </a:lnTo>
                <a:cubicBezTo>
                  <a:pt x="129093" y="156308"/>
                  <a:pt x="134083" y="161297"/>
                  <a:pt x="134083" y="167473"/>
                </a:cubicBezTo>
                <a:cubicBezTo>
                  <a:pt x="134083" y="173648"/>
                  <a:pt x="129093" y="178637"/>
                  <a:pt x="122918" y="178637"/>
                </a:cubicBezTo>
                <a:lnTo>
                  <a:pt x="55929" y="178637"/>
                </a:lnTo>
                <a:cubicBezTo>
                  <a:pt x="49753" y="178637"/>
                  <a:pt x="44764" y="173648"/>
                  <a:pt x="44764" y="167473"/>
                </a:cubicBezTo>
                <a:cubicBezTo>
                  <a:pt x="44764" y="161297"/>
                  <a:pt x="49753" y="156308"/>
                  <a:pt x="55929" y="156308"/>
                </a:cubicBezTo>
                <a:lnTo>
                  <a:pt x="78259" y="156308"/>
                </a:lnTo>
                <a:lnTo>
                  <a:pt x="78259" y="130803"/>
                </a:lnTo>
                <a:cubicBezTo>
                  <a:pt x="72676" y="128116"/>
                  <a:pt x="65733" y="123127"/>
                  <a:pt x="58964" y="113951"/>
                </a:cubicBezTo>
                <a:cubicBezTo>
                  <a:pt x="52545" y="112276"/>
                  <a:pt x="45566" y="109729"/>
                  <a:pt x="38763" y="105891"/>
                </a:cubicBezTo>
                <a:cubicBezTo>
                  <a:pt x="19887" y="95320"/>
                  <a:pt x="2861" y="75398"/>
                  <a:pt x="419" y="39635"/>
                </a:cubicBezTo>
                <a:cubicBezTo>
                  <a:pt x="-244" y="29831"/>
                  <a:pt x="7746" y="22295"/>
                  <a:pt x="16852" y="22295"/>
                </a:cubicBezTo>
                <a:lnTo>
                  <a:pt x="34157" y="22295"/>
                </a:lnTo>
                <a:cubicBezTo>
                  <a:pt x="34053" y="20480"/>
                  <a:pt x="33983" y="18666"/>
                  <a:pt x="33913" y="16782"/>
                </a:cubicBezTo>
                <a:cubicBezTo>
                  <a:pt x="33564" y="7536"/>
                  <a:pt x="41101" y="-35"/>
                  <a:pt x="50346" y="-35"/>
                </a:cubicBezTo>
                <a:close/>
                <a:moveTo>
                  <a:pt x="35413" y="39077"/>
                </a:moveTo>
                <a:lnTo>
                  <a:pt x="17131" y="39077"/>
                </a:lnTo>
                <a:cubicBezTo>
                  <a:pt x="19294" y="68629"/>
                  <a:pt x="32866" y="83422"/>
                  <a:pt x="46857" y="91273"/>
                </a:cubicBezTo>
                <a:cubicBezTo>
                  <a:pt x="41833" y="78259"/>
                  <a:pt x="37681" y="61267"/>
                  <a:pt x="35413" y="39077"/>
                </a:cubicBezTo>
                <a:close/>
                <a:moveTo>
                  <a:pt x="132582" y="89598"/>
                </a:moveTo>
                <a:cubicBezTo>
                  <a:pt x="146713" y="81294"/>
                  <a:pt x="159483" y="66535"/>
                  <a:pt x="161646" y="39077"/>
                </a:cubicBezTo>
                <a:lnTo>
                  <a:pt x="143398" y="39077"/>
                </a:lnTo>
                <a:cubicBezTo>
                  <a:pt x="141235" y="60325"/>
                  <a:pt x="137327" y="76828"/>
                  <a:pt x="132582" y="89598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4936" y="1179007"/>
            <a:ext cx="512689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Fine-Tuned Models (With Training Data)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5212" y="1575582"/>
            <a:ext cx="5250152" cy="1078970"/>
          </a:xfrm>
          <a:custGeom>
            <a:avLst/>
            <a:gdLst/>
            <a:ahLst/>
            <a:cxnLst/>
            <a:rect l="l" t="t" r="r" b="b"/>
            <a:pathLst>
              <a:path w="5250152" h="1078970">
                <a:moveTo>
                  <a:pt x="71460" y="0"/>
                </a:moveTo>
                <a:lnTo>
                  <a:pt x="5178692" y="0"/>
                </a:lnTo>
                <a:cubicBezTo>
                  <a:pt x="5218158" y="0"/>
                  <a:pt x="5250152" y="31994"/>
                  <a:pt x="5250152" y="71460"/>
                </a:cubicBezTo>
                <a:lnTo>
                  <a:pt x="5250152" y="1007510"/>
                </a:lnTo>
                <a:cubicBezTo>
                  <a:pt x="5250152" y="1046976"/>
                  <a:pt x="5218158" y="1078970"/>
                  <a:pt x="5178692" y="1078970"/>
                </a:cubicBezTo>
                <a:lnTo>
                  <a:pt x="71460" y="1078970"/>
                </a:lnTo>
                <a:cubicBezTo>
                  <a:pt x="31994" y="1078970"/>
                  <a:pt x="0" y="1046976"/>
                  <a:pt x="0" y="1007510"/>
                </a:cubicBezTo>
                <a:lnTo>
                  <a:pt x="0" y="71460"/>
                </a:lnTo>
                <a:cubicBezTo>
                  <a:pt x="0" y="31994"/>
                  <a:pt x="31994" y="0"/>
                  <a:pt x="714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1695" y="1757794"/>
            <a:ext cx="149162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BERT (Li et al. 2022)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4284" y="1722067"/>
            <a:ext cx="857459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95% F1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1695" y="2115069"/>
            <a:ext cx="5028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21,380 training examples, κ = 0.93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1695" y="2400889"/>
            <a:ext cx="4957187" cy="107182"/>
          </a:xfrm>
          <a:custGeom>
            <a:avLst/>
            <a:gdLst/>
            <a:ahLst/>
            <a:cxnLst/>
            <a:rect l="l" t="t" r="r" b="b"/>
            <a:pathLst>
              <a:path w="4957187" h="107182">
                <a:moveTo>
                  <a:pt x="53591" y="0"/>
                </a:moveTo>
                <a:lnTo>
                  <a:pt x="4903596" y="0"/>
                </a:lnTo>
                <a:cubicBezTo>
                  <a:pt x="4933193" y="0"/>
                  <a:pt x="4957187" y="23994"/>
                  <a:pt x="4957187" y="53591"/>
                </a:cubicBezTo>
                <a:lnTo>
                  <a:pt x="4957187" y="53591"/>
                </a:lnTo>
                <a:cubicBezTo>
                  <a:pt x="4957187" y="83189"/>
                  <a:pt x="4933193" y="107182"/>
                  <a:pt x="490359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1695" y="2400889"/>
            <a:ext cx="4707095" cy="107182"/>
          </a:xfrm>
          <a:custGeom>
            <a:avLst/>
            <a:gdLst/>
            <a:ahLst/>
            <a:cxnLst/>
            <a:rect l="l" t="t" r="r" b="b"/>
            <a:pathLst>
              <a:path w="4707095" h="107182">
                <a:moveTo>
                  <a:pt x="53591" y="0"/>
                </a:moveTo>
                <a:lnTo>
                  <a:pt x="4653503" y="0"/>
                </a:lnTo>
                <a:cubicBezTo>
                  <a:pt x="4683101" y="0"/>
                  <a:pt x="4707095" y="23994"/>
                  <a:pt x="4707095" y="53591"/>
                </a:cubicBezTo>
                <a:lnTo>
                  <a:pt x="4707095" y="53591"/>
                </a:lnTo>
                <a:cubicBezTo>
                  <a:pt x="4707095" y="83189"/>
                  <a:pt x="4683101" y="107182"/>
                  <a:pt x="4653503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5212" y="2768880"/>
            <a:ext cx="5250152" cy="1078970"/>
          </a:xfrm>
          <a:custGeom>
            <a:avLst/>
            <a:gdLst/>
            <a:ahLst/>
            <a:cxnLst/>
            <a:rect l="l" t="t" r="r" b="b"/>
            <a:pathLst>
              <a:path w="5250152" h="1078970">
                <a:moveTo>
                  <a:pt x="71460" y="0"/>
                </a:moveTo>
                <a:lnTo>
                  <a:pt x="5178692" y="0"/>
                </a:lnTo>
                <a:cubicBezTo>
                  <a:pt x="5218158" y="0"/>
                  <a:pt x="5250152" y="31994"/>
                  <a:pt x="5250152" y="71460"/>
                </a:cubicBezTo>
                <a:lnTo>
                  <a:pt x="5250152" y="1007510"/>
                </a:lnTo>
                <a:cubicBezTo>
                  <a:pt x="5250152" y="1046976"/>
                  <a:pt x="5218158" y="1078970"/>
                  <a:pt x="5178692" y="1078970"/>
                </a:cubicBezTo>
                <a:lnTo>
                  <a:pt x="71460" y="1078970"/>
                </a:lnTo>
                <a:cubicBezTo>
                  <a:pt x="31994" y="1078970"/>
                  <a:pt x="0" y="1046976"/>
                  <a:pt x="0" y="1007510"/>
                </a:cubicBezTo>
                <a:lnTo>
                  <a:pt x="0" y="71460"/>
                </a:lnTo>
                <a:cubicBezTo>
                  <a:pt x="0" y="31994"/>
                  <a:pt x="31994" y="0"/>
                  <a:pt x="714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1695" y="2951093"/>
            <a:ext cx="256344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SVM + Augmentation (Kumar 2025)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683" y="2915365"/>
            <a:ext cx="1125415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94% Acc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1695" y="3308367"/>
            <a:ext cx="5028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600 items with data augmentation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1695" y="3594187"/>
            <a:ext cx="4957187" cy="107182"/>
          </a:xfrm>
          <a:custGeom>
            <a:avLst/>
            <a:gdLst/>
            <a:ahLst/>
            <a:cxnLst/>
            <a:rect l="l" t="t" r="r" b="b"/>
            <a:pathLst>
              <a:path w="4957187" h="107182">
                <a:moveTo>
                  <a:pt x="53591" y="0"/>
                </a:moveTo>
                <a:lnTo>
                  <a:pt x="4903596" y="0"/>
                </a:lnTo>
                <a:cubicBezTo>
                  <a:pt x="4933193" y="0"/>
                  <a:pt x="4957187" y="23994"/>
                  <a:pt x="4957187" y="53591"/>
                </a:cubicBezTo>
                <a:lnTo>
                  <a:pt x="4957187" y="53591"/>
                </a:lnTo>
                <a:cubicBezTo>
                  <a:pt x="4957187" y="83189"/>
                  <a:pt x="4933193" y="107182"/>
                  <a:pt x="490359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1695" y="3594187"/>
            <a:ext cx="4662435" cy="107182"/>
          </a:xfrm>
          <a:custGeom>
            <a:avLst/>
            <a:gdLst/>
            <a:ahLst/>
            <a:cxnLst/>
            <a:rect l="l" t="t" r="r" b="b"/>
            <a:pathLst>
              <a:path w="4662435" h="107182">
                <a:moveTo>
                  <a:pt x="53591" y="0"/>
                </a:moveTo>
                <a:lnTo>
                  <a:pt x="4608844" y="0"/>
                </a:lnTo>
                <a:cubicBezTo>
                  <a:pt x="4638442" y="0"/>
                  <a:pt x="4662435" y="23994"/>
                  <a:pt x="4662435" y="53591"/>
                </a:cubicBezTo>
                <a:lnTo>
                  <a:pt x="4662435" y="53591"/>
                </a:lnTo>
                <a:cubicBezTo>
                  <a:pt x="4662435" y="83189"/>
                  <a:pt x="4638442" y="107182"/>
                  <a:pt x="4608844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5212" y="3962178"/>
            <a:ext cx="5250152" cy="1078970"/>
          </a:xfrm>
          <a:custGeom>
            <a:avLst/>
            <a:gdLst/>
            <a:ahLst/>
            <a:cxnLst/>
            <a:rect l="l" t="t" r="r" b="b"/>
            <a:pathLst>
              <a:path w="5250152" h="1078970">
                <a:moveTo>
                  <a:pt x="71460" y="0"/>
                </a:moveTo>
                <a:lnTo>
                  <a:pt x="5178692" y="0"/>
                </a:lnTo>
                <a:cubicBezTo>
                  <a:pt x="5218158" y="0"/>
                  <a:pt x="5250152" y="31994"/>
                  <a:pt x="5250152" y="71460"/>
                </a:cubicBezTo>
                <a:lnTo>
                  <a:pt x="5250152" y="1007510"/>
                </a:lnTo>
                <a:cubicBezTo>
                  <a:pt x="5250152" y="1046976"/>
                  <a:pt x="5218158" y="1078970"/>
                  <a:pt x="5178692" y="1078970"/>
                </a:cubicBezTo>
                <a:lnTo>
                  <a:pt x="71460" y="1078970"/>
                </a:lnTo>
                <a:cubicBezTo>
                  <a:pt x="31994" y="1078970"/>
                  <a:pt x="0" y="1046976"/>
                  <a:pt x="0" y="1007510"/>
                </a:cubicBezTo>
                <a:lnTo>
                  <a:pt x="0" y="71460"/>
                </a:lnTo>
                <a:cubicBezTo>
                  <a:pt x="0" y="31994"/>
                  <a:pt x="31994" y="0"/>
                  <a:pt x="714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695" y="4144387"/>
            <a:ext cx="242946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Fine-tuned BERT (Almatrafi 2025)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42748" y="4108659"/>
            <a:ext cx="1268325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&gt;90% Acc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1695" y="4501662"/>
            <a:ext cx="5028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1,000 learning outcomes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1695" y="4787481"/>
            <a:ext cx="4957187" cy="107182"/>
          </a:xfrm>
          <a:custGeom>
            <a:avLst/>
            <a:gdLst/>
            <a:ahLst/>
            <a:cxnLst/>
            <a:rect l="l" t="t" r="r" b="b"/>
            <a:pathLst>
              <a:path w="4957187" h="107182">
                <a:moveTo>
                  <a:pt x="53591" y="0"/>
                </a:moveTo>
                <a:lnTo>
                  <a:pt x="4903596" y="0"/>
                </a:lnTo>
                <a:cubicBezTo>
                  <a:pt x="4933193" y="0"/>
                  <a:pt x="4957187" y="23994"/>
                  <a:pt x="4957187" y="53591"/>
                </a:cubicBezTo>
                <a:lnTo>
                  <a:pt x="4957187" y="53591"/>
                </a:lnTo>
                <a:cubicBezTo>
                  <a:pt x="4957187" y="83189"/>
                  <a:pt x="4933193" y="107182"/>
                  <a:pt x="490359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1695" y="4787481"/>
            <a:ext cx="4465934" cy="107182"/>
          </a:xfrm>
          <a:custGeom>
            <a:avLst/>
            <a:gdLst/>
            <a:ahLst/>
            <a:cxnLst/>
            <a:rect l="l" t="t" r="r" b="b"/>
            <a:pathLst>
              <a:path w="4465934" h="107182">
                <a:moveTo>
                  <a:pt x="53591" y="0"/>
                </a:moveTo>
                <a:lnTo>
                  <a:pt x="4412343" y="0"/>
                </a:lnTo>
                <a:cubicBezTo>
                  <a:pt x="4441940" y="0"/>
                  <a:pt x="4465934" y="23994"/>
                  <a:pt x="4465934" y="53591"/>
                </a:cubicBezTo>
                <a:lnTo>
                  <a:pt x="4465934" y="53591"/>
                </a:lnTo>
                <a:cubicBezTo>
                  <a:pt x="4465934" y="83189"/>
                  <a:pt x="4441940" y="107182"/>
                  <a:pt x="4412343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4634" y="1000369"/>
            <a:ext cx="5636009" cy="4224774"/>
          </a:xfrm>
          <a:custGeom>
            <a:avLst/>
            <a:gdLst/>
            <a:ahLst/>
            <a:cxnLst/>
            <a:rect l="l" t="t" r="r" b="b"/>
            <a:pathLst>
              <a:path w="5636009" h="4224774">
                <a:moveTo>
                  <a:pt x="35727" y="0"/>
                </a:moveTo>
                <a:lnTo>
                  <a:pt x="5564568" y="0"/>
                </a:lnTo>
                <a:cubicBezTo>
                  <a:pt x="5604024" y="0"/>
                  <a:pt x="5636009" y="31985"/>
                  <a:pt x="5636009" y="71441"/>
                </a:cubicBezTo>
                <a:lnTo>
                  <a:pt x="5636009" y="4153333"/>
                </a:lnTo>
                <a:cubicBezTo>
                  <a:pt x="5636009" y="4192788"/>
                  <a:pt x="5604024" y="4224774"/>
                  <a:pt x="5564568" y="4224774"/>
                </a:cubicBezTo>
                <a:lnTo>
                  <a:pt x="35727" y="4224774"/>
                </a:lnTo>
                <a:cubicBezTo>
                  <a:pt x="15996" y="4224774"/>
                  <a:pt x="0" y="4208778"/>
                  <a:pt x="0" y="4189046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04634" y="1000369"/>
            <a:ext cx="35727" cy="4224774"/>
          </a:xfrm>
          <a:custGeom>
            <a:avLst/>
            <a:gdLst/>
            <a:ahLst/>
            <a:cxnLst/>
            <a:rect l="l" t="t" r="r" b="b"/>
            <a:pathLst>
              <a:path w="35727" h="4224774">
                <a:moveTo>
                  <a:pt x="35727" y="0"/>
                </a:moveTo>
                <a:lnTo>
                  <a:pt x="35727" y="0"/>
                </a:lnTo>
                <a:lnTo>
                  <a:pt x="35727" y="4224774"/>
                </a:lnTo>
                <a:lnTo>
                  <a:pt x="35727" y="4224774"/>
                </a:lnTo>
                <a:cubicBezTo>
                  <a:pt x="15996" y="4224774"/>
                  <a:pt x="0" y="4208778"/>
                  <a:pt x="0" y="4189046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1135" y="1214734"/>
            <a:ext cx="223297" cy="178637"/>
          </a:xfrm>
          <a:custGeom>
            <a:avLst/>
            <a:gdLst/>
            <a:ahLst/>
            <a:cxnLst/>
            <a:rect l="l" t="t" r="r" b="b"/>
            <a:pathLst>
              <a:path w="223297" h="178637">
                <a:moveTo>
                  <a:pt x="122813" y="0"/>
                </a:moveTo>
                <a:cubicBezTo>
                  <a:pt x="122813" y="-6176"/>
                  <a:pt x="117824" y="-11165"/>
                  <a:pt x="111648" y="-11165"/>
                </a:cubicBezTo>
                <a:cubicBezTo>
                  <a:pt x="105473" y="-11165"/>
                  <a:pt x="100484" y="-6176"/>
                  <a:pt x="100484" y="0"/>
                </a:cubicBezTo>
                <a:lnTo>
                  <a:pt x="100484" y="22330"/>
                </a:lnTo>
                <a:lnTo>
                  <a:pt x="66989" y="22330"/>
                </a:lnTo>
                <a:cubicBezTo>
                  <a:pt x="48497" y="22330"/>
                  <a:pt x="33495" y="37332"/>
                  <a:pt x="33495" y="55824"/>
                </a:cubicBezTo>
                <a:lnTo>
                  <a:pt x="33495" y="133978"/>
                </a:lnTo>
                <a:cubicBezTo>
                  <a:pt x="33495" y="152470"/>
                  <a:pt x="48497" y="167473"/>
                  <a:pt x="66989" y="167473"/>
                </a:cubicBezTo>
                <a:lnTo>
                  <a:pt x="156308" y="167473"/>
                </a:lnTo>
                <a:cubicBezTo>
                  <a:pt x="174799" y="167473"/>
                  <a:pt x="189802" y="152470"/>
                  <a:pt x="189802" y="133978"/>
                </a:cubicBezTo>
                <a:lnTo>
                  <a:pt x="189802" y="55824"/>
                </a:lnTo>
                <a:cubicBezTo>
                  <a:pt x="189802" y="37332"/>
                  <a:pt x="174799" y="22330"/>
                  <a:pt x="156308" y="22330"/>
                </a:cubicBezTo>
                <a:lnTo>
                  <a:pt x="122813" y="22330"/>
                </a:lnTo>
                <a:lnTo>
                  <a:pt x="122813" y="0"/>
                </a:lnTo>
                <a:close/>
                <a:moveTo>
                  <a:pt x="55824" y="128396"/>
                </a:moveTo>
                <a:cubicBezTo>
                  <a:pt x="55824" y="123755"/>
                  <a:pt x="59557" y="120022"/>
                  <a:pt x="64198" y="120022"/>
                </a:cubicBezTo>
                <a:lnTo>
                  <a:pt x="75363" y="120022"/>
                </a:lnTo>
                <a:cubicBezTo>
                  <a:pt x="80003" y="120022"/>
                  <a:pt x="83736" y="123755"/>
                  <a:pt x="83736" y="128396"/>
                </a:cubicBezTo>
                <a:cubicBezTo>
                  <a:pt x="83736" y="133036"/>
                  <a:pt x="80003" y="136769"/>
                  <a:pt x="75363" y="136769"/>
                </a:cubicBezTo>
                <a:lnTo>
                  <a:pt x="64198" y="136769"/>
                </a:lnTo>
                <a:cubicBezTo>
                  <a:pt x="59557" y="136769"/>
                  <a:pt x="55824" y="133036"/>
                  <a:pt x="55824" y="128396"/>
                </a:cubicBezTo>
                <a:close/>
                <a:moveTo>
                  <a:pt x="97692" y="128396"/>
                </a:moveTo>
                <a:cubicBezTo>
                  <a:pt x="97692" y="123755"/>
                  <a:pt x="101426" y="120022"/>
                  <a:pt x="106066" y="120022"/>
                </a:cubicBezTo>
                <a:lnTo>
                  <a:pt x="117231" y="120022"/>
                </a:lnTo>
                <a:cubicBezTo>
                  <a:pt x="121871" y="120022"/>
                  <a:pt x="125604" y="123755"/>
                  <a:pt x="125604" y="128396"/>
                </a:cubicBezTo>
                <a:cubicBezTo>
                  <a:pt x="125604" y="133036"/>
                  <a:pt x="121871" y="136769"/>
                  <a:pt x="117231" y="136769"/>
                </a:cubicBezTo>
                <a:lnTo>
                  <a:pt x="106066" y="136769"/>
                </a:lnTo>
                <a:cubicBezTo>
                  <a:pt x="101426" y="136769"/>
                  <a:pt x="97692" y="133036"/>
                  <a:pt x="97692" y="128396"/>
                </a:cubicBezTo>
                <a:close/>
                <a:moveTo>
                  <a:pt x="139560" y="128396"/>
                </a:moveTo>
                <a:cubicBezTo>
                  <a:pt x="139560" y="123755"/>
                  <a:pt x="143294" y="120022"/>
                  <a:pt x="147934" y="120022"/>
                </a:cubicBezTo>
                <a:lnTo>
                  <a:pt x="159099" y="120022"/>
                </a:lnTo>
                <a:cubicBezTo>
                  <a:pt x="163739" y="120022"/>
                  <a:pt x="167473" y="123755"/>
                  <a:pt x="167473" y="128396"/>
                </a:cubicBezTo>
                <a:cubicBezTo>
                  <a:pt x="167473" y="133036"/>
                  <a:pt x="163739" y="136769"/>
                  <a:pt x="159099" y="136769"/>
                </a:cubicBezTo>
                <a:lnTo>
                  <a:pt x="147934" y="136769"/>
                </a:lnTo>
                <a:cubicBezTo>
                  <a:pt x="143294" y="136769"/>
                  <a:pt x="139560" y="133036"/>
                  <a:pt x="139560" y="128396"/>
                </a:cubicBezTo>
                <a:close/>
                <a:moveTo>
                  <a:pt x="78154" y="61407"/>
                </a:moveTo>
                <a:cubicBezTo>
                  <a:pt x="87397" y="61407"/>
                  <a:pt x="94901" y="68911"/>
                  <a:pt x="94901" y="78154"/>
                </a:cubicBezTo>
                <a:cubicBezTo>
                  <a:pt x="94901" y="87397"/>
                  <a:pt x="87397" y="94901"/>
                  <a:pt x="78154" y="94901"/>
                </a:cubicBezTo>
                <a:cubicBezTo>
                  <a:pt x="68911" y="94901"/>
                  <a:pt x="61407" y="87397"/>
                  <a:pt x="61407" y="78154"/>
                </a:cubicBezTo>
                <a:cubicBezTo>
                  <a:pt x="61407" y="68911"/>
                  <a:pt x="68911" y="61407"/>
                  <a:pt x="78154" y="61407"/>
                </a:cubicBezTo>
                <a:close/>
                <a:moveTo>
                  <a:pt x="128396" y="78154"/>
                </a:moveTo>
                <a:cubicBezTo>
                  <a:pt x="128396" y="68911"/>
                  <a:pt x="135900" y="61407"/>
                  <a:pt x="145143" y="61407"/>
                </a:cubicBezTo>
                <a:cubicBezTo>
                  <a:pt x="154386" y="61407"/>
                  <a:pt x="161890" y="68911"/>
                  <a:pt x="161890" y="78154"/>
                </a:cubicBezTo>
                <a:cubicBezTo>
                  <a:pt x="161890" y="87397"/>
                  <a:pt x="154386" y="94901"/>
                  <a:pt x="145143" y="94901"/>
                </a:cubicBezTo>
                <a:cubicBezTo>
                  <a:pt x="135900" y="94901"/>
                  <a:pt x="128396" y="87397"/>
                  <a:pt x="128396" y="78154"/>
                </a:cubicBezTo>
                <a:close/>
                <a:moveTo>
                  <a:pt x="22330" y="78154"/>
                </a:moveTo>
                <a:cubicBezTo>
                  <a:pt x="22330" y="71978"/>
                  <a:pt x="17340" y="66989"/>
                  <a:pt x="11165" y="66989"/>
                </a:cubicBezTo>
                <a:cubicBezTo>
                  <a:pt x="4989" y="66989"/>
                  <a:pt x="0" y="71978"/>
                  <a:pt x="0" y="78154"/>
                </a:cubicBezTo>
                <a:lnTo>
                  <a:pt x="0" y="111648"/>
                </a:lnTo>
                <a:cubicBezTo>
                  <a:pt x="0" y="117824"/>
                  <a:pt x="4989" y="122813"/>
                  <a:pt x="11165" y="122813"/>
                </a:cubicBezTo>
                <a:cubicBezTo>
                  <a:pt x="17340" y="122813"/>
                  <a:pt x="22330" y="117824"/>
                  <a:pt x="22330" y="111648"/>
                </a:cubicBezTo>
                <a:lnTo>
                  <a:pt x="22330" y="78154"/>
                </a:lnTo>
                <a:close/>
                <a:moveTo>
                  <a:pt x="212132" y="66989"/>
                </a:moveTo>
                <a:cubicBezTo>
                  <a:pt x="205956" y="66989"/>
                  <a:pt x="200967" y="71978"/>
                  <a:pt x="200967" y="78154"/>
                </a:cubicBezTo>
                <a:lnTo>
                  <a:pt x="200967" y="111648"/>
                </a:lnTo>
                <a:cubicBezTo>
                  <a:pt x="200967" y="117824"/>
                  <a:pt x="205956" y="122813"/>
                  <a:pt x="212132" y="122813"/>
                </a:cubicBezTo>
                <a:cubicBezTo>
                  <a:pt x="218307" y="122813"/>
                  <a:pt x="223297" y="117824"/>
                  <a:pt x="223297" y="111648"/>
                </a:cubicBezTo>
                <a:lnTo>
                  <a:pt x="223297" y="78154"/>
                </a:lnTo>
                <a:cubicBezTo>
                  <a:pt x="223297" y="71978"/>
                  <a:pt x="218307" y="66989"/>
                  <a:pt x="212132" y="66989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4432" y="1179007"/>
            <a:ext cx="512689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Zero-Shot (No Training Required)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4708" y="1575582"/>
            <a:ext cx="5250152" cy="1078970"/>
          </a:xfrm>
          <a:custGeom>
            <a:avLst/>
            <a:gdLst/>
            <a:ahLst/>
            <a:cxnLst/>
            <a:rect l="l" t="t" r="r" b="b"/>
            <a:pathLst>
              <a:path w="5250152" h="1078970">
                <a:moveTo>
                  <a:pt x="71460" y="0"/>
                </a:moveTo>
                <a:lnTo>
                  <a:pt x="5178692" y="0"/>
                </a:lnTo>
                <a:cubicBezTo>
                  <a:pt x="5218158" y="0"/>
                  <a:pt x="5250152" y="31994"/>
                  <a:pt x="5250152" y="71460"/>
                </a:cubicBezTo>
                <a:lnTo>
                  <a:pt x="5250152" y="1007510"/>
                </a:lnTo>
                <a:cubicBezTo>
                  <a:pt x="5250152" y="1046976"/>
                  <a:pt x="5218158" y="1078970"/>
                  <a:pt x="5178692" y="1078970"/>
                </a:cubicBezTo>
                <a:lnTo>
                  <a:pt x="71460" y="1078970"/>
                </a:lnTo>
                <a:cubicBezTo>
                  <a:pt x="31994" y="1078970"/>
                  <a:pt x="0" y="1046976"/>
                  <a:pt x="0" y="1007510"/>
                </a:cubicBezTo>
                <a:lnTo>
                  <a:pt x="0" y="71460"/>
                </a:lnTo>
                <a:cubicBezTo>
                  <a:pt x="0" y="31994"/>
                  <a:pt x="31994" y="0"/>
                  <a:pt x="714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51191" y="1757794"/>
            <a:ext cx="198287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GPT-4 + Rhetorical Prompt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17164" y="1722067"/>
            <a:ext cx="1125415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 Acc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1191" y="2115069"/>
            <a:ext cx="5028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Context-aware prompting, F1 = 0.88, κ ≈ 0.70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51191" y="2400889"/>
            <a:ext cx="4957187" cy="107182"/>
          </a:xfrm>
          <a:custGeom>
            <a:avLst/>
            <a:gdLst/>
            <a:ahLst/>
            <a:cxnLst/>
            <a:rect l="l" t="t" r="r" b="b"/>
            <a:pathLst>
              <a:path w="4957187" h="107182">
                <a:moveTo>
                  <a:pt x="53591" y="0"/>
                </a:moveTo>
                <a:lnTo>
                  <a:pt x="4903596" y="0"/>
                </a:lnTo>
                <a:cubicBezTo>
                  <a:pt x="4933193" y="0"/>
                  <a:pt x="4957187" y="23994"/>
                  <a:pt x="4957187" y="53591"/>
                </a:cubicBezTo>
                <a:lnTo>
                  <a:pt x="4957187" y="53591"/>
                </a:lnTo>
                <a:cubicBezTo>
                  <a:pt x="4957187" y="83189"/>
                  <a:pt x="4933193" y="107182"/>
                  <a:pt x="490359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51191" y="2400889"/>
            <a:ext cx="4314092" cy="107182"/>
          </a:xfrm>
          <a:custGeom>
            <a:avLst/>
            <a:gdLst/>
            <a:ahLst/>
            <a:cxnLst/>
            <a:rect l="l" t="t" r="r" b="b"/>
            <a:pathLst>
              <a:path w="4314092" h="107182">
                <a:moveTo>
                  <a:pt x="53591" y="0"/>
                </a:moveTo>
                <a:lnTo>
                  <a:pt x="4260501" y="0"/>
                </a:lnTo>
                <a:cubicBezTo>
                  <a:pt x="4290099" y="0"/>
                  <a:pt x="4314092" y="23994"/>
                  <a:pt x="4314092" y="53591"/>
                </a:cubicBezTo>
                <a:lnTo>
                  <a:pt x="4314092" y="53591"/>
                </a:lnTo>
                <a:cubicBezTo>
                  <a:pt x="4314092" y="83189"/>
                  <a:pt x="4290099" y="107182"/>
                  <a:pt x="4260501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4708" y="2768880"/>
            <a:ext cx="5250152" cy="1078970"/>
          </a:xfrm>
          <a:custGeom>
            <a:avLst/>
            <a:gdLst/>
            <a:ahLst/>
            <a:cxnLst/>
            <a:rect l="l" t="t" r="r" b="b"/>
            <a:pathLst>
              <a:path w="5250152" h="1078970">
                <a:moveTo>
                  <a:pt x="71460" y="0"/>
                </a:moveTo>
                <a:lnTo>
                  <a:pt x="5178692" y="0"/>
                </a:lnTo>
                <a:cubicBezTo>
                  <a:pt x="5218158" y="0"/>
                  <a:pt x="5250152" y="31994"/>
                  <a:pt x="5250152" y="71460"/>
                </a:cubicBezTo>
                <a:lnTo>
                  <a:pt x="5250152" y="1007510"/>
                </a:lnTo>
                <a:cubicBezTo>
                  <a:pt x="5250152" y="1046976"/>
                  <a:pt x="5218158" y="1078970"/>
                  <a:pt x="5178692" y="1078970"/>
                </a:cubicBezTo>
                <a:lnTo>
                  <a:pt x="71460" y="1078970"/>
                </a:lnTo>
                <a:cubicBezTo>
                  <a:pt x="31994" y="1078970"/>
                  <a:pt x="0" y="1046976"/>
                  <a:pt x="0" y="1007510"/>
                </a:cubicBezTo>
                <a:lnTo>
                  <a:pt x="0" y="71460"/>
                </a:lnTo>
                <a:cubicBezTo>
                  <a:pt x="0" y="31994"/>
                  <a:pt x="31994" y="0"/>
                  <a:pt x="714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51191" y="2951093"/>
            <a:ext cx="222403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GPT-4 Zero-Shot (Kumar 2025)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525761" y="2915365"/>
            <a:ext cx="1116484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72% Acc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51191" y="3308367"/>
            <a:ext cx="5028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Mixed exam items, F1 ≈ 0.72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51191" y="3594187"/>
            <a:ext cx="4957187" cy="107182"/>
          </a:xfrm>
          <a:custGeom>
            <a:avLst/>
            <a:gdLst/>
            <a:ahLst/>
            <a:cxnLst/>
            <a:rect l="l" t="t" r="r" b="b"/>
            <a:pathLst>
              <a:path w="4957187" h="107182">
                <a:moveTo>
                  <a:pt x="53591" y="0"/>
                </a:moveTo>
                <a:lnTo>
                  <a:pt x="4903596" y="0"/>
                </a:lnTo>
                <a:cubicBezTo>
                  <a:pt x="4933193" y="0"/>
                  <a:pt x="4957187" y="23994"/>
                  <a:pt x="4957187" y="53591"/>
                </a:cubicBezTo>
                <a:lnTo>
                  <a:pt x="4957187" y="53591"/>
                </a:lnTo>
                <a:cubicBezTo>
                  <a:pt x="4957187" y="83189"/>
                  <a:pt x="4933193" y="107182"/>
                  <a:pt x="490359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51191" y="3594187"/>
            <a:ext cx="3572747" cy="107182"/>
          </a:xfrm>
          <a:custGeom>
            <a:avLst/>
            <a:gdLst/>
            <a:ahLst/>
            <a:cxnLst/>
            <a:rect l="l" t="t" r="r" b="b"/>
            <a:pathLst>
              <a:path w="3572747" h="107182">
                <a:moveTo>
                  <a:pt x="53591" y="0"/>
                </a:moveTo>
                <a:lnTo>
                  <a:pt x="3519156" y="0"/>
                </a:lnTo>
                <a:cubicBezTo>
                  <a:pt x="3548754" y="0"/>
                  <a:pt x="3572747" y="23994"/>
                  <a:pt x="3572747" y="53591"/>
                </a:cubicBezTo>
                <a:lnTo>
                  <a:pt x="3572747" y="53591"/>
                </a:lnTo>
                <a:cubicBezTo>
                  <a:pt x="3572747" y="83189"/>
                  <a:pt x="3548754" y="107182"/>
                  <a:pt x="351915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04708" y="3962178"/>
            <a:ext cx="5250152" cy="1078970"/>
          </a:xfrm>
          <a:custGeom>
            <a:avLst/>
            <a:gdLst/>
            <a:ahLst/>
            <a:cxnLst/>
            <a:rect l="l" t="t" r="r" b="b"/>
            <a:pathLst>
              <a:path w="5250152" h="1078970">
                <a:moveTo>
                  <a:pt x="71460" y="0"/>
                </a:moveTo>
                <a:lnTo>
                  <a:pt x="5178692" y="0"/>
                </a:lnTo>
                <a:cubicBezTo>
                  <a:pt x="5218158" y="0"/>
                  <a:pt x="5250152" y="31994"/>
                  <a:pt x="5250152" y="71460"/>
                </a:cubicBezTo>
                <a:lnTo>
                  <a:pt x="5250152" y="1007510"/>
                </a:lnTo>
                <a:cubicBezTo>
                  <a:pt x="5250152" y="1046976"/>
                  <a:pt x="5218158" y="1078970"/>
                  <a:pt x="5178692" y="1078970"/>
                </a:cubicBezTo>
                <a:lnTo>
                  <a:pt x="71460" y="1078970"/>
                </a:lnTo>
                <a:cubicBezTo>
                  <a:pt x="31994" y="1078970"/>
                  <a:pt x="0" y="1046976"/>
                  <a:pt x="0" y="1007510"/>
                </a:cubicBezTo>
                <a:lnTo>
                  <a:pt x="0" y="71460"/>
                </a:lnTo>
                <a:cubicBezTo>
                  <a:pt x="0" y="31994"/>
                  <a:pt x="31994" y="0"/>
                  <a:pt x="714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51191" y="4144387"/>
            <a:ext cx="207219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GPT-4 Classroom Questions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17164" y="4108659"/>
            <a:ext cx="1125415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64% Acc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51191" y="4501662"/>
            <a:ext cx="5028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Transcribed teacher questions, κ = 0.547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51191" y="4787481"/>
            <a:ext cx="4957187" cy="107182"/>
          </a:xfrm>
          <a:custGeom>
            <a:avLst/>
            <a:gdLst/>
            <a:ahLst/>
            <a:cxnLst/>
            <a:rect l="l" t="t" r="r" b="b"/>
            <a:pathLst>
              <a:path w="4957187" h="107182">
                <a:moveTo>
                  <a:pt x="53591" y="0"/>
                </a:moveTo>
                <a:lnTo>
                  <a:pt x="4903596" y="0"/>
                </a:lnTo>
                <a:cubicBezTo>
                  <a:pt x="4933193" y="0"/>
                  <a:pt x="4957187" y="23994"/>
                  <a:pt x="4957187" y="53591"/>
                </a:cubicBezTo>
                <a:lnTo>
                  <a:pt x="4957187" y="53591"/>
                </a:lnTo>
                <a:cubicBezTo>
                  <a:pt x="4957187" y="83189"/>
                  <a:pt x="4933193" y="107182"/>
                  <a:pt x="4903596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51191" y="4787481"/>
            <a:ext cx="3170813" cy="107182"/>
          </a:xfrm>
          <a:custGeom>
            <a:avLst/>
            <a:gdLst/>
            <a:ahLst/>
            <a:cxnLst/>
            <a:rect l="l" t="t" r="r" b="b"/>
            <a:pathLst>
              <a:path w="3170813" h="107182">
                <a:moveTo>
                  <a:pt x="53591" y="0"/>
                </a:moveTo>
                <a:lnTo>
                  <a:pt x="3117222" y="0"/>
                </a:lnTo>
                <a:cubicBezTo>
                  <a:pt x="3146820" y="0"/>
                  <a:pt x="3170813" y="23994"/>
                  <a:pt x="3170813" y="53591"/>
                </a:cubicBezTo>
                <a:lnTo>
                  <a:pt x="3170813" y="53591"/>
                </a:lnTo>
                <a:cubicBezTo>
                  <a:pt x="3170813" y="83189"/>
                  <a:pt x="3146820" y="107182"/>
                  <a:pt x="3117222" y="107182"/>
                </a:cubicBezTo>
                <a:lnTo>
                  <a:pt x="53591" y="107182"/>
                </a:lnTo>
                <a:cubicBezTo>
                  <a:pt x="24013" y="107182"/>
                  <a:pt x="0" y="83169"/>
                  <a:pt x="0" y="53591"/>
                </a:cubicBezTo>
                <a:lnTo>
                  <a:pt x="0" y="53591"/>
                </a:lnTo>
                <a:cubicBezTo>
                  <a:pt x="0" y="24013"/>
                  <a:pt x="24013" y="0"/>
                  <a:pt x="53591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64420" y="5373414"/>
            <a:ext cx="3721016" cy="1264753"/>
          </a:xfrm>
          <a:custGeom>
            <a:avLst/>
            <a:gdLst/>
            <a:ahLst/>
            <a:cxnLst/>
            <a:rect l="l" t="t" r="r" b="b"/>
            <a:pathLst>
              <a:path w="3721016" h="1264753">
                <a:moveTo>
                  <a:pt x="71459" y="0"/>
                </a:moveTo>
                <a:lnTo>
                  <a:pt x="3649558" y="0"/>
                </a:lnTo>
                <a:cubicBezTo>
                  <a:pt x="3689023" y="0"/>
                  <a:pt x="3721016" y="31993"/>
                  <a:pt x="3721016" y="71459"/>
                </a:cubicBezTo>
                <a:lnTo>
                  <a:pt x="3721016" y="1193294"/>
                </a:lnTo>
                <a:cubicBezTo>
                  <a:pt x="3721016" y="1232759"/>
                  <a:pt x="3689023" y="1264753"/>
                  <a:pt x="3649558" y="1264753"/>
                </a:cubicBezTo>
                <a:lnTo>
                  <a:pt x="71459" y="1264753"/>
                </a:lnTo>
                <a:cubicBezTo>
                  <a:pt x="31993" y="1264753"/>
                  <a:pt x="0" y="1232759"/>
                  <a:pt x="0" y="1193294"/>
                </a:cubicBezTo>
                <a:lnTo>
                  <a:pt x="0" y="71459"/>
                </a:lnTo>
                <a:cubicBezTo>
                  <a:pt x="0" y="32019"/>
                  <a:pt x="32019" y="0"/>
                  <a:pt x="7145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16709" y="5568130"/>
            <a:ext cx="200967" cy="160774"/>
          </a:xfrm>
          <a:custGeom>
            <a:avLst/>
            <a:gdLst/>
            <a:ahLst/>
            <a:cxnLst/>
            <a:rect l="l" t="t" r="r" b="b"/>
            <a:pathLst>
              <a:path w="200967" h="160774">
                <a:moveTo>
                  <a:pt x="120580" y="10048"/>
                </a:moveTo>
                <a:lnTo>
                  <a:pt x="160774" y="10048"/>
                </a:lnTo>
                <a:cubicBezTo>
                  <a:pt x="166332" y="10048"/>
                  <a:pt x="170822" y="14539"/>
                  <a:pt x="170822" y="20097"/>
                </a:cubicBezTo>
                <a:cubicBezTo>
                  <a:pt x="170822" y="25655"/>
                  <a:pt x="166332" y="30145"/>
                  <a:pt x="160774" y="30145"/>
                </a:cubicBezTo>
                <a:lnTo>
                  <a:pt x="125102" y="30145"/>
                </a:lnTo>
                <a:cubicBezTo>
                  <a:pt x="123469" y="38247"/>
                  <a:pt x="117911" y="44935"/>
                  <a:pt x="110532" y="48138"/>
                </a:cubicBezTo>
                <a:lnTo>
                  <a:pt x="110532" y="140677"/>
                </a:lnTo>
                <a:lnTo>
                  <a:pt x="160774" y="140677"/>
                </a:lnTo>
                <a:cubicBezTo>
                  <a:pt x="166332" y="140677"/>
                  <a:pt x="170822" y="145167"/>
                  <a:pt x="170822" y="150725"/>
                </a:cubicBezTo>
                <a:cubicBezTo>
                  <a:pt x="170822" y="156283"/>
                  <a:pt x="166332" y="160774"/>
                  <a:pt x="160774" y="160774"/>
                </a:cubicBezTo>
                <a:lnTo>
                  <a:pt x="40193" y="160774"/>
                </a:lnTo>
                <a:cubicBezTo>
                  <a:pt x="34635" y="160774"/>
                  <a:pt x="30145" y="156283"/>
                  <a:pt x="30145" y="150725"/>
                </a:cubicBezTo>
                <a:cubicBezTo>
                  <a:pt x="30145" y="145167"/>
                  <a:pt x="34635" y="140677"/>
                  <a:pt x="40193" y="140677"/>
                </a:cubicBezTo>
                <a:lnTo>
                  <a:pt x="90435" y="140677"/>
                </a:lnTo>
                <a:lnTo>
                  <a:pt x="90435" y="48138"/>
                </a:lnTo>
                <a:cubicBezTo>
                  <a:pt x="83056" y="44904"/>
                  <a:pt x="77498" y="38215"/>
                  <a:pt x="75865" y="30145"/>
                </a:cubicBezTo>
                <a:lnTo>
                  <a:pt x="40193" y="30145"/>
                </a:lnTo>
                <a:cubicBezTo>
                  <a:pt x="34635" y="30145"/>
                  <a:pt x="30145" y="25655"/>
                  <a:pt x="30145" y="20097"/>
                </a:cubicBezTo>
                <a:cubicBezTo>
                  <a:pt x="30145" y="14539"/>
                  <a:pt x="34635" y="10048"/>
                  <a:pt x="40193" y="10048"/>
                </a:cubicBezTo>
                <a:lnTo>
                  <a:pt x="80387" y="10048"/>
                </a:lnTo>
                <a:cubicBezTo>
                  <a:pt x="84971" y="3957"/>
                  <a:pt x="92256" y="0"/>
                  <a:pt x="100484" y="0"/>
                </a:cubicBezTo>
                <a:cubicBezTo>
                  <a:pt x="108711" y="0"/>
                  <a:pt x="115996" y="3957"/>
                  <a:pt x="120580" y="10048"/>
                </a:cubicBezTo>
                <a:close/>
                <a:moveTo>
                  <a:pt x="138039" y="100484"/>
                </a:moveTo>
                <a:lnTo>
                  <a:pt x="183508" y="100484"/>
                </a:lnTo>
                <a:lnTo>
                  <a:pt x="160774" y="61483"/>
                </a:lnTo>
                <a:lnTo>
                  <a:pt x="138039" y="100484"/>
                </a:lnTo>
                <a:close/>
                <a:moveTo>
                  <a:pt x="160774" y="130629"/>
                </a:moveTo>
                <a:cubicBezTo>
                  <a:pt x="141022" y="130629"/>
                  <a:pt x="124600" y="119952"/>
                  <a:pt x="121208" y="105853"/>
                </a:cubicBezTo>
                <a:cubicBezTo>
                  <a:pt x="120392" y="102399"/>
                  <a:pt x="121522" y="98851"/>
                  <a:pt x="123312" y="95773"/>
                </a:cubicBezTo>
                <a:lnTo>
                  <a:pt x="153206" y="44527"/>
                </a:lnTo>
                <a:cubicBezTo>
                  <a:pt x="154776" y="41826"/>
                  <a:pt x="157665" y="40193"/>
                  <a:pt x="160774" y="40193"/>
                </a:cubicBezTo>
                <a:cubicBezTo>
                  <a:pt x="163882" y="40193"/>
                  <a:pt x="166771" y="41858"/>
                  <a:pt x="168341" y="44527"/>
                </a:cubicBezTo>
                <a:lnTo>
                  <a:pt x="198235" y="95773"/>
                </a:lnTo>
                <a:cubicBezTo>
                  <a:pt x="200025" y="98851"/>
                  <a:pt x="201155" y="102399"/>
                  <a:pt x="200339" y="105853"/>
                </a:cubicBezTo>
                <a:cubicBezTo>
                  <a:pt x="196948" y="119921"/>
                  <a:pt x="180525" y="130629"/>
                  <a:pt x="160774" y="130629"/>
                </a:cubicBezTo>
                <a:close/>
                <a:moveTo>
                  <a:pt x="39817" y="61483"/>
                </a:moveTo>
                <a:lnTo>
                  <a:pt x="17082" y="100484"/>
                </a:lnTo>
                <a:lnTo>
                  <a:pt x="62582" y="100484"/>
                </a:lnTo>
                <a:lnTo>
                  <a:pt x="39817" y="61483"/>
                </a:lnTo>
                <a:close/>
                <a:moveTo>
                  <a:pt x="283" y="105853"/>
                </a:moveTo>
                <a:cubicBezTo>
                  <a:pt x="-534" y="102399"/>
                  <a:pt x="597" y="98851"/>
                  <a:pt x="2386" y="95773"/>
                </a:cubicBezTo>
                <a:lnTo>
                  <a:pt x="32280" y="44527"/>
                </a:lnTo>
                <a:cubicBezTo>
                  <a:pt x="33850" y="41826"/>
                  <a:pt x="36739" y="40193"/>
                  <a:pt x="39848" y="40193"/>
                </a:cubicBezTo>
                <a:cubicBezTo>
                  <a:pt x="42957" y="40193"/>
                  <a:pt x="45846" y="41858"/>
                  <a:pt x="47416" y="44527"/>
                </a:cubicBezTo>
                <a:lnTo>
                  <a:pt x="77310" y="95773"/>
                </a:lnTo>
                <a:cubicBezTo>
                  <a:pt x="79099" y="98851"/>
                  <a:pt x="80230" y="102399"/>
                  <a:pt x="79413" y="105853"/>
                </a:cubicBezTo>
                <a:cubicBezTo>
                  <a:pt x="76022" y="119921"/>
                  <a:pt x="59599" y="130629"/>
                  <a:pt x="39848" y="130629"/>
                </a:cubicBezTo>
                <a:cubicBezTo>
                  <a:pt x="20097" y="130629"/>
                  <a:pt x="3674" y="119952"/>
                  <a:pt x="283" y="10585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9909" y="5523471"/>
            <a:ext cx="32958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Trade-off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4476" y="5845018"/>
            <a:ext cx="3492360" cy="64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data vs. flexibility:</a:t>
            </a: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Fine-tuned models achieve 90-95% accuracy but require extensive labeled data. LLMs offer 70-87% accuracy with zero training.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38841" y="5373414"/>
            <a:ext cx="3721016" cy="1264753"/>
          </a:xfrm>
          <a:custGeom>
            <a:avLst/>
            <a:gdLst/>
            <a:ahLst/>
            <a:cxnLst/>
            <a:rect l="l" t="t" r="r" b="b"/>
            <a:pathLst>
              <a:path w="3721016" h="1264753">
                <a:moveTo>
                  <a:pt x="71459" y="0"/>
                </a:moveTo>
                <a:lnTo>
                  <a:pt x="3649558" y="0"/>
                </a:lnTo>
                <a:cubicBezTo>
                  <a:pt x="3689023" y="0"/>
                  <a:pt x="3721016" y="31993"/>
                  <a:pt x="3721016" y="71459"/>
                </a:cubicBezTo>
                <a:lnTo>
                  <a:pt x="3721016" y="1193294"/>
                </a:lnTo>
                <a:cubicBezTo>
                  <a:pt x="3721016" y="1232759"/>
                  <a:pt x="3689023" y="1264753"/>
                  <a:pt x="3649558" y="1264753"/>
                </a:cubicBezTo>
                <a:lnTo>
                  <a:pt x="71459" y="1264753"/>
                </a:lnTo>
                <a:cubicBezTo>
                  <a:pt x="31993" y="1264753"/>
                  <a:pt x="0" y="1232759"/>
                  <a:pt x="0" y="1193294"/>
                </a:cubicBezTo>
                <a:lnTo>
                  <a:pt x="0" y="71459"/>
                </a:lnTo>
                <a:cubicBezTo>
                  <a:pt x="0" y="32019"/>
                  <a:pt x="32019" y="0"/>
                  <a:pt x="7145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431323" y="5568130"/>
            <a:ext cx="120580" cy="160774"/>
          </a:xfrm>
          <a:custGeom>
            <a:avLst/>
            <a:gdLst/>
            <a:ahLst/>
            <a:cxnLst/>
            <a:rect l="l" t="t" r="r" b="b"/>
            <a:pathLst>
              <a:path w="120580" h="160774">
                <a:moveTo>
                  <a:pt x="91974" y="120580"/>
                </a:moveTo>
                <a:cubicBezTo>
                  <a:pt x="94266" y="113578"/>
                  <a:pt x="98851" y="107235"/>
                  <a:pt x="104032" y="101771"/>
                </a:cubicBezTo>
                <a:cubicBezTo>
                  <a:pt x="114300" y="90969"/>
                  <a:pt x="120580" y="76367"/>
                  <a:pt x="120580" y="60290"/>
                </a:cubicBezTo>
                <a:cubicBezTo>
                  <a:pt x="120580" y="27005"/>
                  <a:pt x="93575" y="0"/>
                  <a:pt x="60290" y="0"/>
                </a:cubicBezTo>
                <a:cubicBezTo>
                  <a:pt x="27005" y="0"/>
                  <a:pt x="0" y="27005"/>
                  <a:pt x="0" y="60290"/>
                </a:cubicBezTo>
                <a:cubicBezTo>
                  <a:pt x="0" y="76367"/>
                  <a:pt x="6280" y="90969"/>
                  <a:pt x="16548" y="101771"/>
                </a:cubicBezTo>
                <a:cubicBezTo>
                  <a:pt x="21730" y="107235"/>
                  <a:pt x="26346" y="113578"/>
                  <a:pt x="28606" y="120580"/>
                </a:cubicBezTo>
                <a:lnTo>
                  <a:pt x="91942" y="120580"/>
                </a:lnTo>
                <a:close/>
                <a:moveTo>
                  <a:pt x="90435" y="135653"/>
                </a:moveTo>
                <a:lnTo>
                  <a:pt x="30145" y="135653"/>
                </a:lnTo>
                <a:lnTo>
                  <a:pt x="30145" y="140677"/>
                </a:lnTo>
                <a:cubicBezTo>
                  <a:pt x="30145" y="154556"/>
                  <a:pt x="41387" y="165798"/>
                  <a:pt x="55266" y="165798"/>
                </a:cubicBezTo>
                <a:lnTo>
                  <a:pt x="65314" y="165798"/>
                </a:lnTo>
                <a:cubicBezTo>
                  <a:pt x="79194" y="165798"/>
                  <a:pt x="90435" y="154556"/>
                  <a:pt x="90435" y="140677"/>
                </a:cubicBezTo>
                <a:lnTo>
                  <a:pt x="90435" y="135653"/>
                </a:lnTo>
                <a:close/>
                <a:moveTo>
                  <a:pt x="57778" y="35169"/>
                </a:moveTo>
                <a:cubicBezTo>
                  <a:pt x="45280" y="35169"/>
                  <a:pt x="35169" y="45280"/>
                  <a:pt x="35169" y="57778"/>
                </a:cubicBezTo>
                <a:cubicBezTo>
                  <a:pt x="35169" y="61954"/>
                  <a:pt x="31809" y="65314"/>
                  <a:pt x="27633" y="65314"/>
                </a:cubicBezTo>
                <a:cubicBezTo>
                  <a:pt x="23457" y="65314"/>
                  <a:pt x="20097" y="61954"/>
                  <a:pt x="20097" y="57778"/>
                </a:cubicBezTo>
                <a:cubicBezTo>
                  <a:pt x="20097" y="36959"/>
                  <a:pt x="36959" y="20097"/>
                  <a:pt x="57778" y="20097"/>
                </a:cubicBezTo>
                <a:cubicBezTo>
                  <a:pt x="61954" y="20097"/>
                  <a:pt x="65314" y="23457"/>
                  <a:pt x="65314" y="27633"/>
                </a:cubicBezTo>
                <a:cubicBezTo>
                  <a:pt x="65314" y="31809"/>
                  <a:pt x="61954" y="35169"/>
                  <a:pt x="57778" y="3516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94330" y="5523471"/>
            <a:ext cx="32958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 Engineering Impact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388897" y="5845018"/>
            <a:ext cx="3492360" cy="64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Rhetorical context prompt improved GPT-4 from baseline to </a:t>
            </a: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 accuracy</a:t>
            </a: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—demonstrating significant impact of prompt design.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13262" y="5373414"/>
            <a:ext cx="3721016" cy="1264753"/>
          </a:xfrm>
          <a:custGeom>
            <a:avLst/>
            <a:gdLst/>
            <a:ahLst/>
            <a:cxnLst/>
            <a:rect l="l" t="t" r="r" b="b"/>
            <a:pathLst>
              <a:path w="3721016" h="1264753">
                <a:moveTo>
                  <a:pt x="71459" y="0"/>
                </a:moveTo>
                <a:lnTo>
                  <a:pt x="3649558" y="0"/>
                </a:lnTo>
                <a:cubicBezTo>
                  <a:pt x="3689023" y="0"/>
                  <a:pt x="3721016" y="31993"/>
                  <a:pt x="3721016" y="71459"/>
                </a:cubicBezTo>
                <a:lnTo>
                  <a:pt x="3721016" y="1193294"/>
                </a:lnTo>
                <a:cubicBezTo>
                  <a:pt x="3721016" y="1232759"/>
                  <a:pt x="3689023" y="1264753"/>
                  <a:pt x="3649558" y="1264753"/>
                </a:cubicBezTo>
                <a:lnTo>
                  <a:pt x="71459" y="1264753"/>
                </a:lnTo>
                <a:cubicBezTo>
                  <a:pt x="31993" y="1264753"/>
                  <a:pt x="0" y="1232759"/>
                  <a:pt x="0" y="1193294"/>
                </a:cubicBezTo>
                <a:lnTo>
                  <a:pt x="0" y="71459"/>
                </a:lnTo>
                <a:cubicBezTo>
                  <a:pt x="0" y="32019"/>
                  <a:pt x="32019" y="0"/>
                  <a:pt x="7145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285648" y="5568130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20097" y="20097"/>
                </a:moveTo>
                <a:cubicBezTo>
                  <a:pt x="20097" y="14539"/>
                  <a:pt x="15606" y="10048"/>
                  <a:pt x="10048" y="10048"/>
                </a:cubicBezTo>
                <a:cubicBezTo>
                  <a:pt x="4490" y="10048"/>
                  <a:pt x="0" y="14539"/>
                  <a:pt x="0" y="20097"/>
                </a:cubicBezTo>
                <a:lnTo>
                  <a:pt x="0" y="125604"/>
                </a:lnTo>
                <a:cubicBezTo>
                  <a:pt x="0" y="139484"/>
                  <a:pt x="11242" y="150725"/>
                  <a:pt x="25121" y="150725"/>
                </a:cubicBezTo>
                <a:lnTo>
                  <a:pt x="150725" y="150725"/>
                </a:lnTo>
                <a:cubicBezTo>
                  <a:pt x="156283" y="150725"/>
                  <a:pt x="160774" y="146235"/>
                  <a:pt x="160774" y="140677"/>
                </a:cubicBezTo>
                <a:cubicBezTo>
                  <a:pt x="160774" y="135119"/>
                  <a:pt x="156283" y="130629"/>
                  <a:pt x="150725" y="130629"/>
                </a:cubicBezTo>
                <a:lnTo>
                  <a:pt x="25121" y="130629"/>
                </a:lnTo>
                <a:cubicBezTo>
                  <a:pt x="22358" y="130629"/>
                  <a:pt x="20097" y="128368"/>
                  <a:pt x="20097" y="125604"/>
                </a:cubicBezTo>
                <a:lnTo>
                  <a:pt x="20097" y="20097"/>
                </a:lnTo>
                <a:close/>
                <a:moveTo>
                  <a:pt x="147774" y="47290"/>
                </a:moveTo>
                <a:cubicBezTo>
                  <a:pt x="151699" y="43365"/>
                  <a:pt x="151699" y="36990"/>
                  <a:pt x="147774" y="33065"/>
                </a:cubicBezTo>
                <a:cubicBezTo>
                  <a:pt x="143848" y="29140"/>
                  <a:pt x="137474" y="29140"/>
                  <a:pt x="133549" y="33065"/>
                </a:cubicBezTo>
                <a:lnTo>
                  <a:pt x="100484" y="66162"/>
                </a:lnTo>
                <a:lnTo>
                  <a:pt x="82459" y="48169"/>
                </a:lnTo>
                <a:cubicBezTo>
                  <a:pt x="78534" y="44244"/>
                  <a:pt x="72160" y="44244"/>
                  <a:pt x="68235" y="48169"/>
                </a:cubicBezTo>
                <a:lnTo>
                  <a:pt x="38090" y="78314"/>
                </a:lnTo>
                <a:cubicBezTo>
                  <a:pt x="34164" y="82239"/>
                  <a:pt x="34164" y="88614"/>
                  <a:pt x="38090" y="92539"/>
                </a:cubicBezTo>
                <a:cubicBezTo>
                  <a:pt x="42015" y="96464"/>
                  <a:pt x="48389" y="96464"/>
                  <a:pt x="52314" y="92539"/>
                </a:cubicBezTo>
                <a:lnTo>
                  <a:pt x="75363" y="69491"/>
                </a:lnTo>
                <a:lnTo>
                  <a:pt x="93387" y="87515"/>
                </a:lnTo>
                <a:cubicBezTo>
                  <a:pt x="97312" y="91440"/>
                  <a:pt x="103686" y="91440"/>
                  <a:pt x="107612" y="87515"/>
                </a:cubicBezTo>
                <a:lnTo>
                  <a:pt x="147805" y="47321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468751" y="5523471"/>
            <a:ext cx="32958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Context Matters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63318" y="5845018"/>
            <a:ext cx="3492360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varies by domain: </a:t>
            </a: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structured exam items</a:t>
            </a: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(87-94%) vs. </a:t>
            </a: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content</a:t>
            </a: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(54-64%).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64" y="378580"/>
            <a:ext cx="335560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9616" y="344164"/>
            <a:ext cx="5635681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Meta-Analysis of Classification Accuracy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164" y="757160"/>
            <a:ext cx="825993" cy="34416"/>
          </a:xfrm>
          <a:custGeom>
            <a:avLst/>
            <a:gdLst/>
            <a:ahLst/>
            <a:cxnLst/>
            <a:rect l="l" t="t" r="r" b="b"/>
            <a:pathLst>
              <a:path w="825993" h="34416">
                <a:moveTo>
                  <a:pt x="0" y="0"/>
                </a:moveTo>
                <a:lnTo>
                  <a:pt x="825993" y="0"/>
                </a:lnTo>
                <a:lnTo>
                  <a:pt x="825993" y="34416"/>
                </a:lnTo>
                <a:lnTo>
                  <a:pt x="0" y="3441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1372" y="963658"/>
            <a:ext cx="4112757" cy="4938749"/>
          </a:xfrm>
          <a:custGeom>
            <a:avLst/>
            <a:gdLst/>
            <a:ahLst/>
            <a:cxnLst/>
            <a:rect l="l" t="t" r="r" b="b"/>
            <a:pathLst>
              <a:path w="4112757" h="4938749">
                <a:moveTo>
                  <a:pt x="34416" y="0"/>
                </a:moveTo>
                <a:lnTo>
                  <a:pt x="4043909" y="0"/>
                </a:lnTo>
                <a:cubicBezTo>
                  <a:pt x="4081932" y="0"/>
                  <a:pt x="4112757" y="30824"/>
                  <a:pt x="4112757" y="68848"/>
                </a:cubicBezTo>
                <a:lnTo>
                  <a:pt x="4112757" y="4869902"/>
                </a:lnTo>
                <a:cubicBezTo>
                  <a:pt x="4112757" y="4907925"/>
                  <a:pt x="4081932" y="4938749"/>
                  <a:pt x="4043909" y="4938749"/>
                </a:cubicBezTo>
                <a:lnTo>
                  <a:pt x="34416" y="4938749"/>
                </a:lnTo>
                <a:cubicBezTo>
                  <a:pt x="15409" y="4938749"/>
                  <a:pt x="0" y="4923341"/>
                  <a:pt x="0" y="4904333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1372" y="963658"/>
            <a:ext cx="34416" cy="4938749"/>
          </a:xfrm>
          <a:custGeom>
            <a:avLst/>
            <a:gdLst/>
            <a:ahLst/>
            <a:cxnLst/>
            <a:rect l="l" t="t" r="r" b="b"/>
            <a:pathLst>
              <a:path w="34416" h="4938749">
                <a:moveTo>
                  <a:pt x="34416" y="0"/>
                </a:moveTo>
                <a:lnTo>
                  <a:pt x="34416" y="0"/>
                </a:lnTo>
                <a:lnTo>
                  <a:pt x="34416" y="4938749"/>
                </a:lnTo>
                <a:lnTo>
                  <a:pt x="34416" y="4938749"/>
                </a:lnTo>
                <a:cubicBezTo>
                  <a:pt x="15409" y="4938749"/>
                  <a:pt x="0" y="4923341"/>
                  <a:pt x="0" y="4904333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3682" y="1170157"/>
            <a:ext cx="129061" cy="172082"/>
          </a:xfrm>
          <a:custGeom>
            <a:avLst/>
            <a:gdLst/>
            <a:ahLst/>
            <a:cxnLst/>
            <a:rect l="l" t="t" r="r" b="b"/>
            <a:pathLst>
              <a:path w="129061" h="172082">
                <a:moveTo>
                  <a:pt x="21510" y="0"/>
                </a:moveTo>
                <a:cubicBezTo>
                  <a:pt x="9646" y="0"/>
                  <a:pt x="0" y="9646"/>
                  <a:pt x="0" y="21510"/>
                </a:cubicBezTo>
                <a:lnTo>
                  <a:pt x="0" y="150572"/>
                </a:lnTo>
                <a:cubicBezTo>
                  <a:pt x="0" y="162436"/>
                  <a:pt x="9646" y="172082"/>
                  <a:pt x="21510" y="172082"/>
                </a:cubicBezTo>
                <a:lnTo>
                  <a:pt x="107551" y="172082"/>
                </a:lnTo>
                <a:cubicBezTo>
                  <a:pt x="119415" y="172082"/>
                  <a:pt x="129061" y="162436"/>
                  <a:pt x="129061" y="150572"/>
                </a:cubicBezTo>
                <a:lnTo>
                  <a:pt x="129061" y="21510"/>
                </a:lnTo>
                <a:cubicBezTo>
                  <a:pt x="129061" y="9646"/>
                  <a:pt x="119415" y="0"/>
                  <a:pt x="107551" y="0"/>
                </a:cubicBezTo>
                <a:lnTo>
                  <a:pt x="21510" y="0"/>
                </a:lnTo>
                <a:close/>
                <a:moveTo>
                  <a:pt x="32265" y="21510"/>
                </a:moveTo>
                <a:lnTo>
                  <a:pt x="96796" y="21510"/>
                </a:lnTo>
                <a:cubicBezTo>
                  <a:pt x="102745" y="21510"/>
                  <a:pt x="107551" y="26316"/>
                  <a:pt x="107551" y="32265"/>
                </a:cubicBezTo>
                <a:lnTo>
                  <a:pt x="107551" y="43020"/>
                </a:lnTo>
                <a:cubicBezTo>
                  <a:pt x="107551" y="48969"/>
                  <a:pt x="102745" y="53776"/>
                  <a:pt x="96796" y="53776"/>
                </a:cubicBezTo>
                <a:lnTo>
                  <a:pt x="32265" y="53776"/>
                </a:lnTo>
                <a:cubicBezTo>
                  <a:pt x="26316" y="53776"/>
                  <a:pt x="21510" y="48969"/>
                  <a:pt x="21510" y="43020"/>
                </a:cubicBezTo>
                <a:lnTo>
                  <a:pt x="21510" y="32265"/>
                </a:lnTo>
                <a:cubicBezTo>
                  <a:pt x="21510" y="26316"/>
                  <a:pt x="26316" y="21510"/>
                  <a:pt x="32265" y="21510"/>
                </a:cubicBezTo>
                <a:close/>
                <a:moveTo>
                  <a:pt x="37643" y="77975"/>
                </a:moveTo>
                <a:cubicBezTo>
                  <a:pt x="37643" y="82427"/>
                  <a:pt x="34029" y="86041"/>
                  <a:pt x="29577" y="86041"/>
                </a:cubicBezTo>
                <a:cubicBezTo>
                  <a:pt x="25125" y="86041"/>
                  <a:pt x="21510" y="82427"/>
                  <a:pt x="21510" y="77975"/>
                </a:cubicBezTo>
                <a:cubicBezTo>
                  <a:pt x="21510" y="73523"/>
                  <a:pt x="25125" y="69908"/>
                  <a:pt x="29577" y="69908"/>
                </a:cubicBezTo>
                <a:cubicBezTo>
                  <a:pt x="34029" y="69908"/>
                  <a:pt x="37643" y="73523"/>
                  <a:pt x="37643" y="77975"/>
                </a:cubicBezTo>
                <a:close/>
                <a:moveTo>
                  <a:pt x="64531" y="86041"/>
                </a:moveTo>
                <a:cubicBezTo>
                  <a:pt x="60079" y="86041"/>
                  <a:pt x="56464" y="82427"/>
                  <a:pt x="56464" y="77975"/>
                </a:cubicBezTo>
                <a:cubicBezTo>
                  <a:pt x="56464" y="73523"/>
                  <a:pt x="60079" y="69908"/>
                  <a:pt x="64531" y="69908"/>
                </a:cubicBezTo>
                <a:cubicBezTo>
                  <a:pt x="68983" y="69908"/>
                  <a:pt x="72597" y="73523"/>
                  <a:pt x="72597" y="77975"/>
                </a:cubicBezTo>
                <a:cubicBezTo>
                  <a:pt x="72597" y="82427"/>
                  <a:pt x="68983" y="86041"/>
                  <a:pt x="64531" y="86041"/>
                </a:cubicBezTo>
                <a:close/>
                <a:moveTo>
                  <a:pt x="107551" y="77975"/>
                </a:moveTo>
                <a:cubicBezTo>
                  <a:pt x="107551" y="82427"/>
                  <a:pt x="103937" y="86041"/>
                  <a:pt x="99485" y="86041"/>
                </a:cubicBezTo>
                <a:cubicBezTo>
                  <a:pt x="95033" y="86041"/>
                  <a:pt x="91418" y="82427"/>
                  <a:pt x="91418" y="77975"/>
                </a:cubicBezTo>
                <a:cubicBezTo>
                  <a:pt x="91418" y="73523"/>
                  <a:pt x="95033" y="69908"/>
                  <a:pt x="99485" y="69908"/>
                </a:cubicBezTo>
                <a:cubicBezTo>
                  <a:pt x="103937" y="69908"/>
                  <a:pt x="107551" y="73523"/>
                  <a:pt x="107551" y="77975"/>
                </a:cubicBezTo>
                <a:close/>
                <a:moveTo>
                  <a:pt x="29577" y="118306"/>
                </a:moveTo>
                <a:cubicBezTo>
                  <a:pt x="25125" y="118306"/>
                  <a:pt x="21510" y="114692"/>
                  <a:pt x="21510" y="110240"/>
                </a:cubicBezTo>
                <a:cubicBezTo>
                  <a:pt x="21510" y="105788"/>
                  <a:pt x="25125" y="102174"/>
                  <a:pt x="29577" y="102174"/>
                </a:cubicBezTo>
                <a:cubicBezTo>
                  <a:pt x="34029" y="102174"/>
                  <a:pt x="37643" y="105788"/>
                  <a:pt x="37643" y="110240"/>
                </a:cubicBezTo>
                <a:cubicBezTo>
                  <a:pt x="37643" y="114692"/>
                  <a:pt x="34029" y="118306"/>
                  <a:pt x="29577" y="118306"/>
                </a:cubicBezTo>
                <a:close/>
                <a:moveTo>
                  <a:pt x="72597" y="110240"/>
                </a:moveTo>
                <a:cubicBezTo>
                  <a:pt x="72597" y="114692"/>
                  <a:pt x="68983" y="118306"/>
                  <a:pt x="64531" y="118306"/>
                </a:cubicBezTo>
                <a:cubicBezTo>
                  <a:pt x="60079" y="118306"/>
                  <a:pt x="56464" y="114692"/>
                  <a:pt x="56464" y="110240"/>
                </a:cubicBezTo>
                <a:cubicBezTo>
                  <a:pt x="56464" y="105788"/>
                  <a:pt x="60079" y="102174"/>
                  <a:pt x="64531" y="102174"/>
                </a:cubicBezTo>
                <a:cubicBezTo>
                  <a:pt x="68983" y="102174"/>
                  <a:pt x="72597" y="105788"/>
                  <a:pt x="72597" y="110240"/>
                </a:cubicBezTo>
                <a:close/>
                <a:moveTo>
                  <a:pt x="99485" y="118306"/>
                </a:moveTo>
                <a:cubicBezTo>
                  <a:pt x="95033" y="118306"/>
                  <a:pt x="91418" y="114692"/>
                  <a:pt x="91418" y="110240"/>
                </a:cubicBezTo>
                <a:cubicBezTo>
                  <a:pt x="91418" y="105788"/>
                  <a:pt x="95033" y="102174"/>
                  <a:pt x="99485" y="102174"/>
                </a:cubicBezTo>
                <a:cubicBezTo>
                  <a:pt x="103937" y="102174"/>
                  <a:pt x="107551" y="105788"/>
                  <a:pt x="107551" y="110240"/>
                </a:cubicBezTo>
                <a:cubicBezTo>
                  <a:pt x="107551" y="114692"/>
                  <a:pt x="103937" y="118306"/>
                  <a:pt x="99485" y="118306"/>
                </a:cubicBezTo>
                <a:close/>
                <a:moveTo>
                  <a:pt x="21510" y="142505"/>
                </a:moveTo>
                <a:cubicBezTo>
                  <a:pt x="21510" y="138035"/>
                  <a:pt x="25106" y="134439"/>
                  <a:pt x="29577" y="134439"/>
                </a:cubicBezTo>
                <a:lnTo>
                  <a:pt x="67219" y="134439"/>
                </a:lnTo>
                <a:cubicBezTo>
                  <a:pt x="71690" y="134439"/>
                  <a:pt x="75286" y="138035"/>
                  <a:pt x="75286" y="142505"/>
                </a:cubicBezTo>
                <a:cubicBezTo>
                  <a:pt x="75286" y="146975"/>
                  <a:pt x="71690" y="150572"/>
                  <a:pt x="67219" y="150572"/>
                </a:cubicBezTo>
                <a:lnTo>
                  <a:pt x="29577" y="150572"/>
                </a:lnTo>
                <a:cubicBezTo>
                  <a:pt x="25106" y="150572"/>
                  <a:pt x="21510" y="146975"/>
                  <a:pt x="21510" y="142505"/>
                </a:cubicBezTo>
                <a:close/>
                <a:moveTo>
                  <a:pt x="99485" y="134439"/>
                </a:moveTo>
                <a:cubicBezTo>
                  <a:pt x="103955" y="134439"/>
                  <a:pt x="107551" y="138035"/>
                  <a:pt x="107551" y="142505"/>
                </a:cubicBezTo>
                <a:cubicBezTo>
                  <a:pt x="107551" y="146975"/>
                  <a:pt x="103955" y="150572"/>
                  <a:pt x="99485" y="150572"/>
                </a:cubicBezTo>
                <a:cubicBezTo>
                  <a:pt x="95015" y="150572"/>
                  <a:pt x="91418" y="146975"/>
                  <a:pt x="91418" y="142505"/>
                </a:cubicBezTo>
                <a:cubicBezTo>
                  <a:pt x="91418" y="138035"/>
                  <a:pt x="95015" y="134439"/>
                  <a:pt x="99485" y="13443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5764" y="1135740"/>
            <a:ext cx="3622323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Meta-Analysis 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4104" y="1517762"/>
            <a:ext cx="3741060" cy="1211456"/>
          </a:xfrm>
          <a:custGeom>
            <a:avLst/>
            <a:gdLst/>
            <a:ahLst/>
            <a:cxnLst/>
            <a:rect l="l" t="t" r="r" b="b"/>
            <a:pathLst>
              <a:path w="3741060" h="1211456">
                <a:moveTo>
                  <a:pt x="68835" y="0"/>
                </a:moveTo>
                <a:lnTo>
                  <a:pt x="3672225" y="0"/>
                </a:lnTo>
                <a:cubicBezTo>
                  <a:pt x="3710241" y="0"/>
                  <a:pt x="3741060" y="30818"/>
                  <a:pt x="3741060" y="68835"/>
                </a:cubicBezTo>
                <a:lnTo>
                  <a:pt x="3741060" y="1142621"/>
                </a:lnTo>
                <a:cubicBezTo>
                  <a:pt x="3741060" y="1180638"/>
                  <a:pt x="3710241" y="1211456"/>
                  <a:pt x="3672225" y="1211456"/>
                </a:cubicBezTo>
                <a:lnTo>
                  <a:pt x="68835" y="1211456"/>
                </a:lnTo>
                <a:cubicBezTo>
                  <a:pt x="30818" y="1211456"/>
                  <a:pt x="0" y="1180638"/>
                  <a:pt x="0" y="1142621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5211" y="1658872"/>
            <a:ext cx="352767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Random-Effects Pooled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5211" y="1899786"/>
            <a:ext cx="3665344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2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211" y="2381616"/>
            <a:ext cx="352767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95% CI: 56%–83%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4104" y="2873768"/>
            <a:ext cx="3741060" cy="1211456"/>
          </a:xfrm>
          <a:custGeom>
            <a:avLst/>
            <a:gdLst/>
            <a:ahLst/>
            <a:cxnLst/>
            <a:rect l="l" t="t" r="r" b="b"/>
            <a:pathLst>
              <a:path w="3741060" h="1211456">
                <a:moveTo>
                  <a:pt x="68835" y="0"/>
                </a:moveTo>
                <a:lnTo>
                  <a:pt x="3672225" y="0"/>
                </a:lnTo>
                <a:cubicBezTo>
                  <a:pt x="3710241" y="0"/>
                  <a:pt x="3741060" y="30818"/>
                  <a:pt x="3741060" y="68835"/>
                </a:cubicBezTo>
                <a:lnTo>
                  <a:pt x="3741060" y="1142621"/>
                </a:lnTo>
                <a:cubicBezTo>
                  <a:pt x="3741060" y="1180638"/>
                  <a:pt x="3710241" y="1211456"/>
                  <a:pt x="3672225" y="1211456"/>
                </a:cubicBezTo>
                <a:lnTo>
                  <a:pt x="68835" y="1211456"/>
                </a:lnTo>
                <a:cubicBezTo>
                  <a:pt x="30818" y="1211456"/>
                  <a:pt x="0" y="1180638"/>
                  <a:pt x="0" y="1142621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5211" y="3014873"/>
            <a:ext cx="352767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Heterogeneity (I²)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211" y="3255788"/>
            <a:ext cx="3665344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2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~98%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211" y="3737617"/>
            <a:ext cx="352767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Very high heterogeneity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4104" y="4229774"/>
            <a:ext cx="3741060" cy="1108207"/>
          </a:xfrm>
          <a:custGeom>
            <a:avLst/>
            <a:gdLst/>
            <a:ahLst/>
            <a:cxnLst/>
            <a:rect l="l" t="t" r="r" b="b"/>
            <a:pathLst>
              <a:path w="3741060" h="1108207">
                <a:moveTo>
                  <a:pt x="68831" y="0"/>
                </a:moveTo>
                <a:lnTo>
                  <a:pt x="3672229" y="0"/>
                </a:lnTo>
                <a:cubicBezTo>
                  <a:pt x="3710243" y="0"/>
                  <a:pt x="3741060" y="30817"/>
                  <a:pt x="3741060" y="68831"/>
                </a:cubicBezTo>
                <a:lnTo>
                  <a:pt x="3741060" y="1039376"/>
                </a:lnTo>
                <a:cubicBezTo>
                  <a:pt x="3741060" y="1077391"/>
                  <a:pt x="3710243" y="1108207"/>
                  <a:pt x="3672229" y="1108207"/>
                </a:cubicBezTo>
                <a:lnTo>
                  <a:pt x="68831" y="1108207"/>
                </a:lnTo>
                <a:cubicBezTo>
                  <a:pt x="30817" y="1108207"/>
                  <a:pt x="0" y="1077391"/>
                  <a:pt x="0" y="1039376"/>
                </a:cubicBezTo>
                <a:lnTo>
                  <a:pt x="0" y="68831"/>
                </a:lnTo>
                <a:cubicBezTo>
                  <a:pt x="0" y="30842"/>
                  <a:pt x="30842" y="0"/>
                  <a:pt x="6883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5211" y="4370879"/>
            <a:ext cx="352767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Q-Test for Heterogeneity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211" y="4611794"/>
            <a:ext cx="3587907" cy="30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2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 = 142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211" y="4990374"/>
            <a:ext cx="352767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 &lt; 0.001 (significant)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4164" y="6042010"/>
            <a:ext cx="4129965" cy="1204573"/>
          </a:xfrm>
          <a:custGeom>
            <a:avLst/>
            <a:gdLst/>
            <a:ahLst/>
            <a:cxnLst/>
            <a:rect l="l" t="t" r="r" b="b"/>
            <a:pathLst>
              <a:path w="4129965" h="1204573">
                <a:moveTo>
                  <a:pt x="68829" y="0"/>
                </a:moveTo>
                <a:lnTo>
                  <a:pt x="4061135" y="0"/>
                </a:lnTo>
                <a:cubicBezTo>
                  <a:pt x="4099149" y="0"/>
                  <a:pt x="4129965" y="30816"/>
                  <a:pt x="4129965" y="68829"/>
                </a:cubicBezTo>
                <a:lnTo>
                  <a:pt x="4129965" y="1135744"/>
                </a:lnTo>
                <a:cubicBezTo>
                  <a:pt x="4129965" y="1173757"/>
                  <a:pt x="4099149" y="1204573"/>
                  <a:pt x="4061135" y="1204573"/>
                </a:cubicBezTo>
                <a:lnTo>
                  <a:pt x="68829" y="1204573"/>
                </a:lnTo>
                <a:cubicBezTo>
                  <a:pt x="30816" y="1204573"/>
                  <a:pt x="0" y="1173757"/>
                  <a:pt x="0" y="1135744"/>
                </a:cubicBezTo>
                <a:lnTo>
                  <a:pt x="0" y="68829"/>
                </a:lnTo>
                <a:cubicBezTo>
                  <a:pt x="0" y="30841"/>
                  <a:pt x="30841" y="0"/>
                  <a:pt x="68829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3339" y="6222696"/>
            <a:ext cx="154874" cy="154874"/>
          </a:xfrm>
          <a:custGeom>
            <a:avLst/>
            <a:gdLst/>
            <a:ahLst/>
            <a:cxnLst/>
            <a:rect l="l" t="t" r="r" b="b"/>
            <a:pathLst>
              <a:path w="154874" h="154874">
                <a:moveTo>
                  <a:pt x="77437" y="0"/>
                </a:moveTo>
                <a:cubicBezTo>
                  <a:pt x="81883" y="0"/>
                  <a:pt x="85967" y="2450"/>
                  <a:pt x="88084" y="6352"/>
                </a:cubicBezTo>
                <a:lnTo>
                  <a:pt x="153422" y="127347"/>
                </a:lnTo>
                <a:cubicBezTo>
                  <a:pt x="155448" y="131098"/>
                  <a:pt x="155358" y="135635"/>
                  <a:pt x="153180" y="139296"/>
                </a:cubicBezTo>
                <a:cubicBezTo>
                  <a:pt x="151002" y="142956"/>
                  <a:pt x="147039" y="145194"/>
                  <a:pt x="142774" y="145194"/>
                </a:cubicBezTo>
                <a:lnTo>
                  <a:pt x="12100" y="145194"/>
                </a:lnTo>
                <a:cubicBezTo>
                  <a:pt x="7834" y="145194"/>
                  <a:pt x="3902" y="142956"/>
                  <a:pt x="1694" y="139296"/>
                </a:cubicBezTo>
                <a:cubicBezTo>
                  <a:pt x="-514" y="135635"/>
                  <a:pt x="-575" y="131098"/>
                  <a:pt x="1452" y="127347"/>
                </a:cubicBezTo>
                <a:lnTo>
                  <a:pt x="66789" y="6352"/>
                </a:lnTo>
                <a:cubicBezTo>
                  <a:pt x="68907" y="2450"/>
                  <a:pt x="72990" y="0"/>
                  <a:pt x="77437" y="0"/>
                </a:cubicBezTo>
                <a:close/>
                <a:moveTo>
                  <a:pt x="77437" y="50818"/>
                </a:moveTo>
                <a:cubicBezTo>
                  <a:pt x="73414" y="50818"/>
                  <a:pt x="70177" y="54055"/>
                  <a:pt x="70177" y="58078"/>
                </a:cubicBezTo>
                <a:lnTo>
                  <a:pt x="70177" y="91956"/>
                </a:lnTo>
                <a:cubicBezTo>
                  <a:pt x="70177" y="95979"/>
                  <a:pt x="73414" y="99216"/>
                  <a:pt x="77437" y="99216"/>
                </a:cubicBezTo>
                <a:cubicBezTo>
                  <a:pt x="81460" y="99216"/>
                  <a:pt x="84697" y="95979"/>
                  <a:pt x="84697" y="91956"/>
                </a:cubicBezTo>
                <a:lnTo>
                  <a:pt x="84697" y="58078"/>
                </a:lnTo>
                <a:cubicBezTo>
                  <a:pt x="84697" y="54055"/>
                  <a:pt x="81460" y="50818"/>
                  <a:pt x="77437" y="50818"/>
                </a:cubicBezTo>
                <a:close/>
                <a:moveTo>
                  <a:pt x="85513" y="116155"/>
                </a:moveTo>
                <a:cubicBezTo>
                  <a:pt x="85697" y="113157"/>
                  <a:pt x="84202" y="110305"/>
                  <a:pt x="81632" y="108751"/>
                </a:cubicBezTo>
                <a:cubicBezTo>
                  <a:pt x="79062" y="107196"/>
                  <a:pt x="75842" y="107196"/>
                  <a:pt x="73272" y="108751"/>
                </a:cubicBezTo>
                <a:cubicBezTo>
                  <a:pt x="70702" y="110305"/>
                  <a:pt x="69207" y="113157"/>
                  <a:pt x="69391" y="116155"/>
                </a:cubicBezTo>
                <a:cubicBezTo>
                  <a:pt x="69207" y="119153"/>
                  <a:pt x="70702" y="122005"/>
                  <a:pt x="73272" y="123560"/>
                </a:cubicBezTo>
                <a:cubicBezTo>
                  <a:pt x="75842" y="125114"/>
                  <a:pt x="79062" y="125114"/>
                  <a:pt x="81632" y="123560"/>
                </a:cubicBezTo>
                <a:cubicBezTo>
                  <a:pt x="84202" y="122005"/>
                  <a:pt x="85697" y="119153"/>
                  <a:pt x="85513" y="11615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9723" y="6179676"/>
            <a:ext cx="3734176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Interpretation Caution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1829" y="6489423"/>
            <a:ext cx="3923466" cy="61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heterogeneity indicates wide performance range. Prediction interval spans approximately </a:t>
            </a:r>
            <a:r>
              <a:rPr lang="en-US" sz="108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40%–90%</a:t>
            </a:r>
            <a:r>
              <a:rPr lang="en-US" sz="1084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suggesting context-dependent effectiveness.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80627" y="963658"/>
            <a:ext cx="7167210" cy="6280988"/>
          </a:xfrm>
          <a:custGeom>
            <a:avLst/>
            <a:gdLst/>
            <a:ahLst/>
            <a:cxnLst/>
            <a:rect l="l" t="t" r="r" b="b"/>
            <a:pathLst>
              <a:path w="7167210" h="6280988">
                <a:moveTo>
                  <a:pt x="68840" y="0"/>
                </a:moveTo>
                <a:lnTo>
                  <a:pt x="7098370" y="0"/>
                </a:lnTo>
                <a:cubicBezTo>
                  <a:pt x="7136389" y="0"/>
                  <a:pt x="7167210" y="30821"/>
                  <a:pt x="7167210" y="68840"/>
                </a:cubicBezTo>
                <a:lnTo>
                  <a:pt x="7167210" y="6212148"/>
                </a:lnTo>
                <a:cubicBezTo>
                  <a:pt x="7167210" y="6250167"/>
                  <a:pt x="7136389" y="6280988"/>
                  <a:pt x="7098370" y="6280988"/>
                </a:cubicBezTo>
                <a:lnTo>
                  <a:pt x="68840" y="6280988"/>
                </a:lnTo>
                <a:cubicBezTo>
                  <a:pt x="30821" y="6280988"/>
                  <a:pt x="0" y="6250167"/>
                  <a:pt x="0" y="6212148"/>
                </a:cubicBezTo>
                <a:lnTo>
                  <a:pt x="0" y="68840"/>
                </a:lnTo>
                <a:cubicBezTo>
                  <a:pt x="0" y="30846"/>
                  <a:pt x="30846" y="0"/>
                  <a:pt x="6884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52709" y="1135740"/>
            <a:ext cx="69090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Forest Plot: LLM Classification Accuracy</a:t>
            </a:r>
            <a:endParaRPr lang="en-US" sz="1600" dirty="0"/>
          </a:p>
        </p:txBody>
      </p:sp>
      <p:pic>
        <p:nvPicPr>
          <p:cNvPr id="27" name="Image 0" descr="https://kimi-img.moonshot.cn/pub/slides/26-02-05-16:59:19-d625npuf2kqb9mkmvq1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52709" y="1514320"/>
            <a:ext cx="5644285" cy="4302047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49250"/>
            <a:ext cx="29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14759" y="317500"/>
            <a:ext cx="4706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Prompting Strategies &amp; Their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698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375" y="889000"/>
            <a:ext cx="4111625" cy="3944937"/>
          </a:xfrm>
          <a:custGeom>
            <a:avLst/>
            <a:gdLst/>
            <a:ahLst/>
            <a:cxnLst/>
            <a:rect l="l" t="t" r="r" b="b"/>
            <a:pathLst>
              <a:path w="4111625" h="3944937">
                <a:moveTo>
                  <a:pt x="31750" y="0"/>
                </a:moveTo>
                <a:lnTo>
                  <a:pt x="4048112" y="0"/>
                </a:lnTo>
                <a:cubicBezTo>
                  <a:pt x="4083189" y="0"/>
                  <a:pt x="4111625" y="28436"/>
                  <a:pt x="4111625" y="63513"/>
                </a:cubicBezTo>
                <a:lnTo>
                  <a:pt x="4111625" y="3881424"/>
                </a:lnTo>
                <a:cubicBezTo>
                  <a:pt x="4111625" y="3916502"/>
                  <a:pt x="4083189" y="3944937"/>
                  <a:pt x="4048112" y="3944937"/>
                </a:cubicBezTo>
                <a:lnTo>
                  <a:pt x="31750" y="3944937"/>
                </a:lnTo>
                <a:cubicBezTo>
                  <a:pt x="14215" y="3944937"/>
                  <a:pt x="0" y="3930723"/>
                  <a:pt x="0" y="39131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3375" y="889000"/>
            <a:ext cx="31750" cy="3944937"/>
          </a:xfrm>
          <a:custGeom>
            <a:avLst/>
            <a:gdLst/>
            <a:ahLst/>
            <a:cxnLst/>
            <a:rect l="l" t="t" r="r" b="b"/>
            <a:pathLst>
              <a:path w="31750" h="3944937">
                <a:moveTo>
                  <a:pt x="31750" y="0"/>
                </a:moveTo>
                <a:lnTo>
                  <a:pt x="31750" y="0"/>
                </a:lnTo>
                <a:lnTo>
                  <a:pt x="31750" y="3944937"/>
                </a:lnTo>
                <a:lnTo>
                  <a:pt x="31750" y="3944937"/>
                </a:lnTo>
                <a:cubicBezTo>
                  <a:pt x="14227" y="3944937"/>
                  <a:pt x="0" y="3930711"/>
                  <a:pt x="0" y="39131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7844" y="1079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6438" y="1047750"/>
            <a:ext cx="3659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 Engineering Approaches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1175" y="1400175"/>
            <a:ext cx="3768725" cy="1022350"/>
          </a:xfrm>
          <a:custGeom>
            <a:avLst/>
            <a:gdLst/>
            <a:ahLst/>
            <a:cxnLst/>
            <a:rect l="l" t="t" r="r" b="b"/>
            <a:pathLst>
              <a:path w="3768725" h="1022350">
                <a:moveTo>
                  <a:pt x="63498" y="0"/>
                </a:moveTo>
                <a:lnTo>
                  <a:pt x="3705227" y="0"/>
                </a:lnTo>
                <a:cubicBezTo>
                  <a:pt x="3740296" y="0"/>
                  <a:pt x="3768725" y="28429"/>
                  <a:pt x="3768725" y="63498"/>
                </a:cubicBezTo>
                <a:lnTo>
                  <a:pt x="3768725" y="958852"/>
                </a:lnTo>
                <a:cubicBezTo>
                  <a:pt x="3768725" y="993921"/>
                  <a:pt x="3740296" y="1022350"/>
                  <a:pt x="3705227" y="1022350"/>
                </a:cubicBezTo>
                <a:lnTo>
                  <a:pt x="63498" y="1022350"/>
                </a:lnTo>
                <a:cubicBezTo>
                  <a:pt x="28429" y="1022350"/>
                  <a:pt x="0" y="993921"/>
                  <a:pt x="0" y="958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1350" y="15303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15303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1546223"/>
            <a:ext cx="138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Zero-Shot Prompting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350" y="1847848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Approach:</a:t>
            </a: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Direct classification without examples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350" y="2101848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Baseline performance: 53-72% accuracy depending on context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175" y="2524126"/>
            <a:ext cx="3768725" cy="1022350"/>
          </a:xfrm>
          <a:custGeom>
            <a:avLst/>
            <a:gdLst/>
            <a:ahLst/>
            <a:cxnLst/>
            <a:rect l="l" t="t" r="r" b="b"/>
            <a:pathLst>
              <a:path w="3768725" h="1022350">
                <a:moveTo>
                  <a:pt x="63498" y="0"/>
                </a:moveTo>
                <a:lnTo>
                  <a:pt x="3705227" y="0"/>
                </a:lnTo>
                <a:cubicBezTo>
                  <a:pt x="3740296" y="0"/>
                  <a:pt x="3768725" y="28429"/>
                  <a:pt x="3768725" y="63498"/>
                </a:cubicBezTo>
                <a:lnTo>
                  <a:pt x="3768725" y="958852"/>
                </a:lnTo>
                <a:cubicBezTo>
                  <a:pt x="3768725" y="993921"/>
                  <a:pt x="3740296" y="1022350"/>
                  <a:pt x="3705227" y="1022350"/>
                </a:cubicBezTo>
                <a:lnTo>
                  <a:pt x="63498" y="1022350"/>
                </a:lnTo>
                <a:cubicBezTo>
                  <a:pt x="28429" y="1022350"/>
                  <a:pt x="0" y="993921"/>
                  <a:pt x="0" y="958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1350" y="265429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600" y="2654299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2670174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Few-Shot Prompting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350" y="2971799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Approach:</a:t>
            </a: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Provide example question→level pairs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350" y="3225799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Slight improvement in precision; mixed results on overall F1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1175" y="3648077"/>
            <a:ext cx="3768725" cy="1022350"/>
          </a:xfrm>
          <a:custGeom>
            <a:avLst/>
            <a:gdLst/>
            <a:ahLst/>
            <a:cxnLst/>
            <a:rect l="l" t="t" r="r" b="b"/>
            <a:pathLst>
              <a:path w="3768725" h="1022350">
                <a:moveTo>
                  <a:pt x="63498" y="0"/>
                </a:moveTo>
                <a:lnTo>
                  <a:pt x="3705227" y="0"/>
                </a:lnTo>
                <a:cubicBezTo>
                  <a:pt x="3740296" y="0"/>
                  <a:pt x="3768725" y="28429"/>
                  <a:pt x="3768725" y="63498"/>
                </a:cubicBezTo>
                <a:lnTo>
                  <a:pt x="3768725" y="958852"/>
                </a:lnTo>
                <a:cubicBezTo>
                  <a:pt x="3768725" y="993921"/>
                  <a:pt x="3740296" y="1022350"/>
                  <a:pt x="3705227" y="1022350"/>
                </a:cubicBezTo>
                <a:lnTo>
                  <a:pt x="63498" y="1022350"/>
                </a:lnTo>
                <a:cubicBezTo>
                  <a:pt x="28429" y="1022350"/>
                  <a:pt x="0" y="993921"/>
                  <a:pt x="0" y="958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1350" y="3778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9600" y="377825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3794125"/>
            <a:ext cx="165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Chain-of-Thought (CoT)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350" y="4095754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Approach:</a:t>
            </a: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Ask model to reason stepwise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350" y="4349754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Mixed outcomes; higher variance with smaller models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7500" y="4959352"/>
            <a:ext cx="4127500" cy="1111250"/>
          </a:xfrm>
          <a:custGeom>
            <a:avLst/>
            <a:gdLst/>
            <a:ahLst/>
            <a:cxnLst/>
            <a:rect l="l" t="t" r="r" b="b"/>
            <a:pathLst>
              <a:path w="4127500" h="1111250">
                <a:moveTo>
                  <a:pt x="63497" y="0"/>
                </a:moveTo>
                <a:lnTo>
                  <a:pt x="4064003" y="0"/>
                </a:lnTo>
                <a:cubicBezTo>
                  <a:pt x="4099072" y="0"/>
                  <a:pt x="4127500" y="28428"/>
                  <a:pt x="4127500" y="63497"/>
                </a:cubicBezTo>
                <a:lnTo>
                  <a:pt x="4127500" y="1047753"/>
                </a:lnTo>
                <a:cubicBezTo>
                  <a:pt x="4127500" y="1082822"/>
                  <a:pt x="4099072" y="1111250"/>
                  <a:pt x="4064003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5414" y="512604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7063" y="5086352"/>
            <a:ext cx="376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Performing Strategy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5372102"/>
            <a:ext cx="393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Rhetorical Situation Prompt:</a:t>
            </a: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Framing classification with context (audience, domain, scenario) achieved </a:t>
            </a: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 accuracy</a:t>
            </a: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—highest among all approaches.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35500" y="889000"/>
            <a:ext cx="7239000" cy="4905375"/>
          </a:xfrm>
          <a:custGeom>
            <a:avLst/>
            <a:gdLst/>
            <a:ahLst/>
            <a:cxnLst/>
            <a:rect l="l" t="t" r="r" b="b"/>
            <a:pathLst>
              <a:path w="7239000" h="4905375">
                <a:moveTo>
                  <a:pt x="63476" y="0"/>
                </a:moveTo>
                <a:lnTo>
                  <a:pt x="7175524" y="0"/>
                </a:lnTo>
                <a:cubicBezTo>
                  <a:pt x="7210581" y="0"/>
                  <a:pt x="7239000" y="28419"/>
                  <a:pt x="7239000" y="63476"/>
                </a:cubicBezTo>
                <a:lnTo>
                  <a:pt x="7239000" y="4841899"/>
                </a:lnTo>
                <a:cubicBezTo>
                  <a:pt x="7239000" y="4876956"/>
                  <a:pt x="7210581" y="4905375"/>
                  <a:pt x="7175524" y="4905375"/>
                </a:cubicBezTo>
                <a:lnTo>
                  <a:pt x="63476" y="4905375"/>
                </a:lnTo>
                <a:cubicBezTo>
                  <a:pt x="28419" y="4905375"/>
                  <a:pt x="0" y="4876956"/>
                  <a:pt x="0" y="4841899"/>
                </a:cubicBezTo>
                <a:lnTo>
                  <a:pt x="0" y="63476"/>
                </a:lnTo>
                <a:cubicBezTo>
                  <a:pt x="0" y="28442"/>
                  <a:pt x="28442" y="0"/>
                  <a:pt x="6347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94250" y="1047750"/>
            <a:ext cx="700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 Strategy Performance Comparison</a:t>
            </a:r>
            <a:endParaRPr lang="en-US" sz="1600" dirty="0"/>
          </a:p>
        </p:txBody>
      </p:sp>
      <p:pic>
        <p:nvPicPr>
          <p:cNvPr id="33" name="Image 0" descr="https://kimi-img.moonshot.cn/pub/slides/26-02-05-16:59:22-d625nqij4egk1lkvvel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94250" y="1397000"/>
            <a:ext cx="4889500" cy="3175000"/>
          </a:xfrm>
          <a:prstGeom prst="roundRect">
            <a:avLst>
              <a:gd name="adj" fmla="val 0"/>
            </a:avLst>
          </a:prstGeom>
        </p:spPr>
      </p:pic>
      <p:sp>
        <p:nvSpPr>
          <p:cNvPr id="34" name="Shape 31"/>
          <p:cNvSpPr/>
          <p:nvPr/>
        </p:nvSpPr>
        <p:spPr>
          <a:xfrm>
            <a:off x="4651375" y="5918201"/>
            <a:ext cx="7223125" cy="2016125"/>
          </a:xfrm>
          <a:custGeom>
            <a:avLst/>
            <a:gdLst/>
            <a:ahLst/>
            <a:cxnLst/>
            <a:rect l="l" t="t" r="r" b="b"/>
            <a:pathLst>
              <a:path w="7223125" h="2016125">
                <a:moveTo>
                  <a:pt x="31750" y="0"/>
                </a:moveTo>
                <a:lnTo>
                  <a:pt x="7159617" y="0"/>
                </a:lnTo>
                <a:cubicBezTo>
                  <a:pt x="7194692" y="0"/>
                  <a:pt x="7223125" y="28433"/>
                  <a:pt x="7223125" y="63508"/>
                </a:cubicBezTo>
                <a:lnTo>
                  <a:pt x="7223125" y="1952617"/>
                </a:lnTo>
                <a:cubicBezTo>
                  <a:pt x="7223125" y="1987692"/>
                  <a:pt x="7194692" y="2016125"/>
                  <a:pt x="7159617" y="2016125"/>
                </a:cubicBezTo>
                <a:lnTo>
                  <a:pt x="31750" y="2016125"/>
                </a:lnTo>
                <a:cubicBezTo>
                  <a:pt x="14227" y="2016125"/>
                  <a:pt x="0" y="2001898"/>
                  <a:pt x="0" y="198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651375" y="5918201"/>
            <a:ext cx="31750" cy="2016125"/>
          </a:xfrm>
          <a:custGeom>
            <a:avLst/>
            <a:gdLst/>
            <a:ahLst/>
            <a:cxnLst/>
            <a:rect l="l" t="t" r="r" b="b"/>
            <a:pathLst>
              <a:path w="31750" h="2016125">
                <a:moveTo>
                  <a:pt x="31750" y="0"/>
                </a:moveTo>
                <a:lnTo>
                  <a:pt x="31750" y="0"/>
                </a:lnTo>
                <a:lnTo>
                  <a:pt x="31750" y="2016125"/>
                </a:lnTo>
                <a:lnTo>
                  <a:pt x="31750" y="2016125"/>
                </a:lnTo>
                <a:cubicBezTo>
                  <a:pt x="14227" y="2016125"/>
                  <a:pt x="0" y="2001898"/>
                  <a:pt x="0" y="198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855766" y="6108701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89297" y="0"/>
                </a:moveTo>
                <a:lnTo>
                  <a:pt x="39688" y="0"/>
                </a:lnTo>
                <a:cubicBezTo>
                  <a:pt x="34199" y="0"/>
                  <a:pt x="29766" y="4434"/>
                  <a:pt x="29766" y="9922"/>
                </a:cubicBezTo>
                <a:cubicBezTo>
                  <a:pt x="29766" y="15410"/>
                  <a:pt x="34199" y="19844"/>
                  <a:pt x="39688" y="19844"/>
                </a:cubicBezTo>
                <a:lnTo>
                  <a:pt x="39688" y="66818"/>
                </a:lnTo>
                <a:lnTo>
                  <a:pt x="2325" y="132178"/>
                </a:lnTo>
                <a:cubicBezTo>
                  <a:pt x="806" y="134875"/>
                  <a:pt x="0" y="137883"/>
                  <a:pt x="0" y="140984"/>
                </a:cubicBezTo>
                <a:cubicBezTo>
                  <a:pt x="0" y="150813"/>
                  <a:pt x="7938" y="158750"/>
                  <a:pt x="17766" y="158750"/>
                </a:cubicBezTo>
                <a:lnTo>
                  <a:pt x="121140" y="158750"/>
                </a:lnTo>
                <a:cubicBezTo>
                  <a:pt x="130938" y="158750"/>
                  <a:pt x="138906" y="150813"/>
                  <a:pt x="138906" y="140984"/>
                </a:cubicBezTo>
                <a:cubicBezTo>
                  <a:pt x="138906" y="137883"/>
                  <a:pt x="138100" y="134844"/>
                  <a:pt x="136581" y="132178"/>
                </a:cubicBezTo>
                <a:lnTo>
                  <a:pt x="99219" y="66818"/>
                </a:lnTo>
                <a:lnTo>
                  <a:pt x="99219" y="19844"/>
                </a:lnTo>
                <a:cubicBezTo>
                  <a:pt x="104707" y="19844"/>
                  <a:pt x="109141" y="15410"/>
                  <a:pt x="109141" y="9922"/>
                </a:cubicBezTo>
                <a:cubicBezTo>
                  <a:pt x="109141" y="4434"/>
                  <a:pt x="104707" y="0"/>
                  <a:pt x="99219" y="0"/>
                </a:cubicBezTo>
                <a:lnTo>
                  <a:pt x="89297" y="0"/>
                </a:lnTo>
                <a:close/>
                <a:moveTo>
                  <a:pt x="59531" y="66818"/>
                </a:moveTo>
                <a:lnTo>
                  <a:pt x="59531" y="19844"/>
                </a:lnTo>
                <a:lnTo>
                  <a:pt x="79375" y="19844"/>
                </a:lnTo>
                <a:lnTo>
                  <a:pt x="79375" y="66818"/>
                </a:lnTo>
                <a:cubicBezTo>
                  <a:pt x="79375" y="70259"/>
                  <a:pt x="80274" y="73670"/>
                  <a:pt x="81979" y="76677"/>
                </a:cubicBezTo>
                <a:lnTo>
                  <a:pt x="94878" y="99219"/>
                </a:lnTo>
                <a:lnTo>
                  <a:pt x="44028" y="99219"/>
                </a:lnTo>
                <a:lnTo>
                  <a:pt x="56927" y="76677"/>
                </a:lnTo>
                <a:cubicBezTo>
                  <a:pt x="58632" y="73670"/>
                  <a:pt x="59531" y="70290"/>
                  <a:pt x="59531" y="66818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024438" y="6076951"/>
            <a:ext cx="677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Rhetorical Prompt Structure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829175" y="6397626"/>
            <a:ext cx="6880225" cy="1085850"/>
          </a:xfrm>
          <a:custGeom>
            <a:avLst/>
            <a:gdLst/>
            <a:ahLst/>
            <a:cxnLst/>
            <a:rect l="l" t="t" r="r" b="b"/>
            <a:pathLst>
              <a:path w="6880225" h="1085850">
                <a:moveTo>
                  <a:pt x="63501" y="0"/>
                </a:moveTo>
                <a:lnTo>
                  <a:pt x="6816724" y="0"/>
                </a:lnTo>
                <a:cubicBezTo>
                  <a:pt x="6851795" y="0"/>
                  <a:pt x="6880225" y="28430"/>
                  <a:pt x="6880225" y="63501"/>
                </a:cubicBezTo>
                <a:lnTo>
                  <a:pt x="6880225" y="1022349"/>
                </a:lnTo>
                <a:cubicBezTo>
                  <a:pt x="6880225" y="1057420"/>
                  <a:pt x="6851795" y="1085850"/>
                  <a:pt x="6816724" y="1085850"/>
                </a:cubicBezTo>
                <a:lnTo>
                  <a:pt x="63501" y="1085850"/>
                </a:lnTo>
                <a:cubicBezTo>
                  <a:pt x="28430" y="1085850"/>
                  <a:pt x="0" y="1057420"/>
                  <a:pt x="0" y="10223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59350" y="6527799"/>
            <a:ext cx="667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"Consider you are an instructor analyzing a course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959350" y="6750049"/>
            <a:ext cx="667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outcome in [Domain] for [Audience]...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959350" y="6972299"/>
            <a:ext cx="667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Classify this learning outcome into Bloom's taxonomy: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959350" y="7194549"/>
            <a:ext cx="667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B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[Learning Outcome Text]"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857750" y="75946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024438" y="7581898"/>
            <a:ext cx="675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insight:</a:t>
            </a: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Domain-specific knowledge injection significantly improves classification accuracy.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64435"/>
            <a:ext cx="3313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366" y="331304"/>
            <a:ext cx="5822674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Error Patterns, Biases &amp; Domain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304" y="728870"/>
            <a:ext cx="795130" cy="33130"/>
          </a:xfrm>
          <a:custGeom>
            <a:avLst/>
            <a:gdLst/>
            <a:ahLst/>
            <a:cxnLst/>
            <a:rect l="l" t="t" r="r" b="b"/>
            <a:pathLst>
              <a:path w="795130" h="33130">
                <a:moveTo>
                  <a:pt x="0" y="0"/>
                </a:moveTo>
                <a:lnTo>
                  <a:pt x="795130" y="0"/>
                </a:lnTo>
                <a:lnTo>
                  <a:pt x="795130" y="33130"/>
                </a:lnTo>
                <a:lnTo>
                  <a:pt x="0" y="331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870" y="927652"/>
            <a:ext cx="5665304" cy="5764696"/>
          </a:xfrm>
          <a:custGeom>
            <a:avLst/>
            <a:gdLst/>
            <a:ahLst/>
            <a:cxnLst/>
            <a:rect l="l" t="t" r="r" b="b"/>
            <a:pathLst>
              <a:path w="5665304" h="5764696">
                <a:moveTo>
                  <a:pt x="33130" y="0"/>
                </a:moveTo>
                <a:lnTo>
                  <a:pt x="5599020" y="0"/>
                </a:lnTo>
                <a:cubicBezTo>
                  <a:pt x="5635628" y="0"/>
                  <a:pt x="5665304" y="29676"/>
                  <a:pt x="5665304" y="66284"/>
                </a:cubicBezTo>
                <a:lnTo>
                  <a:pt x="5665304" y="5698412"/>
                </a:lnTo>
                <a:cubicBezTo>
                  <a:pt x="5665304" y="5735019"/>
                  <a:pt x="5635628" y="5764696"/>
                  <a:pt x="5599020" y="5764696"/>
                </a:cubicBezTo>
                <a:lnTo>
                  <a:pt x="33130" y="5764696"/>
                </a:lnTo>
                <a:cubicBezTo>
                  <a:pt x="14833" y="5764696"/>
                  <a:pt x="0" y="5749863"/>
                  <a:pt x="0" y="5731565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870" y="927652"/>
            <a:ext cx="33130" cy="5764696"/>
          </a:xfrm>
          <a:custGeom>
            <a:avLst/>
            <a:gdLst/>
            <a:ahLst/>
            <a:cxnLst/>
            <a:rect l="l" t="t" r="r" b="b"/>
            <a:pathLst>
              <a:path w="33130" h="5764696">
                <a:moveTo>
                  <a:pt x="33130" y="0"/>
                </a:moveTo>
                <a:lnTo>
                  <a:pt x="33130" y="0"/>
                </a:lnTo>
                <a:lnTo>
                  <a:pt x="33130" y="5764696"/>
                </a:lnTo>
                <a:lnTo>
                  <a:pt x="33130" y="5764696"/>
                </a:lnTo>
                <a:cubicBezTo>
                  <a:pt x="14833" y="5764696"/>
                  <a:pt x="0" y="5749863"/>
                  <a:pt x="0" y="5731565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0793" y="1126435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82826" y="165652"/>
                </a:moveTo>
                <a:cubicBezTo>
                  <a:pt x="128539" y="165652"/>
                  <a:pt x="165652" y="128539"/>
                  <a:pt x="165652" y="82826"/>
                </a:cubicBezTo>
                <a:cubicBezTo>
                  <a:pt x="165652" y="37113"/>
                  <a:pt x="128539" y="0"/>
                  <a:pt x="82826" y="0"/>
                </a:cubicBezTo>
                <a:cubicBezTo>
                  <a:pt x="37113" y="0"/>
                  <a:pt x="0" y="37113"/>
                  <a:pt x="0" y="82826"/>
                </a:cubicBezTo>
                <a:cubicBezTo>
                  <a:pt x="0" y="128539"/>
                  <a:pt x="37113" y="165652"/>
                  <a:pt x="82826" y="165652"/>
                </a:cubicBezTo>
                <a:close/>
                <a:moveTo>
                  <a:pt x="82826" y="44001"/>
                </a:moveTo>
                <a:cubicBezTo>
                  <a:pt x="87129" y="44001"/>
                  <a:pt x="90591" y="47463"/>
                  <a:pt x="90591" y="51766"/>
                </a:cubicBezTo>
                <a:lnTo>
                  <a:pt x="90591" y="88003"/>
                </a:lnTo>
                <a:cubicBezTo>
                  <a:pt x="90591" y="92306"/>
                  <a:pt x="87129" y="95768"/>
                  <a:pt x="82826" y="95768"/>
                </a:cubicBezTo>
                <a:cubicBezTo>
                  <a:pt x="78523" y="95768"/>
                  <a:pt x="75061" y="92306"/>
                  <a:pt x="75061" y="88003"/>
                </a:cubicBezTo>
                <a:lnTo>
                  <a:pt x="75061" y="51766"/>
                </a:lnTo>
                <a:cubicBezTo>
                  <a:pt x="75061" y="47463"/>
                  <a:pt x="78523" y="44001"/>
                  <a:pt x="82826" y="44001"/>
                </a:cubicBezTo>
                <a:close/>
                <a:moveTo>
                  <a:pt x="74188" y="113886"/>
                </a:moveTo>
                <a:cubicBezTo>
                  <a:pt x="73991" y="110679"/>
                  <a:pt x="75590" y="107629"/>
                  <a:pt x="78339" y="105966"/>
                </a:cubicBezTo>
                <a:cubicBezTo>
                  <a:pt x="81088" y="104303"/>
                  <a:pt x="84532" y="104303"/>
                  <a:pt x="87281" y="105966"/>
                </a:cubicBezTo>
                <a:cubicBezTo>
                  <a:pt x="90030" y="107629"/>
                  <a:pt x="91629" y="110679"/>
                  <a:pt x="91432" y="113886"/>
                </a:cubicBezTo>
                <a:cubicBezTo>
                  <a:pt x="91629" y="117092"/>
                  <a:pt x="90030" y="120143"/>
                  <a:pt x="87281" y="121806"/>
                </a:cubicBezTo>
                <a:cubicBezTo>
                  <a:pt x="84532" y="123468"/>
                  <a:pt x="81088" y="123468"/>
                  <a:pt x="78339" y="121806"/>
                </a:cubicBezTo>
                <a:cubicBezTo>
                  <a:pt x="75590" y="120143"/>
                  <a:pt x="73991" y="117092"/>
                  <a:pt x="74188" y="113886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7152" y="1093304"/>
            <a:ext cx="5193196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Consistent Error Patterns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461052"/>
            <a:ext cx="5307496" cy="1000539"/>
          </a:xfrm>
          <a:custGeom>
            <a:avLst/>
            <a:gdLst/>
            <a:ahLst/>
            <a:cxnLst/>
            <a:rect l="l" t="t" r="r" b="b"/>
            <a:pathLst>
              <a:path w="5307496" h="1000539">
                <a:moveTo>
                  <a:pt x="66266" y="0"/>
                </a:moveTo>
                <a:lnTo>
                  <a:pt x="5241230" y="0"/>
                </a:lnTo>
                <a:cubicBezTo>
                  <a:pt x="5277827" y="0"/>
                  <a:pt x="5307496" y="29668"/>
                  <a:pt x="5307496" y="66266"/>
                </a:cubicBezTo>
                <a:lnTo>
                  <a:pt x="5307496" y="934273"/>
                </a:lnTo>
                <a:cubicBezTo>
                  <a:pt x="5307496" y="970871"/>
                  <a:pt x="5277827" y="1000539"/>
                  <a:pt x="5241230" y="1000539"/>
                </a:cubicBezTo>
                <a:lnTo>
                  <a:pt x="66266" y="1000539"/>
                </a:lnTo>
                <a:cubicBezTo>
                  <a:pt x="29668" y="1000539"/>
                  <a:pt x="0" y="970871"/>
                  <a:pt x="0" y="934273"/>
                </a:cubicBezTo>
                <a:lnTo>
                  <a:pt x="0" y="66266"/>
                </a:lnTo>
                <a:cubicBezTo>
                  <a:pt x="0" y="29668"/>
                  <a:pt x="29668" y="0"/>
                  <a:pt x="6626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9235" y="1596893"/>
            <a:ext cx="511037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 </a:t>
            </a: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Adjacent Level Confusion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9235" y="1895067"/>
            <a:ext cx="5102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Most frequent error: </a:t>
            </a:r>
            <a:r>
              <a:rPr lang="en-US" sz="10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Remember ↔ Understand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184959"/>
            <a:ext cx="115957" cy="115957"/>
          </a:xfrm>
          <a:custGeom>
            <a:avLst/>
            <a:gdLst/>
            <a:ahLst/>
            <a:cxnLst/>
            <a:rect l="l" t="t" r="r" b="b"/>
            <a:pathLst>
              <a:path w="115957" h="115957">
                <a:moveTo>
                  <a:pt x="113828" y="63097"/>
                </a:moveTo>
                <a:cubicBezTo>
                  <a:pt x="116659" y="60266"/>
                  <a:pt x="116659" y="55668"/>
                  <a:pt x="113828" y="52837"/>
                </a:cubicBezTo>
                <a:lnTo>
                  <a:pt x="77591" y="16601"/>
                </a:lnTo>
                <a:cubicBezTo>
                  <a:pt x="74760" y="13770"/>
                  <a:pt x="70163" y="13770"/>
                  <a:pt x="67332" y="16601"/>
                </a:cubicBezTo>
                <a:cubicBezTo>
                  <a:pt x="64501" y="19432"/>
                  <a:pt x="64501" y="24029"/>
                  <a:pt x="67332" y="26860"/>
                </a:cubicBezTo>
                <a:lnTo>
                  <a:pt x="91203" y="50731"/>
                </a:lnTo>
                <a:lnTo>
                  <a:pt x="7247" y="50731"/>
                </a:lnTo>
                <a:cubicBezTo>
                  <a:pt x="3239" y="50731"/>
                  <a:pt x="0" y="53970"/>
                  <a:pt x="0" y="57978"/>
                </a:cubicBezTo>
                <a:cubicBezTo>
                  <a:pt x="0" y="61987"/>
                  <a:pt x="3239" y="65226"/>
                  <a:pt x="7247" y="65226"/>
                </a:cubicBezTo>
                <a:lnTo>
                  <a:pt x="91203" y="65226"/>
                </a:lnTo>
                <a:lnTo>
                  <a:pt x="67332" y="89096"/>
                </a:lnTo>
                <a:cubicBezTo>
                  <a:pt x="64501" y="91927"/>
                  <a:pt x="64501" y="96525"/>
                  <a:pt x="67332" y="99356"/>
                </a:cubicBezTo>
                <a:cubicBezTo>
                  <a:pt x="70163" y="102187"/>
                  <a:pt x="74760" y="102187"/>
                  <a:pt x="77591" y="99356"/>
                </a:cubicBezTo>
                <a:lnTo>
                  <a:pt x="113828" y="6311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0441" y="2160111"/>
            <a:ext cx="227771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Even humans struggle with these boundaries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2567614"/>
            <a:ext cx="5307496" cy="1199322"/>
          </a:xfrm>
          <a:custGeom>
            <a:avLst/>
            <a:gdLst/>
            <a:ahLst/>
            <a:cxnLst/>
            <a:rect l="l" t="t" r="r" b="b"/>
            <a:pathLst>
              <a:path w="5307496" h="1199322">
                <a:moveTo>
                  <a:pt x="66263" y="0"/>
                </a:moveTo>
                <a:lnTo>
                  <a:pt x="5241233" y="0"/>
                </a:lnTo>
                <a:cubicBezTo>
                  <a:pt x="5277829" y="0"/>
                  <a:pt x="5307496" y="29667"/>
                  <a:pt x="5307496" y="66263"/>
                </a:cubicBezTo>
                <a:lnTo>
                  <a:pt x="5307496" y="1133059"/>
                </a:lnTo>
                <a:cubicBezTo>
                  <a:pt x="5307496" y="1169655"/>
                  <a:pt x="5277829" y="1199322"/>
                  <a:pt x="5241233" y="1199322"/>
                </a:cubicBezTo>
                <a:lnTo>
                  <a:pt x="66263" y="1199322"/>
                </a:lnTo>
                <a:cubicBezTo>
                  <a:pt x="29667" y="1199322"/>
                  <a:pt x="0" y="1169655"/>
                  <a:pt x="0" y="1133059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9235" y="2703447"/>
            <a:ext cx="511037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 </a:t>
            </a: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Conservative Bias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9235" y="3001621"/>
            <a:ext cx="5102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LLMs </a:t>
            </a:r>
            <a:r>
              <a:rPr lang="en-US" sz="10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under-predict higher-order categories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3047" y="3291512"/>
            <a:ext cx="101462" cy="115957"/>
          </a:xfrm>
          <a:custGeom>
            <a:avLst/>
            <a:gdLst/>
            <a:ahLst/>
            <a:cxnLst/>
            <a:rect l="l" t="t" r="r" b="b"/>
            <a:pathLst>
              <a:path w="101462" h="115957">
                <a:moveTo>
                  <a:pt x="98472" y="15876"/>
                </a:moveTo>
                <a:cubicBezTo>
                  <a:pt x="101711" y="18231"/>
                  <a:pt x="102436" y="22761"/>
                  <a:pt x="100080" y="26000"/>
                </a:cubicBezTo>
                <a:lnTo>
                  <a:pt x="42102" y="105720"/>
                </a:lnTo>
                <a:cubicBezTo>
                  <a:pt x="40857" y="107441"/>
                  <a:pt x="38931" y="108505"/>
                  <a:pt x="36803" y="108687"/>
                </a:cubicBezTo>
                <a:cubicBezTo>
                  <a:pt x="34674" y="108868"/>
                  <a:pt x="32613" y="108075"/>
                  <a:pt x="31118" y="106580"/>
                </a:cubicBezTo>
                <a:lnTo>
                  <a:pt x="2129" y="77591"/>
                </a:lnTo>
                <a:cubicBezTo>
                  <a:pt x="-702" y="74760"/>
                  <a:pt x="-702" y="70163"/>
                  <a:pt x="2129" y="67332"/>
                </a:cubicBezTo>
                <a:cubicBezTo>
                  <a:pt x="4960" y="64501"/>
                  <a:pt x="9557" y="64501"/>
                  <a:pt x="12388" y="67332"/>
                </a:cubicBezTo>
                <a:lnTo>
                  <a:pt x="35376" y="90319"/>
                </a:lnTo>
                <a:lnTo>
                  <a:pt x="88372" y="17461"/>
                </a:lnTo>
                <a:cubicBezTo>
                  <a:pt x="90727" y="14223"/>
                  <a:pt x="95256" y="13498"/>
                  <a:pt x="98495" y="1585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0441" y="3266664"/>
            <a:ext cx="2029239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precision for Create/Evaluate (1.0)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0295" y="3490295"/>
            <a:ext cx="86967" cy="115957"/>
          </a:xfrm>
          <a:custGeom>
            <a:avLst/>
            <a:gdLst/>
            <a:ahLst/>
            <a:cxnLst/>
            <a:rect l="l" t="t" r="r" b="b"/>
            <a:pathLst>
              <a:path w="86967" h="115957">
                <a:moveTo>
                  <a:pt x="12479" y="16623"/>
                </a:moveTo>
                <a:cubicBezTo>
                  <a:pt x="9648" y="13792"/>
                  <a:pt x="5050" y="13792"/>
                  <a:pt x="2219" y="16623"/>
                </a:cubicBezTo>
                <a:cubicBezTo>
                  <a:pt x="-611" y="19454"/>
                  <a:pt x="-611" y="24052"/>
                  <a:pt x="2219" y="26883"/>
                </a:cubicBezTo>
                <a:lnTo>
                  <a:pt x="33337" y="57978"/>
                </a:lnTo>
                <a:lnTo>
                  <a:pt x="2242" y="89096"/>
                </a:lnTo>
                <a:cubicBezTo>
                  <a:pt x="-589" y="91927"/>
                  <a:pt x="-589" y="96525"/>
                  <a:pt x="2242" y="99356"/>
                </a:cubicBezTo>
                <a:cubicBezTo>
                  <a:pt x="5073" y="102187"/>
                  <a:pt x="9671" y="102187"/>
                  <a:pt x="12502" y="99356"/>
                </a:cubicBezTo>
                <a:lnTo>
                  <a:pt x="43597" y="68238"/>
                </a:lnTo>
                <a:lnTo>
                  <a:pt x="74715" y="99333"/>
                </a:lnTo>
                <a:cubicBezTo>
                  <a:pt x="77546" y="102164"/>
                  <a:pt x="82143" y="102164"/>
                  <a:pt x="84974" y="99333"/>
                </a:cubicBezTo>
                <a:cubicBezTo>
                  <a:pt x="87805" y="96502"/>
                  <a:pt x="87805" y="91905"/>
                  <a:pt x="84974" y="89074"/>
                </a:cubicBezTo>
                <a:lnTo>
                  <a:pt x="53856" y="57978"/>
                </a:lnTo>
                <a:lnTo>
                  <a:pt x="84952" y="26860"/>
                </a:lnTo>
                <a:cubicBezTo>
                  <a:pt x="87783" y="24029"/>
                  <a:pt x="87783" y="19432"/>
                  <a:pt x="84952" y="16601"/>
                </a:cubicBezTo>
                <a:cubicBezTo>
                  <a:pt x="82121" y="13770"/>
                  <a:pt x="77523" y="13770"/>
                  <a:pt x="74692" y="16601"/>
                </a:cubicBezTo>
                <a:lnTo>
                  <a:pt x="43597" y="47719"/>
                </a:lnTo>
                <a:lnTo>
                  <a:pt x="12479" y="16623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0441" y="3465447"/>
            <a:ext cx="1888435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 recall—rarely assign these labels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3872949"/>
            <a:ext cx="5307496" cy="967409"/>
          </a:xfrm>
          <a:custGeom>
            <a:avLst/>
            <a:gdLst/>
            <a:ahLst/>
            <a:cxnLst/>
            <a:rect l="l" t="t" r="r" b="b"/>
            <a:pathLst>
              <a:path w="5307496" h="967409">
                <a:moveTo>
                  <a:pt x="66258" y="0"/>
                </a:moveTo>
                <a:lnTo>
                  <a:pt x="5241238" y="0"/>
                </a:lnTo>
                <a:cubicBezTo>
                  <a:pt x="5277831" y="0"/>
                  <a:pt x="5307496" y="29665"/>
                  <a:pt x="5307496" y="66258"/>
                </a:cubicBezTo>
                <a:lnTo>
                  <a:pt x="5307496" y="901151"/>
                </a:lnTo>
                <a:cubicBezTo>
                  <a:pt x="5307496" y="937744"/>
                  <a:pt x="5277831" y="967409"/>
                  <a:pt x="5241238" y="967409"/>
                </a:cubicBezTo>
                <a:lnTo>
                  <a:pt x="66258" y="967409"/>
                </a:lnTo>
                <a:cubicBezTo>
                  <a:pt x="29665" y="967409"/>
                  <a:pt x="0" y="937744"/>
                  <a:pt x="0" y="901151"/>
                </a:cubicBezTo>
                <a:lnTo>
                  <a:pt x="0" y="66258"/>
                </a:lnTo>
                <a:cubicBezTo>
                  <a:pt x="0" y="29665"/>
                  <a:pt x="29665" y="0"/>
                  <a:pt x="6625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9235" y="4008783"/>
            <a:ext cx="511037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 </a:t>
            </a: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Keyword Dependency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9235" y="4306957"/>
            <a:ext cx="5102087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Models rely heavily on </a:t>
            </a:r>
            <a:r>
              <a:rPr lang="en-US" sz="10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canonical action verbs</a:t>
            </a: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("define", "compare", "evaluate"), potentially misjudging creative phrasings.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5391" y="927652"/>
            <a:ext cx="5665304" cy="3818283"/>
          </a:xfrm>
          <a:custGeom>
            <a:avLst/>
            <a:gdLst/>
            <a:ahLst/>
            <a:cxnLst/>
            <a:rect l="l" t="t" r="r" b="b"/>
            <a:pathLst>
              <a:path w="5665304" h="3818283">
                <a:moveTo>
                  <a:pt x="33130" y="0"/>
                </a:moveTo>
                <a:lnTo>
                  <a:pt x="5599057" y="0"/>
                </a:lnTo>
                <a:cubicBezTo>
                  <a:pt x="5635644" y="0"/>
                  <a:pt x="5665304" y="29660"/>
                  <a:pt x="5665304" y="66247"/>
                </a:cubicBezTo>
                <a:lnTo>
                  <a:pt x="5665304" y="3752035"/>
                </a:lnTo>
                <a:cubicBezTo>
                  <a:pt x="5665304" y="3788623"/>
                  <a:pt x="5635644" y="3818283"/>
                  <a:pt x="5599057" y="3818283"/>
                </a:cubicBezTo>
                <a:lnTo>
                  <a:pt x="33130" y="3818283"/>
                </a:lnTo>
                <a:cubicBezTo>
                  <a:pt x="14833" y="3818283"/>
                  <a:pt x="0" y="3803450"/>
                  <a:pt x="0" y="3785152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95391" y="927652"/>
            <a:ext cx="33130" cy="3818283"/>
          </a:xfrm>
          <a:custGeom>
            <a:avLst/>
            <a:gdLst/>
            <a:ahLst/>
            <a:cxnLst/>
            <a:rect l="l" t="t" r="r" b="b"/>
            <a:pathLst>
              <a:path w="33130" h="3818283">
                <a:moveTo>
                  <a:pt x="33130" y="0"/>
                </a:moveTo>
                <a:lnTo>
                  <a:pt x="33130" y="0"/>
                </a:lnTo>
                <a:lnTo>
                  <a:pt x="33130" y="3818283"/>
                </a:lnTo>
                <a:lnTo>
                  <a:pt x="33130" y="3818283"/>
                </a:lnTo>
                <a:cubicBezTo>
                  <a:pt x="14833" y="3818283"/>
                  <a:pt x="0" y="3803450"/>
                  <a:pt x="0" y="3785152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98315" y="1126435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72473" y="0"/>
                </a:moveTo>
                <a:cubicBezTo>
                  <a:pt x="83894" y="0"/>
                  <a:pt x="93179" y="6956"/>
                  <a:pt x="93179" y="15530"/>
                </a:cubicBezTo>
                <a:cubicBezTo>
                  <a:pt x="93179" y="18895"/>
                  <a:pt x="91756" y="22001"/>
                  <a:pt x="89297" y="24557"/>
                </a:cubicBezTo>
                <a:cubicBezTo>
                  <a:pt x="87162" y="26789"/>
                  <a:pt x="85414" y="29507"/>
                  <a:pt x="85414" y="32613"/>
                </a:cubicBezTo>
                <a:cubicBezTo>
                  <a:pt x="85414" y="37466"/>
                  <a:pt x="89362" y="41413"/>
                  <a:pt x="94215" y="41413"/>
                </a:cubicBezTo>
                <a:lnTo>
                  <a:pt x="108709" y="41413"/>
                </a:lnTo>
                <a:cubicBezTo>
                  <a:pt x="117283" y="41413"/>
                  <a:pt x="124239" y="48369"/>
                  <a:pt x="124239" y="56943"/>
                </a:cubicBezTo>
                <a:lnTo>
                  <a:pt x="124239" y="71438"/>
                </a:lnTo>
                <a:cubicBezTo>
                  <a:pt x="124239" y="76291"/>
                  <a:pt x="128186" y="80238"/>
                  <a:pt x="133039" y="80238"/>
                </a:cubicBezTo>
                <a:cubicBezTo>
                  <a:pt x="136113" y="80238"/>
                  <a:pt x="138863" y="78491"/>
                  <a:pt x="141096" y="76355"/>
                </a:cubicBezTo>
                <a:cubicBezTo>
                  <a:pt x="143651" y="73929"/>
                  <a:pt x="146757" y="72473"/>
                  <a:pt x="150122" y="72473"/>
                </a:cubicBezTo>
                <a:cubicBezTo>
                  <a:pt x="158696" y="72473"/>
                  <a:pt x="165652" y="81758"/>
                  <a:pt x="165652" y="93179"/>
                </a:cubicBezTo>
                <a:cubicBezTo>
                  <a:pt x="165652" y="104600"/>
                  <a:pt x="158696" y="113886"/>
                  <a:pt x="150122" y="113886"/>
                </a:cubicBezTo>
                <a:cubicBezTo>
                  <a:pt x="146757" y="113886"/>
                  <a:pt x="143619" y="112462"/>
                  <a:pt x="141096" y="110003"/>
                </a:cubicBezTo>
                <a:cubicBezTo>
                  <a:pt x="138863" y="107868"/>
                  <a:pt x="136145" y="106121"/>
                  <a:pt x="133039" y="106121"/>
                </a:cubicBezTo>
                <a:cubicBezTo>
                  <a:pt x="128186" y="106121"/>
                  <a:pt x="124239" y="110068"/>
                  <a:pt x="124239" y="114921"/>
                </a:cubicBezTo>
                <a:lnTo>
                  <a:pt x="124239" y="150122"/>
                </a:lnTo>
                <a:cubicBezTo>
                  <a:pt x="124239" y="158696"/>
                  <a:pt x="117283" y="165652"/>
                  <a:pt x="108709" y="165652"/>
                </a:cubicBezTo>
                <a:lnTo>
                  <a:pt x="90332" y="165652"/>
                </a:lnTo>
                <a:cubicBezTo>
                  <a:pt x="86191" y="165652"/>
                  <a:pt x="82826" y="162287"/>
                  <a:pt x="82826" y="158146"/>
                </a:cubicBezTo>
                <a:cubicBezTo>
                  <a:pt x="82826" y="155169"/>
                  <a:pt x="84703" y="152549"/>
                  <a:pt x="87097" y="150769"/>
                </a:cubicBezTo>
                <a:cubicBezTo>
                  <a:pt x="90850" y="147955"/>
                  <a:pt x="93179" y="144072"/>
                  <a:pt x="93179" y="139769"/>
                </a:cubicBezTo>
                <a:cubicBezTo>
                  <a:pt x="93179" y="131195"/>
                  <a:pt x="83894" y="124239"/>
                  <a:pt x="72473" y="124239"/>
                </a:cubicBezTo>
                <a:cubicBezTo>
                  <a:pt x="61052" y="124239"/>
                  <a:pt x="51766" y="131195"/>
                  <a:pt x="51766" y="139769"/>
                </a:cubicBezTo>
                <a:cubicBezTo>
                  <a:pt x="51766" y="144072"/>
                  <a:pt x="54096" y="147955"/>
                  <a:pt x="57849" y="150769"/>
                </a:cubicBezTo>
                <a:cubicBezTo>
                  <a:pt x="60243" y="152549"/>
                  <a:pt x="62120" y="155137"/>
                  <a:pt x="62120" y="158146"/>
                </a:cubicBezTo>
                <a:cubicBezTo>
                  <a:pt x="62120" y="162287"/>
                  <a:pt x="58755" y="165652"/>
                  <a:pt x="54613" y="165652"/>
                </a:cubicBezTo>
                <a:lnTo>
                  <a:pt x="15530" y="165652"/>
                </a:lnTo>
                <a:cubicBezTo>
                  <a:pt x="6956" y="165652"/>
                  <a:pt x="0" y="158696"/>
                  <a:pt x="0" y="150122"/>
                </a:cubicBezTo>
                <a:lnTo>
                  <a:pt x="0" y="111039"/>
                </a:lnTo>
                <a:cubicBezTo>
                  <a:pt x="0" y="106897"/>
                  <a:pt x="3365" y="103533"/>
                  <a:pt x="7506" y="103533"/>
                </a:cubicBezTo>
                <a:cubicBezTo>
                  <a:pt x="10483" y="103533"/>
                  <a:pt x="13103" y="105409"/>
                  <a:pt x="14883" y="107803"/>
                </a:cubicBezTo>
                <a:cubicBezTo>
                  <a:pt x="17698" y="111556"/>
                  <a:pt x="21580" y="113886"/>
                  <a:pt x="25883" y="113886"/>
                </a:cubicBezTo>
                <a:cubicBezTo>
                  <a:pt x="34457" y="113886"/>
                  <a:pt x="41413" y="104600"/>
                  <a:pt x="41413" y="93179"/>
                </a:cubicBezTo>
                <a:cubicBezTo>
                  <a:pt x="41413" y="81758"/>
                  <a:pt x="34457" y="72473"/>
                  <a:pt x="25883" y="72473"/>
                </a:cubicBezTo>
                <a:cubicBezTo>
                  <a:pt x="21580" y="72473"/>
                  <a:pt x="17698" y="74802"/>
                  <a:pt x="14883" y="78555"/>
                </a:cubicBezTo>
                <a:cubicBezTo>
                  <a:pt x="13103" y="80950"/>
                  <a:pt x="10515" y="82826"/>
                  <a:pt x="7506" y="82826"/>
                </a:cubicBezTo>
                <a:cubicBezTo>
                  <a:pt x="3365" y="82826"/>
                  <a:pt x="0" y="79461"/>
                  <a:pt x="0" y="75320"/>
                </a:cubicBezTo>
                <a:lnTo>
                  <a:pt x="0" y="56943"/>
                </a:lnTo>
                <a:cubicBezTo>
                  <a:pt x="0" y="48369"/>
                  <a:pt x="6956" y="41413"/>
                  <a:pt x="15530" y="41413"/>
                </a:cubicBezTo>
                <a:lnTo>
                  <a:pt x="50731" y="41413"/>
                </a:lnTo>
                <a:cubicBezTo>
                  <a:pt x="55584" y="41413"/>
                  <a:pt x="59531" y="37466"/>
                  <a:pt x="59531" y="32613"/>
                </a:cubicBezTo>
                <a:cubicBezTo>
                  <a:pt x="59531" y="29539"/>
                  <a:pt x="57784" y="26789"/>
                  <a:pt x="55649" y="24557"/>
                </a:cubicBezTo>
                <a:cubicBezTo>
                  <a:pt x="53222" y="22001"/>
                  <a:pt x="51766" y="18895"/>
                  <a:pt x="51766" y="15530"/>
                </a:cubicBezTo>
                <a:cubicBezTo>
                  <a:pt x="51766" y="6956"/>
                  <a:pt x="61052" y="0"/>
                  <a:pt x="72473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4674" y="1093304"/>
            <a:ext cx="5193196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Domain-Specific Challenges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0922" y="1461052"/>
            <a:ext cx="5307496" cy="967409"/>
          </a:xfrm>
          <a:custGeom>
            <a:avLst/>
            <a:gdLst/>
            <a:ahLst/>
            <a:cxnLst/>
            <a:rect l="l" t="t" r="r" b="b"/>
            <a:pathLst>
              <a:path w="5307496" h="967409">
                <a:moveTo>
                  <a:pt x="66258" y="0"/>
                </a:moveTo>
                <a:lnTo>
                  <a:pt x="5241238" y="0"/>
                </a:lnTo>
                <a:cubicBezTo>
                  <a:pt x="5277831" y="0"/>
                  <a:pt x="5307496" y="29665"/>
                  <a:pt x="5307496" y="66258"/>
                </a:cubicBezTo>
                <a:lnTo>
                  <a:pt x="5307496" y="901151"/>
                </a:lnTo>
                <a:cubicBezTo>
                  <a:pt x="5307496" y="937744"/>
                  <a:pt x="5277831" y="967409"/>
                  <a:pt x="5241238" y="967409"/>
                </a:cubicBezTo>
                <a:lnTo>
                  <a:pt x="66258" y="967409"/>
                </a:lnTo>
                <a:cubicBezTo>
                  <a:pt x="29665" y="967409"/>
                  <a:pt x="0" y="937744"/>
                  <a:pt x="0" y="901151"/>
                </a:cubicBezTo>
                <a:lnTo>
                  <a:pt x="0" y="66258"/>
                </a:lnTo>
                <a:cubicBezTo>
                  <a:pt x="0" y="29665"/>
                  <a:pt x="29665" y="0"/>
                  <a:pt x="6625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27110" y="1630024"/>
            <a:ext cx="186359" cy="165652"/>
          </a:xfrm>
          <a:custGeom>
            <a:avLst/>
            <a:gdLst/>
            <a:ahLst/>
            <a:cxnLst/>
            <a:rect l="l" t="t" r="r" b="b"/>
            <a:pathLst>
              <a:path w="186359" h="165652">
                <a:moveTo>
                  <a:pt x="124239" y="46590"/>
                </a:moveTo>
                <a:cubicBezTo>
                  <a:pt x="124239" y="78038"/>
                  <a:pt x="96415" y="103533"/>
                  <a:pt x="62120" y="103533"/>
                </a:cubicBezTo>
                <a:cubicBezTo>
                  <a:pt x="53481" y="103533"/>
                  <a:pt x="45263" y="101915"/>
                  <a:pt x="37789" y="99003"/>
                </a:cubicBezTo>
                <a:lnTo>
                  <a:pt x="11389" y="112980"/>
                </a:lnTo>
                <a:cubicBezTo>
                  <a:pt x="8380" y="114565"/>
                  <a:pt x="4691" y="114015"/>
                  <a:pt x="2265" y="111621"/>
                </a:cubicBezTo>
                <a:cubicBezTo>
                  <a:pt x="-162" y="109227"/>
                  <a:pt x="-712" y="105506"/>
                  <a:pt x="906" y="102497"/>
                </a:cubicBezTo>
                <a:lnTo>
                  <a:pt x="12424" y="80755"/>
                </a:lnTo>
                <a:cubicBezTo>
                  <a:pt x="4627" y="71243"/>
                  <a:pt x="0" y="59402"/>
                  <a:pt x="0" y="46590"/>
                </a:cubicBezTo>
                <a:cubicBezTo>
                  <a:pt x="0" y="15142"/>
                  <a:pt x="27824" y="-10353"/>
                  <a:pt x="62120" y="-10353"/>
                </a:cubicBezTo>
                <a:cubicBezTo>
                  <a:pt x="96415" y="-10353"/>
                  <a:pt x="124239" y="15142"/>
                  <a:pt x="124239" y="46590"/>
                </a:cubicBezTo>
                <a:close/>
                <a:moveTo>
                  <a:pt x="124239" y="165652"/>
                </a:moveTo>
                <a:cubicBezTo>
                  <a:pt x="93794" y="165652"/>
                  <a:pt x="68461" y="145560"/>
                  <a:pt x="63155" y="119062"/>
                </a:cubicBezTo>
                <a:cubicBezTo>
                  <a:pt x="101980" y="118577"/>
                  <a:pt x="135725" y="90947"/>
                  <a:pt x="139445" y="53481"/>
                </a:cubicBezTo>
                <a:cubicBezTo>
                  <a:pt x="166396" y="59693"/>
                  <a:pt x="186359" y="82050"/>
                  <a:pt x="186359" y="108709"/>
                </a:cubicBezTo>
                <a:cubicBezTo>
                  <a:pt x="186359" y="121521"/>
                  <a:pt x="181732" y="133363"/>
                  <a:pt x="173935" y="142875"/>
                </a:cubicBezTo>
                <a:lnTo>
                  <a:pt x="185453" y="164617"/>
                </a:lnTo>
                <a:cubicBezTo>
                  <a:pt x="187038" y="167626"/>
                  <a:pt x="186488" y="171314"/>
                  <a:pt x="184094" y="173741"/>
                </a:cubicBezTo>
                <a:cubicBezTo>
                  <a:pt x="181700" y="176167"/>
                  <a:pt x="177979" y="176717"/>
                  <a:pt x="174970" y="175100"/>
                </a:cubicBezTo>
                <a:lnTo>
                  <a:pt x="148569" y="161123"/>
                </a:lnTo>
                <a:cubicBezTo>
                  <a:pt x="141096" y="164034"/>
                  <a:pt x="132878" y="165652"/>
                  <a:pt x="124239" y="16565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23213" y="1596893"/>
            <a:ext cx="1648239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Content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16756" y="1895067"/>
            <a:ext cx="5102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Interview responses:</a:t>
            </a: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54% accuracy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6756" y="2126980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Long, unstructured text with mixed cognitive levels. Kendall's τ ~0.5 with humans.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0922" y="2534483"/>
            <a:ext cx="5307496" cy="967409"/>
          </a:xfrm>
          <a:custGeom>
            <a:avLst/>
            <a:gdLst/>
            <a:ahLst/>
            <a:cxnLst/>
            <a:rect l="l" t="t" r="r" b="b"/>
            <a:pathLst>
              <a:path w="5307496" h="967409">
                <a:moveTo>
                  <a:pt x="66258" y="0"/>
                </a:moveTo>
                <a:lnTo>
                  <a:pt x="5241238" y="0"/>
                </a:lnTo>
                <a:cubicBezTo>
                  <a:pt x="5277831" y="0"/>
                  <a:pt x="5307496" y="29665"/>
                  <a:pt x="5307496" y="66258"/>
                </a:cubicBezTo>
                <a:lnTo>
                  <a:pt x="5307496" y="901151"/>
                </a:lnTo>
                <a:cubicBezTo>
                  <a:pt x="5307496" y="937744"/>
                  <a:pt x="5277831" y="967409"/>
                  <a:pt x="5241238" y="967409"/>
                </a:cubicBezTo>
                <a:lnTo>
                  <a:pt x="66258" y="967409"/>
                </a:lnTo>
                <a:cubicBezTo>
                  <a:pt x="29665" y="967409"/>
                  <a:pt x="0" y="937744"/>
                  <a:pt x="0" y="901151"/>
                </a:cubicBezTo>
                <a:lnTo>
                  <a:pt x="0" y="66258"/>
                </a:lnTo>
                <a:cubicBezTo>
                  <a:pt x="0" y="29665"/>
                  <a:pt x="29665" y="0"/>
                  <a:pt x="6625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58169" y="2703447"/>
            <a:ext cx="124239" cy="165652"/>
          </a:xfrm>
          <a:custGeom>
            <a:avLst/>
            <a:gdLst/>
            <a:ahLst/>
            <a:cxnLst/>
            <a:rect l="l" t="t" r="r" b="b"/>
            <a:pathLst>
              <a:path w="124239" h="165652">
                <a:moveTo>
                  <a:pt x="62120" y="0"/>
                </a:moveTo>
                <a:cubicBezTo>
                  <a:pt x="44972" y="0"/>
                  <a:pt x="31060" y="13912"/>
                  <a:pt x="31060" y="31060"/>
                </a:cubicBezTo>
                <a:lnTo>
                  <a:pt x="31060" y="72473"/>
                </a:lnTo>
                <a:cubicBezTo>
                  <a:pt x="31060" y="89620"/>
                  <a:pt x="44972" y="103533"/>
                  <a:pt x="62120" y="103533"/>
                </a:cubicBezTo>
                <a:cubicBezTo>
                  <a:pt x="79267" y="103533"/>
                  <a:pt x="93179" y="89620"/>
                  <a:pt x="93179" y="72473"/>
                </a:cubicBezTo>
                <a:lnTo>
                  <a:pt x="93179" y="31060"/>
                </a:lnTo>
                <a:cubicBezTo>
                  <a:pt x="93179" y="13912"/>
                  <a:pt x="79267" y="0"/>
                  <a:pt x="62120" y="0"/>
                </a:cubicBezTo>
                <a:close/>
                <a:moveTo>
                  <a:pt x="15530" y="59531"/>
                </a:moveTo>
                <a:cubicBezTo>
                  <a:pt x="15530" y="55228"/>
                  <a:pt x="12068" y="51766"/>
                  <a:pt x="7765" y="51766"/>
                </a:cubicBezTo>
                <a:cubicBezTo>
                  <a:pt x="3462" y="51766"/>
                  <a:pt x="0" y="55228"/>
                  <a:pt x="0" y="59531"/>
                </a:cubicBezTo>
                <a:lnTo>
                  <a:pt x="0" y="72473"/>
                </a:lnTo>
                <a:cubicBezTo>
                  <a:pt x="0" y="104147"/>
                  <a:pt x="23715" y="130289"/>
                  <a:pt x="54355" y="134107"/>
                </a:cubicBezTo>
                <a:lnTo>
                  <a:pt x="54355" y="150122"/>
                </a:lnTo>
                <a:lnTo>
                  <a:pt x="38825" y="150122"/>
                </a:lnTo>
                <a:cubicBezTo>
                  <a:pt x="34522" y="150122"/>
                  <a:pt x="31060" y="153584"/>
                  <a:pt x="31060" y="157887"/>
                </a:cubicBezTo>
                <a:cubicBezTo>
                  <a:pt x="31060" y="162190"/>
                  <a:pt x="34522" y="165652"/>
                  <a:pt x="38825" y="165652"/>
                </a:cubicBezTo>
                <a:lnTo>
                  <a:pt x="85414" y="165652"/>
                </a:lnTo>
                <a:cubicBezTo>
                  <a:pt x="89717" y="165652"/>
                  <a:pt x="93179" y="162190"/>
                  <a:pt x="93179" y="157887"/>
                </a:cubicBezTo>
                <a:cubicBezTo>
                  <a:pt x="93179" y="153584"/>
                  <a:pt x="89717" y="150122"/>
                  <a:pt x="85414" y="150122"/>
                </a:cubicBezTo>
                <a:lnTo>
                  <a:pt x="69885" y="150122"/>
                </a:lnTo>
                <a:lnTo>
                  <a:pt x="69885" y="134107"/>
                </a:lnTo>
                <a:cubicBezTo>
                  <a:pt x="100524" y="130289"/>
                  <a:pt x="124239" y="104147"/>
                  <a:pt x="124239" y="72473"/>
                </a:cubicBezTo>
                <a:lnTo>
                  <a:pt x="124239" y="59531"/>
                </a:lnTo>
                <a:cubicBezTo>
                  <a:pt x="124239" y="55228"/>
                  <a:pt x="120777" y="51766"/>
                  <a:pt x="116474" y="51766"/>
                </a:cubicBezTo>
                <a:cubicBezTo>
                  <a:pt x="112171" y="51766"/>
                  <a:pt x="108709" y="55228"/>
                  <a:pt x="108709" y="59531"/>
                </a:cubicBezTo>
                <a:lnTo>
                  <a:pt x="108709" y="72473"/>
                </a:lnTo>
                <a:cubicBezTo>
                  <a:pt x="108709" y="98194"/>
                  <a:pt x="87841" y="119062"/>
                  <a:pt x="62120" y="119062"/>
                </a:cubicBezTo>
                <a:cubicBezTo>
                  <a:pt x="36398" y="119062"/>
                  <a:pt x="15530" y="98194"/>
                  <a:pt x="15530" y="72473"/>
                </a:cubicBezTo>
                <a:lnTo>
                  <a:pt x="15530" y="59531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23213" y="2670316"/>
            <a:ext cx="13500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Transcribed Speech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16756" y="2968490"/>
            <a:ext cx="5102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questions:</a:t>
            </a: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64% accuracy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16756" y="3200403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Speech recognition errors (Whisper) can mislead classification. Context inclusion helps mitigate.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0922" y="3607906"/>
            <a:ext cx="5307496" cy="967409"/>
          </a:xfrm>
          <a:custGeom>
            <a:avLst/>
            <a:gdLst/>
            <a:ahLst/>
            <a:cxnLst/>
            <a:rect l="l" t="t" r="r" b="b"/>
            <a:pathLst>
              <a:path w="5307496" h="967409">
                <a:moveTo>
                  <a:pt x="66258" y="0"/>
                </a:moveTo>
                <a:lnTo>
                  <a:pt x="5241238" y="0"/>
                </a:lnTo>
                <a:cubicBezTo>
                  <a:pt x="5277831" y="0"/>
                  <a:pt x="5307496" y="29665"/>
                  <a:pt x="5307496" y="66258"/>
                </a:cubicBezTo>
                <a:lnTo>
                  <a:pt x="5307496" y="901151"/>
                </a:lnTo>
                <a:cubicBezTo>
                  <a:pt x="5307496" y="937744"/>
                  <a:pt x="5277831" y="967409"/>
                  <a:pt x="5241238" y="967409"/>
                </a:cubicBezTo>
                <a:lnTo>
                  <a:pt x="66258" y="967409"/>
                </a:lnTo>
                <a:cubicBezTo>
                  <a:pt x="29665" y="967409"/>
                  <a:pt x="0" y="937744"/>
                  <a:pt x="0" y="901151"/>
                </a:cubicBezTo>
                <a:lnTo>
                  <a:pt x="0" y="66258"/>
                </a:lnTo>
                <a:cubicBezTo>
                  <a:pt x="0" y="29665"/>
                  <a:pt x="29665" y="0"/>
                  <a:pt x="6625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27110" y="3776870"/>
            <a:ext cx="186359" cy="165652"/>
          </a:xfrm>
          <a:custGeom>
            <a:avLst/>
            <a:gdLst/>
            <a:ahLst/>
            <a:cxnLst/>
            <a:rect l="l" t="t" r="r" b="b"/>
            <a:pathLst>
              <a:path w="186359" h="165652">
                <a:moveTo>
                  <a:pt x="10353" y="15530"/>
                </a:moveTo>
                <a:cubicBezTo>
                  <a:pt x="10353" y="6956"/>
                  <a:pt x="17309" y="0"/>
                  <a:pt x="25883" y="0"/>
                </a:cubicBezTo>
                <a:lnTo>
                  <a:pt x="41413" y="0"/>
                </a:lnTo>
                <a:cubicBezTo>
                  <a:pt x="47140" y="0"/>
                  <a:pt x="51766" y="4627"/>
                  <a:pt x="51766" y="10353"/>
                </a:cubicBezTo>
                <a:cubicBezTo>
                  <a:pt x="51766" y="16080"/>
                  <a:pt x="47140" y="20707"/>
                  <a:pt x="41413" y="20707"/>
                </a:cubicBezTo>
                <a:lnTo>
                  <a:pt x="31060" y="20707"/>
                </a:lnTo>
                <a:lnTo>
                  <a:pt x="31060" y="62120"/>
                </a:lnTo>
                <a:cubicBezTo>
                  <a:pt x="31060" y="79267"/>
                  <a:pt x="44972" y="93179"/>
                  <a:pt x="62120" y="93179"/>
                </a:cubicBezTo>
                <a:cubicBezTo>
                  <a:pt x="79267" y="93179"/>
                  <a:pt x="93179" y="79267"/>
                  <a:pt x="93179" y="62120"/>
                </a:cubicBezTo>
                <a:lnTo>
                  <a:pt x="93179" y="20707"/>
                </a:lnTo>
                <a:lnTo>
                  <a:pt x="82826" y="20707"/>
                </a:lnTo>
                <a:cubicBezTo>
                  <a:pt x="77099" y="20707"/>
                  <a:pt x="72473" y="16080"/>
                  <a:pt x="72473" y="10353"/>
                </a:cubicBezTo>
                <a:cubicBezTo>
                  <a:pt x="72473" y="4627"/>
                  <a:pt x="77099" y="0"/>
                  <a:pt x="82826" y="0"/>
                </a:cubicBezTo>
                <a:lnTo>
                  <a:pt x="98356" y="0"/>
                </a:lnTo>
                <a:cubicBezTo>
                  <a:pt x="106930" y="0"/>
                  <a:pt x="113886" y="6956"/>
                  <a:pt x="113886" y="15530"/>
                </a:cubicBezTo>
                <a:lnTo>
                  <a:pt x="113886" y="62120"/>
                </a:lnTo>
                <a:cubicBezTo>
                  <a:pt x="113886" y="87162"/>
                  <a:pt x="96091" y="108062"/>
                  <a:pt x="72473" y="112851"/>
                </a:cubicBezTo>
                <a:lnTo>
                  <a:pt x="72473" y="119062"/>
                </a:lnTo>
                <a:cubicBezTo>
                  <a:pt x="72473" y="139090"/>
                  <a:pt x="88682" y="155299"/>
                  <a:pt x="108709" y="155299"/>
                </a:cubicBezTo>
                <a:cubicBezTo>
                  <a:pt x="128736" y="155299"/>
                  <a:pt x="144946" y="139090"/>
                  <a:pt x="144946" y="119062"/>
                </a:cubicBezTo>
                <a:lnTo>
                  <a:pt x="144946" y="91400"/>
                </a:lnTo>
                <a:cubicBezTo>
                  <a:pt x="132878" y="87129"/>
                  <a:pt x="124239" y="75644"/>
                  <a:pt x="124239" y="62120"/>
                </a:cubicBezTo>
                <a:cubicBezTo>
                  <a:pt x="124239" y="44972"/>
                  <a:pt x="138151" y="31060"/>
                  <a:pt x="155299" y="31060"/>
                </a:cubicBezTo>
                <a:cubicBezTo>
                  <a:pt x="172447" y="31060"/>
                  <a:pt x="186359" y="44972"/>
                  <a:pt x="186359" y="62120"/>
                </a:cubicBezTo>
                <a:cubicBezTo>
                  <a:pt x="186359" y="75644"/>
                  <a:pt x="177720" y="87162"/>
                  <a:pt x="165652" y="91400"/>
                </a:cubicBezTo>
                <a:lnTo>
                  <a:pt x="165652" y="119062"/>
                </a:lnTo>
                <a:cubicBezTo>
                  <a:pt x="165652" y="150511"/>
                  <a:pt x="140157" y="176005"/>
                  <a:pt x="108709" y="176005"/>
                </a:cubicBezTo>
                <a:cubicBezTo>
                  <a:pt x="77261" y="176005"/>
                  <a:pt x="51766" y="150511"/>
                  <a:pt x="51766" y="119062"/>
                </a:cubicBezTo>
                <a:lnTo>
                  <a:pt x="51766" y="112851"/>
                </a:lnTo>
                <a:cubicBezTo>
                  <a:pt x="28148" y="108062"/>
                  <a:pt x="10353" y="87162"/>
                  <a:pt x="10353" y="62120"/>
                </a:cubicBezTo>
                <a:lnTo>
                  <a:pt x="10353" y="15530"/>
                </a:lnTo>
                <a:close/>
                <a:moveTo>
                  <a:pt x="155299" y="72473"/>
                </a:moveTo>
                <a:cubicBezTo>
                  <a:pt x="161013" y="72473"/>
                  <a:pt x="165652" y="67834"/>
                  <a:pt x="165652" y="62120"/>
                </a:cubicBezTo>
                <a:cubicBezTo>
                  <a:pt x="165652" y="56405"/>
                  <a:pt x="161013" y="51766"/>
                  <a:pt x="155299" y="51766"/>
                </a:cubicBezTo>
                <a:cubicBezTo>
                  <a:pt x="149585" y="51766"/>
                  <a:pt x="144946" y="56405"/>
                  <a:pt x="144946" y="62120"/>
                </a:cubicBezTo>
                <a:cubicBezTo>
                  <a:pt x="144946" y="67834"/>
                  <a:pt x="149585" y="72473"/>
                  <a:pt x="155299" y="7247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23213" y="3743739"/>
            <a:ext cx="127552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Medical Education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16756" y="4041913"/>
            <a:ext cx="5102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Multi-step reasoning:</a:t>
            </a: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Recall fact → Apply to case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16756" y="4273826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Questions requiring multiple cognitive steps challenge classification.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5452" y="4883433"/>
            <a:ext cx="5670274" cy="1802296"/>
          </a:xfrm>
          <a:custGeom>
            <a:avLst/>
            <a:gdLst/>
            <a:ahLst/>
            <a:cxnLst/>
            <a:rect l="l" t="t" r="r" b="b"/>
            <a:pathLst>
              <a:path w="5670274" h="1802296">
                <a:moveTo>
                  <a:pt x="66252" y="0"/>
                </a:moveTo>
                <a:lnTo>
                  <a:pt x="5604022" y="0"/>
                </a:lnTo>
                <a:cubicBezTo>
                  <a:pt x="5640612" y="0"/>
                  <a:pt x="5670274" y="29662"/>
                  <a:pt x="5670274" y="66252"/>
                </a:cubicBezTo>
                <a:lnTo>
                  <a:pt x="5670274" y="1736043"/>
                </a:lnTo>
                <a:cubicBezTo>
                  <a:pt x="5670274" y="1772633"/>
                  <a:pt x="5640612" y="1802296"/>
                  <a:pt x="5604022" y="1802296"/>
                </a:cubicBezTo>
                <a:lnTo>
                  <a:pt x="66252" y="1802296"/>
                </a:lnTo>
                <a:cubicBezTo>
                  <a:pt x="29662" y="1802296"/>
                  <a:pt x="0" y="1772633"/>
                  <a:pt x="0" y="1736043"/>
                </a:cubicBezTo>
                <a:lnTo>
                  <a:pt x="0" y="66252"/>
                </a:lnTo>
                <a:cubicBezTo>
                  <a:pt x="0" y="29687"/>
                  <a:pt x="29687" y="0"/>
                  <a:pt x="6625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45307" y="5063990"/>
            <a:ext cx="149087" cy="149087"/>
          </a:xfrm>
          <a:custGeom>
            <a:avLst/>
            <a:gdLst/>
            <a:ahLst/>
            <a:cxnLst/>
            <a:rect l="l" t="t" r="r" b="b"/>
            <a:pathLst>
              <a:path w="149087" h="149087">
                <a:moveTo>
                  <a:pt x="9318" y="9318"/>
                </a:moveTo>
                <a:cubicBezTo>
                  <a:pt x="14472" y="9318"/>
                  <a:pt x="18636" y="13482"/>
                  <a:pt x="18636" y="18636"/>
                </a:cubicBezTo>
                <a:lnTo>
                  <a:pt x="18636" y="116474"/>
                </a:lnTo>
                <a:cubicBezTo>
                  <a:pt x="18636" y="119037"/>
                  <a:pt x="20732" y="121133"/>
                  <a:pt x="23295" y="121133"/>
                </a:cubicBezTo>
                <a:lnTo>
                  <a:pt x="139769" y="121133"/>
                </a:lnTo>
                <a:cubicBezTo>
                  <a:pt x="144923" y="121133"/>
                  <a:pt x="149087" y="125297"/>
                  <a:pt x="149087" y="130451"/>
                </a:cubicBezTo>
                <a:cubicBezTo>
                  <a:pt x="149087" y="135605"/>
                  <a:pt x="144923" y="139769"/>
                  <a:pt x="139769" y="139769"/>
                </a:cubicBezTo>
                <a:lnTo>
                  <a:pt x="23295" y="139769"/>
                </a:lnTo>
                <a:cubicBezTo>
                  <a:pt x="10424" y="139769"/>
                  <a:pt x="0" y="129345"/>
                  <a:pt x="0" y="116474"/>
                </a:cubicBezTo>
                <a:lnTo>
                  <a:pt x="0" y="18636"/>
                </a:lnTo>
                <a:cubicBezTo>
                  <a:pt x="0" y="13482"/>
                  <a:pt x="4164" y="9318"/>
                  <a:pt x="9318" y="9318"/>
                </a:cubicBezTo>
                <a:close/>
                <a:moveTo>
                  <a:pt x="37272" y="27954"/>
                </a:moveTo>
                <a:cubicBezTo>
                  <a:pt x="37272" y="22800"/>
                  <a:pt x="41436" y="18636"/>
                  <a:pt x="46590" y="18636"/>
                </a:cubicBezTo>
                <a:lnTo>
                  <a:pt x="102497" y="18636"/>
                </a:lnTo>
                <a:cubicBezTo>
                  <a:pt x="107651" y="18636"/>
                  <a:pt x="111815" y="22800"/>
                  <a:pt x="111815" y="27954"/>
                </a:cubicBezTo>
                <a:cubicBezTo>
                  <a:pt x="111815" y="33108"/>
                  <a:pt x="107651" y="37272"/>
                  <a:pt x="102497" y="37272"/>
                </a:cubicBezTo>
                <a:lnTo>
                  <a:pt x="46590" y="37272"/>
                </a:lnTo>
                <a:cubicBezTo>
                  <a:pt x="41436" y="37272"/>
                  <a:pt x="37272" y="33108"/>
                  <a:pt x="37272" y="27954"/>
                </a:cubicBezTo>
                <a:close/>
                <a:moveTo>
                  <a:pt x="46590" y="51249"/>
                </a:moveTo>
                <a:lnTo>
                  <a:pt x="83861" y="51249"/>
                </a:lnTo>
                <a:cubicBezTo>
                  <a:pt x="89015" y="51249"/>
                  <a:pt x="93179" y="55413"/>
                  <a:pt x="93179" y="60567"/>
                </a:cubicBezTo>
                <a:cubicBezTo>
                  <a:pt x="93179" y="65721"/>
                  <a:pt x="89015" y="69885"/>
                  <a:pt x="83861" y="69885"/>
                </a:cubicBezTo>
                <a:lnTo>
                  <a:pt x="46590" y="69885"/>
                </a:lnTo>
                <a:cubicBezTo>
                  <a:pt x="41436" y="69885"/>
                  <a:pt x="37272" y="65721"/>
                  <a:pt x="37272" y="60567"/>
                </a:cubicBezTo>
                <a:cubicBezTo>
                  <a:pt x="37272" y="55413"/>
                  <a:pt x="41436" y="51249"/>
                  <a:pt x="46590" y="51249"/>
                </a:cubicBezTo>
                <a:close/>
                <a:moveTo>
                  <a:pt x="46590" y="83861"/>
                </a:moveTo>
                <a:lnTo>
                  <a:pt x="121133" y="83861"/>
                </a:lnTo>
                <a:cubicBezTo>
                  <a:pt x="126287" y="83861"/>
                  <a:pt x="130451" y="88025"/>
                  <a:pt x="130451" y="93179"/>
                </a:cubicBezTo>
                <a:cubicBezTo>
                  <a:pt x="130451" y="98333"/>
                  <a:pt x="126287" y="102497"/>
                  <a:pt x="121133" y="102497"/>
                </a:cubicBezTo>
                <a:lnTo>
                  <a:pt x="46590" y="102497"/>
                </a:lnTo>
                <a:cubicBezTo>
                  <a:pt x="41436" y="102497"/>
                  <a:pt x="37272" y="98333"/>
                  <a:pt x="37272" y="93179"/>
                </a:cubicBezTo>
                <a:cubicBezTo>
                  <a:pt x="37272" y="88025"/>
                  <a:pt x="41436" y="83861"/>
                  <a:pt x="46590" y="8386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15100" y="5022577"/>
            <a:ext cx="527602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by Content Type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24600" y="5337316"/>
            <a:ext cx="1350065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Structured exam items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00986" y="5320751"/>
            <a:ext cx="596348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87-94%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5618925"/>
            <a:ext cx="5391978" cy="66261"/>
          </a:xfrm>
          <a:custGeom>
            <a:avLst/>
            <a:gdLst/>
            <a:ahLst/>
            <a:cxnLst/>
            <a:rect l="l" t="t" r="r" b="b"/>
            <a:pathLst>
              <a:path w="5391978" h="66261">
                <a:moveTo>
                  <a:pt x="33130" y="0"/>
                </a:moveTo>
                <a:lnTo>
                  <a:pt x="5358848" y="0"/>
                </a:lnTo>
                <a:cubicBezTo>
                  <a:pt x="5377145" y="0"/>
                  <a:pt x="5391978" y="14833"/>
                  <a:pt x="5391978" y="33130"/>
                </a:cubicBezTo>
                <a:lnTo>
                  <a:pt x="5391978" y="33130"/>
                </a:lnTo>
                <a:cubicBezTo>
                  <a:pt x="5391978" y="51428"/>
                  <a:pt x="5377145" y="66261"/>
                  <a:pt x="5358848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24600" y="5618925"/>
            <a:ext cx="4853609" cy="66261"/>
          </a:xfrm>
          <a:custGeom>
            <a:avLst/>
            <a:gdLst/>
            <a:ahLst/>
            <a:cxnLst/>
            <a:rect l="l" t="t" r="r" b="b"/>
            <a:pathLst>
              <a:path w="4853609" h="66261">
                <a:moveTo>
                  <a:pt x="33130" y="0"/>
                </a:moveTo>
                <a:lnTo>
                  <a:pt x="4820478" y="0"/>
                </a:lnTo>
                <a:cubicBezTo>
                  <a:pt x="4838776" y="0"/>
                  <a:pt x="4853609" y="14833"/>
                  <a:pt x="4853609" y="33130"/>
                </a:cubicBezTo>
                <a:lnTo>
                  <a:pt x="4853609" y="33130"/>
                </a:lnTo>
                <a:cubicBezTo>
                  <a:pt x="4853609" y="51428"/>
                  <a:pt x="4838776" y="66261"/>
                  <a:pt x="4820478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24600" y="5768012"/>
            <a:ext cx="1159565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04506" y="5751447"/>
            <a:ext cx="596348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72-87%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4600" y="6049621"/>
            <a:ext cx="5391978" cy="66261"/>
          </a:xfrm>
          <a:custGeom>
            <a:avLst/>
            <a:gdLst/>
            <a:ahLst/>
            <a:cxnLst/>
            <a:rect l="l" t="t" r="r" b="b"/>
            <a:pathLst>
              <a:path w="5391978" h="66261">
                <a:moveTo>
                  <a:pt x="33130" y="0"/>
                </a:moveTo>
                <a:lnTo>
                  <a:pt x="5358848" y="0"/>
                </a:lnTo>
                <a:cubicBezTo>
                  <a:pt x="5377145" y="0"/>
                  <a:pt x="5391978" y="14833"/>
                  <a:pt x="5391978" y="33130"/>
                </a:cubicBezTo>
                <a:lnTo>
                  <a:pt x="5391978" y="33130"/>
                </a:lnTo>
                <a:cubicBezTo>
                  <a:pt x="5391978" y="51428"/>
                  <a:pt x="5377145" y="66261"/>
                  <a:pt x="5358848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24600" y="6049621"/>
            <a:ext cx="4315239" cy="66261"/>
          </a:xfrm>
          <a:custGeom>
            <a:avLst/>
            <a:gdLst/>
            <a:ahLst/>
            <a:cxnLst/>
            <a:rect l="l" t="t" r="r" b="b"/>
            <a:pathLst>
              <a:path w="4315239" h="66261">
                <a:moveTo>
                  <a:pt x="33130" y="0"/>
                </a:moveTo>
                <a:lnTo>
                  <a:pt x="4282109" y="0"/>
                </a:lnTo>
                <a:cubicBezTo>
                  <a:pt x="4300406" y="0"/>
                  <a:pt x="4315239" y="14833"/>
                  <a:pt x="4315239" y="33130"/>
                </a:cubicBezTo>
                <a:lnTo>
                  <a:pt x="4315239" y="33130"/>
                </a:lnTo>
                <a:cubicBezTo>
                  <a:pt x="4315239" y="51428"/>
                  <a:pt x="4300406" y="66261"/>
                  <a:pt x="4282109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24600" y="6198708"/>
            <a:ext cx="141632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content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24902" y="6182142"/>
            <a:ext cx="571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54-64%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4600" y="6480316"/>
            <a:ext cx="5391978" cy="66261"/>
          </a:xfrm>
          <a:custGeom>
            <a:avLst/>
            <a:gdLst/>
            <a:ahLst/>
            <a:cxnLst/>
            <a:rect l="l" t="t" r="r" b="b"/>
            <a:pathLst>
              <a:path w="5391978" h="66261">
                <a:moveTo>
                  <a:pt x="33130" y="0"/>
                </a:moveTo>
                <a:lnTo>
                  <a:pt x="5358848" y="0"/>
                </a:lnTo>
                <a:cubicBezTo>
                  <a:pt x="5377145" y="0"/>
                  <a:pt x="5391978" y="14833"/>
                  <a:pt x="5391978" y="33130"/>
                </a:cubicBezTo>
                <a:lnTo>
                  <a:pt x="5391978" y="33130"/>
                </a:lnTo>
                <a:cubicBezTo>
                  <a:pt x="5391978" y="51428"/>
                  <a:pt x="5377145" y="66261"/>
                  <a:pt x="5358848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324600" y="6480316"/>
            <a:ext cx="3180522" cy="66261"/>
          </a:xfrm>
          <a:custGeom>
            <a:avLst/>
            <a:gdLst/>
            <a:ahLst/>
            <a:cxnLst/>
            <a:rect l="l" t="t" r="r" b="b"/>
            <a:pathLst>
              <a:path w="3180522" h="66261">
                <a:moveTo>
                  <a:pt x="33130" y="0"/>
                </a:moveTo>
                <a:lnTo>
                  <a:pt x="3147391" y="0"/>
                </a:lnTo>
                <a:cubicBezTo>
                  <a:pt x="3165689" y="0"/>
                  <a:pt x="3180522" y="14833"/>
                  <a:pt x="3180522" y="33130"/>
                </a:cubicBezTo>
                <a:lnTo>
                  <a:pt x="3180522" y="33130"/>
                </a:lnTo>
                <a:cubicBezTo>
                  <a:pt x="3180522" y="51428"/>
                  <a:pt x="3165689" y="66261"/>
                  <a:pt x="3147391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772" y="358349"/>
            <a:ext cx="309483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37800" y="325772"/>
            <a:ext cx="3958124" cy="32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Discussion: Principal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772" y="716697"/>
            <a:ext cx="781852" cy="32577"/>
          </a:xfrm>
          <a:custGeom>
            <a:avLst/>
            <a:gdLst/>
            <a:ahLst/>
            <a:cxnLst/>
            <a:rect l="l" t="t" r="r" b="b"/>
            <a:pathLst>
              <a:path w="781852" h="32577">
                <a:moveTo>
                  <a:pt x="0" y="0"/>
                </a:moveTo>
                <a:lnTo>
                  <a:pt x="781852" y="0"/>
                </a:lnTo>
                <a:lnTo>
                  <a:pt x="781852" y="32577"/>
                </a:lnTo>
                <a:lnTo>
                  <a:pt x="0" y="3257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2060" y="912160"/>
            <a:ext cx="11524168" cy="2687615"/>
          </a:xfrm>
          <a:custGeom>
            <a:avLst/>
            <a:gdLst/>
            <a:ahLst/>
            <a:cxnLst/>
            <a:rect l="l" t="t" r="r" b="b"/>
            <a:pathLst>
              <a:path w="11524168" h="2687615">
                <a:moveTo>
                  <a:pt x="32577" y="0"/>
                </a:moveTo>
                <a:lnTo>
                  <a:pt x="11459021" y="0"/>
                </a:lnTo>
                <a:cubicBezTo>
                  <a:pt x="11495001" y="0"/>
                  <a:pt x="11524168" y="29168"/>
                  <a:pt x="11524168" y="65148"/>
                </a:cubicBezTo>
                <a:lnTo>
                  <a:pt x="11524168" y="2622467"/>
                </a:lnTo>
                <a:cubicBezTo>
                  <a:pt x="11524168" y="2658448"/>
                  <a:pt x="11495001" y="2687615"/>
                  <a:pt x="11459021" y="2687615"/>
                </a:cubicBezTo>
                <a:lnTo>
                  <a:pt x="32577" y="2687615"/>
                </a:lnTo>
                <a:cubicBezTo>
                  <a:pt x="14585" y="2687615"/>
                  <a:pt x="0" y="2673030"/>
                  <a:pt x="0" y="2655038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2060" y="912160"/>
            <a:ext cx="32577" cy="2687615"/>
          </a:xfrm>
          <a:custGeom>
            <a:avLst/>
            <a:gdLst/>
            <a:ahLst/>
            <a:cxnLst/>
            <a:rect l="l" t="t" r="r" b="b"/>
            <a:pathLst>
              <a:path w="32577" h="2687615">
                <a:moveTo>
                  <a:pt x="32577" y="0"/>
                </a:moveTo>
                <a:lnTo>
                  <a:pt x="32577" y="0"/>
                </a:lnTo>
                <a:lnTo>
                  <a:pt x="32577" y="2687615"/>
                </a:lnTo>
                <a:lnTo>
                  <a:pt x="32577" y="2687615"/>
                </a:lnTo>
                <a:cubicBezTo>
                  <a:pt x="14585" y="2687615"/>
                  <a:pt x="0" y="2673030"/>
                  <a:pt x="0" y="2655038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5667" y="1107520"/>
            <a:ext cx="195463" cy="195463"/>
          </a:xfrm>
          <a:custGeom>
            <a:avLst/>
            <a:gdLst/>
            <a:ahLst/>
            <a:cxnLst/>
            <a:rect l="l" t="t" r="r" b="b"/>
            <a:pathLst>
              <a:path w="195463" h="195463">
                <a:moveTo>
                  <a:pt x="128273" y="134381"/>
                </a:moveTo>
                <a:cubicBezTo>
                  <a:pt x="165380" y="134381"/>
                  <a:pt x="195463" y="104298"/>
                  <a:pt x="195463" y="67190"/>
                </a:cubicBezTo>
                <a:cubicBezTo>
                  <a:pt x="195463" y="30083"/>
                  <a:pt x="165380" y="0"/>
                  <a:pt x="128273" y="0"/>
                </a:cubicBezTo>
                <a:cubicBezTo>
                  <a:pt x="91165" y="0"/>
                  <a:pt x="61082" y="30083"/>
                  <a:pt x="61082" y="67190"/>
                </a:cubicBezTo>
                <a:cubicBezTo>
                  <a:pt x="61082" y="74329"/>
                  <a:pt x="62189" y="81239"/>
                  <a:pt x="64251" y="87691"/>
                </a:cubicBezTo>
                <a:lnTo>
                  <a:pt x="2672" y="149270"/>
                </a:lnTo>
                <a:cubicBezTo>
                  <a:pt x="954" y="150987"/>
                  <a:pt x="0" y="153316"/>
                  <a:pt x="0" y="155760"/>
                </a:cubicBezTo>
                <a:lnTo>
                  <a:pt x="0" y="186301"/>
                </a:lnTo>
                <a:cubicBezTo>
                  <a:pt x="0" y="191378"/>
                  <a:pt x="4085" y="195463"/>
                  <a:pt x="9162" y="195463"/>
                </a:cubicBezTo>
                <a:lnTo>
                  <a:pt x="39703" y="195463"/>
                </a:lnTo>
                <a:cubicBezTo>
                  <a:pt x="44781" y="195463"/>
                  <a:pt x="48866" y="191378"/>
                  <a:pt x="48866" y="186301"/>
                </a:cubicBezTo>
                <a:lnTo>
                  <a:pt x="48866" y="171030"/>
                </a:lnTo>
                <a:lnTo>
                  <a:pt x="64136" y="171030"/>
                </a:lnTo>
                <a:cubicBezTo>
                  <a:pt x="69214" y="171030"/>
                  <a:pt x="73299" y="166945"/>
                  <a:pt x="73299" y="161868"/>
                </a:cubicBezTo>
                <a:lnTo>
                  <a:pt x="73299" y="146597"/>
                </a:lnTo>
                <a:lnTo>
                  <a:pt x="88569" y="146597"/>
                </a:lnTo>
                <a:cubicBezTo>
                  <a:pt x="91012" y="146597"/>
                  <a:pt x="93341" y="145643"/>
                  <a:pt x="95059" y="143925"/>
                </a:cubicBezTo>
                <a:lnTo>
                  <a:pt x="107772" y="131212"/>
                </a:lnTo>
                <a:cubicBezTo>
                  <a:pt x="114224" y="133274"/>
                  <a:pt x="121134" y="134381"/>
                  <a:pt x="128273" y="134381"/>
                </a:cubicBezTo>
                <a:close/>
                <a:moveTo>
                  <a:pt x="143543" y="36649"/>
                </a:moveTo>
                <a:cubicBezTo>
                  <a:pt x="151971" y="36649"/>
                  <a:pt x="158814" y="43492"/>
                  <a:pt x="158814" y="51920"/>
                </a:cubicBezTo>
                <a:cubicBezTo>
                  <a:pt x="158814" y="60348"/>
                  <a:pt x="151971" y="67190"/>
                  <a:pt x="143543" y="67190"/>
                </a:cubicBezTo>
                <a:cubicBezTo>
                  <a:pt x="135115" y="67190"/>
                  <a:pt x="128273" y="60348"/>
                  <a:pt x="128273" y="51920"/>
                </a:cubicBezTo>
                <a:cubicBezTo>
                  <a:pt x="128273" y="43492"/>
                  <a:pt x="135115" y="36649"/>
                  <a:pt x="143543" y="3664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5563" y="1075046"/>
            <a:ext cx="11035511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Findings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34" y="1465869"/>
            <a:ext cx="5578838" cy="48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Recent studies demonstrate</a:t>
            </a:r>
            <a:r>
              <a:rPr lang="en-US" sz="115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that Large Language Models can automatically classify educational items by Bloom's cognitive categories with </a:t>
            </a:r>
            <a:r>
              <a:rPr lang="en-US" sz="115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 to substantial success</a:t>
            </a:r>
            <a:r>
              <a:rPr lang="en-US" sz="115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1595" y="2105195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162886"/>
                </a:moveTo>
                <a:cubicBezTo>
                  <a:pt x="126392" y="162886"/>
                  <a:pt x="162886" y="126392"/>
                  <a:pt x="162886" y="81443"/>
                </a:cubicBezTo>
                <a:cubicBezTo>
                  <a:pt x="162886" y="36493"/>
                  <a:pt x="126392" y="0"/>
                  <a:pt x="81443" y="0"/>
                </a:cubicBezTo>
                <a:cubicBezTo>
                  <a:pt x="36493" y="0"/>
                  <a:pt x="0" y="36493"/>
                  <a:pt x="0" y="81443"/>
                </a:cubicBezTo>
                <a:cubicBezTo>
                  <a:pt x="0" y="126392"/>
                  <a:pt x="36493" y="162886"/>
                  <a:pt x="81443" y="162886"/>
                </a:cubicBezTo>
                <a:close/>
                <a:moveTo>
                  <a:pt x="108294" y="67668"/>
                </a:moveTo>
                <a:lnTo>
                  <a:pt x="82843" y="108389"/>
                </a:lnTo>
                <a:cubicBezTo>
                  <a:pt x="81507" y="110521"/>
                  <a:pt x="79216" y="111857"/>
                  <a:pt x="76703" y="111984"/>
                </a:cubicBezTo>
                <a:cubicBezTo>
                  <a:pt x="74189" y="112111"/>
                  <a:pt x="71772" y="110966"/>
                  <a:pt x="70276" y="108930"/>
                </a:cubicBezTo>
                <a:lnTo>
                  <a:pt x="55006" y="88569"/>
                </a:lnTo>
                <a:cubicBezTo>
                  <a:pt x="52461" y="85197"/>
                  <a:pt x="53161" y="80425"/>
                  <a:pt x="56533" y="77880"/>
                </a:cubicBezTo>
                <a:cubicBezTo>
                  <a:pt x="59905" y="75335"/>
                  <a:pt x="64677" y="76035"/>
                  <a:pt x="67222" y="79407"/>
                </a:cubicBezTo>
                <a:lnTo>
                  <a:pt x="75812" y="90860"/>
                </a:lnTo>
                <a:lnTo>
                  <a:pt x="95345" y="59587"/>
                </a:lnTo>
                <a:cubicBezTo>
                  <a:pt x="97572" y="56024"/>
                  <a:pt x="102281" y="54910"/>
                  <a:pt x="105876" y="57169"/>
                </a:cubicBezTo>
                <a:cubicBezTo>
                  <a:pt x="109471" y="59428"/>
                  <a:pt x="110552" y="64104"/>
                  <a:pt x="108294" y="6769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573" y="2072618"/>
            <a:ext cx="4202453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Well-defined contexts: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573" y="2268081"/>
            <a:ext cx="4202453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GPT-4 achieves 80-88% accuracy with substantial agreement (κ ≈ 0.6–0.7)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1595" y="2593853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162886"/>
                </a:moveTo>
                <a:cubicBezTo>
                  <a:pt x="126392" y="162886"/>
                  <a:pt x="162886" y="126392"/>
                  <a:pt x="162886" y="81443"/>
                </a:cubicBezTo>
                <a:cubicBezTo>
                  <a:pt x="162886" y="36493"/>
                  <a:pt x="126392" y="0"/>
                  <a:pt x="81443" y="0"/>
                </a:cubicBezTo>
                <a:cubicBezTo>
                  <a:pt x="36493" y="0"/>
                  <a:pt x="0" y="36493"/>
                  <a:pt x="0" y="81443"/>
                </a:cubicBezTo>
                <a:cubicBezTo>
                  <a:pt x="0" y="126392"/>
                  <a:pt x="36493" y="162886"/>
                  <a:pt x="81443" y="162886"/>
                </a:cubicBezTo>
                <a:close/>
                <a:moveTo>
                  <a:pt x="108294" y="67668"/>
                </a:moveTo>
                <a:lnTo>
                  <a:pt x="82843" y="108389"/>
                </a:lnTo>
                <a:cubicBezTo>
                  <a:pt x="81507" y="110521"/>
                  <a:pt x="79216" y="111857"/>
                  <a:pt x="76703" y="111984"/>
                </a:cubicBezTo>
                <a:cubicBezTo>
                  <a:pt x="74189" y="112111"/>
                  <a:pt x="71772" y="110966"/>
                  <a:pt x="70276" y="108930"/>
                </a:cubicBezTo>
                <a:lnTo>
                  <a:pt x="55006" y="88569"/>
                </a:lnTo>
                <a:cubicBezTo>
                  <a:pt x="52461" y="85197"/>
                  <a:pt x="53161" y="80425"/>
                  <a:pt x="56533" y="77880"/>
                </a:cubicBezTo>
                <a:cubicBezTo>
                  <a:pt x="59905" y="75335"/>
                  <a:pt x="64677" y="76035"/>
                  <a:pt x="67222" y="79407"/>
                </a:cubicBezTo>
                <a:lnTo>
                  <a:pt x="75812" y="90860"/>
                </a:lnTo>
                <a:lnTo>
                  <a:pt x="95345" y="59587"/>
                </a:lnTo>
                <a:cubicBezTo>
                  <a:pt x="97572" y="56024"/>
                  <a:pt x="102281" y="54910"/>
                  <a:pt x="105876" y="57169"/>
                </a:cubicBezTo>
                <a:cubicBezTo>
                  <a:pt x="109471" y="59428"/>
                  <a:pt x="110552" y="64104"/>
                  <a:pt x="108294" y="6769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573" y="2561275"/>
            <a:ext cx="3640497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Complex contexts: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573" y="2756738"/>
            <a:ext cx="3640497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drops to 50-65% for conversational or noisy content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6480" y="1469126"/>
            <a:ext cx="5503910" cy="1961145"/>
          </a:xfrm>
          <a:custGeom>
            <a:avLst/>
            <a:gdLst/>
            <a:ahLst/>
            <a:cxnLst/>
            <a:rect l="l" t="t" r="r" b="b"/>
            <a:pathLst>
              <a:path w="5503910" h="1961145">
                <a:moveTo>
                  <a:pt x="65149" y="0"/>
                </a:moveTo>
                <a:lnTo>
                  <a:pt x="5438761" y="0"/>
                </a:lnTo>
                <a:cubicBezTo>
                  <a:pt x="5474742" y="0"/>
                  <a:pt x="5503910" y="29168"/>
                  <a:pt x="5503910" y="65149"/>
                </a:cubicBezTo>
                <a:lnTo>
                  <a:pt x="5503910" y="1895995"/>
                </a:lnTo>
                <a:cubicBezTo>
                  <a:pt x="5503910" y="1931976"/>
                  <a:pt x="5474742" y="1961145"/>
                  <a:pt x="5438761" y="1961145"/>
                </a:cubicBezTo>
                <a:lnTo>
                  <a:pt x="65149" y="1961145"/>
                </a:lnTo>
                <a:cubicBezTo>
                  <a:pt x="29168" y="1961145"/>
                  <a:pt x="0" y="1931976"/>
                  <a:pt x="0" y="1895995"/>
                </a:cubicBezTo>
                <a:lnTo>
                  <a:pt x="0" y="65149"/>
                </a:lnTo>
                <a:cubicBezTo>
                  <a:pt x="0" y="29192"/>
                  <a:pt x="29192" y="0"/>
                  <a:pt x="651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2624" y="1635276"/>
            <a:ext cx="5244922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Comparison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2624" y="2009913"/>
            <a:ext cx="154741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Traditional (with training)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51800" y="1993625"/>
            <a:ext cx="56195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90-95%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62624" y="2254242"/>
            <a:ext cx="5171623" cy="97731"/>
          </a:xfrm>
          <a:custGeom>
            <a:avLst/>
            <a:gdLst/>
            <a:ahLst/>
            <a:cxnLst/>
            <a:rect l="l" t="t" r="r" b="b"/>
            <a:pathLst>
              <a:path w="5171623" h="97731">
                <a:moveTo>
                  <a:pt x="48866" y="0"/>
                </a:moveTo>
                <a:lnTo>
                  <a:pt x="5122758" y="0"/>
                </a:lnTo>
                <a:cubicBezTo>
                  <a:pt x="5149745" y="0"/>
                  <a:pt x="5171623" y="21878"/>
                  <a:pt x="5171623" y="48866"/>
                </a:cubicBezTo>
                <a:lnTo>
                  <a:pt x="5171623" y="48866"/>
                </a:lnTo>
                <a:cubicBezTo>
                  <a:pt x="5171623" y="75854"/>
                  <a:pt x="5149745" y="97731"/>
                  <a:pt x="5122758" y="97731"/>
                </a:cubicBezTo>
                <a:lnTo>
                  <a:pt x="48866" y="97731"/>
                </a:lnTo>
                <a:cubicBezTo>
                  <a:pt x="21878" y="97731"/>
                  <a:pt x="0" y="75854"/>
                  <a:pt x="0" y="48866"/>
                </a:cubicBezTo>
                <a:lnTo>
                  <a:pt x="0" y="48866"/>
                </a:lnTo>
                <a:cubicBezTo>
                  <a:pt x="0" y="21878"/>
                  <a:pt x="21878" y="0"/>
                  <a:pt x="4886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62624" y="2254242"/>
            <a:ext cx="4805130" cy="97731"/>
          </a:xfrm>
          <a:custGeom>
            <a:avLst/>
            <a:gdLst/>
            <a:ahLst/>
            <a:cxnLst/>
            <a:rect l="l" t="t" r="r" b="b"/>
            <a:pathLst>
              <a:path w="4805130" h="97731">
                <a:moveTo>
                  <a:pt x="48866" y="0"/>
                </a:moveTo>
                <a:lnTo>
                  <a:pt x="4756265" y="0"/>
                </a:lnTo>
                <a:cubicBezTo>
                  <a:pt x="4783252" y="0"/>
                  <a:pt x="4805130" y="21878"/>
                  <a:pt x="4805130" y="48866"/>
                </a:cubicBezTo>
                <a:lnTo>
                  <a:pt x="4805130" y="48866"/>
                </a:lnTo>
                <a:cubicBezTo>
                  <a:pt x="4805130" y="75854"/>
                  <a:pt x="4783252" y="97731"/>
                  <a:pt x="4756265" y="97731"/>
                </a:cubicBezTo>
                <a:lnTo>
                  <a:pt x="48866" y="97731"/>
                </a:lnTo>
                <a:cubicBezTo>
                  <a:pt x="21878" y="97731"/>
                  <a:pt x="0" y="75854"/>
                  <a:pt x="0" y="48866"/>
                </a:cubicBezTo>
                <a:lnTo>
                  <a:pt x="0" y="48866"/>
                </a:lnTo>
                <a:cubicBezTo>
                  <a:pt x="0" y="21878"/>
                  <a:pt x="21878" y="0"/>
                  <a:pt x="4886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62624" y="2465994"/>
            <a:ext cx="152298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(zero-shot, best case)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44311" y="2449705"/>
            <a:ext cx="366493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2624" y="2710322"/>
            <a:ext cx="5171623" cy="97731"/>
          </a:xfrm>
          <a:custGeom>
            <a:avLst/>
            <a:gdLst/>
            <a:ahLst/>
            <a:cxnLst/>
            <a:rect l="l" t="t" r="r" b="b"/>
            <a:pathLst>
              <a:path w="5171623" h="97731">
                <a:moveTo>
                  <a:pt x="48866" y="0"/>
                </a:moveTo>
                <a:lnTo>
                  <a:pt x="5122758" y="0"/>
                </a:lnTo>
                <a:cubicBezTo>
                  <a:pt x="5149745" y="0"/>
                  <a:pt x="5171623" y="21878"/>
                  <a:pt x="5171623" y="48866"/>
                </a:cubicBezTo>
                <a:lnTo>
                  <a:pt x="5171623" y="48866"/>
                </a:lnTo>
                <a:cubicBezTo>
                  <a:pt x="5171623" y="75854"/>
                  <a:pt x="5149745" y="97731"/>
                  <a:pt x="5122758" y="97731"/>
                </a:cubicBezTo>
                <a:lnTo>
                  <a:pt x="48866" y="97731"/>
                </a:lnTo>
                <a:cubicBezTo>
                  <a:pt x="21878" y="97731"/>
                  <a:pt x="0" y="75854"/>
                  <a:pt x="0" y="48866"/>
                </a:cubicBezTo>
                <a:lnTo>
                  <a:pt x="0" y="48866"/>
                </a:lnTo>
                <a:cubicBezTo>
                  <a:pt x="0" y="21878"/>
                  <a:pt x="21878" y="0"/>
                  <a:pt x="4886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62624" y="2710322"/>
            <a:ext cx="4495647" cy="97731"/>
          </a:xfrm>
          <a:custGeom>
            <a:avLst/>
            <a:gdLst/>
            <a:ahLst/>
            <a:cxnLst/>
            <a:rect l="l" t="t" r="r" b="b"/>
            <a:pathLst>
              <a:path w="4495647" h="97731">
                <a:moveTo>
                  <a:pt x="48866" y="0"/>
                </a:moveTo>
                <a:lnTo>
                  <a:pt x="4446782" y="0"/>
                </a:lnTo>
                <a:cubicBezTo>
                  <a:pt x="4473769" y="0"/>
                  <a:pt x="4495647" y="21878"/>
                  <a:pt x="4495647" y="48866"/>
                </a:cubicBezTo>
                <a:lnTo>
                  <a:pt x="4495647" y="48866"/>
                </a:lnTo>
                <a:cubicBezTo>
                  <a:pt x="4495647" y="75854"/>
                  <a:pt x="4473769" y="97731"/>
                  <a:pt x="4446782" y="97731"/>
                </a:cubicBezTo>
                <a:lnTo>
                  <a:pt x="48866" y="97731"/>
                </a:lnTo>
                <a:cubicBezTo>
                  <a:pt x="21878" y="97731"/>
                  <a:pt x="0" y="75854"/>
                  <a:pt x="0" y="48866"/>
                </a:cubicBezTo>
                <a:lnTo>
                  <a:pt x="0" y="48866"/>
                </a:lnTo>
                <a:cubicBezTo>
                  <a:pt x="0" y="21878"/>
                  <a:pt x="21878" y="0"/>
                  <a:pt x="48866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62624" y="2922074"/>
            <a:ext cx="1457828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(zero-shot, average)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77731" y="2905785"/>
            <a:ext cx="439792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624" y="3166402"/>
            <a:ext cx="5171623" cy="97731"/>
          </a:xfrm>
          <a:custGeom>
            <a:avLst/>
            <a:gdLst/>
            <a:ahLst/>
            <a:cxnLst/>
            <a:rect l="l" t="t" r="r" b="b"/>
            <a:pathLst>
              <a:path w="5171623" h="97731">
                <a:moveTo>
                  <a:pt x="48866" y="0"/>
                </a:moveTo>
                <a:lnTo>
                  <a:pt x="5122758" y="0"/>
                </a:lnTo>
                <a:cubicBezTo>
                  <a:pt x="5149745" y="0"/>
                  <a:pt x="5171623" y="21878"/>
                  <a:pt x="5171623" y="48866"/>
                </a:cubicBezTo>
                <a:lnTo>
                  <a:pt x="5171623" y="48866"/>
                </a:lnTo>
                <a:cubicBezTo>
                  <a:pt x="5171623" y="75854"/>
                  <a:pt x="5149745" y="97731"/>
                  <a:pt x="5122758" y="97731"/>
                </a:cubicBezTo>
                <a:lnTo>
                  <a:pt x="48866" y="97731"/>
                </a:lnTo>
                <a:cubicBezTo>
                  <a:pt x="21878" y="97731"/>
                  <a:pt x="0" y="75854"/>
                  <a:pt x="0" y="48866"/>
                </a:cubicBezTo>
                <a:lnTo>
                  <a:pt x="0" y="48866"/>
                </a:lnTo>
                <a:cubicBezTo>
                  <a:pt x="0" y="21878"/>
                  <a:pt x="21878" y="0"/>
                  <a:pt x="4886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62624" y="3166402"/>
            <a:ext cx="3616064" cy="97731"/>
          </a:xfrm>
          <a:custGeom>
            <a:avLst/>
            <a:gdLst/>
            <a:ahLst/>
            <a:cxnLst/>
            <a:rect l="l" t="t" r="r" b="b"/>
            <a:pathLst>
              <a:path w="3616064" h="97731">
                <a:moveTo>
                  <a:pt x="48866" y="0"/>
                </a:moveTo>
                <a:lnTo>
                  <a:pt x="3567198" y="0"/>
                </a:lnTo>
                <a:cubicBezTo>
                  <a:pt x="3594186" y="0"/>
                  <a:pt x="3616064" y="21878"/>
                  <a:pt x="3616064" y="48866"/>
                </a:cubicBezTo>
                <a:lnTo>
                  <a:pt x="3616064" y="48866"/>
                </a:lnTo>
                <a:cubicBezTo>
                  <a:pt x="3616064" y="75854"/>
                  <a:pt x="3594186" y="97731"/>
                  <a:pt x="3567198" y="97731"/>
                </a:cubicBezTo>
                <a:lnTo>
                  <a:pt x="48866" y="97731"/>
                </a:lnTo>
                <a:cubicBezTo>
                  <a:pt x="21878" y="97731"/>
                  <a:pt x="0" y="75854"/>
                  <a:pt x="0" y="48866"/>
                </a:cubicBezTo>
                <a:lnTo>
                  <a:pt x="0" y="48866"/>
                </a:lnTo>
                <a:cubicBezTo>
                  <a:pt x="0" y="21878"/>
                  <a:pt x="21878" y="0"/>
                  <a:pt x="48866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5772" y="3726728"/>
            <a:ext cx="5684713" cy="3738228"/>
          </a:xfrm>
          <a:custGeom>
            <a:avLst/>
            <a:gdLst/>
            <a:ahLst/>
            <a:cxnLst/>
            <a:rect l="l" t="t" r="r" b="b"/>
            <a:pathLst>
              <a:path w="5684713" h="3738228">
                <a:moveTo>
                  <a:pt x="65157" y="0"/>
                </a:moveTo>
                <a:lnTo>
                  <a:pt x="5619556" y="0"/>
                </a:lnTo>
                <a:cubicBezTo>
                  <a:pt x="5655542" y="0"/>
                  <a:pt x="5684713" y="29172"/>
                  <a:pt x="5684713" y="65157"/>
                </a:cubicBezTo>
                <a:lnTo>
                  <a:pt x="5684713" y="3673071"/>
                </a:lnTo>
                <a:cubicBezTo>
                  <a:pt x="5684713" y="3709057"/>
                  <a:pt x="5655542" y="3738228"/>
                  <a:pt x="5619556" y="3738228"/>
                </a:cubicBezTo>
                <a:lnTo>
                  <a:pt x="65157" y="3738228"/>
                </a:lnTo>
                <a:cubicBezTo>
                  <a:pt x="29172" y="3738228"/>
                  <a:pt x="0" y="3709057"/>
                  <a:pt x="0" y="3673071"/>
                </a:cubicBezTo>
                <a:lnTo>
                  <a:pt x="0" y="65157"/>
                </a:lnTo>
                <a:cubicBezTo>
                  <a:pt x="0" y="29172"/>
                  <a:pt x="29172" y="0"/>
                  <a:pt x="651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9018" y="3922191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162886"/>
                </a:moveTo>
                <a:cubicBezTo>
                  <a:pt x="126392" y="162886"/>
                  <a:pt x="162886" y="126392"/>
                  <a:pt x="162886" y="81443"/>
                </a:cubicBezTo>
                <a:cubicBezTo>
                  <a:pt x="162886" y="36493"/>
                  <a:pt x="126392" y="0"/>
                  <a:pt x="81443" y="0"/>
                </a:cubicBezTo>
                <a:cubicBezTo>
                  <a:pt x="36493" y="0"/>
                  <a:pt x="0" y="36493"/>
                  <a:pt x="0" y="81443"/>
                </a:cubicBezTo>
                <a:cubicBezTo>
                  <a:pt x="0" y="126392"/>
                  <a:pt x="36493" y="162886"/>
                  <a:pt x="81443" y="162886"/>
                </a:cubicBezTo>
                <a:close/>
                <a:moveTo>
                  <a:pt x="73808" y="109439"/>
                </a:moveTo>
                <a:lnTo>
                  <a:pt x="73808" y="89078"/>
                </a:lnTo>
                <a:lnTo>
                  <a:pt x="53447" y="89078"/>
                </a:lnTo>
                <a:cubicBezTo>
                  <a:pt x="49216" y="89078"/>
                  <a:pt x="45812" y="85674"/>
                  <a:pt x="45812" y="81443"/>
                </a:cubicBezTo>
                <a:cubicBezTo>
                  <a:pt x="45812" y="77212"/>
                  <a:pt x="49216" y="73808"/>
                  <a:pt x="53447" y="73808"/>
                </a:cubicBezTo>
                <a:lnTo>
                  <a:pt x="73808" y="73808"/>
                </a:lnTo>
                <a:lnTo>
                  <a:pt x="73808" y="53447"/>
                </a:lnTo>
                <a:cubicBezTo>
                  <a:pt x="73808" y="49216"/>
                  <a:pt x="77212" y="45812"/>
                  <a:pt x="81443" y="45812"/>
                </a:cubicBezTo>
                <a:cubicBezTo>
                  <a:pt x="85674" y="45812"/>
                  <a:pt x="89078" y="49216"/>
                  <a:pt x="89078" y="53447"/>
                </a:cubicBezTo>
                <a:lnTo>
                  <a:pt x="89078" y="73808"/>
                </a:lnTo>
                <a:lnTo>
                  <a:pt x="109439" y="73808"/>
                </a:lnTo>
                <a:cubicBezTo>
                  <a:pt x="113670" y="73808"/>
                  <a:pt x="117074" y="77212"/>
                  <a:pt x="117074" y="81443"/>
                </a:cubicBezTo>
                <a:cubicBezTo>
                  <a:pt x="117074" y="85674"/>
                  <a:pt x="113670" y="89078"/>
                  <a:pt x="109439" y="89078"/>
                </a:cubicBezTo>
                <a:lnTo>
                  <a:pt x="89078" y="89078"/>
                </a:lnTo>
                <a:lnTo>
                  <a:pt x="89078" y="109439"/>
                </a:lnTo>
                <a:cubicBezTo>
                  <a:pt x="89078" y="113670"/>
                  <a:pt x="85674" y="117074"/>
                  <a:pt x="81443" y="117074"/>
                </a:cubicBezTo>
                <a:cubicBezTo>
                  <a:pt x="77212" y="117074"/>
                  <a:pt x="73808" y="113670"/>
                  <a:pt x="73808" y="10943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2265" y="3889614"/>
            <a:ext cx="5236778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Strengths of LLM Approaches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8657" y="4247962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0152" y="4247962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4429" y="4247962"/>
            <a:ext cx="509832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Training Required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4429" y="4443425"/>
            <a:ext cx="5098325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Leverage pretraining knowledge for zero-shot classification—cost-effective when labeled data is scarce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88657" y="4932083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0152" y="4932083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4429" y="4932083"/>
            <a:ext cx="509832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Adaptability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4429" y="5127545"/>
            <a:ext cx="5098325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model adapts to different contexts via prompting (learning outcomes, exam questions, etc.)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8657" y="5616203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0152" y="5616203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4429" y="5616203"/>
            <a:ext cx="481327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Explanation Capability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4429" y="5811666"/>
            <a:ext cx="481327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Chain-of-thought reasoning can provide interpretable justifications for classifications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8657" y="6104860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0152" y="6104860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4429" y="6104860"/>
            <a:ext cx="382781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Multi-Tasking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4429" y="6300323"/>
            <a:ext cx="382781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system can classify, generate questions, and evaluate answers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6934" y="3726728"/>
            <a:ext cx="5684713" cy="3738228"/>
          </a:xfrm>
          <a:custGeom>
            <a:avLst/>
            <a:gdLst/>
            <a:ahLst/>
            <a:cxnLst/>
            <a:rect l="l" t="t" r="r" b="b"/>
            <a:pathLst>
              <a:path w="5684713" h="3738228">
                <a:moveTo>
                  <a:pt x="65157" y="0"/>
                </a:moveTo>
                <a:lnTo>
                  <a:pt x="5619556" y="0"/>
                </a:lnTo>
                <a:cubicBezTo>
                  <a:pt x="5655542" y="0"/>
                  <a:pt x="5684713" y="29172"/>
                  <a:pt x="5684713" y="65157"/>
                </a:cubicBezTo>
                <a:lnTo>
                  <a:pt x="5684713" y="3673071"/>
                </a:lnTo>
                <a:cubicBezTo>
                  <a:pt x="5684713" y="3709057"/>
                  <a:pt x="5655542" y="3738228"/>
                  <a:pt x="5619556" y="3738228"/>
                </a:cubicBezTo>
                <a:lnTo>
                  <a:pt x="65157" y="3738228"/>
                </a:lnTo>
                <a:cubicBezTo>
                  <a:pt x="29172" y="3738228"/>
                  <a:pt x="0" y="3709057"/>
                  <a:pt x="0" y="3673071"/>
                </a:cubicBezTo>
                <a:lnTo>
                  <a:pt x="0" y="65157"/>
                </a:lnTo>
                <a:cubicBezTo>
                  <a:pt x="0" y="29172"/>
                  <a:pt x="29172" y="0"/>
                  <a:pt x="651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60180" y="3922191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162886"/>
                </a:moveTo>
                <a:cubicBezTo>
                  <a:pt x="126392" y="162886"/>
                  <a:pt x="162886" y="126392"/>
                  <a:pt x="162886" y="81443"/>
                </a:cubicBezTo>
                <a:cubicBezTo>
                  <a:pt x="162886" y="36493"/>
                  <a:pt x="126392" y="0"/>
                  <a:pt x="81443" y="0"/>
                </a:cubicBezTo>
                <a:cubicBezTo>
                  <a:pt x="36493" y="0"/>
                  <a:pt x="0" y="36493"/>
                  <a:pt x="0" y="81443"/>
                </a:cubicBezTo>
                <a:cubicBezTo>
                  <a:pt x="0" y="126392"/>
                  <a:pt x="36493" y="162886"/>
                  <a:pt x="81443" y="162886"/>
                </a:cubicBezTo>
                <a:close/>
                <a:moveTo>
                  <a:pt x="53447" y="73808"/>
                </a:moveTo>
                <a:lnTo>
                  <a:pt x="109439" y="73808"/>
                </a:lnTo>
                <a:cubicBezTo>
                  <a:pt x="113670" y="73808"/>
                  <a:pt x="117074" y="77212"/>
                  <a:pt x="117074" y="81443"/>
                </a:cubicBezTo>
                <a:cubicBezTo>
                  <a:pt x="117074" y="85674"/>
                  <a:pt x="113670" y="89078"/>
                  <a:pt x="109439" y="89078"/>
                </a:cubicBezTo>
                <a:lnTo>
                  <a:pt x="53447" y="89078"/>
                </a:lnTo>
                <a:cubicBezTo>
                  <a:pt x="49216" y="89078"/>
                  <a:pt x="45812" y="85674"/>
                  <a:pt x="45812" y="81443"/>
                </a:cubicBezTo>
                <a:cubicBezTo>
                  <a:pt x="45812" y="77212"/>
                  <a:pt x="49216" y="73808"/>
                  <a:pt x="53447" y="73808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43427" y="3889614"/>
            <a:ext cx="5236778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Limitations &amp; Barriers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39820" y="4247962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11315" y="4247962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65591" y="4247962"/>
            <a:ext cx="509832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Accuracy Variance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65591" y="4443425"/>
            <a:ext cx="5098325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varies significantly by context (54-87%), limiting reliability for high-stakes decisions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9820" y="4932083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11315" y="4932083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65591" y="4932083"/>
            <a:ext cx="5033170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Opacity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65591" y="5127545"/>
            <a:ext cx="5033170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Unlike keyword-based methods, GPT-4's reasoning is hidden, making debugging difficult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39820" y="5420740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11315" y="5420740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65591" y="5420740"/>
            <a:ext cx="461781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Cost &amp; Access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65591" y="5616203"/>
            <a:ext cx="461781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API usage incurs costs and requires internet access—barriers for some institutions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39820" y="5909397"/>
            <a:ext cx="228040" cy="228040"/>
          </a:xfrm>
          <a:custGeom>
            <a:avLst/>
            <a:gdLst/>
            <a:ahLst/>
            <a:cxnLst/>
            <a:rect l="l" t="t" r="r" b="b"/>
            <a:pathLst>
              <a:path w="228040" h="228040">
                <a:moveTo>
                  <a:pt x="114020" y="0"/>
                </a:moveTo>
                <a:lnTo>
                  <a:pt x="114020" y="0"/>
                </a:lnTo>
                <a:cubicBezTo>
                  <a:pt x="176949" y="0"/>
                  <a:pt x="228040" y="51091"/>
                  <a:pt x="228040" y="114020"/>
                </a:cubicBezTo>
                <a:lnTo>
                  <a:pt x="228040" y="114020"/>
                </a:lnTo>
                <a:cubicBezTo>
                  <a:pt x="228040" y="176949"/>
                  <a:pt x="176949" y="228040"/>
                  <a:pt x="114020" y="228040"/>
                </a:cubicBezTo>
                <a:lnTo>
                  <a:pt x="114020" y="228040"/>
                </a:lnTo>
                <a:cubicBezTo>
                  <a:pt x="51091" y="228040"/>
                  <a:pt x="0" y="176949"/>
                  <a:pt x="0" y="114020"/>
                </a:cubicBezTo>
                <a:lnTo>
                  <a:pt x="0" y="114020"/>
                </a:lnTo>
                <a:cubicBezTo>
                  <a:pt x="0" y="51091"/>
                  <a:pt x="51091" y="0"/>
                  <a:pt x="11402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11315" y="5909397"/>
            <a:ext cx="28505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65591" y="5909397"/>
            <a:ext cx="377080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Open-Source Gap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665591" y="6104860"/>
            <a:ext cx="377080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LLaMA and smaller models currently don't match GPT-4 accuracy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407326"/>
            <a:ext cx="379554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53437" y="370296"/>
            <a:ext cx="4082515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296" y="814651"/>
            <a:ext cx="888711" cy="37030"/>
          </a:xfrm>
          <a:custGeom>
            <a:avLst/>
            <a:gdLst/>
            <a:ahLst/>
            <a:cxnLst/>
            <a:rect l="l" t="t" r="r" b="b"/>
            <a:pathLst>
              <a:path w="888711" h="37030">
                <a:moveTo>
                  <a:pt x="0" y="0"/>
                </a:moveTo>
                <a:lnTo>
                  <a:pt x="888711" y="0"/>
                </a:lnTo>
                <a:lnTo>
                  <a:pt x="888711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811" y="1036829"/>
            <a:ext cx="3675189" cy="2499499"/>
          </a:xfrm>
          <a:custGeom>
            <a:avLst/>
            <a:gdLst/>
            <a:ahLst/>
            <a:cxnLst/>
            <a:rect l="l" t="t" r="r" b="b"/>
            <a:pathLst>
              <a:path w="3675189" h="2499499">
                <a:moveTo>
                  <a:pt x="37030" y="0"/>
                </a:moveTo>
                <a:lnTo>
                  <a:pt x="3601129" y="0"/>
                </a:lnTo>
                <a:cubicBezTo>
                  <a:pt x="3642031" y="0"/>
                  <a:pt x="3675189" y="33158"/>
                  <a:pt x="3675189" y="74060"/>
                </a:cubicBezTo>
                <a:lnTo>
                  <a:pt x="3675189" y="2425439"/>
                </a:lnTo>
                <a:cubicBezTo>
                  <a:pt x="3675189" y="2466341"/>
                  <a:pt x="3642031" y="2499499"/>
                  <a:pt x="3601129" y="2499499"/>
                </a:cubicBezTo>
                <a:lnTo>
                  <a:pt x="37030" y="2499499"/>
                </a:lnTo>
                <a:cubicBezTo>
                  <a:pt x="16579" y="2499499"/>
                  <a:pt x="0" y="2482920"/>
                  <a:pt x="0" y="246246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8811" y="1036829"/>
            <a:ext cx="37030" cy="2499499"/>
          </a:xfrm>
          <a:custGeom>
            <a:avLst/>
            <a:gdLst/>
            <a:ahLst/>
            <a:cxnLst/>
            <a:rect l="l" t="t" r="r" b="b"/>
            <a:pathLst>
              <a:path w="37030" h="2499499">
                <a:moveTo>
                  <a:pt x="37030" y="0"/>
                </a:moveTo>
                <a:lnTo>
                  <a:pt x="37030" y="0"/>
                </a:lnTo>
                <a:lnTo>
                  <a:pt x="37030" y="2499499"/>
                </a:lnTo>
                <a:lnTo>
                  <a:pt x="37030" y="2499499"/>
                </a:lnTo>
                <a:cubicBezTo>
                  <a:pt x="16579" y="2499499"/>
                  <a:pt x="0" y="2482920"/>
                  <a:pt x="0" y="246246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2474" y="1221977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185148" y="0"/>
                </a:moveTo>
                <a:lnTo>
                  <a:pt x="185148" y="0"/>
                </a:lnTo>
                <a:cubicBezTo>
                  <a:pt x="287334" y="0"/>
                  <a:pt x="370296" y="82962"/>
                  <a:pt x="370296" y="185148"/>
                </a:cubicBezTo>
                <a:lnTo>
                  <a:pt x="370296" y="185148"/>
                </a:lnTo>
                <a:cubicBezTo>
                  <a:pt x="370296" y="287334"/>
                  <a:pt x="287334" y="370296"/>
                  <a:pt x="185148" y="370296"/>
                </a:cubicBezTo>
                <a:lnTo>
                  <a:pt x="185148" y="370296"/>
                </a:lnTo>
                <a:cubicBezTo>
                  <a:pt x="82962" y="370296"/>
                  <a:pt x="0" y="287334"/>
                  <a:pt x="0" y="185148"/>
                </a:cubicBezTo>
                <a:lnTo>
                  <a:pt x="0" y="185148"/>
                </a:lnTo>
                <a:cubicBezTo>
                  <a:pt x="0" y="82962"/>
                  <a:pt x="82962" y="0"/>
                  <a:pt x="18514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6187" y="1221977"/>
            <a:ext cx="462870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3859" y="1277522"/>
            <a:ext cx="218474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Larger &amp; Diverse Datasets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474" y="1703362"/>
            <a:ext cx="3360437" cy="72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 benchmark datasets for Bloom-labeled content that are large, diverse, and community-shared.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8018" y="2573558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1681" y="2536528"/>
            <a:ext cx="2138460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Multiple subjects and disciplines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018" y="2869795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1681" y="2832765"/>
            <a:ext cx="139786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8018" y="3166032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1681" y="3129002"/>
            <a:ext cx="196256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Cross-institutional validation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811" y="3684446"/>
            <a:ext cx="3675189" cy="2258806"/>
          </a:xfrm>
          <a:custGeom>
            <a:avLst/>
            <a:gdLst/>
            <a:ahLst/>
            <a:cxnLst/>
            <a:rect l="l" t="t" r="r" b="b"/>
            <a:pathLst>
              <a:path w="3675189" h="2258806">
                <a:moveTo>
                  <a:pt x="37030" y="0"/>
                </a:moveTo>
                <a:lnTo>
                  <a:pt x="3601123" y="0"/>
                </a:lnTo>
                <a:cubicBezTo>
                  <a:pt x="3642028" y="0"/>
                  <a:pt x="3675189" y="33161"/>
                  <a:pt x="3675189" y="74066"/>
                </a:cubicBezTo>
                <a:lnTo>
                  <a:pt x="3675189" y="2184740"/>
                </a:lnTo>
                <a:cubicBezTo>
                  <a:pt x="3675189" y="2225646"/>
                  <a:pt x="3642028" y="2258806"/>
                  <a:pt x="3601123" y="2258806"/>
                </a:cubicBezTo>
                <a:lnTo>
                  <a:pt x="37030" y="2258806"/>
                </a:lnTo>
                <a:cubicBezTo>
                  <a:pt x="16579" y="2258806"/>
                  <a:pt x="0" y="2242228"/>
                  <a:pt x="0" y="22217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811" y="3684446"/>
            <a:ext cx="37030" cy="2258806"/>
          </a:xfrm>
          <a:custGeom>
            <a:avLst/>
            <a:gdLst/>
            <a:ahLst/>
            <a:cxnLst/>
            <a:rect l="l" t="t" r="r" b="b"/>
            <a:pathLst>
              <a:path w="37030" h="2258806">
                <a:moveTo>
                  <a:pt x="37030" y="0"/>
                </a:moveTo>
                <a:lnTo>
                  <a:pt x="37030" y="0"/>
                </a:lnTo>
                <a:lnTo>
                  <a:pt x="37030" y="2258806"/>
                </a:lnTo>
                <a:lnTo>
                  <a:pt x="37030" y="2258806"/>
                </a:lnTo>
                <a:cubicBezTo>
                  <a:pt x="16579" y="2258806"/>
                  <a:pt x="0" y="2242228"/>
                  <a:pt x="0" y="22217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2474" y="3869595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185148" y="0"/>
                </a:moveTo>
                <a:lnTo>
                  <a:pt x="185148" y="0"/>
                </a:lnTo>
                <a:cubicBezTo>
                  <a:pt x="287334" y="0"/>
                  <a:pt x="370296" y="82962"/>
                  <a:pt x="370296" y="185148"/>
                </a:cubicBezTo>
                <a:lnTo>
                  <a:pt x="370296" y="185148"/>
                </a:lnTo>
                <a:cubicBezTo>
                  <a:pt x="370296" y="287334"/>
                  <a:pt x="287334" y="370296"/>
                  <a:pt x="185148" y="370296"/>
                </a:cubicBezTo>
                <a:lnTo>
                  <a:pt x="185148" y="370296"/>
                </a:lnTo>
                <a:cubicBezTo>
                  <a:pt x="82962" y="370296"/>
                  <a:pt x="0" y="287334"/>
                  <a:pt x="0" y="185148"/>
                </a:cubicBezTo>
                <a:lnTo>
                  <a:pt x="0" y="185148"/>
                </a:lnTo>
                <a:cubicBezTo>
                  <a:pt x="0" y="82962"/>
                  <a:pt x="82962" y="0"/>
                  <a:pt x="18514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6187" y="3869595"/>
            <a:ext cx="462870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3859" y="3925139"/>
            <a:ext cx="191628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Few-Shot Fine-Tuning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2474" y="4350979"/>
            <a:ext cx="336043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Explore parameter-efficient fine-tuning methods to specialize LLMs for Bloom classification.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8018" y="4980483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1681" y="4943453"/>
            <a:ext cx="203662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LoRA (Low-Rank Adaptation)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8018" y="5276720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1681" y="5239690"/>
            <a:ext cx="174039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 tuning techniques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8018" y="5572957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1681" y="5535927"/>
            <a:ext cx="160153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Adapter-based methods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8589" y="1036829"/>
            <a:ext cx="3675189" cy="2379153"/>
          </a:xfrm>
          <a:custGeom>
            <a:avLst/>
            <a:gdLst/>
            <a:ahLst/>
            <a:cxnLst/>
            <a:rect l="l" t="t" r="r" b="b"/>
            <a:pathLst>
              <a:path w="3675189" h="2379153">
                <a:moveTo>
                  <a:pt x="37030" y="0"/>
                </a:moveTo>
                <a:lnTo>
                  <a:pt x="3601126" y="0"/>
                </a:lnTo>
                <a:cubicBezTo>
                  <a:pt x="3642030" y="0"/>
                  <a:pt x="3675189" y="33159"/>
                  <a:pt x="3675189" y="74063"/>
                </a:cubicBezTo>
                <a:lnTo>
                  <a:pt x="3675189" y="2305090"/>
                </a:lnTo>
                <a:cubicBezTo>
                  <a:pt x="3675189" y="2345993"/>
                  <a:pt x="3642030" y="2379153"/>
                  <a:pt x="3601126" y="2379153"/>
                </a:cubicBez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68589" y="1036829"/>
            <a:ext cx="37030" cy="2379153"/>
          </a:xfrm>
          <a:custGeom>
            <a:avLst/>
            <a:gdLst/>
            <a:ahLst/>
            <a:cxnLst/>
            <a:rect l="l" t="t" r="r" b="b"/>
            <a:pathLst>
              <a:path w="37030" h="2379153">
                <a:moveTo>
                  <a:pt x="37030" y="0"/>
                </a:moveTo>
                <a:lnTo>
                  <a:pt x="37030" y="0"/>
                </a:lnTo>
                <a:lnTo>
                  <a:pt x="37030" y="2379153"/>
                </a:ln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72252" y="1221977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185148" y="0"/>
                </a:moveTo>
                <a:lnTo>
                  <a:pt x="185148" y="0"/>
                </a:lnTo>
                <a:cubicBezTo>
                  <a:pt x="287334" y="0"/>
                  <a:pt x="370296" y="82962"/>
                  <a:pt x="370296" y="185148"/>
                </a:cubicBezTo>
                <a:lnTo>
                  <a:pt x="370296" y="185148"/>
                </a:lnTo>
                <a:cubicBezTo>
                  <a:pt x="370296" y="287334"/>
                  <a:pt x="287334" y="370296"/>
                  <a:pt x="185148" y="370296"/>
                </a:cubicBezTo>
                <a:lnTo>
                  <a:pt x="185148" y="370296"/>
                </a:lnTo>
                <a:cubicBezTo>
                  <a:pt x="82962" y="370296"/>
                  <a:pt x="0" y="287334"/>
                  <a:pt x="0" y="185148"/>
                </a:cubicBezTo>
                <a:lnTo>
                  <a:pt x="0" y="185148"/>
                </a:lnTo>
                <a:cubicBezTo>
                  <a:pt x="0" y="82962"/>
                  <a:pt x="82962" y="0"/>
                  <a:pt x="18514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25965" y="1221977"/>
            <a:ext cx="462870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53637" y="1277522"/>
            <a:ext cx="255504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Prompt Engineering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2252" y="1703362"/>
            <a:ext cx="336043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Build on rhetorical prompt success with pedagogically-informed frameworks.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27796" y="2332866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1459" y="2295836"/>
            <a:ext cx="231435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Incorporate Bloom level definitions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27796" y="2629103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31459" y="2592073"/>
            <a:ext cx="210143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Multi-turn interactive protocols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27796" y="2925339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31459" y="2888310"/>
            <a:ext cx="157375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Explicit reasoning steps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68589" y="3564100"/>
            <a:ext cx="3675189" cy="2379153"/>
          </a:xfrm>
          <a:custGeom>
            <a:avLst/>
            <a:gdLst/>
            <a:ahLst/>
            <a:cxnLst/>
            <a:rect l="l" t="t" r="r" b="b"/>
            <a:pathLst>
              <a:path w="3675189" h="2379153">
                <a:moveTo>
                  <a:pt x="37030" y="0"/>
                </a:moveTo>
                <a:lnTo>
                  <a:pt x="3601126" y="0"/>
                </a:lnTo>
                <a:cubicBezTo>
                  <a:pt x="3642030" y="0"/>
                  <a:pt x="3675189" y="33159"/>
                  <a:pt x="3675189" y="74063"/>
                </a:cubicBezTo>
                <a:lnTo>
                  <a:pt x="3675189" y="2305090"/>
                </a:lnTo>
                <a:cubicBezTo>
                  <a:pt x="3675189" y="2345993"/>
                  <a:pt x="3642030" y="2379153"/>
                  <a:pt x="3601126" y="2379153"/>
                </a:cubicBez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68589" y="3564100"/>
            <a:ext cx="37030" cy="2379153"/>
          </a:xfrm>
          <a:custGeom>
            <a:avLst/>
            <a:gdLst/>
            <a:ahLst/>
            <a:cxnLst/>
            <a:rect l="l" t="t" r="r" b="b"/>
            <a:pathLst>
              <a:path w="37030" h="2379153">
                <a:moveTo>
                  <a:pt x="37030" y="0"/>
                </a:moveTo>
                <a:lnTo>
                  <a:pt x="37030" y="0"/>
                </a:lnTo>
                <a:lnTo>
                  <a:pt x="37030" y="2379153"/>
                </a:ln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72252" y="3749248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185148" y="0"/>
                </a:moveTo>
                <a:lnTo>
                  <a:pt x="185148" y="0"/>
                </a:lnTo>
                <a:cubicBezTo>
                  <a:pt x="287334" y="0"/>
                  <a:pt x="370296" y="82962"/>
                  <a:pt x="370296" y="185148"/>
                </a:cubicBezTo>
                <a:lnTo>
                  <a:pt x="370296" y="185148"/>
                </a:lnTo>
                <a:cubicBezTo>
                  <a:pt x="370296" y="287334"/>
                  <a:pt x="287334" y="370296"/>
                  <a:pt x="185148" y="370296"/>
                </a:cubicBezTo>
                <a:lnTo>
                  <a:pt x="185148" y="370296"/>
                </a:lnTo>
                <a:cubicBezTo>
                  <a:pt x="82962" y="370296"/>
                  <a:pt x="0" y="287334"/>
                  <a:pt x="0" y="185148"/>
                </a:cubicBezTo>
                <a:lnTo>
                  <a:pt x="0" y="185148"/>
                </a:lnTo>
                <a:cubicBezTo>
                  <a:pt x="0" y="82962"/>
                  <a:pt x="82962" y="0"/>
                  <a:pt x="18514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25965" y="3749248"/>
            <a:ext cx="462870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953637" y="3804793"/>
            <a:ext cx="1583016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Ensembling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72252" y="4230633"/>
            <a:ext cx="336043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Combine strengths of rule-based and LLM approaches for robust classification.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27796" y="4860137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31459" y="4823107"/>
            <a:ext cx="233286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Keyword classifier for obvious cases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27796" y="5156374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31459" y="5119344"/>
            <a:ext cx="186073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for ambiguous content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27796" y="5452610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31459" y="5415581"/>
            <a:ext cx="134232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Voting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48482" y="1036829"/>
            <a:ext cx="3675189" cy="2379153"/>
          </a:xfrm>
          <a:custGeom>
            <a:avLst/>
            <a:gdLst/>
            <a:ahLst/>
            <a:cxnLst/>
            <a:rect l="l" t="t" r="r" b="b"/>
            <a:pathLst>
              <a:path w="3675189" h="2379153">
                <a:moveTo>
                  <a:pt x="37030" y="0"/>
                </a:moveTo>
                <a:lnTo>
                  <a:pt x="3601126" y="0"/>
                </a:lnTo>
                <a:cubicBezTo>
                  <a:pt x="3642030" y="0"/>
                  <a:pt x="3675189" y="33159"/>
                  <a:pt x="3675189" y="74063"/>
                </a:cubicBezTo>
                <a:lnTo>
                  <a:pt x="3675189" y="2305090"/>
                </a:lnTo>
                <a:cubicBezTo>
                  <a:pt x="3675189" y="2345993"/>
                  <a:pt x="3642030" y="2379153"/>
                  <a:pt x="3601126" y="2379153"/>
                </a:cubicBez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148482" y="1036829"/>
            <a:ext cx="37030" cy="2379153"/>
          </a:xfrm>
          <a:custGeom>
            <a:avLst/>
            <a:gdLst/>
            <a:ahLst/>
            <a:cxnLst/>
            <a:rect l="l" t="t" r="r" b="b"/>
            <a:pathLst>
              <a:path w="37030" h="2379153">
                <a:moveTo>
                  <a:pt x="37030" y="0"/>
                </a:moveTo>
                <a:lnTo>
                  <a:pt x="37030" y="0"/>
                </a:lnTo>
                <a:lnTo>
                  <a:pt x="37030" y="2379153"/>
                </a:ln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352145" y="1221977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185148" y="0"/>
                </a:moveTo>
                <a:lnTo>
                  <a:pt x="185148" y="0"/>
                </a:lnTo>
                <a:cubicBezTo>
                  <a:pt x="287334" y="0"/>
                  <a:pt x="370296" y="82962"/>
                  <a:pt x="370296" y="185148"/>
                </a:cubicBezTo>
                <a:lnTo>
                  <a:pt x="370296" y="185148"/>
                </a:lnTo>
                <a:cubicBezTo>
                  <a:pt x="370296" y="287334"/>
                  <a:pt x="287334" y="370296"/>
                  <a:pt x="185148" y="370296"/>
                </a:cubicBezTo>
                <a:lnTo>
                  <a:pt x="185148" y="370296"/>
                </a:lnTo>
                <a:cubicBezTo>
                  <a:pt x="82962" y="370296"/>
                  <a:pt x="0" y="287334"/>
                  <a:pt x="0" y="185148"/>
                </a:cubicBezTo>
                <a:lnTo>
                  <a:pt x="0" y="185148"/>
                </a:lnTo>
                <a:cubicBezTo>
                  <a:pt x="0" y="82962"/>
                  <a:pt x="82962" y="0"/>
                  <a:pt x="185148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305858" y="1221977"/>
            <a:ext cx="462870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33530" y="1277522"/>
            <a:ext cx="205514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Bias &amp; Fairness Analysis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52145" y="1703362"/>
            <a:ext cx="336043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Examine performance across demographic and linguistic subgroups.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07690" y="2332866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611352" y="2295836"/>
            <a:ext cx="164781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Discipline-specific biases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07690" y="2629103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611352" y="2592073"/>
            <a:ext cx="196256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Non-native English phrasings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07690" y="2925339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611352" y="2888310"/>
            <a:ext cx="184222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Explainability requirements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48482" y="3564100"/>
            <a:ext cx="3675189" cy="2379153"/>
          </a:xfrm>
          <a:custGeom>
            <a:avLst/>
            <a:gdLst/>
            <a:ahLst/>
            <a:cxnLst/>
            <a:rect l="l" t="t" r="r" b="b"/>
            <a:pathLst>
              <a:path w="3675189" h="2379153">
                <a:moveTo>
                  <a:pt x="37030" y="0"/>
                </a:moveTo>
                <a:lnTo>
                  <a:pt x="3601126" y="0"/>
                </a:lnTo>
                <a:cubicBezTo>
                  <a:pt x="3642030" y="0"/>
                  <a:pt x="3675189" y="33159"/>
                  <a:pt x="3675189" y="74063"/>
                </a:cubicBezTo>
                <a:lnTo>
                  <a:pt x="3675189" y="2305090"/>
                </a:lnTo>
                <a:cubicBezTo>
                  <a:pt x="3675189" y="2345993"/>
                  <a:pt x="3642030" y="2379153"/>
                  <a:pt x="3601126" y="2379153"/>
                </a:cubicBez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148482" y="3564100"/>
            <a:ext cx="37030" cy="2379153"/>
          </a:xfrm>
          <a:custGeom>
            <a:avLst/>
            <a:gdLst/>
            <a:ahLst/>
            <a:cxnLst/>
            <a:rect l="l" t="t" r="r" b="b"/>
            <a:pathLst>
              <a:path w="37030" h="2379153">
                <a:moveTo>
                  <a:pt x="37030" y="0"/>
                </a:moveTo>
                <a:lnTo>
                  <a:pt x="37030" y="0"/>
                </a:lnTo>
                <a:lnTo>
                  <a:pt x="37030" y="2379153"/>
                </a:lnTo>
                <a:lnTo>
                  <a:pt x="37030" y="2379153"/>
                </a:lnTo>
                <a:cubicBezTo>
                  <a:pt x="16579" y="2379153"/>
                  <a:pt x="0" y="2362574"/>
                  <a:pt x="0" y="2342123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352145" y="3749248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185148" y="0"/>
                </a:moveTo>
                <a:lnTo>
                  <a:pt x="185148" y="0"/>
                </a:lnTo>
                <a:cubicBezTo>
                  <a:pt x="287334" y="0"/>
                  <a:pt x="370296" y="82962"/>
                  <a:pt x="370296" y="185148"/>
                </a:cubicBezTo>
                <a:lnTo>
                  <a:pt x="370296" y="185148"/>
                </a:lnTo>
                <a:cubicBezTo>
                  <a:pt x="370296" y="287334"/>
                  <a:pt x="287334" y="370296"/>
                  <a:pt x="185148" y="370296"/>
                </a:cubicBezTo>
                <a:lnTo>
                  <a:pt x="185148" y="370296"/>
                </a:lnTo>
                <a:cubicBezTo>
                  <a:pt x="82962" y="370296"/>
                  <a:pt x="0" y="287334"/>
                  <a:pt x="0" y="185148"/>
                </a:cubicBezTo>
                <a:lnTo>
                  <a:pt x="0" y="185148"/>
                </a:lnTo>
                <a:cubicBezTo>
                  <a:pt x="0" y="82962"/>
                  <a:pt x="82962" y="0"/>
                  <a:pt x="185148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305858" y="3749248"/>
            <a:ext cx="462870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833530" y="3804793"/>
            <a:ext cx="212920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&amp; Multimodal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52145" y="4230633"/>
            <a:ext cx="336043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Extend to live classroom applications and student response analysis.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407690" y="4860137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611352" y="4823107"/>
            <a:ext cx="169410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lecture analysis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407690" y="5156374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611352" y="5119344"/>
            <a:ext cx="191628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Student answer classification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407690" y="5452610"/>
            <a:ext cx="74059" cy="148118"/>
          </a:xfrm>
          <a:custGeom>
            <a:avLst/>
            <a:gdLst/>
            <a:ahLst/>
            <a:cxnLst/>
            <a:rect l="l" t="t" r="r" b="b"/>
            <a:pathLst>
              <a:path w="74059" h="148118">
                <a:moveTo>
                  <a:pt x="71485" y="67521"/>
                </a:moveTo>
                <a:cubicBezTo>
                  <a:pt x="75101" y="71137"/>
                  <a:pt x="75101" y="77010"/>
                  <a:pt x="71485" y="80626"/>
                </a:cubicBezTo>
                <a:lnTo>
                  <a:pt x="25197" y="126913"/>
                </a:lnTo>
                <a:cubicBezTo>
                  <a:pt x="21581" y="130529"/>
                  <a:pt x="15709" y="130529"/>
                  <a:pt x="12092" y="126913"/>
                </a:cubicBezTo>
                <a:cubicBezTo>
                  <a:pt x="8476" y="123297"/>
                  <a:pt x="8476" y="117424"/>
                  <a:pt x="12092" y="113808"/>
                </a:cubicBezTo>
                <a:lnTo>
                  <a:pt x="51841" y="74059"/>
                </a:lnTo>
                <a:lnTo>
                  <a:pt x="12121" y="34310"/>
                </a:lnTo>
                <a:cubicBezTo>
                  <a:pt x="8505" y="30694"/>
                  <a:pt x="8505" y="24821"/>
                  <a:pt x="12121" y="21205"/>
                </a:cubicBezTo>
                <a:cubicBezTo>
                  <a:pt x="15738" y="17589"/>
                  <a:pt x="21610" y="17589"/>
                  <a:pt x="25226" y="21205"/>
                </a:cubicBezTo>
                <a:lnTo>
                  <a:pt x="71513" y="6749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611352" y="5415581"/>
            <a:ext cx="115717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Live pilot studies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77702" y="6098777"/>
            <a:ext cx="11438447" cy="755404"/>
          </a:xfrm>
          <a:custGeom>
            <a:avLst/>
            <a:gdLst/>
            <a:ahLst/>
            <a:cxnLst/>
            <a:rect l="l" t="t" r="r" b="b"/>
            <a:pathLst>
              <a:path w="11438447" h="755404">
                <a:moveTo>
                  <a:pt x="74060" y="0"/>
                </a:moveTo>
                <a:lnTo>
                  <a:pt x="11364388" y="0"/>
                </a:lnTo>
                <a:cubicBezTo>
                  <a:pt x="11405290" y="0"/>
                  <a:pt x="11438447" y="33158"/>
                  <a:pt x="11438447" y="74060"/>
                </a:cubicBezTo>
                <a:lnTo>
                  <a:pt x="11438447" y="681344"/>
                </a:lnTo>
                <a:cubicBezTo>
                  <a:pt x="11438447" y="722246"/>
                  <a:pt x="11405290" y="755404"/>
                  <a:pt x="11364388" y="755404"/>
                </a:cubicBezTo>
                <a:lnTo>
                  <a:pt x="74060" y="755404"/>
                </a:lnTo>
                <a:cubicBezTo>
                  <a:pt x="33158" y="755404"/>
                  <a:pt x="0" y="722246"/>
                  <a:pt x="0" y="681344"/>
                </a:cubicBezTo>
                <a:lnTo>
                  <a:pt x="0" y="74060"/>
                </a:lnTo>
                <a:cubicBezTo>
                  <a:pt x="0" y="33185"/>
                  <a:pt x="33185" y="0"/>
                  <a:pt x="7406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07864" y="6269106"/>
            <a:ext cx="111089" cy="148118"/>
          </a:xfrm>
          <a:custGeom>
            <a:avLst/>
            <a:gdLst/>
            <a:ahLst/>
            <a:cxnLst/>
            <a:rect l="l" t="t" r="r" b="b"/>
            <a:pathLst>
              <a:path w="111089" h="148118">
                <a:moveTo>
                  <a:pt x="84734" y="111089"/>
                </a:moveTo>
                <a:cubicBezTo>
                  <a:pt x="86846" y="104638"/>
                  <a:pt x="91070" y="98794"/>
                  <a:pt x="95843" y="93760"/>
                </a:cubicBezTo>
                <a:cubicBezTo>
                  <a:pt x="105303" y="83808"/>
                  <a:pt x="111089" y="70356"/>
                  <a:pt x="111089" y="55544"/>
                </a:cubicBezTo>
                <a:cubicBezTo>
                  <a:pt x="111089" y="24879"/>
                  <a:pt x="86210" y="0"/>
                  <a:pt x="55544" y="0"/>
                </a:cubicBezTo>
                <a:cubicBezTo>
                  <a:pt x="24879" y="0"/>
                  <a:pt x="0" y="24879"/>
                  <a:pt x="0" y="55544"/>
                </a:cubicBezTo>
                <a:cubicBezTo>
                  <a:pt x="0" y="70356"/>
                  <a:pt x="5786" y="83808"/>
                  <a:pt x="15246" y="93760"/>
                </a:cubicBezTo>
                <a:cubicBezTo>
                  <a:pt x="20019" y="98794"/>
                  <a:pt x="24272" y="104638"/>
                  <a:pt x="26355" y="111089"/>
                </a:cubicBezTo>
                <a:lnTo>
                  <a:pt x="84705" y="111089"/>
                </a:lnTo>
                <a:close/>
                <a:moveTo>
                  <a:pt x="83317" y="124975"/>
                </a:moveTo>
                <a:lnTo>
                  <a:pt x="27772" y="124975"/>
                </a:lnTo>
                <a:lnTo>
                  <a:pt x="27772" y="129604"/>
                </a:lnTo>
                <a:cubicBezTo>
                  <a:pt x="27772" y="142390"/>
                  <a:pt x="38129" y="152747"/>
                  <a:pt x="50916" y="152747"/>
                </a:cubicBezTo>
                <a:lnTo>
                  <a:pt x="60173" y="152747"/>
                </a:lnTo>
                <a:cubicBezTo>
                  <a:pt x="72960" y="152747"/>
                  <a:pt x="83317" y="142390"/>
                  <a:pt x="83317" y="129604"/>
                </a:cubicBezTo>
                <a:lnTo>
                  <a:pt x="83317" y="124975"/>
                </a:lnTo>
                <a:close/>
                <a:moveTo>
                  <a:pt x="53230" y="32401"/>
                </a:moveTo>
                <a:cubicBezTo>
                  <a:pt x="41716" y="32401"/>
                  <a:pt x="32401" y="41716"/>
                  <a:pt x="32401" y="53230"/>
                </a:cubicBezTo>
                <a:cubicBezTo>
                  <a:pt x="32401" y="57078"/>
                  <a:pt x="29305" y="60173"/>
                  <a:pt x="25458" y="60173"/>
                </a:cubicBezTo>
                <a:cubicBezTo>
                  <a:pt x="21610" y="60173"/>
                  <a:pt x="18515" y="57078"/>
                  <a:pt x="18515" y="53230"/>
                </a:cubicBezTo>
                <a:cubicBezTo>
                  <a:pt x="18515" y="34050"/>
                  <a:pt x="34050" y="18515"/>
                  <a:pt x="53230" y="18515"/>
                </a:cubicBezTo>
                <a:cubicBezTo>
                  <a:pt x="57078" y="18515"/>
                  <a:pt x="60173" y="21610"/>
                  <a:pt x="60173" y="25458"/>
                </a:cubicBezTo>
                <a:cubicBezTo>
                  <a:pt x="60173" y="29305"/>
                  <a:pt x="57078" y="32401"/>
                  <a:pt x="53230" y="3240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35329" y="6254298"/>
            <a:ext cx="10962326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Integration Opportunity:</a:t>
            </a:r>
            <a:r>
              <a:rPr lang="en-US" sz="116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Combine Bloom classification with content generation systems—LLM proposes questions, classifier validates cognitive level, creating automated quiz generation with guaranteed coverage.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0eb73a8ea46560b5272f1b13733c344990d92a60.jpg"/>
          <p:cNvPicPr>
            <a:picLocks noChangeAspect="1"/>
          </p:cNvPicPr>
          <p:nvPr/>
        </p:nvPicPr>
        <p:blipFill>
          <a:blip r:embed="rId3"/>
          <a:srcRect t="5032" b="5032"/>
          <a:stretch/>
        </p:blipFill>
        <p:spPr>
          <a:xfrm>
            <a:off x="0" y="0"/>
            <a:ext cx="12192000" cy="721155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211550"/>
          </a:xfrm>
          <a:custGeom>
            <a:avLst/>
            <a:gdLst/>
            <a:ahLst/>
            <a:cxnLst/>
            <a:rect l="l" t="t" r="r" b="b"/>
            <a:pathLst>
              <a:path w="12192000" h="7211550">
                <a:moveTo>
                  <a:pt x="0" y="0"/>
                </a:moveTo>
                <a:lnTo>
                  <a:pt x="12192000" y="0"/>
                </a:lnTo>
                <a:lnTo>
                  <a:pt x="12192000" y="7211550"/>
                </a:lnTo>
                <a:lnTo>
                  <a:pt x="0" y="72115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5000"/>
                </a:srgbClr>
              </a:gs>
              <a:gs pos="50000">
                <a:srgbClr val="8B0000">
                  <a:alpha val="90000"/>
                </a:srgbClr>
              </a:gs>
              <a:gs pos="100000">
                <a:srgbClr val="1F2937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54868" y="354868"/>
            <a:ext cx="1465148" cy="358382"/>
          </a:xfrm>
          <a:custGeom>
            <a:avLst/>
            <a:gdLst/>
            <a:ahLst/>
            <a:cxnLst/>
            <a:rect l="l" t="t" r="r" b="b"/>
            <a:pathLst>
              <a:path w="1465148" h="358382">
                <a:moveTo>
                  <a:pt x="35136" y="0"/>
                </a:moveTo>
                <a:lnTo>
                  <a:pt x="1430012" y="0"/>
                </a:lnTo>
                <a:cubicBezTo>
                  <a:pt x="1449417" y="0"/>
                  <a:pt x="1465148" y="15731"/>
                  <a:pt x="1465148" y="35136"/>
                </a:cubicBezTo>
                <a:lnTo>
                  <a:pt x="1465148" y="323246"/>
                </a:lnTo>
                <a:cubicBezTo>
                  <a:pt x="1465148" y="342651"/>
                  <a:pt x="1449417" y="358382"/>
                  <a:pt x="1430012" y="358382"/>
                </a:cubicBezTo>
                <a:lnTo>
                  <a:pt x="35136" y="358382"/>
                </a:lnTo>
                <a:cubicBezTo>
                  <a:pt x="15731" y="358382"/>
                  <a:pt x="0" y="342651"/>
                  <a:pt x="0" y="323246"/>
                </a:cubicBezTo>
                <a:lnTo>
                  <a:pt x="0" y="35136"/>
                </a:lnTo>
                <a:cubicBezTo>
                  <a:pt x="0" y="15731"/>
                  <a:pt x="15731" y="0"/>
                  <a:pt x="35136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98923" y="428651"/>
            <a:ext cx="1247308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kern="0" spc="5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1354" y="822166"/>
            <a:ext cx="11647401" cy="3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Synthesis &amp; Future Outlook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1354" y="1322846"/>
            <a:ext cx="843251" cy="35135"/>
          </a:xfrm>
          <a:custGeom>
            <a:avLst/>
            <a:gdLst/>
            <a:ahLst/>
            <a:cxnLst/>
            <a:rect l="l" t="t" r="r" b="b"/>
            <a:pathLst>
              <a:path w="843251" h="35135">
                <a:moveTo>
                  <a:pt x="0" y="0"/>
                </a:moveTo>
                <a:lnTo>
                  <a:pt x="843251" y="0"/>
                </a:lnTo>
                <a:lnTo>
                  <a:pt x="843251" y="35135"/>
                </a:lnTo>
                <a:lnTo>
                  <a:pt x="0" y="351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4868" y="1502037"/>
            <a:ext cx="5084099" cy="3116514"/>
          </a:xfrm>
          <a:custGeom>
            <a:avLst/>
            <a:gdLst/>
            <a:ahLst/>
            <a:cxnLst/>
            <a:rect l="l" t="t" r="r" b="b"/>
            <a:pathLst>
              <a:path w="5084099" h="3116514">
                <a:moveTo>
                  <a:pt x="70277" y="0"/>
                </a:moveTo>
                <a:lnTo>
                  <a:pt x="5013822" y="0"/>
                </a:lnTo>
                <a:cubicBezTo>
                  <a:pt x="5052635" y="0"/>
                  <a:pt x="5084099" y="31464"/>
                  <a:pt x="5084099" y="70277"/>
                </a:cubicBezTo>
                <a:lnTo>
                  <a:pt x="5084099" y="3046237"/>
                </a:lnTo>
                <a:cubicBezTo>
                  <a:pt x="5084099" y="3085050"/>
                  <a:pt x="5052635" y="3116514"/>
                  <a:pt x="5013822" y="3116514"/>
                </a:cubicBezTo>
                <a:lnTo>
                  <a:pt x="70277" y="3116514"/>
                </a:lnTo>
                <a:cubicBezTo>
                  <a:pt x="31464" y="3116514"/>
                  <a:pt x="0" y="3085050"/>
                  <a:pt x="0" y="3046237"/>
                </a:cubicBezTo>
                <a:lnTo>
                  <a:pt x="0" y="70277"/>
                </a:lnTo>
                <a:cubicBezTo>
                  <a:pt x="0" y="31490"/>
                  <a:pt x="31490" y="0"/>
                  <a:pt x="7027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6762" y="1716258"/>
            <a:ext cx="158110" cy="210813"/>
          </a:xfrm>
          <a:custGeom>
            <a:avLst/>
            <a:gdLst/>
            <a:ahLst/>
            <a:cxnLst/>
            <a:rect l="l" t="t" r="r" b="b"/>
            <a:pathLst>
              <a:path w="158110" h="210813">
                <a:moveTo>
                  <a:pt x="102895" y="27504"/>
                </a:moveTo>
                <a:cubicBezTo>
                  <a:pt x="107177" y="21617"/>
                  <a:pt x="105859" y="13382"/>
                  <a:pt x="99971" y="9100"/>
                </a:cubicBezTo>
                <a:cubicBezTo>
                  <a:pt x="94083" y="4817"/>
                  <a:pt x="85849" y="6135"/>
                  <a:pt x="81566" y="12023"/>
                </a:cubicBezTo>
                <a:lnTo>
                  <a:pt x="37922" y="72014"/>
                </a:lnTo>
                <a:lnTo>
                  <a:pt x="22481" y="56574"/>
                </a:lnTo>
                <a:cubicBezTo>
                  <a:pt x="17334" y="51427"/>
                  <a:pt x="8976" y="51427"/>
                  <a:pt x="3829" y="56574"/>
                </a:cubicBezTo>
                <a:cubicBezTo>
                  <a:pt x="-1318" y="61720"/>
                  <a:pt x="-1318" y="70079"/>
                  <a:pt x="3829" y="75226"/>
                </a:cubicBezTo>
                <a:lnTo>
                  <a:pt x="30181" y="101577"/>
                </a:lnTo>
                <a:cubicBezTo>
                  <a:pt x="32898" y="104295"/>
                  <a:pt x="36686" y="105695"/>
                  <a:pt x="40516" y="105406"/>
                </a:cubicBezTo>
                <a:cubicBezTo>
                  <a:pt x="44345" y="105118"/>
                  <a:pt x="47886" y="103142"/>
                  <a:pt x="50150" y="100013"/>
                </a:cubicBezTo>
                <a:lnTo>
                  <a:pt x="102854" y="27546"/>
                </a:lnTo>
                <a:close/>
                <a:moveTo>
                  <a:pt x="155598" y="83502"/>
                </a:moveTo>
                <a:cubicBezTo>
                  <a:pt x="159880" y="77614"/>
                  <a:pt x="158562" y="69379"/>
                  <a:pt x="152674" y="65097"/>
                </a:cubicBezTo>
                <a:cubicBezTo>
                  <a:pt x="146787" y="60815"/>
                  <a:pt x="138552" y="62132"/>
                  <a:pt x="134270" y="68020"/>
                </a:cubicBezTo>
                <a:lnTo>
                  <a:pt x="64273" y="164244"/>
                </a:lnTo>
                <a:lnTo>
                  <a:pt x="35657" y="135628"/>
                </a:lnTo>
                <a:cubicBezTo>
                  <a:pt x="30510" y="130482"/>
                  <a:pt x="22152" y="130482"/>
                  <a:pt x="17005" y="135628"/>
                </a:cubicBezTo>
                <a:cubicBezTo>
                  <a:pt x="11858" y="140775"/>
                  <a:pt x="11858" y="149134"/>
                  <a:pt x="17005" y="154280"/>
                </a:cubicBezTo>
                <a:lnTo>
                  <a:pt x="56532" y="193808"/>
                </a:lnTo>
                <a:cubicBezTo>
                  <a:pt x="59250" y="196525"/>
                  <a:pt x="63038" y="197925"/>
                  <a:pt x="66867" y="197637"/>
                </a:cubicBezTo>
                <a:cubicBezTo>
                  <a:pt x="70696" y="197349"/>
                  <a:pt x="74237" y="195372"/>
                  <a:pt x="76502" y="192243"/>
                </a:cubicBezTo>
                <a:lnTo>
                  <a:pt x="155557" y="8354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7575" y="1681226"/>
            <a:ext cx="4567608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Principal Conclusions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6137" y="2102748"/>
            <a:ext cx="177873" cy="158110"/>
          </a:xfrm>
          <a:custGeom>
            <a:avLst/>
            <a:gdLst/>
            <a:ahLst/>
            <a:cxnLst/>
            <a:rect l="l" t="t" r="r" b="b"/>
            <a:pathLst>
              <a:path w="177873" h="158110">
                <a:moveTo>
                  <a:pt x="95576" y="-5836"/>
                </a:moveTo>
                <a:cubicBezTo>
                  <a:pt x="94310" y="-8307"/>
                  <a:pt x="91747" y="-9882"/>
                  <a:pt x="88967" y="-9882"/>
                </a:cubicBezTo>
                <a:cubicBezTo>
                  <a:pt x="86188" y="-9882"/>
                  <a:pt x="83625" y="-8307"/>
                  <a:pt x="82359" y="-5836"/>
                </a:cubicBezTo>
                <a:lnTo>
                  <a:pt x="59631" y="38694"/>
                </a:lnTo>
                <a:lnTo>
                  <a:pt x="10252" y="46537"/>
                </a:lnTo>
                <a:cubicBezTo>
                  <a:pt x="7504" y="46970"/>
                  <a:pt x="5219" y="48915"/>
                  <a:pt x="4354" y="51571"/>
                </a:cubicBezTo>
                <a:cubicBezTo>
                  <a:pt x="3490" y="54227"/>
                  <a:pt x="4200" y="57129"/>
                  <a:pt x="6145" y="59106"/>
                </a:cubicBezTo>
                <a:lnTo>
                  <a:pt x="41473" y="94464"/>
                </a:lnTo>
                <a:lnTo>
                  <a:pt x="33691" y="143843"/>
                </a:lnTo>
                <a:cubicBezTo>
                  <a:pt x="33259" y="146591"/>
                  <a:pt x="34401" y="149370"/>
                  <a:pt x="36655" y="151007"/>
                </a:cubicBezTo>
                <a:cubicBezTo>
                  <a:pt x="38910" y="152644"/>
                  <a:pt x="41874" y="152891"/>
                  <a:pt x="44376" y="151625"/>
                </a:cubicBezTo>
                <a:lnTo>
                  <a:pt x="88967" y="128958"/>
                </a:lnTo>
                <a:lnTo>
                  <a:pt x="133528" y="151625"/>
                </a:lnTo>
                <a:cubicBezTo>
                  <a:pt x="135999" y="152891"/>
                  <a:pt x="138994" y="152644"/>
                  <a:pt x="141249" y="151007"/>
                </a:cubicBezTo>
                <a:cubicBezTo>
                  <a:pt x="143503" y="149370"/>
                  <a:pt x="144645" y="146622"/>
                  <a:pt x="144213" y="143843"/>
                </a:cubicBezTo>
                <a:lnTo>
                  <a:pt x="136400" y="94464"/>
                </a:lnTo>
                <a:lnTo>
                  <a:pt x="171728" y="59106"/>
                </a:lnTo>
                <a:cubicBezTo>
                  <a:pt x="173704" y="57129"/>
                  <a:pt x="174384" y="54227"/>
                  <a:pt x="173519" y="51571"/>
                </a:cubicBezTo>
                <a:cubicBezTo>
                  <a:pt x="172654" y="48915"/>
                  <a:pt x="170400" y="46970"/>
                  <a:pt x="167621" y="46537"/>
                </a:cubicBezTo>
                <a:lnTo>
                  <a:pt x="118273" y="38694"/>
                </a:lnTo>
                <a:lnTo>
                  <a:pt x="95576" y="-58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37102" y="2067613"/>
            <a:ext cx="4497337" cy="68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LLMs demonstrate considerable potential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automating Bloom's taxonomy classification, achieving 70-80% accuracy without task-specific training.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6137" y="2893296"/>
            <a:ext cx="177873" cy="158110"/>
          </a:xfrm>
          <a:custGeom>
            <a:avLst/>
            <a:gdLst/>
            <a:ahLst/>
            <a:cxnLst/>
            <a:rect l="l" t="t" r="r" b="b"/>
            <a:pathLst>
              <a:path w="177873" h="158110">
                <a:moveTo>
                  <a:pt x="95576" y="-5836"/>
                </a:moveTo>
                <a:cubicBezTo>
                  <a:pt x="94310" y="-8307"/>
                  <a:pt x="91747" y="-9882"/>
                  <a:pt x="88967" y="-9882"/>
                </a:cubicBezTo>
                <a:cubicBezTo>
                  <a:pt x="86188" y="-9882"/>
                  <a:pt x="83625" y="-8307"/>
                  <a:pt x="82359" y="-5836"/>
                </a:cubicBezTo>
                <a:lnTo>
                  <a:pt x="59631" y="38694"/>
                </a:lnTo>
                <a:lnTo>
                  <a:pt x="10252" y="46537"/>
                </a:lnTo>
                <a:cubicBezTo>
                  <a:pt x="7504" y="46970"/>
                  <a:pt x="5219" y="48915"/>
                  <a:pt x="4354" y="51571"/>
                </a:cubicBezTo>
                <a:cubicBezTo>
                  <a:pt x="3490" y="54227"/>
                  <a:pt x="4200" y="57129"/>
                  <a:pt x="6145" y="59106"/>
                </a:cubicBezTo>
                <a:lnTo>
                  <a:pt x="41473" y="94464"/>
                </a:lnTo>
                <a:lnTo>
                  <a:pt x="33691" y="143843"/>
                </a:lnTo>
                <a:cubicBezTo>
                  <a:pt x="33259" y="146591"/>
                  <a:pt x="34401" y="149370"/>
                  <a:pt x="36655" y="151007"/>
                </a:cubicBezTo>
                <a:cubicBezTo>
                  <a:pt x="38910" y="152644"/>
                  <a:pt x="41874" y="152891"/>
                  <a:pt x="44376" y="151625"/>
                </a:cubicBezTo>
                <a:lnTo>
                  <a:pt x="88967" y="128958"/>
                </a:lnTo>
                <a:lnTo>
                  <a:pt x="133528" y="151625"/>
                </a:lnTo>
                <a:cubicBezTo>
                  <a:pt x="135999" y="152891"/>
                  <a:pt x="138994" y="152644"/>
                  <a:pt x="141249" y="151007"/>
                </a:cubicBezTo>
                <a:cubicBezTo>
                  <a:pt x="143503" y="149370"/>
                  <a:pt x="144645" y="146622"/>
                  <a:pt x="144213" y="143843"/>
                </a:cubicBezTo>
                <a:lnTo>
                  <a:pt x="136400" y="94464"/>
                </a:lnTo>
                <a:lnTo>
                  <a:pt x="171728" y="59106"/>
                </a:lnTo>
                <a:cubicBezTo>
                  <a:pt x="173704" y="57129"/>
                  <a:pt x="174384" y="54227"/>
                  <a:pt x="173519" y="51571"/>
                </a:cubicBezTo>
                <a:cubicBezTo>
                  <a:pt x="172654" y="48915"/>
                  <a:pt x="170400" y="46970"/>
                  <a:pt x="167621" y="46537"/>
                </a:cubicBezTo>
                <a:lnTo>
                  <a:pt x="118273" y="38694"/>
                </a:lnTo>
                <a:lnTo>
                  <a:pt x="95576" y="-58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7102" y="2858161"/>
            <a:ext cx="4497337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varies by context: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Well-structured content (87%) vs. conversational content (54%).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6137" y="3455463"/>
            <a:ext cx="177873" cy="158110"/>
          </a:xfrm>
          <a:custGeom>
            <a:avLst/>
            <a:gdLst/>
            <a:ahLst/>
            <a:cxnLst/>
            <a:rect l="l" t="t" r="r" b="b"/>
            <a:pathLst>
              <a:path w="177873" h="158110">
                <a:moveTo>
                  <a:pt x="95576" y="-5836"/>
                </a:moveTo>
                <a:cubicBezTo>
                  <a:pt x="94310" y="-8307"/>
                  <a:pt x="91747" y="-9882"/>
                  <a:pt x="88967" y="-9882"/>
                </a:cubicBezTo>
                <a:cubicBezTo>
                  <a:pt x="86188" y="-9882"/>
                  <a:pt x="83625" y="-8307"/>
                  <a:pt x="82359" y="-5836"/>
                </a:cubicBezTo>
                <a:lnTo>
                  <a:pt x="59631" y="38694"/>
                </a:lnTo>
                <a:lnTo>
                  <a:pt x="10252" y="46537"/>
                </a:lnTo>
                <a:cubicBezTo>
                  <a:pt x="7504" y="46970"/>
                  <a:pt x="5219" y="48915"/>
                  <a:pt x="4354" y="51571"/>
                </a:cubicBezTo>
                <a:cubicBezTo>
                  <a:pt x="3490" y="54227"/>
                  <a:pt x="4200" y="57129"/>
                  <a:pt x="6145" y="59106"/>
                </a:cubicBezTo>
                <a:lnTo>
                  <a:pt x="41473" y="94464"/>
                </a:lnTo>
                <a:lnTo>
                  <a:pt x="33691" y="143843"/>
                </a:lnTo>
                <a:cubicBezTo>
                  <a:pt x="33259" y="146591"/>
                  <a:pt x="34401" y="149370"/>
                  <a:pt x="36655" y="151007"/>
                </a:cubicBezTo>
                <a:cubicBezTo>
                  <a:pt x="38910" y="152644"/>
                  <a:pt x="41874" y="152891"/>
                  <a:pt x="44376" y="151625"/>
                </a:cubicBezTo>
                <a:lnTo>
                  <a:pt x="88967" y="128958"/>
                </a:lnTo>
                <a:lnTo>
                  <a:pt x="133528" y="151625"/>
                </a:lnTo>
                <a:cubicBezTo>
                  <a:pt x="135999" y="152891"/>
                  <a:pt x="138994" y="152644"/>
                  <a:pt x="141249" y="151007"/>
                </a:cubicBezTo>
                <a:cubicBezTo>
                  <a:pt x="143503" y="149370"/>
                  <a:pt x="144645" y="146622"/>
                  <a:pt x="144213" y="143843"/>
                </a:cubicBezTo>
                <a:lnTo>
                  <a:pt x="136400" y="94464"/>
                </a:lnTo>
                <a:lnTo>
                  <a:pt x="171728" y="59106"/>
                </a:lnTo>
                <a:cubicBezTo>
                  <a:pt x="173704" y="57129"/>
                  <a:pt x="174384" y="54227"/>
                  <a:pt x="173519" y="51571"/>
                </a:cubicBezTo>
                <a:cubicBezTo>
                  <a:pt x="172654" y="48915"/>
                  <a:pt x="170400" y="46970"/>
                  <a:pt x="167621" y="46537"/>
                </a:cubicBezTo>
                <a:lnTo>
                  <a:pt x="118273" y="38694"/>
                </a:lnTo>
                <a:lnTo>
                  <a:pt x="95576" y="-58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7102" y="3420328"/>
            <a:ext cx="4497337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Prompt engineering significantly impacts accuracy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—rhetorical context prompts achieved best results.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6137" y="4017630"/>
            <a:ext cx="177873" cy="158110"/>
          </a:xfrm>
          <a:custGeom>
            <a:avLst/>
            <a:gdLst/>
            <a:ahLst/>
            <a:cxnLst/>
            <a:rect l="l" t="t" r="r" b="b"/>
            <a:pathLst>
              <a:path w="177873" h="158110">
                <a:moveTo>
                  <a:pt x="95576" y="-5836"/>
                </a:moveTo>
                <a:cubicBezTo>
                  <a:pt x="94310" y="-8307"/>
                  <a:pt x="91747" y="-9882"/>
                  <a:pt x="88967" y="-9882"/>
                </a:cubicBezTo>
                <a:cubicBezTo>
                  <a:pt x="86188" y="-9882"/>
                  <a:pt x="83625" y="-8307"/>
                  <a:pt x="82359" y="-5836"/>
                </a:cubicBezTo>
                <a:lnTo>
                  <a:pt x="59631" y="38694"/>
                </a:lnTo>
                <a:lnTo>
                  <a:pt x="10252" y="46537"/>
                </a:lnTo>
                <a:cubicBezTo>
                  <a:pt x="7504" y="46970"/>
                  <a:pt x="5219" y="48915"/>
                  <a:pt x="4354" y="51571"/>
                </a:cubicBezTo>
                <a:cubicBezTo>
                  <a:pt x="3490" y="54227"/>
                  <a:pt x="4200" y="57129"/>
                  <a:pt x="6145" y="59106"/>
                </a:cubicBezTo>
                <a:lnTo>
                  <a:pt x="41473" y="94464"/>
                </a:lnTo>
                <a:lnTo>
                  <a:pt x="33691" y="143843"/>
                </a:lnTo>
                <a:cubicBezTo>
                  <a:pt x="33259" y="146591"/>
                  <a:pt x="34401" y="149370"/>
                  <a:pt x="36655" y="151007"/>
                </a:cubicBezTo>
                <a:cubicBezTo>
                  <a:pt x="38910" y="152644"/>
                  <a:pt x="41874" y="152891"/>
                  <a:pt x="44376" y="151625"/>
                </a:cubicBezTo>
                <a:lnTo>
                  <a:pt x="88967" y="128958"/>
                </a:lnTo>
                <a:lnTo>
                  <a:pt x="133528" y="151625"/>
                </a:lnTo>
                <a:cubicBezTo>
                  <a:pt x="135999" y="152891"/>
                  <a:pt x="138994" y="152644"/>
                  <a:pt x="141249" y="151007"/>
                </a:cubicBezTo>
                <a:cubicBezTo>
                  <a:pt x="143503" y="149370"/>
                  <a:pt x="144645" y="146622"/>
                  <a:pt x="144213" y="143843"/>
                </a:cubicBezTo>
                <a:lnTo>
                  <a:pt x="136400" y="94464"/>
                </a:lnTo>
                <a:lnTo>
                  <a:pt x="171728" y="59106"/>
                </a:lnTo>
                <a:cubicBezTo>
                  <a:pt x="173704" y="57129"/>
                  <a:pt x="174384" y="54227"/>
                  <a:pt x="173519" y="51571"/>
                </a:cubicBezTo>
                <a:cubicBezTo>
                  <a:pt x="172654" y="48915"/>
                  <a:pt x="170400" y="46970"/>
                  <a:pt x="167621" y="46537"/>
                </a:cubicBezTo>
                <a:lnTo>
                  <a:pt x="118273" y="38694"/>
                </a:lnTo>
                <a:lnTo>
                  <a:pt x="95576" y="-58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7102" y="3982495"/>
            <a:ext cx="4497337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Trade-off exists: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Fine-tuned models achieve 90-95% accuracy but require extensive data; LLMs offer flexibility with zero training.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54868" y="4766014"/>
            <a:ext cx="5084099" cy="2088802"/>
          </a:xfrm>
          <a:custGeom>
            <a:avLst/>
            <a:gdLst/>
            <a:ahLst/>
            <a:cxnLst/>
            <a:rect l="l" t="t" r="r" b="b"/>
            <a:pathLst>
              <a:path w="5084099" h="2088802">
                <a:moveTo>
                  <a:pt x="70267" y="0"/>
                </a:moveTo>
                <a:lnTo>
                  <a:pt x="5013832" y="0"/>
                </a:lnTo>
                <a:cubicBezTo>
                  <a:pt x="5052639" y="0"/>
                  <a:pt x="5084099" y="31460"/>
                  <a:pt x="5084099" y="70267"/>
                </a:cubicBezTo>
                <a:lnTo>
                  <a:pt x="5084099" y="2018535"/>
                </a:lnTo>
                <a:cubicBezTo>
                  <a:pt x="5084099" y="2057343"/>
                  <a:pt x="5052639" y="2088802"/>
                  <a:pt x="5013832" y="2088802"/>
                </a:cubicBezTo>
                <a:lnTo>
                  <a:pt x="70267" y="2088802"/>
                </a:lnTo>
                <a:cubicBezTo>
                  <a:pt x="31460" y="2088802"/>
                  <a:pt x="0" y="2057343"/>
                  <a:pt x="0" y="2018535"/>
                </a:cubicBezTo>
                <a:lnTo>
                  <a:pt x="0" y="70267"/>
                </a:lnTo>
                <a:cubicBezTo>
                  <a:pt x="0" y="31460"/>
                  <a:pt x="31460" y="0"/>
                  <a:pt x="7026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56018" y="4980338"/>
            <a:ext cx="175677" cy="175677"/>
          </a:xfrm>
          <a:custGeom>
            <a:avLst/>
            <a:gdLst/>
            <a:ahLst/>
            <a:cxnLst/>
            <a:rect l="l" t="t" r="r" b="b"/>
            <a:pathLst>
              <a:path w="175677" h="175677">
                <a:moveTo>
                  <a:pt x="43919" y="109798"/>
                </a:moveTo>
                <a:lnTo>
                  <a:pt x="8406" y="109798"/>
                </a:lnTo>
                <a:cubicBezTo>
                  <a:pt x="-137" y="109798"/>
                  <a:pt x="-5387" y="100500"/>
                  <a:pt x="-995" y="93157"/>
                </a:cubicBezTo>
                <a:lnTo>
                  <a:pt x="17156" y="62894"/>
                </a:lnTo>
                <a:cubicBezTo>
                  <a:pt x="20141" y="57919"/>
                  <a:pt x="25494" y="54899"/>
                  <a:pt x="31293" y="54899"/>
                </a:cubicBezTo>
                <a:lnTo>
                  <a:pt x="63889" y="54899"/>
                </a:lnTo>
                <a:cubicBezTo>
                  <a:pt x="90000" y="10671"/>
                  <a:pt x="128944" y="8441"/>
                  <a:pt x="154987" y="12249"/>
                </a:cubicBezTo>
                <a:cubicBezTo>
                  <a:pt x="159379" y="12901"/>
                  <a:pt x="162810" y="16332"/>
                  <a:pt x="163428" y="20690"/>
                </a:cubicBezTo>
                <a:cubicBezTo>
                  <a:pt x="167236" y="46733"/>
                  <a:pt x="165006" y="85677"/>
                  <a:pt x="120778" y="111788"/>
                </a:cubicBezTo>
                <a:lnTo>
                  <a:pt x="120778" y="144385"/>
                </a:lnTo>
                <a:cubicBezTo>
                  <a:pt x="120778" y="150183"/>
                  <a:pt x="117759" y="155536"/>
                  <a:pt x="112783" y="158521"/>
                </a:cubicBezTo>
                <a:lnTo>
                  <a:pt x="82520" y="176672"/>
                </a:lnTo>
                <a:cubicBezTo>
                  <a:pt x="75212" y="181064"/>
                  <a:pt x="65879" y="175780"/>
                  <a:pt x="65879" y="167271"/>
                </a:cubicBezTo>
                <a:lnTo>
                  <a:pt x="65879" y="131758"/>
                </a:lnTo>
                <a:cubicBezTo>
                  <a:pt x="65879" y="119646"/>
                  <a:pt x="56031" y="109798"/>
                  <a:pt x="43919" y="109798"/>
                </a:cubicBezTo>
                <a:lnTo>
                  <a:pt x="43885" y="109798"/>
                </a:lnTo>
                <a:close/>
                <a:moveTo>
                  <a:pt x="137248" y="54899"/>
                </a:moveTo>
                <a:cubicBezTo>
                  <a:pt x="137248" y="45809"/>
                  <a:pt x="129868" y="38429"/>
                  <a:pt x="120778" y="38429"/>
                </a:cubicBezTo>
                <a:cubicBezTo>
                  <a:pt x="111688" y="38429"/>
                  <a:pt x="104308" y="45809"/>
                  <a:pt x="104308" y="54899"/>
                </a:cubicBezTo>
                <a:cubicBezTo>
                  <a:pt x="104308" y="63989"/>
                  <a:pt x="111688" y="71369"/>
                  <a:pt x="120778" y="71369"/>
                </a:cubicBezTo>
                <a:cubicBezTo>
                  <a:pt x="129868" y="71369"/>
                  <a:pt x="137248" y="63989"/>
                  <a:pt x="137248" y="5489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53655" y="4945203"/>
            <a:ext cx="459396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Path Forward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4059" y="5296557"/>
            <a:ext cx="4795988" cy="1141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success depends on </a:t>
            </a: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hybrid approaches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combining LLMs with modest fine-tuning, </a:t>
            </a: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improved prompt designs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informed by pedagogy, and </a:t>
            </a:r>
            <a:r>
              <a:rPr lang="en-US" sz="110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thorough real-world validation</a:t>
            </a: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The convergence of AI and educational psychology frameworks represents a fruitful interdisciplinary area for advancing learning analytics at scale.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60320" y="1502037"/>
            <a:ext cx="6182082" cy="3204353"/>
          </a:xfrm>
          <a:custGeom>
            <a:avLst/>
            <a:gdLst/>
            <a:ahLst/>
            <a:cxnLst/>
            <a:rect l="l" t="t" r="r" b="b"/>
            <a:pathLst>
              <a:path w="6182082" h="3204353">
                <a:moveTo>
                  <a:pt x="70271" y="0"/>
                </a:moveTo>
                <a:lnTo>
                  <a:pt x="6111810" y="0"/>
                </a:lnTo>
                <a:cubicBezTo>
                  <a:pt x="6150620" y="0"/>
                  <a:pt x="6182082" y="31462"/>
                  <a:pt x="6182082" y="70271"/>
                </a:cubicBezTo>
                <a:lnTo>
                  <a:pt x="6182082" y="3134081"/>
                </a:lnTo>
                <a:cubicBezTo>
                  <a:pt x="6182082" y="3172891"/>
                  <a:pt x="6150620" y="3204353"/>
                  <a:pt x="6111810" y="3204353"/>
                </a:cubicBezTo>
                <a:lnTo>
                  <a:pt x="70271" y="3204353"/>
                </a:lnTo>
                <a:cubicBezTo>
                  <a:pt x="31462" y="3204353"/>
                  <a:pt x="0" y="3172891"/>
                  <a:pt x="0" y="3134081"/>
                </a:cubicBezTo>
                <a:lnTo>
                  <a:pt x="0" y="70271"/>
                </a:lnTo>
                <a:cubicBezTo>
                  <a:pt x="0" y="31488"/>
                  <a:pt x="31488" y="0"/>
                  <a:pt x="702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9511" y="1681226"/>
            <a:ext cx="5911539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Performance Metrics Summary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39511" y="2102748"/>
            <a:ext cx="151082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Fine-tuned BERT (best)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091272" y="2067716"/>
            <a:ext cx="676357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95% F1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39511" y="2418967"/>
            <a:ext cx="5823700" cy="105406"/>
          </a:xfrm>
          <a:custGeom>
            <a:avLst/>
            <a:gdLst/>
            <a:ahLst/>
            <a:cxnLst/>
            <a:rect l="l" t="t" r="r" b="b"/>
            <a:pathLst>
              <a:path w="5823700" h="105406">
                <a:moveTo>
                  <a:pt x="52703" y="0"/>
                </a:moveTo>
                <a:lnTo>
                  <a:pt x="5770997" y="0"/>
                </a:lnTo>
                <a:cubicBezTo>
                  <a:pt x="5800104" y="0"/>
                  <a:pt x="5823700" y="23596"/>
                  <a:pt x="5823700" y="52703"/>
                </a:cubicBezTo>
                <a:lnTo>
                  <a:pt x="5823700" y="52703"/>
                </a:lnTo>
                <a:cubicBezTo>
                  <a:pt x="5823700" y="81810"/>
                  <a:pt x="5800104" y="105406"/>
                  <a:pt x="5770997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839511" y="2418967"/>
            <a:ext cx="5533833" cy="105406"/>
          </a:xfrm>
          <a:custGeom>
            <a:avLst/>
            <a:gdLst/>
            <a:ahLst/>
            <a:cxnLst/>
            <a:rect l="l" t="t" r="r" b="b"/>
            <a:pathLst>
              <a:path w="5533833" h="105406">
                <a:moveTo>
                  <a:pt x="52703" y="0"/>
                </a:moveTo>
                <a:lnTo>
                  <a:pt x="5481130" y="0"/>
                </a:lnTo>
                <a:cubicBezTo>
                  <a:pt x="5510237" y="0"/>
                  <a:pt x="5533833" y="23596"/>
                  <a:pt x="5533833" y="52703"/>
                </a:cubicBezTo>
                <a:lnTo>
                  <a:pt x="5533833" y="52703"/>
                </a:lnTo>
                <a:cubicBezTo>
                  <a:pt x="5533833" y="81810"/>
                  <a:pt x="5510237" y="105406"/>
                  <a:pt x="5481130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39511" y="2699939"/>
            <a:ext cx="1730421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GPT-4 + Rhetorical Prompt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881558" y="2664916"/>
            <a:ext cx="887170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 Acc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839511" y="3016159"/>
            <a:ext cx="5823700" cy="105406"/>
          </a:xfrm>
          <a:custGeom>
            <a:avLst/>
            <a:gdLst/>
            <a:ahLst/>
            <a:cxnLst/>
            <a:rect l="l" t="t" r="r" b="b"/>
            <a:pathLst>
              <a:path w="5823700" h="105406">
                <a:moveTo>
                  <a:pt x="52703" y="0"/>
                </a:moveTo>
                <a:lnTo>
                  <a:pt x="5770997" y="0"/>
                </a:lnTo>
                <a:cubicBezTo>
                  <a:pt x="5800104" y="0"/>
                  <a:pt x="5823700" y="23596"/>
                  <a:pt x="5823700" y="52703"/>
                </a:cubicBezTo>
                <a:lnTo>
                  <a:pt x="5823700" y="52703"/>
                </a:lnTo>
                <a:cubicBezTo>
                  <a:pt x="5823700" y="81810"/>
                  <a:pt x="5800104" y="105406"/>
                  <a:pt x="5770997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839511" y="3016159"/>
            <a:ext cx="5068288" cy="105406"/>
          </a:xfrm>
          <a:custGeom>
            <a:avLst/>
            <a:gdLst/>
            <a:ahLst/>
            <a:cxnLst/>
            <a:rect l="l" t="t" r="r" b="b"/>
            <a:pathLst>
              <a:path w="5068288" h="105406">
                <a:moveTo>
                  <a:pt x="52703" y="0"/>
                </a:moveTo>
                <a:lnTo>
                  <a:pt x="5015585" y="0"/>
                </a:lnTo>
                <a:cubicBezTo>
                  <a:pt x="5044692" y="0"/>
                  <a:pt x="5068288" y="23596"/>
                  <a:pt x="5068288" y="52703"/>
                </a:cubicBezTo>
                <a:lnTo>
                  <a:pt x="5068288" y="52703"/>
                </a:lnTo>
                <a:cubicBezTo>
                  <a:pt x="5068288" y="81810"/>
                  <a:pt x="5044692" y="105406"/>
                  <a:pt x="5015585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839511" y="3297131"/>
            <a:ext cx="155474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GPT-4 Average (pooled)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795257" y="3262107"/>
            <a:ext cx="975009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~70% Acc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839511" y="3613350"/>
            <a:ext cx="5823700" cy="105406"/>
          </a:xfrm>
          <a:custGeom>
            <a:avLst/>
            <a:gdLst/>
            <a:ahLst/>
            <a:cxnLst/>
            <a:rect l="l" t="t" r="r" b="b"/>
            <a:pathLst>
              <a:path w="5823700" h="105406">
                <a:moveTo>
                  <a:pt x="52703" y="0"/>
                </a:moveTo>
                <a:lnTo>
                  <a:pt x="5770997" y="0"/>
                </a:lnTo>
                <a:cubicBezTo>
                  <a:pt x="5800104" y="0"/>
                  <a:pt x="5823700" y="23596"/>
                  <a:pt x="5823700" y="52703"/>
                </a:cubicBezTo>
                <a:lnTo>
                  <a:pt x="5823700" y="52703"/>
                </a:lnTo>
                <a:cubicBezTo>
                  <a:pt x="5823700" y="81810"/>
                  <a:pt x="5800104" y="105406"/>
                  <a:pt x="5770997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839511" y="3613350"/>
            <a:ext cx="4075712" cy="105406"/>
          </a:xfrm>
          <a:custGeom>
            <a:avLst/>
            <a:gdLst/>
            <a:ahLst/>
            <a:cxnLst/>
            <a:rect l="l" t="t" r="r" b="b"/>
            <a:pathLst>
              <a:path w="4075712" h="105406">
                <a:moveTo>
                  <a:pt x="52703" y="0"/>
                </a:moveTo>
                <a:lnTo>
                  <a:pt x="4023009" y="0"/>
                </a:lnTo>
                <a:cubicBezTo>
                  <a:pt x="4052116" y="0"/>
                  <a:pt x="4075712" y="23596"/>
                  <a:pt x="4075712" y="52703"/>
                </a:cubicBezTo>
                <a:lnTo>
                  <a:pt x="4075712" y="52703"/>
                </a:lnTo>
                <a:cubicBezTo>
                  <a:pt x="4075712" y="81810"/>
                  <a:pt x="4052116" y="105406"/>
                  <a:pt x="4023009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839511" y="3894322"/>
            <a:ext cx="155474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Content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914168" y="3859298"/>
            <a:ext cx="85203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54% Acc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839511" y="4210541"/>
            <a:ext cx="5823700" cy="105406"/>
          </a:xfrm>
          <a:custGeom>
            <a:avLst/>
            <a:gdLst/>
            <a:ahLst/>
            <a:cxnLst/>
            <a:rect l="l" t="t" r="r" b="b"/>
            <a:pathLst>
              <a:path w="5823700" h="105406">
                <a:moveTo>
                  <a:pt x="52703" y="0"/>
                </a:moveTo>
                <a:lnTo>
                  <a:pt x="5770997" y="0"/>
                </a:lnTo>
                <a:cubicBezTo>
                  <a:pt x="5800104" y="0"/>
                  <a:pt x="5823700" y="23596"/>
                  <a:pt x="5823700" y="52703"/>
                </a:cubicBezTo>
                <a:lnTo>
                  <a:pt x="5823700" y="52703"/>
                </a:lnTo>
                <a:cubicBezTo>
                  <a:pt x="5823700" y="81810"/>
                  <a:pt x="5800104" y="105406"/>
                  <a:pt x="5770997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839511" y="4210541"/>
            <a:ext cx="3144622" cy="105406"/>
          </a:xfrm>
          <a:custGeom>
            <a:avLst/>
            <a:gdLst/>
            <a:ahLst/>
            <a:cxnLst/>
            <a:rect l="l" t="t" r="r" b="b"/>
            <a:pathLst>
              <a:path w="3144622" h="105406">
                <a:moveTo>
                  <a:pt x="52703" y="0"/>
                </a:moveTo>
                <a:lnTo>
                  <a:pt x="3091919" y="0"/>
                </a:lnTo>
                <a:cubicBezTo>
                  <a:pt x="3121026" y="0"/>
                  <a:pt x="3144622" y="23596"/>
                  <a:pt x="3144622" y="52703"/>
                </a:cubicBezTo>
                <a:lnTo>
                  <a:pt x="3144622" y="52703"/>
                </a:lnTo>
                <a:cubicBezTo>
                  <a:pt x="3144622" y="81810"/>
                  <a:pt x="3121026" y="105406"/>
                  <a:pt x="3091919" y="105406"/>
                </a:cubicBezTo>
                <a:lnTo>
                  <a:pt x="52703" y="105406"/>
                </a:lnTo>
                <a:cubicBezTo>
                  <a:pt x="23615" y="105406"/>
                  <a:pt x="0" y="81791"/>
                  <a:pt x="0" y="52703"/>
                </a:cubicBezTo>
                <a:lnTo>
                  <a:pt x="0" y="52703"/>
                </a:lnTo>
                <a:cubicBezTo>
                  <a:pt x="0" y="23615"/>
                  <a:pt x="23615" y="0"/>
                  <a:pt x="5270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660320" y="4851545"/>
            <a:ext cx="3019892" cy="1148929"/>
          </a:xfrm>
          <a:custGeom>
            <a:avLst/>
            <a:gdLst/>
            <a:ahLst/>
            <a:cxnLst/>
            <a:rect l="l" t="t" r="r" b="b"/>
            <a:pathLst>
              <a:path w="3019892" h="1148929">
                <a:moveTo>
                  <a:pt x="70269" y="0"/>
                </a:moveTo>
                <a:lnTo>
                  <a:pt x="2949623" y="0"/>
                </a:lnTo>
                <a:cubicBezTo>
                  <a:pt x="2988431" y="0"/>
                  <a:pt x="3019892" y="31460"/>
                  <a:pt x="3019892" y="70269"/>
                </a:cubicBezTo>
                <a:lnTo>
                  <a:pt x="3019892" y="1078661"/>
                </a:lnTo>
                <a:cubicBezTo>
                  <a:pt x="3019892" y="1117469"/>
                  <a:pt x="2988431" y="1148929"/>
                  <a:pt x="2949623" y="1148929"/>
                </a:cubicBezTo>
                <a:lnTo>
                  <a:pt x="70269" y="1148929"/>
                </a:lnTo>
                <a:cubicBezTo>
                  <a:pt x="31460" y="1148929"/>
                  <a:pt x="0" y="1117469"/>
                  <a:pt x="0" y="1078661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071887" y="4995598"/>
            <a:ext cx="197637" cy="263516"/>
          </a:xfrm>
          <a:custGeom>
            <a:avLst/>
            <a:gdLst/>
            <a:ahLst/>
            <a:cxnLst/>
            <a:rect l="l" t="t" r="r" b="b"/>
            <a:pathLst>
              <a:path w="197637" h="263516">
                <a:moveTo>
                  <a:pt x="0" y="32939"/>
                </a:moveTo>
                <a:cubicBezTo>
                  <a:pt x="0" y="14771"/>
                  <a:pt x="14771" y="0"/>
                  <a:pt x="32939" y="0"/>
                </a:cubicBezTo>
                <a:lnTo>
                  <a:pt x="109884" y="0"/>
                </a:lnTo>
                <a:cubicBezTo>
                  <a:pt x="118634" y="0"/>
                  <a:pt x="127023" y="3448"/>
                  <a:pt x="133199" y="9625"/>
                </a:cubicBezTo>
                <a:lnTo>
                  <a:pt x="188012" y="64489"/>
                </a:lnTo>
                <a:cubicBezTo>
                  <a:pt x="194189" y="70665"/>
                  <a:pt x="197637" y="79055"/>
                  <a:pt x="197637" y="87804"/>
                </a:cubicBezTo>
                <a:lnTo>
                  <a:pt x="197637" y="230576"/>
                </a:lnTo>
                <a:cubicBezTo>
                  <a:pt x="197637" y="248745"/>
                  <a:pt x="182866" y="263516"/>
                  <a:pt x="164697" y="263516"/>
                </a:cubicBezTo>
                <a:lnTo>
                  <a:pt x="32939" y="263516"/>
                </a:lnTo>
                <a:cubicBezTo>
                  <a:pt x="14771" y="263516"/>
                  <a:pt x="0" y="248745"/>
                  <a:pt x="0" y="230576"/>
                </a:cubicBezTo>
                <a:lnTo>
                  <a:pt x="0" y="32939"/>
                </a:lnTo>
                <a:close/>
                <a:moveTo>
                  <a:pt x="107053" y="30109"/>
                </a:moveTo>
                <a:lnTo>
                  <a:pt x="107053" y="78231"/>
                </a:lnTo>
                <a:cubicBezTo>
                  <a:pt x="107053" y="85077"/>
                  <a:pt x="112560" y="90584"/>
                  <a:pt x="119406" y="90584"/>
                </a:cubicBezTo>
                <a:lnTo>
                  <a:pt x="167528" y="90584"/>
                </a:lnTo>
                <a:lnTo>
                  <a:pt x="107053" y="30109"/>
                </a:lnTo>
                <a:close/>
                <a:moveTo>
                  <a:pt x="61762" y="131758"/>
                </a:moveTo>
                <a:cubicBezTo>
                  <a:pt x="54916" y="131758"/>
                  <a:pt x="49409" y="137265"/>
                  <a:pt x="49409" y="144110"/>
                </a:cubicBezTo>
                <a:cubicBezTo>
                  <a:pt x="49409" y="150955"/>
                  <a:pt x="54916" y="156463"/>
                  <a:pt x="61762" y="156463"/>
                </a:cubicBezTo>
                <a:lnTo>
                  <a:pt x="135875" y="156463"/>
                </a:lnTo>
                <a:cubicBezTo>
                  <a:pt x="142721" y="156463"/>
                  <a:pt x="148228" y="150955"/>
                  <a:pt x="148228" y="144110"/>
                </a:cubicBezTo>
                <a:cubicBezTo>
                  <a:pt x="148228" y="137265"/>
                  <a:pt x="142721" y="131758"/>
                  <a:pt x="135875" y="131758"/>
                </a:cubicBezTo>
                <a:lnTo>
                  <a:pt x="61762" y="131758"/>
                </a:lnTo>
                <a:close/>
                <a:moveTo>
                  <a:pt x="61762" y="181167"/>
                </a:moveTo>
                <a:cubicBezTo>
                  <a:pt x="54916" y="181167"/>
                  <a:pt x="49409" y="186674"/>
                  <a:pt x="49409" y="193519"/>
                </a:cubicBezTo>
                <a:cubicBezTo>
                  <a:pt x="49409" y="200365"/>
                  <a:pt x="54916" y="205872"/>
                  <a:pt x="61762" y="205872"/>
                </a:cubicBezTo>
                <a:lnTo>
                  <a:pt x="135875" y="205872"/>
                </a:lnTo>
                <a:cubicBezTo>
                  <a:pt x="142721" y="205872"/>
                  <a:pt x="148228" y="200365"/>
                  <a:pt x="148228" y="193519"/>
                </a:cubicBezTo>
                <a:cubicBezTo>
                  <a:pt x="148228" y="186674"/>
                  <a:pt x="142721" y="181167"/>
                  <a:pt x="135875" y="181167"/>
                </a:cubicBezTo>
                <a:lnTo>
                  <a:pt x="61762" y="18116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769240" y="5329385"/>
            <a:ext cx="280205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Studies Reviewed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738497" y="5540198"/>
            <a:ext cx="2863539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824377" y="4851545"/>
            <a:ext cx="3019892" cy="1148929"/>
          </a:xfrm>
          <a:custGeom>
            <a:avLst/>
            <a:gdLst/>
            <a:ahLst/>
            <a:cxnLst/>
            <a:rect l="l" t="t" r="r" b="b"/>
            <a:pathLst>
              <a:path w="3019892" h="1148929">
                <a:moveTo>
                  <a:pt x="70269" y="0"/>
                </a:moveTo>
                <a:lnTo>
                  <a:pt x="2949623" y="0"/>
                </a:lnTo>
                <a:cubicBezTo>
                  <a:pt x="2988431" y="0"/>
                  <a:pt x="3019892" y="31460"/>
                  <a:pt x="3019892" y="70269"/>
                </a:cubicBezTo>
                <a:lnTo>
                  <a:pt x="3019892" y="1078661"/>
                </a:lnTo>
                <a:cubicBezTo>
                  <a:pt x="3019892" y="1117469"/>
                  <a:pt x="2988431" y="1148929"/>
                  <a:pt x="2949623" y="1148929"/>
                </a:cubicBezTo>
                <a:lnTo>
                  <a:pt x="70269" y="1148929"/>
                </a:lnTo>
                <a:cubicBezTo>
                  <a:pt x="31460" y="1148929"/>
                  <a:pt x="0" y="1117469"/>
                  <a:pt x="0" y="1078661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219585" y="4995598"/>
            <a:ext cx="230576" cy="263516"/>
          </a:xfrm>
          <a:custGeom>
            <a:avLst/>
            <a:gdLst/>
            <a:ahLst/>
            <a:cxnLst/>
            <a:rect l="l" t="t" r="r" b="b"/>
            <a:pathLst>
              <a:path w="230576" h="263516">
                <a:moveTo>
                  <a:pt x="65879" y="0"/>
                </a:moveTo>
                <a:cubicBezTo>
                  <a:pt x="56769" y="0"/>
                  <a:pt x="49409" y="7360"/>
                  <a:pt x="49409" y="16470"/>
                </a:cubicBezTo>
                <a:lnTo>
                  <a:pt x="49409" y="32939"/>
                </a:lnTo>
                <a:lnTo>
                  <a:pt x="32939" y="32939"/>
                </a:lnTo>
                <a:cubicBezTo>
                  <a:pt x="14771" y="32939"/>
                  <a:pt x="0" y="47711"/>
                  <a:pt x="0" y="65879"/>
                </a:cubicBezTo>
                <a:lnTo>
                  <a:pt x="0" y="90584"/>
                </a:lnTo>
                <a:lnTo>
                  <a:pt x="230576" y="90584"/>
                </a:lnTo>
                <a:lnTo>
                  <a:pt x="230576" y="65879"/>
                </a:lnTo>
                <a:cubicBezTo>
                  <a:pt x="230576" y="47711"/>
                  <a:pt x="215805" y="32939"/>
                  <a:pt x="197637" y="32939"/>
                </a:cubicBezTo>
                <a:lnTo>
                  <a:pt x="181167" y="32939"/>
                </a:lnTo>
                <a:lnTo>
                  <a:pt x="181167" y="16470"/>
                </a:lnTo>
                <a:cubicBezTo>
                  <a:pt x="181167" y="7360"/>
                  <a:pt x="173807" y="0"/>
                  <a:pt x="164697" y="0"/>
                </a:cubicBezTo>
                <a:cubicBezTo>
                  <a:pt x="155588" y="0"/>
                  <a:pt x="148228" y="7360"/>
                  <a:pt x="148228" y="16470"/>
                </a:cubicBezTo>
                <a:lnTo>
                  <a:pt x="148228" y="32939"/>
                </a:lnTo>
                <a:lnTo>
                  <a:pt x="82349" y="32939"/>
                </a:lnTo>
                <a:lnTo>
                  <a:pt x="82349" y="16470"/>
                </a:lnTo>
                <a:cubicBezTo>
                  <a:pt x="82349" y="7360"/>
                  <a:pt x="74989" y="0"/>
                  <a:pt x="65879" y="0"/>
                </a:cubicBezTo>
                <a:close/>
                <a:moveTo>
                  <a:pt x="0" y="115288"/>
                </a:moveTo>
                <a:lnTo>
                  <a:pt x="0" y="214107"/>
                </a:lnTo>
                <a:cubicBezTo>
                  <a:pt x="0" y="232275"/>
                  <a:pt x="14771" y="247046"/>
                  <a:pt x="32939" y="247046"/>
                </a:cubicBezTo>
                <a:lnTo>
                  <a:pt x="197637" y="247046"/>
                </a:lnTo>
                <a:cubicBezTo>
                  <a:pt x="215805" y="247046"/>
                  <a:pt x="230576" y="232275"/>
                  <a:pt x="230576" y="214107"/>
                </a:cubicBezTo>
                <a:lnTo>
                  <a:pt x="230576" y="115288"/>
                </a:lnTo>
                <a:lnTo>
                  <a:pt x="0" y="1152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933297" y="5329385"/>
            <a:ext cx="280205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 Period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902554" y="5540198"/>
            <a:ext cx="2863539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2021-26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660320" y="6148039"/>
            <a:ext cx="6182082" cy="709736"/>
          </a:xfrm>
          <a:custGeom>
            <a:avLst/>
            <a:gdLst/>
            <a:ahLst/>
            <a:cxnLst/>
            <a:rect l="l" t="t" r="r" b="b"/>
            <a:pathLst>
              <a:path w="6182082" h="709736">
                <a:moveTo>
                  <a:pt x="70271" y="0"/>
                </a:moveTo>
                <a:lnTo>
                  <a:pt x="6111811" y="0"/>
                </a:lnTo>
                <a:cubicBezTo>
                  <a:pt x="6150620" y="0"/>
                  <a:pt x="6182082" y="31461"/>
                  <a:pt x="6182082" y="70271"/>
                </a:cubicBezTo>
                <a:lnTo>
                  <a:pt x="6182082" y="639465"/>
                </a:lnTo>
                <a:cubicBezTo>
                  <a:pt x="6182082" y="678275"/>
                  <a:pt x="6150620" y="709736"/>
                  <a:pt x="6111811" y="709736"/>
                </a:cubicBezTo>
                <a:lnTo>
                  <a:pt x="70271" y="709736"/>
                </a:lnTo>
                <a:cubicBezTo>
                  <a:pt x="31487" y="709736"/>
                  <a:pt x="0" y="678249"/>
                  <a:pt x="0" y="639465"/>
                </a:cubicBezTo>
                <a:lnTo>
                  <a:pt x="0" y="70271"/>
                </a:lnTo>
                <a:cubicBezTo>
                  <a:pt x="0" y="31461"/>
                  <a:pt x="31461" y="0"/>
                  <a:pt x="702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843684" y="6306152"/>
            <a:ext cx="122974" cy="140542"/>
          </a:xfrm>
          <a:custGeom>
            <a:avLst/>
            <a:gdLst/>
            <a:ahLst/>
            <a:cxnLst/>
            <a:rect l="l" t="t" r="r" b="b"/>
            <a:pathLst>
              <a:path w="122974" h="140542">
                <a:moveTo>
                  <a:pt x="0" y="59291"/>
                </a:moveTo>
                <a:cubicBezTo>
                  <a:pt x="0" y="41092"/>
                  <a:pt x="14740" y="26352"/>
                  <a:pt x="32939" y="26352"/>
                </a:cubicBezTo>
                <a:lnTo>
                  <a:pt x="35135" y="26352"/>
                </a:lnTo>
                <a:cubicBezTo>
                  <a:pt x="39994" y="26352"/>
                  <a:pt x="43919" y="30277"/>
                  <a:pt x="43919" y="35135"/>
                </a:cubicBezTo>
                <a:cubicBezTo>
                  <a:pt x="43919" y="39994"/>
                  <a:pt x="39994" y="43919"/>
                  <a:pt x="35135" y="43919"/>
                </a:cubicBezTo>
                <a:lnTo>
                  <a:pt x="32939" y="43919"/>
                </a:lnTo>
                <a:cubicBezTo>
                  <a:pt x="24458" y="43919"/>
                  <a:pt x="17568" y="50809"/>
                  <a:pt x="17568" y="59291"/>
                </a:cubicBezTo>
                <a:lnTo>
                  <a:pt x="17568" y="61487"/>
                </a:lnTo>
                <a:lnTo>
                  <a:pt x="35135" y="61487"/>
                </a:lnTo>
                <a:cubicBezTo>
                  <a:pt x="44825" y="61487"/>
                  <a:pt x="52703" y="69365"/>
                  <a:pt x="52703" y="79055"/>
                </a:cubicBezTo>
                <a:lnTo>
                  <a:pt x="52703" y="96622"/>
                </a:lnTo>
                <a:cubicBezTo>
                  <a:pt x="52703" y="106312"/>
                  <a:pt x="44825" y="114190"/>
                  <a:pt x="35135" y="114190"/>
                </a:cubicBezTo>
                <a:lnTo>
                  <a:pt x="17568" y="114190"/>
                </a:lnTo>
                <a:cubicBezTo>
                  <a:pt x="7878" y="114190"/>
                  <a:pt x="0" y="106312"/>
                  <a:pt x="0" y="96622"/>
                </a:cubicBezTo>
                <a:lnTo>
                  <a:pt x="0" y="59291"/>
                </a:lnTo>
                <a:close/>
                <a:moveTo>
                  <a:pt x="70271" y="59291"/>
                </a:moveTo>
                <a:cubicBezTo>
                  <a:pt x="70271" y="41092"/>
                  <a:pt x="85011" y="26352"/>
                  <a:pt x="103210" y="26352"/>
                </a:cubicBezTo>
                <a:lnTo>
                  <a:pt x="105406" y="26352"/>
                </a:lnTo>
                <a:cubicBezTo>
                  <a:pt x="110265" y="26352"/>
                  <a:pt x="114190" y="30277"/>
                  <a:pt x="114190" y="35135"/>
                </a:cubicBezTo>
                <a:cubicBezTo>
                  <a:pt x="114190" y="39994"/>
                  <a:pt x="110265" y="43919"/>
                  <a:pt x="105406" y="43919"/>
                </a:cubicBezTo>
                <a:lnTo>
                  <a:pt x="103210" y="43919"/>
                </a:lnTo>
                <a:cubicBezTo>
                  <a:pt x="94728" y="43919"/>
                  <a:pt x="87839" y="50809"/>
                  <a:pt x="87839" y="59291"/>
                </a:cubicBezTo>
                <a:lnTo>
                  <a:pt x="87839" y="61487"/>
                </a:lnTo>
                <a:lnTo>
                  <a:pt x="105406" y="61487"/>
                </a:lnTo>
                <a:cubicBezTo>
                  <a:pt x="115096" y="61487"/>
                  <a:pt x="122974" y="69365"/>
                  <a:pt x="122974" y="79055"/>
                </a:cubicBezTo>
                <a:lnTo>
                  <a:pt x="122974" y="96622"/>
                </a:lnTo>
                <a:cubicBezTo>
                  <a:pt x="122974" y="106312"/>
                  <a:pt x="115096" y="114190"/>
                  <a:pt x="105406" y="114190"/>
                </a:cubicBezTo>
                <a:lnTo>
                  <a:pt x="87839" y="114190"/>
                </a:lnTo>
                <a:cubicBezTo>
                  <a:pt x="78149" y="114190"/>
                  <a:pt x="70271" y="106312"/>
                  <a:pt x="70271" y="96622"/>
                </a:cubicBezTo>
                <a:lnTo>
                  <a:pt x="70271" y="5929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993520" y="6292101"/>
            <a:ext cx="5739962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Bloom-level classification is possible, although success hinges on matching model complexity to data volume and providing necessary support (augmentation, prompts).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1976</Words>
  <Application>Microsoft Office PowerPoint</Application>
  <PresentationFormat>Widescreen</PresentationFormat>
  <Paragraphs>401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Sorts Mill Goudy</vt:lpstr>
      <vt:lpstr>微软雅黑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LLM-Based Classification of Educational Content into Bloom's Taxonomy (2021–2026): A PRISMA Review</dc:title>
  <dc:subject>LLM-Based Classification of Educational Content into Bloom's Taxonomy (2021–2026): A PRISMA Review</dc:subject>
  <dc:creator>Kimi</dc:creator>
  <cp:lastModifiedBy>Muhammad Daniyal Qureshi</cp:lastModifiedBy>
  <cp:revision>7</cp:revision>
  <dcterms:created xsi:type="dcterms:W3CDTF">2026-02-05T09:00:00Z</dcterms:created>
  <dcterms:modified xsi:type="dcterms:W3CDTF">2026-02-05T13:57:30Z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{"Label":"LLM-Based Classification of Educational Content into Bloom's Taxonomy (2021–2026): A PRISMA Review","ContentProducer":"001191110108MACG2KBH8F10000","ProduceID":"19c2cfd3-b452-8a4a-8000-0000c871b486","ReservedCode1":"","ContentPropagator":"001191110108MACG2KBH8F20000","PropagateID":"19c2cfd3-b452-8a4a-8000-0000c871b486","ReservedCode2":""}</vt:lpwstr>
  </property>
</Properties>
</file>
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"/>
  </p:sldMasterIdLst>
  <p:notesMasterIdLst>
    <p:notesMasterId r:id="rId81"/>
  </p:notesMasterIdLst>
  <p:sldIdLst>
    <p:sldId id="256" r:id="rId2"/>
    <p:sldId id="257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325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8" r:id="rId42"/>
    <p:sldId id="297" r:id="rId43"/>
    <p:sldId id="299" r:id="rId44"/>
    <p:sldId id="309" r:id="rId45"/>
    <p:sldId id="300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1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20" r:id="rId63"/>
    <p:sldId id="321" r:id="rId64"/>
    <p:sldId id="322" r:id="rId65"/>
    <p:sldId id="324" r:id="rId66"/>
    <p:sldId id="326" r:id="rId67"/>
    <p:sldId id="336" r:id="rId68"/>
    <p:sldId id="337" r:id="rId69"/>
    <p:sldId id="327" r:id="rId70"/>
    <p:sldId id="258" r:id="rId71"/>
    <p:sldId id="328" r:id="rId72"/>
    <p:sldId id="260" r:id="rId73"/>
    <p:sldId id="329" r:id="rId74"/>
    <p:sldId id="330" r:id="rId75"/>
    <p:sldId id="331" r:id="rId76"/>
    <p:sldId id="332" r:id="rId77"/>
    <p:sldId id="333" r:id="rId78"/>
    <p:sldId id="334" r:id="rId79"/>
    <p:sldId id="335" r:id="rId8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D087823D-CAD7-4C59-A213-5C5E351D85D4}">
          <p14:sldIdLst>
            <p14:sldId id="256"/>
          </p14:sldIdLst>
        </p14:section>
        <p14:section name="EDA" id="{3FC0A61E-38F5-4679-BECC-8E770D3BB5F2}">
          <p14:sldIdLst>
            <p14:sldId id="257"/>
            <p14:sldId id="259"/>
            <p14:sldId id="261"/>
            <p14:sldId id="262"/>
            <p14:sldId id="263"/>
            <p14:sldId id="264"/>
            <p14:sldId id="265"/>
          </p14:sldIdLst>
        </p14:section>
        <p14:section name="ML Algorithms" id="{E2361F7E-8740-431E-963A-4A39CC37292C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Deep Learning" id="{E67AB5EE-5E13-4078-8C4B-80FA1FFBC7D9}">
          <p14:sldIdLst>
            <p14:sldId id="286"/>
            <p14:sldId id="287"/>
            <p14:sldId id="288"/>
            <p14:sldId id="289"/>
            <p14:sldId id="325"/>
            <p14:sldId id="290"/>
            <p14:sldId id="291"/>
            <p14:sldId id="292"/>
            <p14:sldId id="293"/>
            <p14:sldId id="294"/>
            <p14:sldId id="295"/>
            <p14:sldId id="296"/>
            <p14:sldId id="298"/>
          </p14:sldIdLst>
        </p14:section>
        <p14:section name="LLMs" id="{27BDF231-E1EA-4CF4-A7AC-7086BA664FA7}">
          <p14:sldIdLst>
            <p14:sldId id="297"/>
            <p14:sldId id="299"/>
            <p14:sldId id="309"/>
          </p14:sldIdLst>
        </p14:section>
        <p14:section name="Zero Shot" id="{61C29442-05C4-4D2A-B1AE-57D9939FF94D}">
          <p14:sldIdLst>
            <p14:sldId id="300"/>
            <p14:sldId id="302"/>
            <p14:sldId id="303"/>
            <p14:sldId id="304"/>
            <p14:sldId id="305"/>
            <p14:sldId id="306"/>
            <p14:sldId id="307"/>
            <p14:sldId id="308"/>
          </p14:sldIdLst>
        </p14:section>
        <p14:section name="Few Shot" id="{E18E5228-DCAC-48F5-81E0-BD513DEAB483}">
          <p14:sldIdLst>
            <p14:sldId id="301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20"/>
            <p14:sldId id="321"/>
            <p14:sldId id="322"/>
          </p14:sldIdLst>
        </p14:section>
        <p14:section name="Zero vs Few" id="{0887E299-B39E-4CDA-B8C3-FBF550866667}">
          <p14:sldIdLst>
            <p14:sldId id="324"/>
          </p14:sldIdLst>
        </p14:section>
        <p14:section name="Fine Tuning" id="{408EDEC3-317C-471D-B624-97A71C286F17}">
          <p14:sldIdLst>
            <p14:sldId id="326"/>
            <p14:sldId id="336"/>
            <p14:sldId id="337"/>
            <p14:sldId id="327"/>
            <p14:sldId id="258"/>
            <p14:sldId id="328"/>
            <p14:sldId id="260"/>
            <p14:sldId id="329"/>
            <p14:sldId id="330"/>
            <p14:sldId id="331"/>
            <p14:sldId id="332"/>
            <p14:sldId id="333"/>
            <p14:sldId id="334"/>
            <p14:sldId id="33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0" autoAdjust="0"/>
    <p:restoredTop sz="94660"/>
  </p:normalViewPr>
  <p:slideViewPr>
    <p:cSldViewPr snapToGrid="0">
      <p:cViewPr varScale="1">
        <p:scale>
          <a:sx n="76" d="100"/>
          <a:sy n="76" d="100"/>
        </p:scale>
        <p:origin x="64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presProps" Target="presProps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F59E0B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D90-4C60-A380-E272FE4F8C56}"/>
              </c:ext>
            </c:extLst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D90-4C60-A380-E272FE4F8C56}"/>
              </c:ext>
            </c:extLst>
          </c:dPt>
          <c:dPt>
            <c:idx val="2"/>
            <c:invertIfNegative val="0"/>
            <c:bubble3D val="0"/>
            <c:spPr>
              <a:solidFill>
                <a:srgbClr val="EC48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D90-4C60-A380-E272FE4F8C56}"/>
              </c:ext>
            </c:extLst>
          </c:dPt>
          <c:dPt>
            <c:idx val="3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D90-4C60-A380-E272FE4F8C56}"/>
              </c:ext>
            </c:extLst>
          </c:dPt>
          <c:dPt>
            <c:idx val="4"/>
            <c:invertIfNegative val="0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D90-4C60-A380-E272FE4F8C56}"/>
              </c:ext>
            </c:extLst>
          </c:dPt>
          <c:dPt>
            <c:idx val="5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D90-4C60-A380-E272FE4F8C5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0F172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Understand</c:v>
                </c:pt>
                <c:pt idx="1">
                  <c:v>Apply</c:v>
                </c:pt>
                <c:pt idx="2">
                  <c:v>Create</c:v>
                </c:pt>
                <c:pt idx="3">
                  <c:v>Evaluate</c:v>
                </c:pt>
                <c:pt idx="4">
                  <c:v>Analyze</c:v>
                </c:pt>
                <c:pt idx="5">
                  <c:v>Remember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5079</c:v>
                </c:pt>
                <c:pt idx="1">
                  <c:v>5074</c:v>
                </c:pt>
                <c:pt idx="2">
                  <c:v>2955</c:v>
                </c:pt>
                <c:pt idx="3">
                  <c:v>2468</c:v>
                </c:pt>
                <c:pt idx="4">
                  <c:v>2311</c:v>
                </c:pt>
                <c:pt idx="5">
                  <c:v>886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D90-4C60-A380-E272FE4F8C5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72A"/>
                </a:solidFill>
                <a:latin typeface="Georgia"/>
              </a:defRPr>
            </a:pPr>
            <a:r>
              <a:rPr lang="en-US" sz="1400" b="0" i="0" u="none" strike="noStrike">
                <a:solidFill>
                  <a:srgbClr val="0F172A"/>
                </a:solidFill>
                <a:latin typeface="Georgia"/>
              </a:rPr>
              <a:t>Training Loss (↓ lower is better)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Mistral train</c:v>
                </c:pt>
              </c:strCache>
            </c:strRef>
          </c:tx>
          <c:spPr>
            <a:ln w="38100" cap="flat">
              <a:solidFill>
                <a:srgbClr val="06B6D4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06B6D4"/>
              </a:solidFill>
              <a:ln w="9525" cap="flat">
                <a:solidFill>
                  <a:srgbClr val="06B6D4"/>
                </a:solidFill>
                <a:prstDash val="solid"/>
                <a:round/>
              </a:ln>
              <a:effectLst/>
            </c:spPr>
          </c:marker>
          <c:cat>
            <c:strRef>
              <c:f>Sheet1!$A$2:$A$3</c:f>
              <c:strCache>
                <c:ptCount val="2"/>
                <c:pt idx="0">
                  <c:v>Epoch 0</c:v>
                </c:pt>
                <c:pt idx="1">
                  <c:v>Epoch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0.56759999999999999</c:v>
                </c:pt>
                <c:pt idx="1">
                  <c:v>0.2364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9C3-488C-9FF9-9F7A2180E95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Qwen2 train</c:v>
                </c:pt>
              </c:strCache>
            </c:strRef>
          </c:tx>
          <c:spPr>
            <a:ln w="38100" cap="flat">
              <a:solidFill>
                <a:srgbClr val="8B5CF6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8B5CF6"/>
              </a:solidFill>
              <a:ln w="9525" cap="flat">
                <a:solidFill>
                  <a:srgbClr val="8B5CF6"/>
                </a:solidFill>
                <a:prstDash val="solid"/>
                <a:round/>
              </a:ln>
              <a:effectLst/>
            </c:spPr>
          </c:marker>
          <c:cat>
            <c:strRef>
              <c:f>Sheet1!$A$2:$A$3</c:f>
              <c:strCache>
                <c:ptCount val="2"/>
                <c:pt idx="0">
                  <c:v>Epoch 0</c:v>
                </c:pt>
                <c:pt idx="1">
                  <c:v>Epoch 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0.69189999999999996</c:v>
                </c:pt>
                <c:pt idx="1">
                  <c:v>0.39389999999999997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9C3-488C-9FF9-9F7A2180E95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Gemma-2 train</c:v>
                </c:pt>
              </c:strCache>
            </c:strRef>
          </c:tx>
          <c:spPr>
            <a:ln w="38100" cap="flat">
              <a:solidFill>
                <a:srgbClr val="F43F5E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F43F5E"/>
              </a:solidFill>
              <a:ln w="9525" cap="flat">
                <a:solidFill>
                  <a:srgbClr val="F43F5E"/>
                </a:solidFill>
                <a:prstDash val="solid"/>
                <a:round/>
              </a:ln>
              <a:effectLst/>
            </c:spPr>
          </c:marker>
          <c:cat>
            <c:strRef>
              <c:f>Sheet1!$A$2:$A$3</c:f>
              <c:strCache>
                <c:ptCount val="2"/>
                <c:pt idx="0">
                  <c:v>Epoch 0</c:v>
                </c:pt>
                <c:pt idx="1">
                  <c:v>Epoch 2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0.65169999999999995</c:v>
                </c:pt>
                <c:pt idx="1">
                  <c:v>0.2833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99C3-488C-9FF9-9F7A2180E9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.2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415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72A"/>
                </a:solidFill>
                <a:latin typeface="Georgia"/>
              </a:defRPr>
            </a:pPr>
            <a:r>
              <a:rPr lang="en-US" sz="1400" b="0" i="0" u="none" strike="noStrike">
                <a:solidFill>
                  <a:srgbClr val="0F172A"/>
                </a:solidFill>
                <a:latin typeface="Georgia"/>
              </a:rPr>
              <a:t>Validation Loss (↓ lower is better)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Mistral val</c:v>
                </c:pt>
              </c:strCache>
            </c:strRef>
          </c:tx>
          <c:spPr>
            <a:ln w="38100" cap="flat">
              <a:solidFill>
                <a:srgbClr val="06B6D4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06B6D4"/>
              </a:solidFill>
              <a:ln w="9525" cap="flat">
                <a:solidFill>
                  <a:srgbClr val="06B6D4"/>
                </a:solidFill>
                <a:prstDash val="solid"/>
                <a:round/>
              </a:ln>
              <a:effectLst/>
            </c:spPr>
          </c:marker>
          <c:cat>
            <c:strRef>
              <c:f>Sheet1!$A$2:$A$3</c:f>
              <c:strCache>
                <c:ptCount val="2"/>
                <c:pt idx="0">
                  <c:v>Epoch 0</c:v>
                </c:pt>
                <c:pt idx="1">
                  <c:v>Epoch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0.61219999999999997</c:v>
                </c:pt>
                <c:pt idx="1">
                  <c:v>0.61399999999999999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C32-400B-8447-357838E5F8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Qwen2 val</c:v>
                </c:pt>
              </c:strCache>
            </c:strRef>
          </c:tx>
          <c:spPr>
            <a:ln w="38100" cap="flat">
              <a:solidFill>
                <a:srgbClr val="8B5CF6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8B5CF6"/>
              </a:solidFill>
              <a:ln w="9525" cap="flat">
                <a:solidFill>
                  <a:srgbClr val="8B5CF6"/>
                </a:solidFill>
                <a:prstDash val="solid"/>
                <a:round/>
              </a:ln>
              <a:effectLst/>
            </c:spPr>
          </c:marker>
          <c:cat>
            <c:strRef>
              <c:f>Sheet1!$A$2:$A$3</c:f>
              <c:strCache>
                <c:ptCount val="2"/>
                <c:pt idx="0">
                  <c:v>Epoch 0</c:v>
                </c:pt>
                <c:pt idx="1">
                  <c:v>Epoch 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0.72640000000000005</c:v>
                </c:pt>
                <c:pt idx="1">
                  <c:v>0.72250000000000003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DC32-400B-8447-357838E5F8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Gemma-2 val</c:v>
                </c:pt>
              </c:strCache>
            </c:strRef>
          </c:tx>
          <c:spPr>
            <a:ln w="38100" cap="flat">
              <a:solidFill>
                <a:srgbClr val="F43F5E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F43F5E"/>
              </a:solidFill>
              <a:ln w="9525" cap="flat">
                <a:solidFill>
                  <a:srgbClr val="F43F5E"/>
                </a:solidFill>
                <a:prstDash val="solid"/>
                <a:round/>
              </a:ln>
              <a:effectLst/>
            </c:spPr>
          </c:marker>
          <c:cat>
            <c:strRef>
              <c:f>Sheet1!$A$2:$A$3</c:f>
              <c:strCache>
                <c:ptCount val="2"/>
                <c:pt idx="0">
                  <c:v>Epoch 0</c:v>
                </c:pt>
                <c:pt idx="1">
                  <c:v>Epoch 2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0.6663</c:v>
                </c:pt>
                <c:pt idx="1">
                  <c:v>0.78859999999999997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DC32-400B-8447-357838E5F8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415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Mistral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Remember</c:v>
                </c:pt>
                <c:pt idx="1">
                  <c:v>Understand</c:v>
                </c:pt>
                <c:pt idx="2">
                  <c:v>Apply</c:v>
                </c:pt>
                <c:pt idx="3">
                  <c:v>Analyze</c:v>
                </c:pt>
                <c:pt idx="4">
                  <c:v>Evaluate</c:v>
                </c:pt>
                <c:pt idx="5">
                  <c:v>Create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0.86350000000000005</c:v>
                </c:pt>
                <c:pt idx="1">
                  <c:v>0.95430000000000004</c:v>
                </c:pt>
                <c:pt idx="2">
                  <c:v>0.93799999999999994</c:v>
                </c:pt>
                <c:pt idx="3">
                  <c:v>0.91910000000000003</c:v>
                </c:pt>
                <c:pt idx="4">
                  <c:v>0.93369999999999997</c:v>
                </c:pt>
                <c:pt idx="5">
                  <c:v>0.91520000000000001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C2-4163-949F-23B5E5DD017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Qwen2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Remember</c:v>
                </c:pt>
                <c:pt idx="1">
                  <c:v>Understand</c:v>
                </c:pt>
                <c:pt idx="2">
                  <c:v>Apply</c:v>
                </c:pt>
                <c:pt idx="3">
                  <c:v>Analyze</c:v>
                </c:pt>
                <c:pt idx="4">
                  <c:v>Evaluate</c:v>
                </c:pt>
                <c:pt idx="5">
                  <c:v>Create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0.86129999999999995</c:v>
                </c:pt>
                <c:pt idx="1">
                  <c:v>0.93979999999999997</c:v>
                </c:pt>
                <c:pt idx="2">
                  <c:v>0.92969999999999997</c:v>
                </c:pt>
                <c:pt idx="3">
                  <c:v>0.90780000000000005</c:v>
                </c:pt>
                <c:pt idx="4">
                  <c:v>0.93440000000000001</c:v>
                </c:pt>
                <c:pt idx="5">
                  <c:v>0.91639999999999999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C2-4163-949F-23B5E5DD017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Gemma-2</c:v>
                </c:pt>
              </c:strCache>
            </c:strRef>
          </c:tx>
          <c:spPr>
            <a:solidFill>
              <a:srgbClr val="F43F5E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Remember</c:v>
                </c:pt>
                <c:pt idx="1">
                  <c:v>Understand</c:v>
                </c:pt>
                <c:pt idx="2">
                  <c:v>Apply</c:v>
                </c:pt>
                <c:pt idx="3">
                  <c:v>Analyze</c:v>
                </c:pt>
                <c:pt idx="4">
                  <c:v>Evaluate</c:v>
                </c:pt>
                <c:pt idx="5">
                  <c:v>Create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0.83460000000000001</c:v>
                </c:pt>
                <c:pt idx="1">
                  <c:v>0.40039999999999998</c:v>
                </c:pt>
                <c:pt idx="2">
                  <c:v>0.24279999999999999</c:v>
                </c:pt>
                <c:pt idx="3">
                  <c:v>0.1192</c:v>
                </c:pt>
                <c:pt idx="4">
                  <c:v>0.11700000000000001</c:v>
                </c:pt>
                <c:pt idx="5">
                  <c:v>0.4209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EC2-4163-949F-23B5E5DD01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33415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72A"/>
                </a:solidFill>
                <a:latin typeface="Georgia"/>
              </a:defRPr>
            </a:pPr>
            <a:r>
              <a:rPr lang="en-US" sz="1400" b="0" i="0" u="none" strike="noStrike">
                <a:solidFill>
                  <a:srgbClr val="0F172A"/>
                </a:solidFill>
                <a:latin typeface="Georgia"/>
              </a:rPr>
              <a:t>Gemma-2-9B: Precision stays high, Recall collapses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Remember</c:v>
                </c:pt>
                <c:pt idx="1">
                  <c:v>Understand</c:v>
                </c:pt>
                <c:pt idx="2">
                  <c:v>Apply</c:v>
                </c:pt>
                <c:pt idx="3">
                  <c:v>Analyze</c:v>
                </c:pt>
                <c:pt idx="4">
                  <c:v>Evaluate</c:v>
                </c:pt>
                <c:pt idx="5">
                  <c:v>Create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0.876</c:v>
                </c:pt>
                <c:pt idx="1">
                  <c:v>0.97460000000000002</c:v>
                </c:pt>
                <c:pt idx="2">
                  <c:v>0.94640000000000002</c:v>
                </c:pt>
                <c:pt idx="3">
                  <c:v>1</c:v>
                </c:pt>
                <c:pt idx="4">
                  <c:v>1</c:v>
                </c:pt>
                <c:pt idx="5">
                  <c:v>0.91669999999999996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2D-4A47-876D-B4CF00DB302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F43F5E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Remember</c:v>
                </c:pt>
                <c:pt idx="1">
                  <c:v>Understand</c:v>
                </c:pt>
                <c:pt idx="2">
                  <c:v>Apply</c:v>
                </c:pt>
                <c:pt idx="3">
                  <c:v>Analyze</c:v>
                </c:pt>
                <c:pt idx="4">
                  <c:v>Evaluate</c:v>
                </c:pt>
                <c:pt idx="5">
                  <c:v>Create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0.79700000000000004</c:v>
                </c:pt>
                <c:pt idx="1">
                  <c:v>0.252</c:v>
                </c:pt>
                <c:pt idx="2">
                  <c:v>0.13930000000000001</c:v>
                </c:pt>
                <c:pt idx="3">
                  <c:v>6.3399999999999998E-2</c:v>
                </c:pt>
                <c:pt idx="4">
                  <c:v>6.2199999999999998E-2</c:v>
                </c:pt>
                <c:pt idx="5">
                  <c:v>0.27310000000000001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A2D-4A47-876D-B4CF00DB30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33415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72A"/>
                </a:solidFill>
                <a:latin typeface="Georgia"/>
              </a:defRPr>
            </a:pPr>
            <a:r>
              <a:rPr lang="en-US" sz="1400" b="0" i="0" u="none" strike="noStrike">
                <a:solidFill>
                  <a:srgbClr val="0F172A"/>
                </a:solidFill>
                <a:latin typeface="Georgia"/>
              </a:rPr>
              <a:t>F1 score per Bloom level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F1 per class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C66-460B-AE94-FC0FFABDCFDC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C66-460B-AE94-FC0FFABDCFDC}"/>
              </c:ext>
            </c:extLst>
          </c:dPt>
          <c:dPt>
            <c:idx val="2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C66-460B-AE94-FC0FFABDCFDC}"/>
              </c:ext>
            </c:extLst>
          </c:dPt>
          <c:dPt>
            <c:idx val="3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C66-460B-AE94-FC0FFABDCFDC}"/>
              </c:ext>
            </c:extLst>
          </c:dPt>
          <c:dPt>
            <c:idx val="4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C66-460B-AE94-FC0FFABDCFDC}"/>
              </c:ext>
            </c:extLst>
          </c:dPt>
          <c:dPt>
            <c:idx val="5"/>
            <c:bubble3D val="0"/>
            <c:spPr>
              <a:solidFill>
                <a:srgbClr val="EC48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C66-460B-AE94-FC0FFABDCFDC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C66-460B-AE94-FC0FFABDCFDC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C66-460B-AE94-FC0FFABDCFDC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C66-460B-AE94-FC0FFABDCFDC}"/>
                </c:ext>
              </c:extLst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C66-460B-AE94-FC0FFABDCFDC}"/>
                </c:ext>
              </c:extLst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C66-460B-AE94-FC0FFABDCFDC}"/>
                </c:ext>
              </c:extLst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C66-460B-AE94-FC0FFABDCFDC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Remember</c:v>
                </c:pt>
                <c:pt idx="1">
                  <c:v>Understand</c:v>
                </c:pt>
                <c:pt idx="2">
                  <c:v>Apply</c:v>
                </c:pt>
                <c:pt idx="3">
                  <c:v>Analyze</c:v>
                </c:pt>
                <c:pt idx="4">
                  <c:v>Evaluate</c:v>
                </c:pt>
                <c:pt idx="5">
                  <c:v>Create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0.86350000000000005</c:v>
                </c:pt>
                <c:pt idx="1">
                  <c:v>0.95430000000000004</c:v>
                </c:pt>
                <c:pt idx="2">
                  <c:v>0.93799999999999994</c:v>
                </c:pt>
                <c:pt idx="3">
                  <c:v>0.91910000000000003</c:v>
                </c:pt>
                <c:pt idx="4">
                  <c:v>0.93369999999999997</c:v>
                </c:pt>
                <c:pt idx="5">
                  <c:v>0.91520000000000001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C66-460B-AE94-FC0FFABDCF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415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9E5C0E-4E85-408D-A27D-68052C2EB998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158E4-A2A9-4BF9-BD77-054A04E47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093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38D5-F8D6-4729-BFB9-BF50768257B5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D4E46-3ED1-4F2B-92B4-C45747B6E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894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38D5-F8D6-4729-BFB9-BF50768257B5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D4E46-3ED1-4F2B-92B4-C45747B6E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450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38D5-F8D6-4729-BFB9-BF50768257B5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D4E46-3ED1-4F2B-92B4-C45747B6E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933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38D5-F8D6-4729-BFB9-BF50768257B5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D4E46-3ED1-4F2B-92B4-C45747B6E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459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38D5-F8D6-4729-BFB9-BF50768257B5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D4E46-3ED1-4F2B-92B4-C45747B6E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22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38D5-F8D6-4729-BFB9-BF50768257B5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D4E46-3ED1-4F2B-92B4-C45747B6E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935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38D5-F8D6-4729-BFB9-BF50768257B5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D4E46-3ED1-4F2B-92B4-C45747B6E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327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38D5-F8D6-4729-BFB9-BF50768257B5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D4E46-3ED1-4F2B-92B4-C45747B6E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337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38D5-F8D6-4729-BFB9-BF50768257B5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D4E46-3ED1-4F2B-92B4-C45747B6E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544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38D5-F8D6-4729-BFB9-BF50768257B5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D4E46-3ED1-4F2B-92B4-C45747B6E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380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38D5-F8D6-4729-BFB9-BF50768257B5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D4E46-3ED1-4F2B-92B4-C45747B6E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840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7727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3E38D5-F8D6-4729-BFB9-BF50768257B5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3D4E46-3ED1-4F2B-92B4-C45747B6E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024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FD530-69A2-23B0-4EB6-35AE3E91F7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Evaluation of LLMs on Bloom’s Taxonomy Classification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ACA677-A33E-5FE8-48F5-88E50DFF33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959914"/>
          </a:xfrm>
        </p:spPr>
        <p:txBody>
          <a:bodyPr/>
          <a:lstStyle/>
          <a:p>
            <a:r>
              <a:rPr lang="en-US" dirty="0"/>
              <a:t>A Comparative Study on Open-Source LLMs using Monash CLO Dataset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0B99B19-0D5B-54CD-46DF-C7D760226932}"/>
              </a:ext>
            </a:extLst>
          </p:cNvPr>
          <p:cNvSpPr txBox="1">
            <a:spLocks/>
          </p:cNvSpPr>
          <p:nvPr/>
        </p:nvSpPr>
        <p:spPr>
          <a:xfrm>
            <a:off x="1524000" y="4775723"/>
            <a:ext cx="9144000" cy="959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Muhammad Daniyal</a:t>
            </a:r>
          </a:p>
          <a:p>
            <a:r>
              <a:rPr lang="en-US" dirty="0"/>
              <a:t>April 2026</a:t>
            </a:r>
          </a:p>
        </p:txBody>
      </p:sp>
    </p:spTree>
    <p:extLst>
      <p:ext uri="{BB962C8B-B14F-4D97-AF65-F5344CB8AC3E}">
        <p14:creationId xmlns:p14="http://schemas.microsoft.com/office/powerpoint/2010/main" val="34354066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15836-1F6E-B9EA-A27A-BB2A3B717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EDA – The CLO Dataset (EDM2022)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F44D1-6827-133C-88C0-F54ED2354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190A6C-FA0B-3DA1-10F2-03CA056D68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6" t="2210" r="42961" b="51043"/>
          <a:stretch>
            <a:fillRect/>
          </a:stretch>
        </p:blipFill>
        <p:spPr>
          <a:xfrm>
            <a:off x="1963615" y="1590204"/>
            <a:ext cx="7932769" cy="5061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3602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9A234-63B6-18BF-6463-23501BF81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F2310-7A4B-219F-AC81-B106B6688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EDA – The CLO Dataset (EDM2022)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A8C8A-BC16-3DD4-84D3-ED4D099FB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AD1241-947D-D633-35C0-5C4E63272D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505" t="2113" r="-11268" b="51140"/>
          <a:stretch>
            <a:fillRect/>
          </a:stretch>
        </p:blipFill>
        <p:spPr>
          <a:xfrm>
            <a:off x="2447091" y="1569183"/>
            <a:ext cx="7932769" cy="5061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506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8B9F3-7B3A-7E49-AC0A-1413FF364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CF6ED-0945-DF35-3838-1C0CA357C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EDA – The CLO Dataset (EDM2022)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AC8AA-B856-C187-9AB0-7E865EB60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11DE07-FF75-E425-BE67-7340E132B5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518" t="47632" r="228" b="176"/>
          <a:stretch>
            <a:fillRect/>
          </a:stretch>
        </p:blipFill>
        <p:spPr>
          <a:xfrm>
            <a:off x="2521573" y="1478748"/>
            <a:ext cx="7148854" cy="565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128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5EBAF-AA27-E2A3-EE04-0CB3FEBAC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15 Bigrams per level (single label)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DD25-F43D-ABDA-F424-A26AC96C9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BCBB2D-9E43-4AA9-AFEC-3DD812CB74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9639" b="47843"/>
          <a:stretch>
            <a:fillRect/>
          </a:stretch>
        </p:blipFill>
        <p:spPr>
          <a:xfrm>
            <a:off x="3332703" y="1533424"/>
            <a:ext cx="5526593" cy="5225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498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D21C9-50BB-1C5D-99CC-137D97D10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836D4-F709-770F-59DA-AC7B75C9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15 Bigrams per level (single label)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A37E6-57F4-35FF-FFF5-891619C94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8A76B3-92E3-C80F-3921-B151511212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281" t="3186" r="34063" b="48031"/>
          <a:stretch>
            <a:fillRect/>
          </a:stretch>
        </p:blipFill>
        <p:spPr>
          <a:xfrm>
            <a:off x="2780043" y="1592485"/>
            <a:ext cx="6631913" cy="499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3546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B2222-3CBA-EA41-610D-A343CCECF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2FC29-4177-4D55-05AB-910654190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15 Bigrams per level (single label)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2DC81-1F3A-7DC6-A57D-DD0014357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024D98-5615-47EB-E477-D519EB0777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965" t="3391" r="102" b="47826"/>
          <a:stretch>
            <a:fillRect/>
          </a:stretch>
        </p:blipFill>
        <p:spPr>
          <a:xfrm>
            <a:off x="3170890" y="1612582"/>
            <a:ext cx="6311404" cy="499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3670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BAAEF-7BA8-4306-E4AE-40219AE2E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3CA8A-A04D-BF46-E77D-18DED5E7F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15 Bigrams per level (single label)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CB24D-1599-0A38-515F-C5FA67244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AEBF83-8BAD-B99C-1BA7-A7CD5D6C0C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60" t="51290" r="32707" b="-73"/>
          <a:stretch>
            <a:fillRect/>
          </a:stretch>
        </p:blipFill>
        <p:spPr>
          <a:xfrm>
            <a:off x="3241229" y="1582437"/>
            <a:ext cx="6311404" cy="499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1327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6448A-9F39-9BBA-20A4-62293049C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Multinomial Naïve Bayes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7EC12-826B-CBE0-D2EC-F2004CE80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66B28A-FE53-4E40-0E19-187C52215D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5176"/>
          <a:stretch>
            <a:fillRect/>
          </a:stretch>
        </p:blipFill>
        <p:spPr>
          <a:xfrm>
            <a:off x="2572709" y="1497204"/>
            <a:ext cx="5956728" cy="484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4927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4BE8F-8F7E-7757-FB41-887067F1D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08E42-58DC-F117-90BD-8E5DFED3E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Multinomial Naïve Bayes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DB152-47B0-CA5E-8839-A3BDC2D4F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917D65-C551-2FA9-C3B2-401A4C6BBE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608" t="6781" r="32364"/>
          <a:stretch>
            <a:fillRect/>
          </a:stretch>
        </p:blipFill>
        <p:spPr>
          <a:xfrm>
            <a:off x="2869756" y="1575885"/>
            <a:ext cx="6452487" cy="5156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859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08B6C-D518-F754-D238-CB6E5D57D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50F00-5DB8-6E51-C9F2-54FFD70A4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Multinomial Naïve Bayes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46B62-E2AE-319F-70C6-88CE4F8B5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B2576D-734E-7C69-1FBF-6D285C1573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941" t="6781" r="31"/>
          <a:stretch>
            <a:fillRect/>
          </a:stretch>
        </p:blipFill>
        <p:spPr>
          <a:xfrm>
            <a:off x="2869756" y="1575885"/>
            <a:ext cx="6452487" cy="5156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3669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91CCA-3C5E-60D1-6EC9-E97A440F5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Complement Naïve Bayes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98626-2DD6-8AA3-5B8D-CBF80AE56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25070F-0D0F-D9AF-8188-A8E114F43D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4557"/>
          <a:stretch>
            <a:fillRect/>
          </a:stretch>
        </p:blipFill>
        <p:spPr>
          <a:xfrm>
            <a:off x="2895600" y="1699283"/>
            <a:ext cx="6400799" cy="511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171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C5F62-EA6E-37BF-79A9-DACCA969B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8F085-2FD0-E9EE-38E8-1878A51F2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Complement Naïve Bayes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E760D-273A-B6A8-18A8-6334A81DF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24FEBB-6CC8-83EE-615D-C259698741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704" r="32289"/>
          <a:stretch>
            <a:fillRect/>
          </a:stretch>
        </p:blipFill>
        <p:spPr>
          <a:xfrm>
            <a:off x="3333509" y="1699283"/>
            <a:ext cx="5960962" cy="511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3178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F0416-DD4F-868B-BA57-584482753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794E7-9367-BAD0-2AA0-F501E9A28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Complement Naïve Bayes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D1A1A-5DA2-D946-88A5-6D1B06483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774675-2D31-2332-D7D8-DC6C2BBFBA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839"/>
          <a:stretch>
            <a:fillRect/>
          </a:stretch>
        </p:blipFill>
        <p:spPr>
          <a:xfrm>
            <a:off x="3078866" y="1699283"/>
            <a:ext cx="5808140" cy="511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918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796FF-4F7B-7DB2-8309-66DED8A2E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-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F01B4-2909-6B20-F616-A71354447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0396F2-7017-071A-482F-9656A99438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5602"/>
          <a:stretch>
            <a:fillRect/>
          </a:stretch>
        </p:blipFill>
        <p:spPr>
          <a:xfrm>
            <a:off x="2960257" y="1701478"/>
            <a:ext cx="6271485" cy="5162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7764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E0FC7-962A-4C18-9442-3577D7977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A3041-AC03-C885-413E-6593EE0CC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-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0682E-DC66-AE20-98E4-50A7CC0AF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93198A-B6CE-E97B-3CF0-1A95796599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313" r="32299"/>
          <a:stretch>
            <a:fillRect/>
          </a:stretch>
        </p:blipFill>
        <p:spPr>
          <a:xfrm>
            <a:off x="3052437" y="1690688"/>
            <a:ext cx="6087126" cy="5162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7415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20984-4945-BD18-E1F7-AE608E137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EA2D-5B34-ABBA-8268-7814FDE34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-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EB212-6DBD-BEF3-A50A-F154DA5DC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861204-03E0-A651-F271-F1114B735F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743" r="-131"/>
          <a:stretch>
            <a:fillRect/>
          </a:stretch>
        </p:blipFill>
        <p:spPr>
          <a:xfrm>
            <a:off x="3052437" y="1690688"/>
            <a:ext cx="6087126" cy="5162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8356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2CB67-4F26-0469-D1A7-AA2876BBE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623E3-9C36-D8D4-2F15-6FDB9686E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62FCFB-32B5-E223-336F-0A235ADF8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953" y="2269014"/>
            <a:ext cx="12235906" cy="346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3780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DBA1E-5A29-6D6A-E998-23ACFBBD6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41816-DF91-7AB1-EE5F-AD1A9B0E3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8DC7DF-0FCE-8B1E-90E8-DEA8C5B92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2" y="2289334"/>
            <a:ext cx="12092376" cy="342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2343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AC203-33ED-12C4-F7D6-32FF837B8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AF735-69B8-B9D0-EE16-B9AD52DF7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0D419F-644F-EF56-C439-8088B9756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953" y="2269014"/>
            <a:ext cx="12235906" cy="346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9157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EDDA0-4B60-006A-245D-78EAC2C8B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CD120-D3D7-420F-6B11-233A1EFFC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28AE8A-07B1-3ECC-12D3-2484106D8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9" y="2279174"/>
            <a:ext cx="12164142" cy="344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412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2DEA3-AE3D-32C7-50CC-2CB8AA79C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148BA-00A9-E4C9-A62E-CFAFC38A9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177A2B-9DEF-8135-09E0-8B28ED233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9" y="2279174"/>
            <a:ext cx="12164142" cy="344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2264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1115-DDB5-8EC5-91C8-421F6F4C7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1DB47-A450-A20D-6B11-6F4D61210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D21238-1EEB-621E-D3B1-DDBB1811E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9" y="2279174"/>
            <a:ext cx="12164142" cy="344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7507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3EA81-F140-D2BD-152D-4405B0DAE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56F11-FB0E-B7BD-7A02-2511BC228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5FAE38-58AA-B3D7-B7B1-594A80B2C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9" y="2092960"/>
            <a:ext cx="12164142" cy="344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960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21490-E70C-BC14-D9FD-A5878125F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C461A-8820-E63A-1F4C-9596FD364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11C121-1196-1820-F219-E207719E6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94" y="2143760"/>
            <a:ext cx="12020612" cy="340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1964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ED740-EA6F-AAC9-93F2-752A7D1E3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AB1F0-439A-1B60-2CAF-5302A5464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D12F40-BCEE-6C01-70D1-447C10E52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59" y="2174240"/>
            <a:ext cx="11877082" cy="336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7331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4398D-BA6C-ECB2-D134-ED9B8E952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496A3-E7AE-E9FA-A467-C8153660B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8DB67D-3DB7-658C-3D7F-0DA0C922C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94" y="2299494"/>
            <a:ext cx="12020612" cy="340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200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BECE9-44ED-1DA1-942C-B8E1D9F59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5E5B8-8337-4C0E-79D4-8F10BC488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FC4FC5-F1BA-4239-2CEB-06AA4744B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519" y="1164908"/>
            <a:ext cx="11500962" cy="5672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9552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03B82-3D6D-41B3-4436-86B1CE55F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D3669-C567-805B-0559-90D54DAF8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55FA7B-3E66-574B-B486-BA9233143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15" y="2045493"/>
            <a:ext cx="11925370" cy="3911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302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7B375-66DA-6CFA-3D20-FFF9EC6B2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4237E-72B8-1484-74BB-040779FF2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76EE4B-82B9-33EA-150F-A36D7267D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237" y="1690688"/>
            <a:ext cx="662552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357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32096-215E-358E-7AAF-E56857BD2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2B02B-3ED3-FD25-69A1-BBD57C2BC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8F8861-FF86-A3F1-368E-906EF72EE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69308"/>
            <a:ext cx="10307858" cy="5088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3647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495CB-F52A-66F9-FBBF-ACBA764C1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02162-16D4-A4BE-EB09-BF7E92C16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401E01-05EA-CE8B-F42C-4D4D512DB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917" y="1609408"/>
            <a:ext cx="9130166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3323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5AE-4F6F-C997-4614-1131547C0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 (Shaikh et al. 2021)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90C8B1-2669-6CAA-D6AA-358D4E618F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6002" t="20153" r="23076" b="15637"/>
          <a:stretch>
            <a:fillRect/>
          </a:stretch>
        </p:blipFill>
        <p:spPr>
          <a:xfrm>
            <a:off x="1607128" y="1690688"/>
            <a:ext cx="8977744" cy="457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6726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B71E3-BB0C-9B2E-8665-677544072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34411-D3BC-3143-CCE6-48004EDF2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FF5B91-59A9-DB13-0BDC-D5452FDDF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373"/>
            <a:ext cx="12249836" cy="34685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D5CA95-7EFD-73AE-B6A0-ED7EC6468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858" y="3559877"/>
            <a:ext cx="9908284" cy="3298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300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96302-1E1D-1B3C-3069-CD2599508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5B44F-6EC9-8D7B-9512-73A233526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C5A569-C687-FC6E-42EC-244E39E88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4268" cy="34584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DB3D76-D039-86F8-0210-A24DC0E20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640" y="3411186"/>
            <a:ext cx="10354988" cy="3446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018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13D9F-5A6C-2FFE-169E-A526B2118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68794-6745-1576-0675-5E4F6A05E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38FFCE-3E6F-0300-0C81-F3E2FD5FE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1" y="111125"/>
            <a:ext cx="12110318" cy="3429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28F788-B719-7E8B-3026-D69ACEDC7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110" y="3540125"/>
            <a:ext cx="9633780" cy="320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8797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092D0-9B9C-778D-3373-761E82E2F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4A517-080B-5591-8926-F2001BEC3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2F7F0D-F8AD-142F-7DEF-2C0625981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1" y="1483360"/>
            <a:ext cx="12110318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0854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9C091-3D01-D091-FAD2-7F0CCC3BC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AFF3A-CAEB-3F05-0F90-3C6B8D902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868F57-650C-CA61-63B2-3C59BE6C9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7" y="1825625"/>
            <a:ext cx="12176065" cy="3447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7670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0BFD3-3C93-7147-AFFF-CF0B19B78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0ED79-4DF7-F2D6-EC81-8760C98DA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0ABBC2-F034-6F28-1F65-219F92F51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94" y="2042160"/>
            <a:ext cx="12020612" cy="340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959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71B7E-3942-A468-E1D8-6AA1F63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3A0C7-675E-6387-B6A9-5603CBC63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9D00AF-FD53-30C4-8CE0-0A3D1FB8C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312" y="30480"/>
            <a:ext cx="8277376" cy="679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0543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5EE80-9DF5-002F-F21F-734F94FE0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CE380-72E6-A4A7-85F4-74DB729FF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154F6-60ED-2E7F-A310-43E33688E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3F6E30-C8F2-E0AB-5AB3-D511F24F1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214" y="0"/>
            <a:ext cx="9205572" cy="687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5488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899B0-2CB9-26A6-566C-B20442EF7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13 Open Source LLMs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4ECDF-BCBB-C24C-0F69-466375255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mistral_7b_instruct_v02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llama3_8b_instruct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phi35_mini_4k_instruct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qwen2_7b_instruct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llama31_8b_instruct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qwen25_7b_instruct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qwen25_3b_instruct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qwen25_1_5b_instruct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smollm2_1_7b_instruct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gemma2_2b_instruct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gemma2_9b_instruct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phi35_mini_Instruct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mistral_nemo_instruct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946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A037F-C2CE-B297-58A1-0A287CBA6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Metrics for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E76AC-C113-2843-615C-80B08B7A5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ACCURACY: Did the model guess right overall?</a:t>
            </a:r>
          </a:p>
          <a:p>
            <a:r>
              <a:rPr lang="en-US" dirty="0"/>
              <a:t>MICRO F1: How good is the model when treating all predictions as one big group?</a:t>
            </a:r>
          </a:p>
          <a:p>
            <a:r>
              <a:rPr lang="en-US" dirty="0"/>
              <a:t>MACRO F1: How good is the model on average for each category separately?</a:t>
            </a:r>
          </a:p>
          <a:p>
            <a:r>
              <a:rPr lang="en-US" dirty="0"/>
              <a:t>WEIGHTED F1: How good is the model for each category, adjusted by how many items are in each?</a:t>
            </a:r>
          </a:p>
          <a:p>
            <a:r>
              <a:rPr lang="en-US" dirty="0"/>
              <a:t>MACRO PRECISION: On average, when the model says "yes," is it actually correct for each category?</a:t>
            </a:r>
          </a:p>
          <a:p>
            <a:r>
              <a:rPr lang="en-US" dirty="0"/>
              <a:t>MACRO RECALL: On average, does the model catch all the correct items for each category?</a:t>
            </a:r>
          </a:p>
          <a:p>
            <a:r>
              <a:rPr lang="en-US" dirty="0"/>
              <a:t>BALANCED ACCURACY: Does the model do equally well at recognizing each category?</a:t>
            </a:r>
          </a:p>
          <a:p>
            <a:r>
              <a:rPr lang="en-US" dirty="0"/>
              <a:t>MCC: How strongly does the model's prediction match reality (from perfect to completely wrong)?</a:t>
            </a:r>
          </a:p>
          <a:p>
            <a:r>
              <a:rPr lang="en-US" dirty="0"/>
              <a:t>COHEN'S KAPPA: Does the model agree with the real answer more than just lucky guessing?</a:t>
            </a:r>
          </a:p>
        </p:txBody>
      </p:sp>
    </p:spTree>
    <p:extLst>
      <p:ext uri="{BB962C8B-B14F-4D97-AF65-F5344CB8AC3E}">
        <p14:creationId xmlns:p14="http://schemas.microsoft.com/office/powerpoint/2010/main" val="25385385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AD0E9-7D29-ACD6-0E99-0894A119D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43E0A-F3E7-9599-D3E0-0E3C45F42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Metrics for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4E570-1DA9-2450-427B-9D598D246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ACCURACY: The fraction of all predictions that were correct.</a:t>
            </a:r>
          </a:p>
          <a:p>
            <a:r>
              <a:rPr lang="en-US" dirty="0"/>
              <a:t>MICRO F1: Overall F1 score treating every prediction equally across all classes.</a:t>
            </a:r>
          </a:p>
          <a:p>
            <a:r>
              <a:rPr lang="en-US" dirty="0"/>
              <a:t>MACRO F1: Average of each class’s F1 score (treats all classes equally).</a:t>
            </a:r>
          </a:p>
          <a:p>
            <a:r>
              <a:rPr lang="en-US" dirty="0"/>
              <a:t>WEIGHTED F1: Average of class F1 scores weighted by each class’s support (frequency).</a:t>
            </a:r>
          </a:p>
          <a:p>
            <a:r>
              <a:rPr lang="en-US" dirty="0"/>
              <a:t>MACRO PRECISION: Average of each class’s precision (how correct positive predictions are), averaged across classes.</a:t>
            </a:r>
          </a:p>
          <a:p>
            <a:r>
              <a:rPr lang="en-US" dirty="0"/>
              <a:t>MACRO RECALL: Average of each class’s recall (how many true items are found), averaged across classes.</a:t>
            </a:r>
          </a:p>
          <a:p>
            <a:r>
              <a:rPr lang="en-US" dirty="0"/>
              <a:t>BALANCED ACCURACY: Average of per-class recall (equal weight per class), i.e., mean recall across classes.</a:t>
            </a:r>
          </a:p>
          <a:p>
            <a:r>
              <a:rPr lang="en-US" dirty="0"/>
              <a:t>MCC (Matthews Correlation Coefficient): Single-number correlation between predictions and true labels, ranging from -1 (worst) to +1 (best), 0 = random.</a:t>
            </a:r>
          </a:p>
          <a:p>
            <a:r>
              <a:rPr lang="en-US" dirty="0"/>
              <a:t>COHEN'S KAPPA: Agreement between predictions and truth adjusted for chance agreement (1 = perfect, 0 = chance).</a:t>
            </a:r>
          </a:p>
        </p:txBody>
      </p:sp>
    </p:spTree>
    <p:extLst>
      <p:ext uri="{BB962C8B-B14F-4D97-AF65-F5344CB8AC3E}">
        <p14:creationId xmlns:p14="http://schemas.microsoft.com/office/powerpoint/2010/main" val="31464502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7E561-C0A4-D365-6E4D-82D0DBDE5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Zero-shot comparison via Accuracy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5E344A7-D2CE-FB73-BEDE-1EBFD1218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" name="Picture 9" descr="https://lh3.googleusercontent.com/rd-gg-dl/AOI_d_8eDAS2TD1ZqFC5woVHODXYYC-NP7N94gDTRY1W2nRKVjsD05Cucx5H0t0tEVZ2473dM0vmoqFMVANYM7mPuMR5U70y3fIvtndZwnFhuIK3gYLyFdH4NiwfuAId7ZKCojyuT1kUYBhwvmxXX0QyVTbcGUZ2jMwiTanXhsIL_Fo7I5TmUsnndN1-yQtdH5U4sSwgTmm9JE5lsYOnEo3YyrpFuBlx1bOMxoQL2rzDu_W5g1XEM2JM2igJcl7cEPOvCS_vUM-RdGwXWGd5SzDEvPV2AoEfdKFwiHga_h59brdTrUILjiVR9SKBv7XkjoYxduCDUn1CMT4PcIAIjtK7DzyP5KzPW5OS3Y1l-axA0TJ2fXhUWfTQokwTCFuCbjVjfr4W3wKPk8LaBG--72gnPIldElm7QJL0jTSEaXxPp81NEvYr3maqW03uXyDZHL0a2d163Ie_CH4vhFGt6OOiHNN30R73u6W3d2CIKKXKOJt8oyCQ3RIf0QHhOxHDzSJhC6JZuxY_u_XQmakKLfxq8yxJqgKSHMRHIm330AD8cmMcegOLjAs0aBGzpz-avfyytMBgZwEhB85Fznxhk950sGCtMbbvWyrRUsAyjsHQo1DkgN5HTcOpA6AbhwDJeWb5hpPMB9kfg33OdWSwxThnkocCw6AF-gI8aDBZERT_7X0JPzEFiag7vmSh1msKc2zRK5lNm1ZBua9CpLyQvGOXwDVTN7nes25X-Bf9BJC75PhJd3uTpCGcih8X125_9TbKJ5IJCtn41ekJQdiXsTq6NxlFR37UAQMnM6wic1Q0EiJr8QEWr6mE9xKk6sJq2GYbkIR74JF6LF8euO6lkP_2u7RPoiqy3wIU5sgyp1VIyd13_XACwQHgHKGxxYsro2MUfRU0P5s0NdgU3n7MIGyKWkgdJkbZNXrmahkYDpNNpCqccq3iIScr7ZwW8i_c-gvV0EEm0UjPVI_NxOxj45BYmVkCgJ-b_B3dnHSzXkTOZdj_sXluVRUJxPnf-jIDLEV3tH3GBsz7hPjuBu_KMVqohwoCbnCJDFD6KQv3_-CuOzovDmjatM_6X7IjapRbXffuMHRT8jfCver13FZ7NI9K0CD-9pcIiIi-LPhIfS23KudbFtC4qH8A2Ancrsdo5PKzO_uknsGATT8bUwmgJx1xvJM8nFMrQgmy7VX8nwfHDeBYRihyAwhbDRdmOvAQp_dUNgIWYYzqATmn4ZgxbVbTW8WZ2kKO6hK_caJYb3DKTK0Gsyjx4SiTNhJf3NF6aPBgpMWxctHKrfMAAHi6iQzI_ojymkrofwmtJQT6Gkv6xBn4GK_IuiwEcG5FU8gH7CuPpw=s1600">
            <a:extLst>
              <a:ext uri="{FF2B5EF4-FFF2-40B4-BE49-F238E27FC236}">
                <a16:creationId xmlns:a16="http://schemas.microsoft.com/office/drawing/2014/main" id="{F3DCBE82-8FF4-5E31-6DCB-6B760B240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832" y="1283970"/>
            <a:ext cx="6700838" cy="5360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5346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4A07D-F057-1F1E-0779-58AA07241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D9C53-E1EF-D146-9ECD-40F955541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Zero-shot comparison via Macro F1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33D8EC8-6510-65ED-1033-5BDFD2F1A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 descr="https://lh3.googleusercontent.com/rd-gg-dl/AOI_d_8VLGsYcCeFlKxsbdnOydTtASdKcXe8NFOlD620lFcW7xHKd1oRuDbMb4yMz58DtseujXmzrgeE5z7N4Ftu1BhE5cU8UQ6FiJxyVzyUrVJB1arPqIAElvyplYrxn3UZNq6Z7FjdB5j-WQevXeCvrYgKTJjHzPsvbBR3odvf17xzJxdhP3lPGXSEGFMoN-tdRkC-KlqaxHeyKAIQDIayJdEGhrGsa_AlUu2M62AT77Jgu_0YI28urBMfkSD7EHF8s526pATGUhhFAXvYnfEIYFtkQi4x6FQfCmPwTgntrEef8k3vDFqYOv9bW-XwxFjR7Rh4u9yjjP65dmHKJQH8FZyMGEVKYZznZpiZQsVsUVBLYDpMvT3Swm24ysCRC1qc0yfnrMdzGZkMJIFaVGyyPMjWurQIK61rvMzMG4U6pSZcAyzbuA6rJ-uI2ArNGAl06nyRlpH_Fy1jg8bVITcS8CKE4__4ZmriTMe5A754QLSpnImseN4jIP9vq1rJn1GaklwiEpAxDwaS1oNgBFmF9s8JKfskmm0a_xFyb-9dTXfoDGzPEyr84SD86d0te8zkXxvF3dETyOq9TJiDQqbYPuwn4rCPMVII1Kf5-hJwvSJ9t0AwH7AHKmOPQ2dfBub3b5VzLsxpMGc-ZQpuaIBL8N1-pMzimRFtiYK9EF7pfvG_yVDI3lYxG5qwFrCHKRb8ibgMS8HjlPH3mmc2LtOvyh2Nhd_r8B5zOsU6GB-JOEF57geUoe_YukmzFei_JB5MJi9xFauPDFCyo_zJTzUCbmdArSnUTk1FziMjTNIvYBXxEHmDdWajKZMnQD1-HN6_kN8aBesn1tXYjUNcoHLlLVAPn4CDqeXm6L9rJx--sxnXDw1luhuyiriqmh7I8gPN3aIGBmrm0RNxsGcM142FQVaIhwRnj2_6NSdUbOlTVNw1Q1Znn5J0ctgcPnnPAtoiVkvn_Yl9ri19hbijSqHNaidC2mVFsPofOL2-FD_mpG4J17x42hnXvi6DYjVQ5LCW2-0xttyRhQmjh7GyqC6haRtPlA3CgUsdtFSrll1zFkPAxjOdb7umV8AFv5LtyXVszvolKfyRriwPtud00vtMsCRuv3g4_-T_fbW-dUJjOu-u9nmKqxnEBDf1Bd024Qwo6NW0F0Jma2PD9g4SqkYKW2XEdQLq66kIpEsB_EKgdT1LdgnhJ6xLYOaAhQKUaw22Nwf32hx_RHYOasaa1nQj90qXIWrBJKEMvPeJxr2bEZTrnkshLQzZxPJu9jfqHjECYKd4mGRIZ6PUue8wRI37BVbG7M3eZUSbHUQkbbQHoPvIfuKkrD3_exkia7xfMaW8eA=s1600">
            <a:extLst>
              <a:ext uri="{FF2B5EF4-FFF2-40B4-BE49-F238E27FC236}">
                <a16:creationId xmlns:a16="http://schemas.microsoft.com/office/drawing/2014/main" id="{E44855A8-C8FC-E6DA-F34B-10FC7EC95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454" y="1349375"/>
            <a:ext cx="8033385" cy="5355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6430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B7983-CDB9-8ECE-2041-8EFF0E472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 Shot Comparison with Micro F1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69F1DC0-E93D-F3AD-7C76-0B864A20529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66282" y="1825625"/>
            <a:ext cx="745943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4950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AADDC-C363-E3C4-5240-C46AE5993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 Shot Comparison with Macro Precision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77C27BD-E022-727B-3170-73F81B76C8B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66282" y="1825625"/>
            <a:ext cx="745943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74601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AB617-DE6D-3039-3EAC-054B6A142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 Shot Comparison with Macro Recall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530F8DF-13E6-2539-08F0-D4780B6AA9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282" y="1825625"/>
            <a:ext cx="745943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7118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066D-7C45-237B-4D2B-875B0035F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7B86B-4975-24AD-259E-050B52CEB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 Shot Comparison with Balanced Accuracy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69BDBB0-2050-99CC-AA43-86295602BB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282" y="1825625"/>
            <a:ext cx="745943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7101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BAC05-9110-F943-7280-992888A5A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 Shot comparison via MCC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555943-B03B-D7AA-7B2A-4544EA6363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282" y="1825625"/>
            <a:ext cx="745943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3019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3D953-A5EB-AD13-E773-16C0F3BDB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 Shot, Cohen’s Kappa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516AD2-5115-2457-17C7-A6DAA2EB89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282" y="1825625"/>
            <a:ext cx="745943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2419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BBC9C-AF94-9A2E-4FE6-62A94634C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266E8-5626-AF19-E452-2A831E1C5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Few shot comparison via Accuracy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378C49-104F-0B66-9D2B-4D42678E53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496" y="1825625"/>
            <a:ext cx="65270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0033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E0C0D-E6AC-E71B-F6F6-40887B592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Few Shot Comparison via Macro F1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7F4016-A499-8697-A1CF-7BA82BF10D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496" y="1825625"/>
            <a:ext cx="65270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6841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FF43B-F1F6-5C2B-514E-373B9D7C9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Few Shot Comparison via Micro F1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ADE9AD-0CDF-70EA-7563-BD19B37527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496" y="1825625"/>
            <a:ext cx="65270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6869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C31F6-900D-9124-659F-AF9DD7A9C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Few Shot Comparison via F1 Score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689B6E-F166-6E54-8832-660570F81A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496" y="1825625"/>
            <a:ext cx="65270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3593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E90AB-EB80-71A9-A7D7-822C96187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Few Shot Comparison via Macro Precision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B0A9F7-0316-2135-69EA-96242B1EC3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496" y="1825625"/>
            <a:ext cx="65270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122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6A202-D112-3725-ADB8-5664402BB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Few Shot Comparison via Macro Recall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2BBAAA-5AC8-1F9A-A6D8-4ECD3AD790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496" y="1825625"/>
            <a:ext cx="65270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039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CCA78-4386-836E-F03D-2D6228477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Few Shot Comparison via Balanced Accuracy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2A4938-A52D-A4AE-8DB9-A26D25DDEE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496" y="1825625"/>
            <a:ext cx="65270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4005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50399-5185-B62C-FC16-D26D07C2E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Few shot comparison via MCC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D10166-2856-B50F-53ED-6182263C0E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496" y="1825625"/>
            <a:ext cx="65270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7280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E6733-6DA0-3812-925B-5D7D25EEA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Few Shot Comparison via Cohen’s Kappa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221CB9-135A-BED6-CCD8-9640F0882B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496" y="1825625"/>
            <a:ext cx="65270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8350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3840B-B12B-02DB-6BAE-32FF9EADB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 vs Few Comparison (Accuracy)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B50692-71C0-93E0-9789-3185DBB8CB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282" y="1825625"/>
            <a:ext cx="745943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301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8A13-7ED0-4C3F-69DA-C5588F099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 vs Few Comparison (Macro F1 Score)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93EE5D-2A7A-2EB4-670B-0A4244FCC7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282" y="1825625"/>
            <a:ext cx="745943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6504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370AB-9574-2E78-3E1B-B77349E87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“Failure” Cases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A2069C-81F7-7F36-F8C3-AEE11312FB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885" y="1825625"/>
            <a:ext cx="725223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655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F9F62-0EFC-2565-00BC-11D1AC3E8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7630B-B2D8-D85C-8506-02DFE0878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Best Model Qwen2.5-7B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3F4493-77BF-0AB0-D062-05277E0768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439545"/>
            <a:ext cx="7938855" cy="50533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A587593-0EF6-1D8C-0E0C-22D71847748B}"/>
              </a:ext>
            </a:extLst>
          </p:cNvPr>
          <p:cNvSpPr txBox="1"/>
          <p:nvPr/>
        </p:nvSpPr>
        <p:spPr>
          <a:xfrm>
            <a:off x="8390374" y="853440"/>
            <a:ext cx="3466346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Why Qwen2.5-7B Won: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Highest Accuracy in both ZS (61%) and FS (75%).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Highest Macro F1 in both ZS (0.48) and FS (0.58).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Most stable performance across all 6 classes.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Class-Level Improvement (Few-Shot vs Zero-Shot):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"Apply" (Most Common): ZS Recall ~65% → FS Recall ~69%.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"Remember" (Rarest): ZS Recall ~19% → FS Recall ~42%. (Huge Gain!)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"Create": ZS Recall ~28% → FS Recall ~50%.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Takeaway: Few-Shot prompting specifically helped the model find the rare classes it was ignoring in Zero-Shot.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6235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82880" y="2295144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" y="4407408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651967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84632" y="199339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84632" y="4105656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84632" y="621792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86384" y="169164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86384" y="3803904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86384" y="5916168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88136" y="1389888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88136" y="350215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88136" y="5614416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389888" y="1088136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389888" y="320040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389888" y="5312664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691640" y="786384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691640" y="2898648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691640" y="501091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993392" y="48463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993392" y="2596896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993392" y="470916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295144" y="18288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295144" y="2295144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295144" y="4407408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295144" y="651967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596896" y="199339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596896" y="4105656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596896" y="621792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898648" y="169164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898648" y="3803904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898648" y="5916168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200400" y="1389888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200400" y="350215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200400" y="5614416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502152" y="1088136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502152" y="320040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502152" y="5312664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803904" y="786384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803904" y="2898648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803904" y="501091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105656" y="48463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105656" y="2596896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105656" y="470916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407408" y="18288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407408" y="2295144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407408" y="4407408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407408" y="651967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709160" y="199339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709160" y="4105656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709160" y="621792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010912" y="169164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010912" y="3803904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5010912" y="5916168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5312664" y="1389888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5312664" y="350215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5312664" y="5614416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5614416" y="1088136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5614416" y="320040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5614416" y="5312664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5916168" y="786384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5916168" y="2898648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5916168" y="501091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6217920" y="48463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6217920" y="2596896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6217920" y="470916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6519672" y="18288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6519672" y="2295144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6519672" y="4407408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6519672" y="651967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6821424" y="199339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6821424" y="4105656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6821424" y="621792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7123176" y="169164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7123176" y="3803904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7123176" y="5916168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7424928" y="1389888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7424928" y="350215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7424928" y="5614416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7726680" y="1088136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7726680" y="320040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7726680" y="5312664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8028432" y="786384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8028432" y="2898648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8028432" y="501091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8330184" y="48463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8330184" y="2596896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8330184" y="470916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8631936" y="18288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8631936" y="2295144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8631936" y="4407408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8631936" y="651967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8933688" y="199339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8933688" y="4105656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8933688" y="621792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9235440" y="169164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9235440" y="3803904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9235440" y="5916168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9537192" y="1389888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9537192" y="350215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9537192" y="5614416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9838944" y="1088136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9838944" y="320040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9838944" y="5312664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10140696" y="786384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10140696" y="2898648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10140696" y="501091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10442448" y="48463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10442448" y="2596896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10442448" y="470916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10744200" y="18288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10744200" y="2295144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10744200" y="4407408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10744200" y="651967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11045952" y="199339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11045952" y="4105656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11045952" y="621792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11347704" y="169164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11347704" y="3803904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11347704" y="5916168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11649456" y="1389888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11649456" y="3502152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11649456" y="5614416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11951208" y="1088136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11951208" y="320040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11951208" y="5312664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548640" y="2103120"/>
            <a:ext cx="91440" cy="2560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127"/>
          <p:cNvSpPr/>
          <p:nvPr/>
        </p:nvSpPr>
        <p:spPr>
          <a:xfrm>
            <a:off x="822960" y="2103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 RESEARCH  •  FINE-TUNING PIPELINE</a:t>
            </a:r>
            <a:endParaRPr lang="en-US" sz="1300" dirty="0"/>
          </a:p>
        </p:txBody>
      </p:sp>
      <p:sp>
        <p:nvSpPr>
          <p:cNvPr id="130" name="Text 128"/>
          <p:cNvSpPr/>
          <p:nvPr/>
        </p:nvSpPr>
        <p:spPr>
          <a:xfrm>
            <a:off x="822960" y="2514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Bloom's Taxonomy</a:t>
            </a:r>
            <a:endParaRPr lang="en-US" sz="5400" dirty="0"/>
          </a:p>
        </p:txBody>
      </p:sp>
      <p:sp>
        <p:nvSpPr>
          <p:cNvPr id="131" name="Text 129"/>
          <p:cNvSpPr/>
          <p:nvPr/>
        </p:nvSpPr>
        <p:spPr>
          <a:xfrm>
            <a:off x="822960" y="3383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i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Fine-Tuning Pipeline</a:t>
            </a:r>
            <a:endParaRPr lang="en-US" sz="4400" dirty="0"/>
          </a:p>
        </p:txBody>
      </p:sp>
      <p:sp>
        <p:nvSpPr>
          <p:cNvPr id="132" name="Text 130"/>
          <p:cNvSpPr/>
          <p:nvPr/>
        </p:nvSpPr>
        <p:spPr>
          <a:xfrm>
            <a:off x="822960" y="43891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three 7–9B parameter models to classify academic learning outcomes into six cognitive levels using QLoRA.</a:t>
            </a:r>
            <a:endParaRPr lang="en-US" sz="1600" dirty="0"/>
          </a:p>
        </p:txBody>
      </p:sp>
      <p:sp>
        <p:nvSpPr>
          <p:cNvPr id="133" name="Shape 131"/>
          <p:cNvSpPr/>
          <p:nvPr/>
        </p:nvSpPr>
        <p:spPr>
          <a:xfrm>
            <a:off x="822960" y="5486400"/>
            <a:ext cx="2377440" cy="822960"/>
          </a:xfrm>
          <a:prstGeom prst="rect">
            <a:avLst/>
          </a:prstGeom>
          <a:solidFill>
            <a:srgbClr val="16263D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132"/>
          <p:cNvSpPr/>
          <p:nvPr/>
        </p:nvSpPr>
        <p:spPr>
          <a:xfrm>
            <a:off x="960120" y="5532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35" name="Text 133"/>
          <p:cNvSpPr/>
          <p:nvPr/>
        </p:nvSpPr>
        <p:spPr>
          <a:xfrm>
            <a:off x="960120" y="596188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100" dirty="0"/>
          </a:p>
        </p:txBody>
      </p:sp>
      <p:sp>
        <p:nvSpPr>
          <p:cNvPr id="136" name="Shape 134"/>
          <p:cNvSpPr/>
          <p:nvPr/>
        </p:nvSpPr>
        <p:spPr>
          <a:xfrm>
            <a:off x="3383280" y="5486400"/>
            <a:ext cx="2377440" cy="822960"/>
          </a:xfrm>
          <a:prstGeom prst="rect">
            <a:avLst/>
          </a:prstGeom>
          <a:solidFill>
            <a:srgbClr val="16263D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35"/>
          <p:cNvSpPr/>
          <p:nvPr/>
        </p:nvSpPr>
        <p:spPr>
          <a:xfrm>
            <a:off x="3520440" y="5532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21,379</a:t>
            </a:r>
            <a:endParaRPr lang="en-US" sz="2600" dirty="0"/>
          </a:p>
        </p:txBody>
      </p:sp>
      <p:sp>
        <p:nvSpPr>
          <p:cNvPr id="138" name="Text 136"/>
          <p:cNvSpPr/>
          <p:nvPr/>
        </p:nvSpPr>
        <p:spPr>
          <a:xfrm>
            <a:off x="3520440" y="596188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samples</a:t>
            </a:r>
            <a:endParaRPr lang="en-US" sz="1100" dirty="0"/>
          </a:p>
        </p:txBody>
      </p:sp>
      <p:sp>
        <p:nvSpPr>
          <p:cNvPr id="139" name="Shape 137"/>
          <p:cNvSpPr/>
          <p:nvPr/>
        </p:nvSpPr>
        <p:spPr>
          <a:xfrm>
            <a:off x="5943600" y="5486400"/>
            <a:ext cx="2377440" cy="822960"/>
          </a:xfrm>
          <a:prstGeom prst="rect">
            <a:avLst/>
          </a:prstGeom>
          <a:solidFill>
            <a:srgbClr val="16263D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Text 138"/>
          <p:cNvSpPr/>
          <p:nvPr/>
        </p:nvSpPr>
        <p:spPr>
          <a:xfrm>
            <a:off x="6080760" y="5532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18.77K</a:t>
            </a:r>
            <a:endParaRPr lang="en-US" sz="2600" dirty="0"/>
          </a:p>
        </p:txBody>
      </p:sp>
      <p:sp>
        <p:nvSpPr>
          <p:cNvPr id="141" name="Text 139"/>
          <p:cNvSpPr/>
          <p:nvPr/>
        </p:nvSpPr>
        <p:spPr>
          <a:xfrm>
            <a:off x="6080760" y="596188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rows</a:t>
            </a:r>
            <a:endParaRPr lang="en-US" sz="1100" dirty="0"/>
          </a:p>
        </p:txBody>
      </p:sp>
      <p:sp>
        <p:nvSpPr>
          <p:cNvPr id="142" name="Shape 140"/>
          <p:cNvSpPr/>
          <p:nvPr/>
        </p:nvSpPr>
        <p:spPr>
          <a:xfrm>
            <a:off x="8503920" y="5486400"/>
            <a:ext cx="2377440" cy="822960"/>
          </a:xfrm>
          <a:prstGeom prst="rect">
            <a:avLst/>
          </a:prstGeom>
          <a:solidFill>
            <a:srgbClr val="16263D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xt 141"/>
          <p:cNvSpPr/>
          <p:nvPr/>
        </p:nvSpPr>
        <p:spPr>
          <a:xfrm>
            <a:off x="8641080" y="5532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93.2%</a:t>
            </a:r>
            <a:endParaRPr lang="en-US" sz="2600" dirty="0"/>
          </a:p>
        </p:txBody>
      </p:sp>
      <p:sp>
        <p:nvSpPr>
          <p:cNvPr id="144" name="Text 142"/>
          <p:cNvSpPr/>
          <p:nvPr/>
        </p:nvSpPr>
        <p:spPr>
          <a:xfrm>
            <a:off x="8641080" y="596188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1100" dirty="0"/>
          </a:p>
        </p:txBody>
      </p:sp>
      <p:sp>
        <p:nvSpPr>
          <p:cNvPr id="145" name="Text 143"/>
          <p:cNvSpPr/>
          <p:nvPr/>
        </p:nvSpPr>
        <p:spPr>
          <a:xfrm>
            <a:off x="8229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NVIDIA RTX A6000 • 48GB VRAM • QLoRA 4-bit NF4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90787-B4D1-C77A-7F1B-9C89E7AA0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40B96-EE5A-CF3B-3323-FA91A0F1F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600" b="1" dirty="0"/>
              <a:t>Based on Shot-experiment results, Three of the open-source models proved to be promising than the others, hence fine tuned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5C988-DB69-5AE4-1F32-9EFBBD5CB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Qwen 2.5 7B</a:t>
            </a:r>
          </a:p>
          <a:p>
            <a:r>
              <a:rPr lang="en-US" dirty="0"/>
              <a:t>Gemma 2 9B</a:t>
            </a:r>
          </a:p>
          <a:p>
            <a:r>
              <a:rPr lang="en-US" dirty="0"/>
              <a:t>Mistral 7B</a:t>
            </a:r>
          </a:p>
        </p:txBody>
      </p:sp>
    </p:spTree>
    <p:extLst>
      <p:ext uri="{BB962C8B-B14F-4D97-AF65-F5344CB8AC3E}">
        <p14:creationId xmlns:p14="http://schemas.microsoft.com/office/powerpoint/2010/main" val="32054206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C4AA7-26D6-679B-073A-D84F95AA3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7A77A-0FC1-5422-603A-5DD064DEA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 Tuning Comparison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FA2395-EBBD-2443-A6F9-53DD2E2DF9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912" y="1358576"/>
            <a:ext cx="9596175" cy="5234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9986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Classifying what students actually learn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academic course lists dozens of learning outcomes —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“Define, explain, calculate, analyze, design…”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5760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verb signals a different level of cognitive demand. Benjamin Bloom's taxonomy (1956, revised 2001) organizes these into six progressive tiers — a backbone of curriculum design.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5760720" cy="2286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73152" cy="2286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3977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QUESTION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434340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a 7-billion parameter open model, fine-tuned on ~16K examples, reliably sort learning outcomes into Bloom's six levels?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55321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Spoiler: two can. One spectacularly can't.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543800" y="1600200"/>
            <a:ext cx="3291840" cy="62179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80960" y="1600200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680960" y="1600200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compose, construct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88352" y="2313432"/>
            <a:ext cx="3602736" cy="6217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525512" y="2313432"/>
            <a:ext cx="3419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525512" y="2313432"/>
            <a:ext cx="3419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critique, judge, defend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232904" y="3026664"/>
            <a:ext cx="3913632" cy="6217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70064" y="3026664"/>
            <a:ext cx="37307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Analyze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70064" y="3026664"/>
            <a:ext cx="37307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compare, contrast, examine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077456" y="3739896"/>
            <a:ext cx="4224528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214616" y="3739896"/>
            <a:ext cx="40416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14616" y="3739896"/>
            <a:ext cx="40416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calculate, solve, demonstrate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22008" y="4453128"/>
            <a:ext cx="4535424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059168" y="4453128"/>
            <a:ext cx="4352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59168" y="4453128"/>
            <a:ext cx="4352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explain, summarize, classify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766560" y="5166360"/>
            <a:ext cx="4846320" cy="6217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903720" y="5166360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Remember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903720" y="5166360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define, list, identify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66560" y="12801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Higher-order thinking ↑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66560" y="60350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Lower-order recall 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Bloom's Taxonomy LLM Fine-Tuning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CONTENDERS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instruction-tuned open models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fine-tuned identically: same data, same QLoRA config, same 3 epochs. Only the base weights differ.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65760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640080" cy="6400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2148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Mistral-7B-Instruct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2542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3063240"/>
            <a:ext cx="1371600" cy="502920"/>
          </a:xfrm>
          <a:prstGeom prst="rect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0632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240280" y="3108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840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Trainable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0" y="3840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41.9M (0.57%)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233672"/>
            <a:ext cx="3108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4297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Vocabulary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11680" y="4297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32,768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4690872"/>
            <a:ext cx="3108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" y="4754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11680" y="4754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 51m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5148072"/>
            <a:ext cx="3108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960" y="5212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011680" y="5212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4-bit NF4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34840" y="182880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434840" y="1828800"/>
            <a:ext cx="3657600" cy="1097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09160" y="2148840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0916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40680" y="2148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Qwen2-7B-Instruct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40680" y="2542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Alibaba Cloud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3063240"/>
            <a:ext cx="1371600" cy="502920"/>
          </a:xfrm>
          <a:prstGeom prst="rect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09160" y="30632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7B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126480" y="3108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09160" y="3840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Trainable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897880" y="3840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40.4M (0.53%)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09160" y="4233672"/>
            <a:ext cx="3108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09160" y="4297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Vocabulary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897880" y="4297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151,643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709160" y="4690872"/>
            <a:ext cx="3108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709160" y="4754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897880" y="4754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 38m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709160" y="5148072"/>
            <a:ext cx="3108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09160" y="5212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897880" y="5212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4-bit NF4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321040" y="182880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321040" y="1828800"/>
            <a:ext cx="3657600" cy="10972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8595360" y="2148840"/>
            <a:ext cx="640080" cy="64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59536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9326880" y="2148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Gemma-2-9B-IT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326880" y="2542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595360" y="3063240"/>
            <a:ext cx="1371600" cy="502920"/>
          </a:xfrm>
          <a:prstGeom prst="rect">
            <a:avLst/>
          </a:prstGeom>
          <a:solidFill>
            <a:srgbClr val="F43F5E">
              <a:alpha val="15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595360" y="30632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3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9B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10012680" y="3108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595360" y="3840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Trainable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9784080" y="3840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54.0M (0.58%)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8595360" y="4233672"/>
            <a:ext cx="3108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8595360" y="4297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Vocabulary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9784080" y="4297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256,000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8595360" y="4690872"/>
            <a:ext cx="3108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8595360" y="4754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9784080" y="4754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 11m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8595360" y="5148072"/>
            <a:ext cx="3108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8595360" y="5212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9784080" y="5212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4-bit NF4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Bloom's Taxonomy LLM Fine-Tuning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DATASET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18,773 labelled learning outcomes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from sample_full.csv in 2,000-row chunks — a memory-safe pipeline that drops multi-labelled and stub rows.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FUNNEL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4572000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rows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21,379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2999232"/>
            <a:ext cx="3931920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9923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chunked parse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99923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18,773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234440" y="3712464"/>
            <a:ext cx="3200400" cy="548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71600" y="3712464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split (85%)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3712464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15,957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554480" y="4425696"/>
            <a:ext cx="2560320" cy="5486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691640" y="442569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split (15%)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91640" y="442569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2,816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55778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2,607 rows dropped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(multi-label / unlabelled)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60720" y="19202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DISTRIBUTION</a:t>
            </a:r>
            <a:endParaRPr lang="en-US" sz="10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5760720" y="2240280"/>
          <a:ext cx="5943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18"/>
          <p:cNvSpPr/>
          <p:nvPr/>
        </p:nvSpPr>
        <p:spPr>
          <a:xfrm>
            <a:off x="5760720" y="5989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imbalance: Remember is ~5.7× rarer than Understand. Handled via stratified 85/15 split.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Bloom's Taxonomy LLM Fine-Tuning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RECIPE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QLoRA: memory-efficient fine-tuning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NF4 quantised weights + low-rank adapters. Fits 9B models into 48 GB with room to train.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560320" cy="114300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73152" cy="114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26771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272491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passes over 15,957 rows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920240"/>
            <a:ext cx="2560320" cy="114300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1920240"/>
            <a:ext cx="73152" cy="114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20440" y="20116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 SIZE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20440" y="226771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× 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20440" y="272491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batch = 16 (grad accum)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246120"/>
            <a:ext cx="2560320" cy="114300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73152" cy="114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33375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 RATE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59359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2e-4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77240" y="405079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schedule, 5% warmup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3246120"/>
            <a:ext cx="2560320" cy="114300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91840" y="3246120"/>
            <a:ext cx="73152" cy="114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520440" y="33375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SEQ. LEN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20440" y="359359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256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520440" y="405079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fit comfortably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572000"/>
            <a:ext cx="2560320" cy="114300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8640" y="4572000"/>
            <a:ext cx="73152" cy="114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7240" y="46634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LORA RANK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491947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16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77240" y="537667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32, dropout 0.05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91840" y="4572000"/>
            <a:ext cx="2560320" cy="114300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91840" y="4572000"/>
            <a:ext cx="73152" cy="114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520440" y="46634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520440" y="491947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bf16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3520440" y="537667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NF4 double-quant, bf16 compute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80760" y="1920240"/>
            <a:ext cx="5623560" cy="4572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355080" y="210312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TEMPLATE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55080" y="237744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Instruction-style supervised fine-tuning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355080" y="2834640"/>
            <a:ext cx="5074920" cy="3383280"/>
          </a:xfrm>
          <a:prstGeom prst="rect">
            <a:avLst/>
          </a:prstGeom>
          <a:solidFill>
            <a:srgbClr val="060F1C"/>
          </a:solidFill>
          <a:ln w="12700">
            <a:solidFill>
              <a:srgbClr val="060F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492240" y="292608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System: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an expert educator. Classify the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following academic learning outcome into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exactly one of Bloom's Taxonomy cognitive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levels: Remember, Understand, Apply, Analyze,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Evaluate, or Create.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Learning Outcome: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 the health economic implications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 efficient perioperative practice.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Bloom's Level: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Bloom's Taxonomy LLM Fine-Tuning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 DYNAMICS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each model learned over time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validation loss at each epoch. Lower train loss + higher val loss = classic overfitting signal.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920240"/>
          <a:ext cx="566928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6355080" y="1920240"/>
          <a:ext cx="566928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Bloom's Taxonomy LLM Fine-Tuning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HEADLINE RESULT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Leaderboard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2,816 held-out test samples. Weighted F1 is the primary metric.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657600" cy="4480560"/>
          </a:xfrm>
          <a:prstGeom prst="rect">
            <a:avLst/>
          </a:prstGeom>
          <a:solidFill>
            <a:srgbClr val="16263D"/>
          </a:solidFill>
          <a:ln w="25400">
            <a:solidFill>
              <a:srgbClr val="06B6D4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657600" cy="1371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1st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017520" y="2377440"/>
            <a:ext cx="914400" cy="3200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17520" y="2377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3017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Mistral-7B-Instruct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" y="3566160"/>
            <a:ext cx="3108960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7033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93.22%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822960" y="4754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5349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Weighted F1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5577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0.9324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377440" y="5349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Macro F1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377440" y="5577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0.9206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434840" y="1965960"/>
            <a:ext cx="3657600" cy="4480560"/>
          </a:xfrm>
          <a:prstGeom prst="rect">
            <a:avLst/>
          </a:prstGeom>
          <a:solidFill>
            <a:srgbClr val="16263D"/>
          </a:solidFill>
          <a:ln w="12700">
            <a:solidFill>
              <a:srgbClr val="16263D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434840" y="1965960"/>
            <a:ext cx="3657600" cy="1371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2240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2nd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6903720" y="2377440"/>
            <a:ext cx="914400" cy="320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03720" y="2377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STRONG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9160" y="3017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Qwen2-7B-Instruct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709160" y="3566160"/>
            <a:ext cx="310896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09160" y="37033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92.47%</a:t>
            </a:r>
            <a:endParaRPr lang="en-US" sz="5600" dirty="0"/>
          </a:p>
        </p:txBody>
      </p:sp>
      <p:sp>
        <p:nvSpPr>
          <p:cNvPr id="26" name="Text 24"/>
          <p:cNvSpPr/>
          <p:nvPr/>
        </p:nvSpPr>
        <p:spPr>
          <a:xfrm>
            <a:off x="4709160" y="4754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5349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Weighted F1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09160" y="5577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0.9250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263640" y="5349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Macro F1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63640" y="5577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0.9149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8321040" y="1965960"/>
            <a:ext cx="3657600" cy="4480560"/>
          </a:xfrm>
          <a:prstGeom prst="rect">
            <a:avLst/>
          </a:prstGeom>
          <a:solidFill>
            <a:srgbClr val="16263D"/>
          </a:solidFill>
          <a:ln w="12700">
            <a:solidFill>
              <a:srgbClr val="16263D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321040" y="1965960"/>
            <a:ext cx="3657600" cy="1371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595360" y="2240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3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3rd</a:t>
            </a:r>
            <a:endParaRPr lang="en-US" sz="3200" dirty="0"/>
          </a:p>
        </p:txBody>
      </p:sp>
      <p:sp>
        <p:nvSpPr>
          <p:cNvPr id="34" name="Shape 32"/>
          <p:cNvSpPr/>
          <p:nvPr/>
        </p:nvSpPr>
        <p:spPr>
          <a:xfrm>
            <a:off x="10789920" y="2377440"/>
            <a:ext cx="914400" cy="3200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789920" y="2377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595360" y="3017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Gemma-2-9B-IT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8595360" y="3566160"/>
            <a:ext cx="3108960" cy="0"/>
          </a:xfrm>
          <a:prstGeom prst="line">
            <a:avLst/>
          </a:prstGeom>
          <a:noFill/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595360" y="37033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43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20.24%</a:t>
            </a:r>
            <a:endParaRPr lang="en-US" sz="5600" dirty="0"/>
          </a:p>
        </p:txBody>
      </p:sp>
      <p:sp>
        <p:nvSpPr>
          <p:cNvPr id="39" name="Text 37"/>
          <p:cNvSpPr/>
          <p:nvPr/>
        </p:nvSpPr>
        <p:spPr>
          <a:xfrm>
            <a:off x="8595360" y="4754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595360" y="5349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Weighted F1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595360" y="5577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0.3097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10149840" y="5349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Macro F1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149840" y="5577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0.3050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Bloom's Taxonomy LLM Fine-Tuning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PER-CLASS F1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each model handles each Bloom level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Gemma's collapse is uniform across higher-order levels — precision is strong, but recall falls off a cliff.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874520"/>
          <a:ext cx="749808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275320" y="1920240"/>
            <a:ext cx="3429000" cy="132588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275320" y="1920240"/>
            <a:ext cx="73152" cy="13258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503920" y="2057400"/>
            <a:ext cx="822960" cy="274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503920" y="20574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WINNER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503920" y="2377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Mistral dominates across the board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503920" y="272491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 on 4 of 6 classes. Most balanced recall-precision profile.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75320" y="3383280"/>
            <a:ext cx="3429000" cy="132588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275320" y="3383280"/>
            <a:ext cx="73152" cy="1325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503920" y="3520440"/>
            <a:ext cx="822960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503920" y="35204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503920" y="3840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Qwen2 matches on Evaluate &amp; Create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503920" y="418795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Essentially tied with Mistral on the hardest creative levels.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275320" y="4846320"/>
            <a:ext cx="3429000" cy="132588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275320" y="4846320"/>
            <a:ext cx="73152" cy="13258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503920" y="4983480"/>
            <a:ext cx="822960" cy="2743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503920" y="49834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BROKEN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503920" y="5303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Gemma collapses above Remember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503920" y="565099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drops from 0.83 → 0.12 on Analyze &amp; Evaluate. See next slide.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Bloom's Taxonomy LLM Fine-Tuning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Gemma paradox — precise yet wrong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training loss dropped to 0.28 (lowest of the three). Yet accuracy stalled at 20%. What happened?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920240"/>
          <a:ext cx="64008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178040" y="1920240"/>
            <a:ext cx="452628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360920" y="2103120"/>
            <a:ext cx="548640" cy="5486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6092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046720" y="20116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Precision → ~1.0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46720" y="230428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Gemma *does* predict a class, it's almost always right. It isn't confused about meaning — it's silent on most inputs.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178040" y="3017520"/>
            <a:ext cx="452628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360920" y="3200400"/>
            <a:ext cx="548640" cy="5486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36092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046720" y="31089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Recall → ~0.06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046720" y="340156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~6% of Analyze/Evaluate outcomes get labelled at all. The model abstains or produces tokens that don't match any Bloom label.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178040" y="4114800"/>
            <a:ext cx="452628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360920" y="4297680"/>
            <a:ext cx="548640" cy="5486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36092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046720" y="42062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Likely cause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046720" y="449884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Gemma-2's safety/instruction format differs from Mistral &amp; Qwen. Without a chat template, outputs drift and the parser captures 'Unknown'.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178040" y="5212080"/>
            <a:ext cx="452628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7360920" y="5394960"/>
            <a:ext cx="548640" cy="5486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360920" y="5394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8046720" y="53035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fix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046720" y="559612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Gemma's official chat template, or retrain with `attn_implementation="eager"` AND a matching prompt structure.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Bloom's Taxonomy LLM Fine-Tuning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WINNER SPOTLIGHT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Mistral-7B — full per-class breakdown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645920"/>
          <a:ext cx="475488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1783080"/>
            <a:ext cx="15544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577840" y="17830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132320" y="1783080"/>
            <a:ext cx="118872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132320" y="17830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321040" y="1783080"/>
            <a:ext cx="100584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321040" y="17830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Recall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326880" y="1783080"/>
            <a:ext cx="91440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326880" y="17830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0241280" y="1783080"/>
            <a:ext cx="10972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241280" y="17830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577840" y="2240280"/>
            <a:ext cx="5760720" cy="502920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577840" y="2240280"/>
            <a:ext cx="73152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760720" y="22402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Remember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132320" y="22402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321040" y="22402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326880" y="22402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0241280" y="22402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577840" y="2743200"/>
            <a:ext cx="5760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577840" y="2743200"/>
            <a:ext cx="73152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760720" y="27432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132320" y="27432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321040" y="27432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326880" y="27432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0241280" y="27432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762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577840" y="3246120"/>
            <a:ext cx="5760720" cy="502920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5577840" y="3246120"/>
            <a:ext cx="73152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760720" y="32461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132320" y="32461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8321040" y="32461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326880" y="32461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10241280" y="32461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761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5577840" y="3749040"/>
            <a:ext cx="5760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5577840" y="3749040"/>
            <a:ext cx="73152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5760720" y="37490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Analyze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7132320" y="37490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8321040" y="37490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9326880" y="37490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10241280" y="37490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347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5577840" y="4251960"/>
            <a:ext cx="5760720" cy="502920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5577840" y="4251960"/>
            <a:ext cx="73152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5760720" y="42519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7132320" y="42519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8321040" y="42519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9326880" y="42519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10241280" y="42519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370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5577840" y="4754880"/>
            <a:ext cx="5760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8"/>
          <p:cNvSpPr/>
          <p:nvPr/>
        </p:nvSpPr>
        <p:spPr>
          <a:xfrm>
            <a:off x="5577840" y="4754880"/>
            <a:ext cx="73152" cy="5029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5760720" y="47548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7132320" y="47548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8321040" y="47548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9326880" y="47548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1400" dirty="0"/>
          </a:p>
        </p:txBody>
      </p:sp>
      <p:sp>
        <p:nvSpPr>
          <p:cNvPr id="56" name="Text 53"/>
          <p:cNvSpPr/>
          <p:nvPr/>
        </p:nvSpPr>
        <p:spPr>
          <a:xfrm>
            <a:off x="10241280" y="47548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443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5577840" y="5486400"/>
            <a:ext cx="179832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5715000" y="5559552"/>
            <a:ext cx="152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Macro F1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715000" y="5779008"/>
            <a:ext cx="152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0.9206</a:t>
            </a:r>
            <a:endParaRPr lang="en-US" sz="2200" dirty="0"/>
          </a:p>
        </p:txBody>
      </p:sp>
      <p:sp>
        <p:nvSpPr>
          <p:cNvPr id="60" name="Shape 57"/>
          <p:cNvSpPr/>
          <p:nvPr/>
        </p:nvSpPr>
        <p:spPr>
          <a:xfrm>
            <a:off x="7559040" y="5486400"/>
            <a:ext cx="179832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7696200" y="5559552"/>
            <a:ext cx="152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Weighted F1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7696200" y="5779008"/>
            <a:ext cx="152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0.9324</a:t>
            </a:r>
            <a:endParaRPr lang="en-US" sz="2200" dirty="0"/>
          </a:p>
        </p:txBody>
      </p:sp>
      <p:sp>
        <p:nvSpPr>
          <p:cNvPr id="63" name="Shape 60"/>
          <p:cNvSpPr/>
          <p:nvPr/>
        </p:nvSpPr>
        <p:spPr>
          <a:xfrm>
            <a:off x="9540240" y="5486400"/>
            <a:ext cx="179832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9677400" y="5559552"/>
            <a:ext cx="152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</a:t>
            </a:r>
            <a:endParaRPr lang="en-US" sz="900" dirty="0"/>
          </a:p>
        </p:txBody>
      </p:sp>
      <p:sp>
        <p:nvSpPr>
          <p:cNvPr id="65" name="Text 62"/>
          <p:cNvSpPr/>
          <p:nvPr/>
        </p:nvSpPr>
        <p:spPr>
          <a:xfrm>
            <a:off x="9677400" y="5779008"/>
            <a:ext cx="152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93.22%</a:t>
            </a:r>
            <a:endParaRPr lang="en-US" sz="2200" dirty="0"/>
          </a:p>
        </p:txBody>
      </p:sp>
      <p:sp>
        <p:nvSpPr>
          <p:cNvPr id="66" name="Text 63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Bloom's Taxonomy LLM Fine-Tuning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THE WILD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predictions from the best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unseen learning outcomes. Mistral classifies each in under 100 ms on an A6000.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5778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09728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2121408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“Define the key terms used in thermodynamics.”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60520" y="205740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572000" y="2194560"/>
            <a:ext cx="14173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0" y="21945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1828800"/>
            <a:ext cx="55778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55080" y="1828800"/>
            <a:ext cx="109728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29400" y="19202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29400" y="2121408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“Explain the principles of natural selection.”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966960" y="205740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10378440" y="2194560"/>
            <a:ext cx="14173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378440" y="21945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227832"/>
            <a:ext cx="55778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3227832"/>
            <a:ext cx="109728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331927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" y="35204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“Calculate the acceleration of a falling object using Newton's 2nd law.”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60520" y="3456432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4572000" y="3593592"/>
            <a:ext cx="141732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0" y="359359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55080" y="3227832"/>
            <a:ext cx="55778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355080" y="3227832"/>
            <a:ext cx="109728" cy="1234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629400" y="331927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29400" y="35204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“Compare and contrast supervised and unsupervised ML.”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966960" y="3456432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10378440" y="3593592"/>
            <a:ext cx="1417320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378440" y="359359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4626864"/>
            <a:ext cx="55778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48640" y="4626864"/>
            <a:ext cx="109728" cy="1234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22960" y="471830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960" y="4919472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“Critique a peer's experimental design for potential confounds.”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160520" y="4855464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38" name="Shape 36"/>
          <p:cNvSpPr/>
          <p:nvPr/>
        </p:nvSpPr>
        <p:spPr>
          <a:xfrm>
            <a:off x="4572000" y="4992624"/>
            <a:ext cx="1417320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72000" y="499262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355080" y="4626864"/>
            <a:ext cx="55778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355080" y="4626864"/>
            <a:ext cx="109728" cy="12344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629400" y="471830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629400" y="4919472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“Design an algorithm to solve the travelling salesman problem.”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966960" y="4855464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45" name="Shape 43"/>
          <p:cNvSpPr/>
          <p:nvPr/>
        </p:nvSpPr>
        <p:spPr>
          <a:xfrm>
            <a:off x="10378440" y="4992624"/>
            <a:ext cx="1417320" cy="5029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0378440" y="499262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548640" y="6035040"/>
            <a:ext cx="11109960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3152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 classify_learning_outcome("Design a curriculum unit on climate change.")   →   Create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Bloom's Taxonomy LLM Fine-Tuning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82880" y="3502152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84632" y="2596896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84632" y="5916168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86384" y="169164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86384" y="5010912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88136" y="786384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88136" y="4105656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389888" y="320040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389888" y="6519672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691640" y="2295144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691640" y="5614416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993392" y="1389888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993392" y="470916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295144" y="484632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295144" y="3803904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96896" y="2898648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596896" y="621792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898648" y="1993392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898648" y="5312664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0" y="1088136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0" y="4407408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502152" y="18288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502152" y="3502152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803904" y="2596896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803904" y="5916168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105656" y="169164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105656" y="5010912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407408" y="786384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407408" y="4105656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09160" y="320040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09160" y="6519672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010912" y="2295144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010912" y="5614416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312664" y="1389888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312664" y="470916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614416" y="484632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614416" y="3803904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916168" y="2898648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916168" y="621792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217920" y="1993392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217920" y="5312664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519672" y="1088136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519672" y="4407408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821424" y="18288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821424" y="3502152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123176" y="2596896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123176" y="5916168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7424928" y="169164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424928" y="5010912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726680" y="786384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726680" y="4105656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8028432" y="320040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8028432" y="6519672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8330184" y="2295144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8330184" y="5614416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8631936" y="1389888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8631936" y="470916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8933688" y="484632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8933688" y="3803904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9235440" y="2898648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9235440" y="621792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9537192" y="1993392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9537192" y="5312664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9838944" y="1088136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9838944" y="4407408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10140696" y="18288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10140696" y="3502152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10442448" y="2596896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10442448" y="5916168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0744200" y="169164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10744200" y="5010912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11045952" y="786384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11045952" y="4105656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1347704" y="320040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11347704" y="6519672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11649456" y="2295144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11649456" y="5614416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11951208" y="1389888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11951208" y="470916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experiment proved</a:t>
            </a:r>
            <a:endParaRPr lang="en-US" sz="3600" dirty="0"/>
          </a:p>
        </p:txBody>
      </p:sp>
      <p:sp>
        <p:nvSpPr>
          <p:cNvPr id="84" name="Shape 82"/>
          <p:cNvSpPr/>
          <p:nvPr/>
        </p:nvSpPr>
        <p:spPr>
          <a:xfrm>
            <a:off x="548640" y="1737360"/>
            <a:ext cx="5486400" cy="2286000"/>
          </a:xfrm>
          <a:prstGeom prst="rect">
            <a:avLst/>
          </a:prstGeom>
          <a:solidFill>
            <a:srgbClr val="16263D"/>
          </a:solidFill>
          <a:ln w="12700">
            <a:solidFill>
              <a:srgbClr val="16263D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548640" y="1737360"/>
            <a:ext cx="91440" cy="2286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914400" y="19659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87" name="Text 85"/>
          <p:cNvSpPr/>
          <p:nvPr/>
        </p:nvSpPr>
        <p:spPr>
          <a:xfrm>
            <a:off x="914400" y="25146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QLoRA works — at scale.</a:t>
            </a:r>
            <a:endParaRPr lang="en-US" sz="1900" dirty="0"/>
          </a:p>
        </p:txBody>
      </p:sp>
      <p:sp>
        <p:nvSpPr>
          <p:cNvPr id="88" name="Text 86"/>
          <p:cNvSpPr/>
          <p:nvPr/>
        </p:nvSpPr>
        <p:spPr>
          <a:xfrm>
            <a:off x="914400" y="306324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&lt;1% of parameters lifted instruction-tuned models to 93% accuracy on a 6-way classification task.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6263640" y="1737360"/>
            <a:ext cx="5486400" cy="2286000"/>
          </a:xfrm>
          <a:prstGeom prst="rect">
            <a:avLst/>
          </a:prstGeom>
          <a:solidFill>
            <a:srgbClr val="16263D"/>
          </a:solidFill>
          <a:ln w="12700">
            <a:solidFill>
              <a:srgbClr val="16263D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6263640" y="1737360"/>
            <a:ext cx="91440" cy="2286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6629400" y="19659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92" name="Text 90"/>
          <p:cNvSpPr/>
          <p:nvPr/>
        </p:nvSpPr>
        <p:spPr>
          <a:xfrm>
            <a:off x="6629400" y="25146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Bigger ≠ better.</a:t>
            </a:r>
            <a:endParaRPr lang="en-US" sz="1900" dirty="0"/>
          </a:p>
        </p:txBody>
      </p:sp>
      <p:sp>
        <p:nvSpPr>
          <p:cNvPr id="93" name="Text 91"/>
          <p:cNvSpPr/>
          <p:nvPr/>
        </p:nvSpPr>
        <p:spPr>
          <a:xfrm>
            <a:off x="6629400" y="306324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9B Gemma failed while both 7B models excelled. Architecture, chat templates, and tokenizer alignment matter more than raw parameter count.</a:t>
            </a:r>
            <a:endParaRPr lang="en-US" sz="1300" dirty="0"/>
          </a:p>
        </p:txBody>
      </p:sp>
      <p:sp>
        <p:nvSpPr>
          <p:cNvPr id="94" name="Shape 92"/>
          <p:cNvSpPr/>
          <p:nvPr/>
        </p:nvSpPr>
        <p:spPr>
          <a:xfrm>
            <a:off x="548640" y="4206240"/>
            <a:ext cx="5486400" cy="2286000"/>
          </a:xfrm>
          <a:prstGeom prst="rect">
            <a:avLst/>
          </a:prstGeom>
          <a:solidFill>
            <a:srgbClr val="16263D"/>
          </a:solidFill>
          <a:ln w="12700">
            <a:solidFill>
              <a:srgbClr val="16263D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548640" y="4206240"/>
            <a:ext cx="91440" cy="2286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914400" y="4434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97" name="Text 95"/>
          <p:cNvSpPr/>
          <p:nvPr/>
        </p:nvSpPr>
        <p:spPr>
          <a:xfrm>
            <a:off x="914400" y="49834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imbalance was survivable.</a:t>
            </a:r>
            <a:endParaRPr lang="en-US" sz="1900" dirty="0"/>
          </a:p>
        </p:txBody>
      </p:sp>
      <p:sp>
        <p:nvSpPr>
          <p:cNvPr id="98" name="Text 96"/>
          <p:cNvSpPr/>
          <p:nvPr/>
        </p:nvSpPr>
        <p:spPr>
          <a:xfrm>
            <a:off x="914400" y="553212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class had only 886 rows (&lt;5% of data) yet still achieved F1 ≥ 0.86 in both winning models. Stratified splitting + QLoRA handled it.</a:t>
            </a:r>
            <a:endParaRPr lang="en-US" sz="1300" dirty="0"/>
          </a:p>
        </p:txBody>
      </p:sp>
      <p:sp>
        <p:nvSpPr>
          <p:cNvPr id="99" name="Shape 97"/>
          <p:cNvSpPr/>
          <p:nvPr/>
        </p:nvSpPr>
        <p:spPr>
          <a:xfrm>
            <a:off x="6263640" y="4206240"/>
            <a:ext cx="5486400" cy="2286000"/>
          </a:xfrm>
          <a:prstGeom prst="rect">
            <a:avLst/>
          </a:prstGeom>
          <a:solidFill>
            <a:srgbClr val="16263D"/>
          </a:solidFill>
          <a:ln w="12700">
            <a:solidFill>
              <a:srgbClr val="16263D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6263640" y="4206240"/>
            <a:ext cx="91440" cy="22860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6629400" y="4434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3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102" name="Text 100"/>
          <p:cNvSpPr/>
          <p:nvPr/>
        </p:nvSpPr>
        <p:spPr>
          <a:xfrm>
            <a:off x="6629400" y="49834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Always inspect recall, not just loss.</a:t>
            </a:r>
            <a:endParaRPr lang="en-US" sz="1900" dirty="0"/>
          </a:p>
        </p:txBody>
      </p:sp>
      <p:sp>
        <p:nvSpPr>
          <p:cNvPr id="103" name="Text 101"/>
          <p:cNvSpPr/>
          <p:nvPr/>
        </p:nvSpPr>
        <p:spPr>
          <a:xfrm>
            <a:off x="6629400" y="553212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Gemma's training loss was the lowest of the three. A loss curve alone would have declared it the winner. Class-level recall told the real story.</a:t>
            </a:r>
            <a:endParaRPr lang="en-US" sz="1300" dirty="0"/>
          </a:p>
        </p:txBody>
      </p:sp>
      <p:sp>
        <p:nvSpPr>
          <p:cNvPr id="104" name="Text 102"/>
          <p:cNvSpPr/>
          <p:nvPr/>
        </p:nvSpPr>
        <p:spPr>
          <a:xfrm>
            <a:off x="548640" y="6446520"/>
            <a:ext cx="11109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Mistral-7B-Instruct-v0.3  •  93.22% accuracy  •  0.9324 weighted F1  •  ~1h 51m training on a single A6000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10454</TotalTime>
  <Words>2015</Words>
  <Application>Microsoft Office PowerPoint</Application>
  <PresentationFormat>Widescreen</PresentationFormat>
  <Paragraphs>412</Paragraphs>
  <Slides>79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6" baseType="lpstr">
      <vt:lpstr>Aptos</vt:lpstr>
      <vt:lpstr>Arial</vt:lpstr>
      <vt:lpstr>Calibri</vt:lpstr>
      <vt:lpstr>Calibri Light</vt:lpstr>
      <vt:lpstr>Consolas</vt:lpstr>
      <vt:lpstr>Georgia</vt:lpstr>
      <vt:lpstr>Office 2013 - 2022 Theme</vt:lpstr>
      <vt:lpstr>Evaluation of LLMs on Bloom’s Taxonomy Classification</vt:lpstr>
      <vt:lpstr>EDA – The CLO Dataset (EDM2022)</vt:lpstr>
      <vt:lpstr>EDA – The CLO Dataset (EDM2022)</vt:lpstr>
      <vt:lpstr>EDA – The CLO Dataset (EDM2022)</vt:lpstr>
      <vt:lpstr>Top 15 Bigrams per level (single label)</vt:lpstr>
      <vt:lpstr>Top 15 Bigrams per level (single label)</vt:lpstr>
      <vt:lpstr>Top 15 Bigrams per level (single label)</vt:lpstr>
      <vt:lpstr>Top 15 Bigrams per level (single label)</vt:lpstr>
      <vt:lpstr>Multinomial Naïve Bayes Evaluation</vt:lpstr>
      <vt:lpstr>Multinomial Naïve Bayes Evaluation</vt:lpstr>
      <vt:lpstr>Multinomial Naïve Bayes Evaluation</vt:lpstr>
      <vt:lpstr>Complement Naïve Bayes Evaluation</vt:lpstr>
      <vt:lpstr>Complement Naïve Bayes Evaluation</vt:lpstr>
      <vt:lpstr>Complement Naïve Bayes Evaluation</vt:lpstr>
      <vt:lpstr>Logistic Regression - Evaluation</vt:lpstr>
      <vt:lpstr>Logistic Regression - Evaluation</vt:lpstr>
      <vt:lpstr>Logistic Regression - Evaluation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LSTM</vt:lpstr>
      <vt:lpstr>LSTM</vt:lpstr>
      <vt:lpstr>LSTM</vt:lpstr>
      <vt:lpstr>LSTM</vt:lpstr>
      <vt:lpstr>LSTM (Shaikh et al. 2021)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13 Open Source LLMs</vt:lpstr>
      <vt:lpstr>Metrics for Evaluation</vt:lpstr>
      <vt:lpstr>Metrics for Evaluation</vt:lpstr>
      <vt:lpstr>Zero-shot comparison via Accuracy</vt:lpstr>
      <vt:lpstr>Zero-shot comparison via Macro F1</vt:lpstr>
      <vt:lpstr>Zero Shot Comparison with Micro F1</vt:lpstr>
      <vt:lpstr>Zero Shot Comparison with Macro Precision</vt:lpstr>
      <vt:lpstr>Zero Shot Comparison with Macro Recall</vt:lpstr>
      <vt:lpstr>Zero Shot Comparison with Balanced Accuracy</vt:lpstr>
      <vt:lpstr>Zero Shot comparison via MCC</vt:lpstr>
      <vt:lpstr>Zero Shot, Cohen’s Kappa</vt:lpstr>
      <vt:lpstr>Few shot comparison via Accuracy</vt:lpstr>
      <vt:lpstr>Few Shot Comparison via Macro F1</vt:lpstr>
      <vt:lpstr>Few Shot Comparison via Micro F1</vt:lpstr>
      <vt:lpstr>Few Shot Comparison via F1 Score</vt:lpstr>
      <vt:lpstr>Few Shot Comparison via Macro Precision</vt:lpstr>
      <vt:lpstr>Few Shot Comparison via Macro Recall</vt:lpstr>
      <vt:lpstr>Few Shot Comparison via Balanced Accuracy</vt:lpstr>
      <vt:lpstr>Few shot comparison via MCC</vt:lpstr>
      <vt:lpstr>Few Shot Comparison via Cohen’s Kappa </vt:lpstr>
      <vt:lpstr>Zero vs Few Comparison (Accuracy)</vt:lpstr>
      <vt:lpstr>Zero vs Few Comparison (Macro F1 Score)</vt:lpstr>
      <vt:lpstr>The “Failure” Cases</vt:lpstr>
      <vt:lpstr>The Best Model Qwen2.5-7B</vt:lpstr>
      <vt:lpstr>PowerPoint Presentation</vt:lpstr>
      <vt:lpstr>Based on Shot-experiment results, Three of the open-source models proved to be promising than the others, hence fine tuned</vt:lpstr>
      <vt:lpstr>Fine Tuning Comparison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Daniyal</dc:creator>
  <cp:lastModifiedBy>Muhammad Daniyal</cp:lastModifiedBy>
  <cp:revision>12</cp:revision>
  <dcterms:created xsi:type="dcterms:W3CDTF">2026-04-09T03:19:50Z</dcterms:created>
  <dcterms:modified xsi:type="dcterms:W3CDTF">2026-04-23T12:03:57Z</dcterms:modified>
</cp:coreProperties>
</file>
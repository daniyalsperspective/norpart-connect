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charts/chart7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0.xml" ContentType="application/vnd.openxmlformats-officedocument.drawingml.chart+xml"/>
  <Override PartName="/ppt/notesSlides/notesSlide25.xml" ContentType="application/vnd.openxmlformats-officedocument.presentationml.notesSlide+xml"/>
  <Override PartName="/ppt/charts/chart11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6" r:id="rId21"/>
    <p:sldId id="297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98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</p:sldIdLst>
  <p:sldSz cx="16256000" cy="9144000"/>
  <p:notesSz cx="9144000" cy="16256000"/>
  <p:embeddedFontLst>
    <p:embeddedFont>
      <p:font typeface="Quattrocento Sans" panose="020B0502050000020003" pitchFamily="34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A5C"/>
    <a:srgbClr val="F5F4ED"/>
    <a:srgbClr val="F8F8F6"/>
    <a:srgbClr val="FFFFFF"/>
    <a:srgbClr val="4A7C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6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C2C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886</c:v>
                </c:pt>
                <c:pt idx="1">
                  <c:v>5079</c:v>
                </c:pt>
                <c:pt idx="2">
                  <c:v>5074</c:v>
                </c:pt>
                <c:pt idx="3">
                  <c:v>2955</c:v>
                </c:pt>
                <c:pt idx="4">
                  <c:v>2468</c:v>
                </c:pt>
                <c:pt idx="5">
                  <c:v>2311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03-4F21-9D88-4262FE24AB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Multinomial NB</c:v>
                </c:pt>
                <c:pt idx="1">
                  <c:v>Complement NB</c:v>
                </c:pt>
                <c:pt idx="2">
                  <c:v>Logistic Reg</c:v>
                </c:pt>
                <c:pt idx="3">
                  <c:v>LSTM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0.42</c:v>
                </c:pt>
                <c:pt idx="1">
                  <c:v>0.51</c:v>
                </c:pt>
                <c:pt idx="2">
                  <c:v>0.72</c:v>
                </c:pt>
                <c:pt idx="3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35-40E6-A83A-95659DE0A6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C45C2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Multinomial NB</c:v>
                </c:pt>
                <c:pt idx="1">
                  <c:v>Complement NB</c:v>
                </c:pt>
                <c:pt idx="2">
                  <c:v>Logistic Reg</c:v>
                </c:pt>
                <c:pt idx="3">
                  <c:v>LSTM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0.28000000000000003</c:v>
                </c:pt>
                <c:pt idx="1">
                  <c:v>0.35</c:v>
                </c:pt>
                <c:pt idx="2">
                  <c:v>0.57999999999999996</c:v>
                </c:pt>
                <c:pt idx="3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35-40E6-A83A-95659DE0A6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Qwen2.5-7B</c:v>
                </c:pt>
                <c:pt idx="1">
                  <c:v>Qwen2-7B</c:v>
                </c:pt>
                <c:pt idx="2">
                  <c:v>Mistral-7B</c:v>
                </c:pt>
                <c:pt idx="3">
                  <c:v>Llama-3.1-8B</c:v>
                </c:pt>
                <c:pt idx="4">
                  <c:v>Qwen2.5-3B</c:v>
                </c:pt>
                <c:pt idx="5">
                  <c:v>Llama-3-8B</c:v>
                </c:pt>
                <c:pt idx="6">
                  <c:v>Gemma-2-9B</c:v>
                </c:pt>
                <c:pt idx="7">
                  <c:v>Phi-3.5-Mini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0.61</c:v>
                </c:pt>
                <c:pt idx="1">
                  <c:v>0.55000000000000004</c:v>
                </c:pt>
                <c:pt idx="2">
                  <c:v>0.52</c:v>
                </c:pt>
                <c:pt idx="3">
                  <c:v>0.48</c:v>
                </c:pt>
                <c:pt idx="4">
                  <c:v>0.45</c:v>
                </c:pt>
                <c:pt idx="5">
                  <c:v>0.43</c:v>
                </c:pt>
                <c:pt idx="6">
                  <c:v>0.38</c:v>
                </c:pt>
                <c:pt idx="7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40-40CA-9833-B09CB77C28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C45C2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Qwen2.5-7B ZS</c:v>
                </c:pt>
                <c:pt idx="1">
                  <c:v>Mistral-7B ZS</c:v>
                </c:pt>
                <c:pt idx="2">
                  <c:v>LogReg (ML)</c:v>
                </c:pt>
                <c:pt idx="3">
                  <c:v>LSTM (ML)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</c:v>
                </c:pt>
                <c:pt idx="1">
                  <c:v>0.38</c:v>
                </c:pt>
                <c:pt idx="2">
                  <c:v>0.57999999999999996</c:v>
                </c:pt>
                <c:pt idx="3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BE-4C9F-9F4E-344ED3572D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Qwen2.5-7B</c:v>
                </c:pt>
                <c:pt idx="1">
                  <c:v>Qwen2-7B</c:v>
                </c:pt>
                <c:pt idx="2">
                  <c:v>Mistral-7B</c:v>
                </c:pt>
                <c:pt idx="3">
                  <c:v>Llama-3.1-8B</c:v>
                </c:pt>
                <c:pt idx="4">
                  <c:v>Qwen2.5-3B</c:v>
                </c:pt>
                <c:pt idx="5">
                  <c:v>Llama-3-8B</c:v>
                </c:pt>
                <c:pt idx="6">
                  <c:v>Gemma-2-9B</c:v>
                </c:pt>
                <c:pt idx="7">
                  <c:v>Phi-3.5-Mini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0.75</c:v>
                </c:pt>
                <c:pt idx="1">
                  <c:v>0.68</c:v>
                </c:pt>
                <c:pt idx="2">
                  <c:v>0.65</c:v>
                </c:pt>
                <c:pt idx="3">
                  <c:v>0.6</c:v>
                </c:pt>
                <c:pt idx="4">
                  <c:v>0.56000000000000005</c:v>
                </c:pt>
                <c:pt idx="5">
                  <c:v>0.53</c:v>
                </c:pt>
                <c:pt idx="6">
                  <c:v>0.45</c:v>
                </c:pt>
                <c:pt idx="7">
                  <c:v>0.42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B1-4AC5-91A5-82FDDFA31E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Gain</c:v>
                </c:pt>
              </c:strCache>
            </c:strRef>
          </c:tx>
          <c:spPr>
            <a:solidFill>
              <a:srgbClr val="C45C26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Qwen2.5-7B</c:v>
                </c:pt>
                <c:pt idx="1">
                  <c:v>Qwen2-7B</c:v>
                </c:pt>
                <c:pt idx="2">
                  <c:v>Mistral-7B</c:v>
                </c:pt>
                <c:pt idx="3">
                  <c:v>Llama-3.1-8B</c:v>
                </c:pt>
                <c:pt idx="4">
                  <c:v>Qwen2.5-3B</c:v>
                </c:pt>
                <c:pt idx="5">
                  <c:v>Llama-3-8B</c:v>
                </c:pt>
                <c:pt idx="6">
                  <c:v>Gemma-2-9B</c:v>
                </c:pt>
                <c:pt idx="7">
                  <c:v>Phi-3.5-Mini</c:v>
                </c:pt>
              </c:strCache>
            </c:strRef>
          </c:cat>
          <c:val>
            <c:numRef>
              <c:f>Sheet1!$B$2:$B$9</c:f>
              <c:numCache>
                <c:formatCode>0%</c:formatCode>
                <c:ptCount val="8"/>
                <c:pt idx="0">
                  <c:v>0.14000000000000001</c:v>
                </c:pt>
                <c:pt idx="1">
                  <c:v>0.13</c:v>
                </c:pt>
                <c:pt idx="2">
                  <c:v>0.13</c:v>
                </c:pt>
                <c:pt idx="3">
                  <c:v>0.12</c:v>
                </c:pt>
                <c:pt idx="4">
                  <c:v>0.11</c:v>
                </c:pt>
                <c:pt idx="5">
                  <c:v>0.1</c:v>
                </c:pt>
                <c:pt idx="6">
                  <c:v>7.0000000000000007E-2</c:v>
                </c:pt>
                <c:pt idx="7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4A-4146-AE50-8629104AB1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Zero-Shot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0.19</c:v>
                </c:pt>
                <c:pt idx="1">
                  <c:v>0.82</c:v>
                </c:pt>
                <c:pt idx="2">
                  <c:v>0.65</c:v>
                </c:pt>
                <c:pt idx="3">
                  <c:v>0.42</c:v>
                </c:pt>
                <c:pt idx="4">
                  <c:v>0.35</c:v>
                </c:pt>
                <c:pt idx="5">
                  <c:v>0.28000000000000003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B3-4D96-82D4-7163D87120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Few-Shot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0.42</c:v>
                </c:pt>
                <c:pt idx="1">
                  <c:v>0.85</c:v>
                </c:pt>
                <c:pt idx="2">
                  <c:v>0.69</c:v>
                </c:pt>
                <c:pt idx="3">
                  <c:v>0.51</c:v>
                </c:pt>
                <c:pt idx="4">
                  <c:v>0.46</c:v>
                </c:pt>
                <c:pt idx="5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B3-4D96-82D4-7163D87120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</c:v>
                </c:pt>
              </c:strCache>
            </c:strRef>
          </c:tx>
          <c:spPr>
            <a:ln w="25400" cap="flat">
              <a:solidFill>
                <a:srgbClr val="1B3A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5C"/>
              </a:solidFill>
              <a:ln w="9525" cap="flat">
                <a:solidFill>
                  <a:srgbClr val="1B3A5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0.55000000000000004</c:v>
                </c:pt>
                <c:pt idx="2">
                  <c:v>0.38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C14-49F0-83E0-14C4B8AF32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</c:v>
                </c:pt>
              </c:strCache>
            </c:strRef>
          </c:tx>
          <c:spPr>
            <a:ln w="25400" cap="flat">
              <a:solidFill>
                <a:srgbClr val="4A7C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7C59"/>
              </a:solidFill>
              <a:ln w="9525" cap="flat">
                <a:solidFill>
                  <a:srgbClr val="4A7C5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0.82</c:v>
                </c:pt>
                <c:pt idx="1">
                  <c:v>0.52</c:v>
                </c:pt>
                <c:pt idx="2">
                  <c:v>0.35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C14-49F0-83E0-14C4B8AF324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</c:v>
                </c:pt>
              </c:strCache>
            </c:strRef>
          </c:tx>
          <c:spPr>
            <a:ln w="25400" cap="flat">
              <a:solidFill>
                <a:srgbClr val="C45C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5C26"/>
              </a:solidFill>
              <a:ln w="9525" cap="flat">
                <a:solidFill>
                  <a:srgbClr val="C45C26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0.78</c:v>
                </c:pt>
                <c:pt idx="1">
                  <c:v>0.42</c:v>
                </c:pt>
                <c:pt idx="2">
                  <c:v>0.28000000000000003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C14-49F0-83E0-14C4B8AF32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</c:v>
                </c:pt>
              </c:strCache>
            </c:strRef>
          </c:tx>
          <c:spPr>
            <a:ln w="25400" cap="flat">
              <a:solidFill>
                <a:srgbClr val="1B3A5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3A5C"/>
              </a:solidFill>
              <a:ln w="9525" cap="flat">
                <a:solidFill>
                  <a:srgbClr val="1B3A5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</c:v>
                </c:pt>
                <c:pt idx="1">
                  <c:v>0.57999999999999996</c:v>
                </c:pt>
                <c:pt idx="2">
                  <c:v>0.52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327-403D-B522-4F487288DA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</c:v>
                </c:pt>
              </c:strCache>
            </c:strRef>
          </c:tx>
          <c:spPr>
            <a:ln w="25400" cap="flat">
              <a:solidFill>
                <a:srgbClr val="4A7C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7C59"/>
              </a:solidFill>
              <a:ln w="9525" cap="flat">
                <a:solidFill>
                  <a:srgbClr val="4A7C5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</c:v>
                </c:pt>
                <c:pt idx="1">
                  <c:v>0.56000000000000005</c:v>
                </c:pt>
                <c:pt idx="2">
                  <c:v>0.51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327-403D-B522-4F487288DA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</c:v>
                </c:pt>
              </c:strCache>
            </c:strRef>
          </c:tx>
          <c:spPr>
            <a:ln w="25400" cap="flat">
              <a:solidFill>
                <a:srgbClr val="C45C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5C26"/>
              </a:solidFill>
              <a:ln w="9525" cap="flat">
                <a:solidFill>
                  <a:srgbClr val="C45C26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0</c:v>
                </c:pt>
                <c:pt idx="1">
                  <c:v>1</c:v>
                </c:pt>
                <c:pt idx="2">
                  <c:v>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0.68</c:v>
                </c:pt>
                <c:pt idx="1">
                  <c:v>0.62</c:v>
                </c:pt>
                <c:pt idx="2">
                  <c:v>0.71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1327-403D-B522-4F487288DA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.4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Mistral-7B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0.86</c:v>
                </c:pt>
                <c:pt idx="1">
                  <c:v>0.95</c:v>
                </c:pt>
                <c:pt idx="2">
                  <c:v>0.94</c:v>
                </c:pt>
                <c:pt idx="3">
                  <c:v>0.92</c:v>
                </c:pt>
                <c:pt idx="4">
                  <c:v>0.93</c:v>
                </c:pt>
                <c:pt idx="5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EC-4BAB-A9A3-70B18A27DB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Qwen2.5-7B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0.84</c:v>
                </c:pt>
                <c:pt idx="1">
                  <c:v>0.94</c:v>
                </c:pt>
                <c:pt idx="2">
                  <c:v>0.93</c:v>
                </c:pt>
                <c:pt idx="3">
                  <c:v>0.91</c:v>
                </c:pt>
                <c:pt idx="4">
                  <c:v>0.92</c:v>
                </c:pt>
                <c:pt idx="5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EC-4BAB-A9A3-70B18A27DB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Gemma-2-9B</c:v>
                </c:pt>
              </c:strCache>
            </c:strRef>
          </c:tx>
          <c:spPr>
            <a:solidFill>
              <a:srgbClr val="C45C2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Sheet1!$D$2:$D$7</c:f>
              <c:numCache>
                <c:formatCode>0.0</c:formatCode>
                <c:ptCount val="6"/>
                <c:pt idx="0">
                  <c:v>0.15</c:v>
                </c:pt>
                <c:pt idx="1">
                  <c:v>0.22</c:v>
                </c:pt>
                <c:pt idx="2">
                  <c:v>0.18</c:v>
                </c:pt>
                <c:pt idx="3">
                  <c:v>0.12</c:v>
                </c:pt>
                <c:pt idx="4">
                  <c:v>0.1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BEC-4BAB-A9A3-70B18A27DB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Sheet1!$B$2:$B$7</c:f>
              <c:numCache>
                <c:formatCode>0.0</c:formatCode>
                <c:ptCount val="6"/>
                <c:pt idx="0">
                  <c:v>0.95</c:v>
                </c:pt>
                <c:pt idx="1">
                  <c:v>0.98</c:v>
                </c:pt>
                <c:pt idx="2">
                  <c:v>0.97</c:v>
                </c:pt>
                <c:pt idx="3">
                  <c:v>0.99</c:v>
                </c:pt>
                <c:pt idx="4">
                  <c:v>1</c:v>
                </c:pt>
                <c:pt idx="5">
                  <c:v>0.98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48-4363-B88C-44F7C9A6B7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45C2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Remember</c:v>
                </c:pt>
                <c:pt idx="1">
                  <c:v>Understand</c:v>
                </c:pt>
                <c:pt idx="2">
                  <c:v>Apply</c:v>
                </c:pt>
                <c:pt idx="3">
                  <c:v>Analyze</c:v>
                </c:pt>
                <c:pt idx="4">
                  <c:v>Evaluate</c:v>
                </c:pt>
                <c:pt idx="5">
                  <c:v>Create</c:v>
                </c:pt>
              </c:strCache>
            </c:strRef>
          </c:cat>
          <c:val>
            <c:numRef>
              <c:f>Sheet1!$C$2:$C$7</c:f>
              <c:numCache>
                <c:formatCode>0.0</c:formatCode>
                <c:ptCount val="6"/>
                <c:pt idx="0">
                  <c:v>0.18</c:v>
                </c:pt>
                <c:pt idx="1">
                  <c:v>0.15</c:v>
                </c:pt>
                <c:pt idx="2">
                  <c:v>0.12</c:v>
                </c:pt>
                <c:pt idx="3">
                  <c:v>7.0000000000000007E-2</c:v>
                </c:pt>
                <c:pt idx="4">
                  <c:v>0.05</c:v>
                </c:pt>
                <c:pt idx="5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48-4363-B88C-44F7C9A6B78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82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F0C8-0882-00C8-0DF5-F0E2CBC89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F8DF1-5B4C-0795-C882-F04197126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996FA-A579-E28D-414E-2843EF326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B2C85-87C3-26DC-B30E-88C6D5FB5B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8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E5C58-4E24-8EBF-71A7-1A597274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56F84-B2FE-178C-1B80-FA4F4F6A5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18601A-6DF5-1389-C2C3-F21EAFB46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0927D-182A-4C5C-4243-FF12210464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903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79D72-FB6E-D5A4-C948-A38813C60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CB1FD-7849-56E5-7EE3-153F72D02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D7967-5EE0-A3EA-A5D2-BC727863C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8C55C-A37B-6AA8-68DC-2AAFE52E1F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45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ducationaldatamining.org/edm2022/proceedings/2022.EDM-short-papers.55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SteveLEEEEE/EDM2022CLO" TargetMode="Externa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3390/electronics14122312" TargetMode="External"/><Relationship Id="rId13" Type="http://schemas.openxmlformats.org/officeDocument/2006/relationships/hyperlink" Target="https://arxiv.org/abs/2509.25465" TargetMode="External"/><Relationship Id="rId18" Type="http://schemas.openxmlformats.org/officeDocument/2006/relationships/hyperlink" Target="https://doi.org/10.1371/journal.pone.0341317" TargetMode="External"/><Relationship Id="rId3" Type="http://schemas.openxmlformats.org/officeDocument/2006/relationships/hyperlink" Target="https://educationaldatamining.org/edm2022/proceedings/2022.EDM-short-papers.55/" TargetMode="External"/><Relationship Id="rId7" Type="http://schemas.openxmlformats.org/officeDocument/2006/relationships/hyperlink" Target="https://doi.org/10.1371/journal.pone.0230442" TargetMode="External"/><Relationship Id="rId12" Type="http://schemas.openxmlformats.org/officeDocument/2006/relationships/hyperlink" Target="https://aclanthology.org/2025.coling-main.350/" TargetMode="External"/><Relationship Id="rId17" Type="http://schemas.openxmlformats.org/officeDocument/2006/relationships/hyperlink" Target="https://foliamedica.bg/article/154338/download/pdf" TargetMode="External"/><Relationship Id="rId2" Type="http://schemas.openxmlformats.org/officeDocument/2006/relationships/notesSlide" Target="../notesSlides/notesSlide41.xml"/><Relationship Id="rId16" Type="http://schemas.openxmlformats.org/officeDocument/2006/relationships/hyperlink" Target="https://aclanthology.org/2025.emnlp-demos.39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16/j.sciaf.2023.e01799" TargetMode="External"/><Relationship Id="rId11" Type="http://schemas.openxmlformats.org/officeDocument/2006/relationships/hyperlink" Target="https://doi.org/10.1007/978-3-031-87647-9_2" TargetMode="External"/><Relationship Id="rId5" Type="http://schemas.openxmlformats.org/officeDocument/2006/relationships/hyperlink" Target="https://doi.org/10.1007/s00521-024-10241-y" TargetMode="External"/><Relationship Id="rId15" Type="http://schemas.openxmlformats.org/officeDocument/2006/relationships/hyperlink" Target="https://doi.org/10.1007/978-3-031-64299-9_12" TargetMode="External"/><Relationship Id="rId10" Type="http://schemas.openxmlformats.org/officeDocument/2006/relationships/hyperlink" Target="https://arxiv.org/abs/2504.14232" TargetMode="External"/><Relationship Id="rId19" Type="http://schemas.openxmlformats.org/officeDocument/2006/relationships/hyperlink" Target="https://doi.org/10.5061/dryad.9w0vt4brx" TargetMode="External"/><Relationship Id="rId4" Type="http://schemas.openxmlformats.org/officeDocument/2006/relationships/hyperlink" Target="https://doi.org/10.1016/j.caeai.2025.100404" TargetMode="External"/><Relationship Id="rId9" Type="http://schemas.openxmlformats.org/officeDocument/2006/relationships/hyperlink" Target="https://arxiv.org/abs/2511.10903" TargetMode="External"/><Relationship Id="rId14" Type="http://schemas.openxmlformats.org/officeDocument/2006/relationships/hyperlink" Target="https://doi.org/10.2196/52113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8848/2327-0144/CGP/v31i02/111-128" TargetMode="External"/><Relationship Id="rId13" Type="http://schemas.openxmlformats.org/officeDocument/2006/relationships/hyperlink" Target="https://huggingface.co/blog/gemma2" TargetMode="External"/><Relationship Id="rId18" Type="http://schemas.openxmlformats.org/officeDocument/2006/relationships/hyperlink" Target="https://www.datacamp.com/tutorial/fine-tuning-gemma-2" TargetMode="External"/><Relationship Id="rId3" Type="http://schemas.openxmlformats.org/officeDocument/2006/relationships/hyperlink" Target="https://doi.org/10.1016/j.dib.2024.110109" TargetMode="External"/><Relationship Id="rId7" Type="http://schemas.openxmlformats.org/officeDocument/2006/relationships/hyperlink" Target="https://doi.org/10.1142/S0129183125420136" TargetMode="External"/><Relationship Id="rId12" Type="http://schemas.openxmlformats.org/officeDocument/2006/relationships/hyperlink" Target="https://doi.org/10.1109/TLT.2025.3562298" TargetMode="External"/><Relationship Id="rId17" Type="http://schemas.openxmlformats.org/officeDocument/2006/relationships/hyperlink" Target="https://github.com/huggingface/transformers/issues/32110" TargetMode="External"/><Relationship Id="rId2" Type="http://schemas.openxmlformats.org/officeDocument/2006/relationships/notesSlide" Target="../notesSlides/notesSlide42.xml"/><Relationship Id="rId16" Type="http://schemas.openxmlformats.org/officeDocument/2006/relationships/hyperlink" Target="https://ai.google.dev/gemma/docs/core/huggingface_text_finetune_qlora" TargetMode="External"/><Relationship Id="rId20" Type="http://schemas.openxmlformats.org/officeDocument/2006/relationships/hyperlink" Target="https://ieeexplore.ieee.org/xpl/RecentIssue.jsp?punumber=462007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186/s12911-024-02444-z" TargetMode="External"/><Relationship Id="rId11" Type="http://schemas.openxmlformats.org/officeDocument/2006/relationships/hyperlink" Target="https://doi.org/10.1109/TLT.2024.3384765" TargetMode="External"/><Relationship Id="rId5" Type="http://schemas.openxmlformats.org/officeDocument/2006/relationships/hyperlink" Target="https://aclanthology.org/2021.hackashop-1.3/" TargetMode="External"/><Relationship Id="rId15" Type="http://schemas.openxmlformats.org/officeDocument/2006/relationships/hyperlink" Target="https://unsloth.ai/blog/gemma2" TargetMode="External"/><Relationship Id="rId10" Type="http://schemas.openxmlformats.org/officeDocument/2006/relationships/hyperlink" Target="https://doi.org/10.1109/TLT.2025.3537618" TargetMode="External"/><Relationship Id="rId19" Type="http://schemas.openxmlformats.org/officeDocument/2006/relationships/hyperlink" Target="https://www.sciencedirect.com/journal/computers-and-education-artificial-intelligence" TargetMode="External"/><Relationship Id="rId4" Type="http://schemas.openxmlformats.org/officeDocument/2006/relationships/hyperlink" Target="https://doi.org/10.3390/computers14120555" TargetMode="External"/><Relationship Id="rId9" Type="http://schemas.openxmlformats.org/officeDocument/2006/relationships/hyperlink" Target="https://doi.org/10.1016/j.caeai.2024.100213" TargetMode="External"/><Relationship Id="rId14" Type="http://schemas.openxmlformats.org/officeDocument/2006/relationships/hyperlink" Target="https://huggingface.co/google/gemma-2-9b/discussions/27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270000"/>
            <a:ext cx="5080000" cy="508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905000" y="5715000"/>
            <a:ext cx="4445000" cy="4445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70000" y="3810000"/>
            <a:ext cx="2540000" cy="0"/>
          </a:xfrm>
          <a:prstGeom prst="straightConnector1">
            <a:avLst/>
          </a:prstGeom>
          <a:noFill/>
          <a:ln w="254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70000" y="2286000"/>
            <a:ext cx="1371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Evaluation of LLMs on Bloom's Taxonomy Classification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540000" y="4064000"/>
            <a:ext cx="1117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Comparative Study on Open-Source LLMs using Monash CLO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0" y="4953000"/>
            <a:ext cx="2540000" cy="0"/>
          </a:xfrm>
          <a:prstGeom prst="straightConnector1">
            <a:avLst/>
          </a:prstGeom>
          <a:noFill/>
          <a:ln w="254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10000" y="5334000"/>
            <a:ext cx="863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Daniyal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0" y="5905500"/>
            <a:ext cx="863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3556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kern="0" spc="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4445000"/>
            <a:ext cx="1016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960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85000" y="1651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85000" y="2159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Bloom's Taxonomy, LLMs in Education, and Research Questions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0" y="2667000"/>
            <a:ext cx="9144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6000" y="292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85000" y="2921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Methodology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85000" y="3429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Monash CLO, Processing Pipeline, Models, and Metrics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0" y="3937000"/>
            <a:ext cx="9144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96000" y="419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85000" y="4191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Results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85000" y="4699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ML, Zero-Shot, and Few-Shot LLM Evaluation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0" y="5207000"/>
            <a:ext cx="9144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96000" y="546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85000" y="5461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QLoRA Fine-Tuning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85000" y="5969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Setup, Training Dynamics, and Comprehensive Results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0" y="6477000"/>
            <a:ext cx="9144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96000" y="673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85000" y="6731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Comparison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85000" y="7239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Positioning Against 2024-2026 State-of-the-Art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6000" y="7747000"/>
            <a:ext cx="9144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96000" y="800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85000" y="8001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 &amp; Future Work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85000" y="8509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Findings, Experimental Roadmap, and References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762500"/>
            <a:ext cx="762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12000" y="3302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2000" y="4191000"/>
            <a:ext cx="762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Bloom's Taxonomy cognitive framework, the evolving role of Large Language Models in educational assessment, and the research objectives driving this comprehensive evaluation study.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Bloom's Taxonomy: The Cognitive Framework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000" y="1397000"/>
            <a:ext cx="685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Benjamin Bloom's taxonomy (1956, revised 2001) organizes cognitive learning into six progressive tiers — the backbone of curriculum design worldwide.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2667000"/>
            <a:ext cx="6858000" cy="698500"/>
          </a:xfrm>
          <a:prstGeom prst="rect">
            <a:avLst/>
          </a:prstGeom>
          <a:solidFill>
            <a:srgbClr val="8B5E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2500" y="2667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56000" y="2667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design, compose, construct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429000"/>
            <a:ext cx="6858000" cy="698500"/>
          </a:xfrm>
          <a:prstGeom prst="rect">
            <a:avLst/>
          </a:prstGeom>
          <a:solidFill>
            <a:srgbClr val="D4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2500" y="3429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56000" y="3429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critique, judge, defend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191000"/>
            <a:ext cx="6858000" cy="69850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2500" y="4191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56000" y="4191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compare, contrast, examine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4953000"/>
            <a:ext cx="6858000" cy="698500"/>
          </a:xfrm>
          <a:prstGeom prst="rect">
            <a:avLst/>
          </a:prstGeom>
          <a:solidFill>
            <a:srgbClr val="7A8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500" y="4953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56000" y="4953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calculate, solve, demonstrate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5715000"/>
            <a:ext cx="6858000" cy="6985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52500" y="5715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556000" y="5715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explain, summarize, classify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477000"/>
            <a:ext cx="6858000" cy="698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2500" y="6477000"/>
            <a:ext cx="254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56000" y="6477000"/>
            <a:ext cx="381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define, list, identify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747000" y="2667000"/>
            <a:ext cx="381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Higher-order thinking 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2000" y="13970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Classification Challenge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82000" y="19050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academic course lists dozens of learning outcomes — each verb signals a different level of cognitive demand.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LLMs reliably sort these learning outcomes into Bloom's six levels?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study evaluates 13 open-source LLMs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zero-shot, few-shot, and fine-tuned settings on 18,773 labeled learning outcomes.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82000" y="4826000"/>
            <a:ext cx="3302000" cy="1270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382000" y="4889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18,773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2000" y="5524500"/>
            <a:ext cx="330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Samples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938000" y="4826000"/>
            <a:ext cx="3302000" cy="1270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1938000" y="48895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93.2%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938000" y="5524500"/>
            <a:ext cx="330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Accuracy (Mistral-7B)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Bloom (1956), Anderson &amp; Krathwohl (2001)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LLMs in Educational Assessment: The Landscape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24000" y="2540000"/>
            <a:ext cx="13208000" cy="0"/>
          </a:xfrm>
          <a:prstGeom prst="straightConnector1">
            <a:avLst/>
          </a:prstGeom>
          <a:noFill/>
          <a:ln w="254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22400" y="2438400"/>
            <a:ext cx="203200" cy="203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16000" y="1968500"/>
            <a:ext cx="101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2020-22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2794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ML Era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00" y="3175000"/>
            <a:ext cx="2286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Mohammed &amp; Omar (2020): TF-IDF + Word2Vec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Li/Sridhar (EDM 2022): BERT-base, F1 0.95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Shaikh et al. (2021): LSTM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0" y="2438400"/>
            <a:ext cx="203200" cy="203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80000" y="1968500"/>
            <a:ext cx="101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2023-24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99000" y="2794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BERT+XAI Era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45000" y="3175000"/>
            <a:ext cx="254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Sebbaq &amp; El Faddouli (2023): MTBERT + LIME, 97.7%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Chindukuri &amp; Sivanesan (2024): Transfer, 78.4%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IndoBERT: 97% on small sets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50400" y="2438400"/>
            <a:ext cx="203200" cy="203200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0" y="1968500"/>
            <a:ext cx="101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2025-26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2794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Era (Current)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09000" y="31750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Almatrafi &amp; Johri (2025): GPT-4, CAEAI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Kumar et al. (2025): SVM, 94%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300"/>
              </a:spcBef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Alammary &amp; Marey (2025): DistilBERT, 96%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3868400" y="2438400"/>
            <a:ext cx="203200" cy="203200"/>
          </a:xfrm>
          <a:prstGeom prst="ellipse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462000" y="1968500"/>
            <a:ext cx="101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Work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54000" y="2794000"/>
            <a:ext cx="228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Open-Weight LLM FT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700000" y="3175000"/>
            <a:ext cx="279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QLoRA fine-tuning on Monash CLO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LLMs evaluated (ZS + FS)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Mistral-7B: 93.22% accuracy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Broadest scope in literature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334000"/>
            <a:ext cx="14732000" cy="1397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6000" y="5435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Research Gap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6000" y="58166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2024-2026 paper has published QLoRA-fine-tuned open-weight LLM results on the Monash CLO dataset. Prior work used BERT-class encoders (Li 2022) or GPT-4 prompting (Almatrafi 2025).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study fills that gap with the broadest zero-shot/few-shot sweep and first published QLoRA results on CLO.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7048500"/>
            <a:ext cx="4572000" cy="1270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2000" y="7112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20+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77470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Studies Compared (2020-2026)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588000" y="7048500"/>
            <a:ext cx="4572000" cy="1270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88000" y="7112000"/>
            <a:ext cx="457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88000" y="7747000"/>
            <a:ext cx="457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Open-Source LLMs Evaluated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0414000" y="7048500"/>
            <a:ext cx="5080000" cy="1270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414000" y="7112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414000" y="77470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 Fine-Tuned with QLoRA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" y="87630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Li/Sridhar EDM 2022; Almatrafi &amp; Johri CAEAI 2025; Kumar et al. arXiv 2025; Alammary &amp; Marey MDPI 2025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Objectives &amp; Questions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14732000" cy="2032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6000" y="1651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05000" y="1651000"/>
            <a:ext cx="133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Zero-Shot &amp; Few-Shot LLM Performance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2095500"/>
            <a:ext cx="1333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 13 open-source instruction-tuned LLMs perform on Bloom's Taxonomy classification in zero-shot and few-shot settings? Can in-context learning bridge the gap to traditional ML baselines on the Monash CLO dataset?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13 models × 2 shot settings × 9 metrics = 234 evaluation points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3810000"/>
            <a:ext cx="14732000" cy="2032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6000" y="393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05000" y="3937000"/>
            <a:ext cx="133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QLoRA Fine-Tuning Beyond Baselines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05000" y="4381500"/>
            <a:ext cx="1333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QLoRA fine-tuning push open-weight LLM performance beyond traditional ML baselines and BERT-class models on the Monash CLO dataset? Which architectures respond best to parameter-efficient fine-tuning?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top performers × identical QLoRA config × per-class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096000"/>
            <a:ext cx="14732000" cy="2032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16000" y="6223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05000" y="6223000"/>
            <a:ext cx="1333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Positioning Against State-of-the-Art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05000" y="6667500"/>
            <a:ext cx="1333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does this work position against the 2024-2026 state-of-the-art in Bloom's Taxonomy classification? What is genuinely novel, what gaps remain, and what contributions would be most publishable?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20+ studies compared, novelty audit, venue analysis, roadmap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Experimental Design: Three-Phase Approach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651000"/>
            <a:ext cx="4572000" cy="5334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16000" y="1841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ML Baselines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6000" y="2946400"/>
            <a:ext cx="635000" cy="0"/>
          </a:xfrm>
          <a:prstGeom prst="straightConnector1">
            <a:avLst/>
          </a:prstGeom>
          <a:noFill/>
          <a:ln w="254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6000" y="3111500"/>
            <a:ext cx="406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 performance floor using classical approaches: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Multinomial Naive Bayes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Complement Naive Bayes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Logistic Regression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LSTM (Shaikh et al. 2021)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 the baseline that LLMs must exceed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61000" y="4064000"/>
            <a:ext cx="508000" cy="0"/>
          </a:xfrm>
          <a:prstGeom prst="straightConnector1">
            <a:avLst/>
          </a:prstGeom>
          <a:noFill/>
          <a:ln w="25400">
            <a:solidFill>
              <a:srgbClr val="7A8B9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96000" y="1651000"/>
            <a:ext cx="4572000" cy="5334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50000" y="1841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00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Prompting Evaluation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350000" y="2946400"/>
            <a:ext cx="635000" cy="0"/>
          </a:xfrm>
          <a:prstGeom prst="straightConnector1">
            <a:avLst/>
          </a:prstGeom>
          <a:noFill/>
          <a:ln w="254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0000" y="3111500"/>
            <a:ext cx="4064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13 open-source LLMs: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Zero-shot (no examples)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Few-shot (5 examples)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Models: Mistral, Llama, Qwen, Gemma, Phi, SmolLM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Identify top performers for fine-tuning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795000" y="4064000"/>
            <a:ext cx="508000" cy="0"/>
          </a:xfrm>
          <a:prstGeom prst="straightConnector1">
            <a:avLst/>
          </a:prstGeom>
          <a:noFill/>
          <a:ln w="25400">
            <a:solidFill>
              <a:srgbClr val="7A8B9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1430000" y="1651000"/>
            <a:ext cx="4064000" cy="5334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684000" y="1841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684000" y="2476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QLoRA Fine-Tuning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684000" y="2946400"/>
            <a:ext cx="635000" cy="0"/>
          </a:xfrm>
          <a:prstGeom prst="straightConnector1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684000" y="3111500"/>
            <a:ext cx="355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 top 3 performers: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Mistral-7B-Instruct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Qwen2.5-7B-Instruct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Gemma-2-9B-Instruct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Goal:</a:t>
            </a: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Maximize accuracy with minimal trainable parameters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7302500"/>
            <a:ext cx="14732000" cy="101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16000" y="7429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logic:</a:t>
            </a: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Phase 1 establishes the floor → Phase 2 identifies promising architectures → Phase 3 maximizes performance through efficient fine-tuning. Each phase feeds into the next.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762500"/>
            <a:ext cx="762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12000" y="3302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&amp; 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2000" y="419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Monash CLO Dataset, data processing pipeline, 13 open-source LLMs, and the nine evaluation metrics used for comprehensive assessment.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Monash CLO Dataset (EDM 2022)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3970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21,379 raw learning outcomes from </a:t>
            </a:r>
            <a:r>
              <a:rPr lang="en-US" sz="15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Li/Sridhar et al. (EDM 2022)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reduced to 18,773 clean single-label samples.</a:t>
            </a:r>
            <a:endParaRPr lang="en-US" sz="16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62000" y="2476500"/>
          <a:ext cx="6858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1"/>
          <p:cNvSpPr/>
          <p:nvPr/>
        </p:nvSpPr>
        <p:spPr>
          <a:xfrm>
            <a:off x="8128000" y="1397000"/>
            <a:ext cx="7366000" cy="4889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82000" y="1524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Statistics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2000" y="2032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rows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938000" y="2032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21,379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82000" y="2413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382000" y="2540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rows (single-label)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938000" y="2540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18,773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82000" y="2921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82000" y="3048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split (85%)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938000" y="3048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15,957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382000" y="3429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382000" y="3556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split (15%)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938000" y="3556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2,816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382000" y="3937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382000" y="4064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Bloom levels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1938000" y="4064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8382000" y="4445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382000" y="4572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Imbalance ratio (max/min)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938000" y="4572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5.7x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382000" y="4953000"/>
            <a:ext cx="6858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382000" y="5143500"/>
            <a:ext cx="685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2,607 rows dropped (multi-label / unlabelled). Class imbalance handled via stratified 85/15 split preserving label distribution.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762000" y="6604000"/>
            <a:ext cx="14732000" cy="762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1016000" y="6604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characteristic: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Large-scale real-world dataset with natural class imbalance — Remember class has only 886 samples (4.7%) while Understand has 5,079 (27%).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62000" y="87630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Li, Y. et al. (2022). EDM 2022. </a:t>
            </a:r>
            <a:r>
              <a:rPr lang="en-US" sz="1200" u="sng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Dataset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Processing Pipeline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46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Funnel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2032000"/>
            <a:ext cx="4318000" cy="1016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000" y="2057400"/>
            <a:ext cx="431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21,379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26670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rows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94000" y="3048000"/>
            <a:ext cx="0" cy="381000"/>
          </a:xfrm>
          <a:prstGeom prst="straightConnector1">
            <a:avLst/>
          </a:prstGeom>
          <a:noFill/>
          <a:ln w="25400">
            <a:solidFill>
              <a:srgbClr val="7A8B9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2000" y="3556000"/>
            <a:ext cx="4318000" cy="1016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2000" y="3581400"/>
            <a:ext cx="4318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18,773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41910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chunked parse (clean)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94000" y="4572000"/>
            <a:ext cx="0" cy="381000"/>
          </a:xfrm>
          <a:prstGeom prst="straightConnector1">
            <a:avLst/>
          </a:prstGeom>
          <a:noFill/>
          <a:ln w="25400">
            <a:solidFill>
              <a:srgbClr val="7A8B9E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2000" y="5080000"/>
            <a:ext cx="4318000" cy="1270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9000" y="5207000"/>
            <a:ext cx="1968500" cy="101600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9000" y="5232400"/>
            <a:ext cx="196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15,957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9000" y="5778500"/>
            <a:ext cx="196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(85%)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984500" y="5207000"/>
            <a:ext cx="1968500" cy="1016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84500" y="5232400"/>
            <a:ext cx="196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2,816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984500" y="5778500"/>
            <a:ext cx="196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(15%)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34000" y="2095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↓ 2,607 rows dropped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(multi-label / unlabelled)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28000" y="1460500"/>
            <a:ext cx="736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Processing Details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0" y="1905000"/>
            <a:ext cx="7366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Chunked streaming: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loaded in 2,000-row chunks for memory safety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filtering: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~12% of rows carried multiple Bloom labels — excluded for single-label classification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Stub removal: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Empty or malformed rows eliminated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Stratified split: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85/15 train/test preserving per-class proportions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co-occurrences dropped: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Evaluate-Analyze (522), Evaluate-Apply (399), Create-Evaluate (376)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8000" y="5334000"/>
            <a:ext cx="7366000" cy="177800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382000" y="54356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Template (Fine-Tuning)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82000" y="57785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are an expert educator. Classify the learning outcome into exactly one of: Remember, Understand, Apply, Analyze, Evaluate, or Create.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Input: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"Analyze the health economic implications of efficient perioperative practice."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Output: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Analyze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Open-Source LLMs Evaluated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5588002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Organization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Family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Selected for FT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Mistral-7B-Instruct-v0.2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Mistral AI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Mistral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Llama-3-8B-Instruct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Llama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Phi-3.5-Mini-4K-Instruct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Microsoft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3.8B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Qwen2-7B-Instruct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Alibaba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Llama-3.1-8B-Instruct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Llama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Qwen2.5-7B-Instruct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Alibaba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Qwen2.5-3B-Instruct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Alibaba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Qwen2.5-1.5B-Instruct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Alibaba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1.5B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SmolLM2-1.7B-Instruct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HuggingFace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SmolLM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Gemma-2-2B-Instruct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Google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Gemma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Gemma-2-9B-Instruct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Google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Gemma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Phi-3.5-Mini-Instruct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Microsoft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3.8B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914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Mistral-Nemo-Instruct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Mistral AI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12B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Mistral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7175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 criteria for fine-tuning: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Top 3 performers from zero-shot and few-shot experiments were selected for QLoRA fine-tuning to maximize the chance of achieving competitive results.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Evaluation Metrics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4699000" cy="152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15494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19050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Fraction of all predictions that were correct. Overall measure of model correctness.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15000" y="1460500"/>
            <a:ext cx="4699000" cy="152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05500" y="15494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 F1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05500" y="19050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F1 treating every prediction equally across all classes. Aggregated performance.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668000" y="1460500"/>
            <a:ext cx="4826000" cy="152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858500" y="15494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F1 (Primary)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858500" y="1905000"/>
            <a:ext cx="444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of each class's F1 score. Treats all classes equally — critical for imbalanced datasets.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175000"/>
            <a:ext cx="4699000" cy="152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52500" y="32639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F1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500" y="3619500"/>
            <a:ext cx="431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of class F1 scores weighted by class frequency. Accounts for class distribution.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15000" y="3175000"/>
            <a:ext cx="4699000" cy="152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05500" y="32639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Precision / Recall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05500" y="36195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precision and recall per class. Precision = correctness of positive predictions. Recall = coverage of true items.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68000" y="3175000"/>
            <a:ext cx="4826000" cy="152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858500" y="32639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Accuracy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58500" y="3619500"/>
            <a:ext cx="444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of per-class recall (equal weight per class). Measures equal recognition across all categories.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4889500"/>
            <a:ext cx="7239000" cy="152400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52500" y="49784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 (Matthews Correlation Coefficient)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52500" y="5334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Single-number correlation between predictions and true labels, ranging from -1 (worst) to +1 (best), 0 = random. Most robust metric for imbalanced classification.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55000" y="4889500"/>
            <a:ext cx="7239000" cy="152400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45500" y="49784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Cohen's Kappa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45500" y="53340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Agreement between predictions and truth adjusted for chance agreement. 1 = perfect agreement, 0 = chance-level agreement. Standard in educational measurement.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2000" y="6731000"/>
            <a:ext cx="14732000" cy="762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16000" y="6731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9 metrics?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Bloom's Taxonomy classification has 6 imbalanced classes. No single metric captures all aspects. Macro F1 and MCC are primary; Cohen's Kappa is the standard in educational research.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762500"/>
            <a:ext cx="762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12000" y="3302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Results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2000" y="419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Traditional machine learning baselines, zero-shot LLM evaluation across 13 models, and few-shot performance analysis.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Traditional Machine Learning Baselines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Chart 0"/>
          <p:cNvGraphicFramePr/>
          <p:nvPr/>
        </p:nvGraphicFramePr>
        <p:xfrm>
          <a:off x="762000" y="1460500"/>
          <a:ext cx="7620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8890000" y="1460500"/>
            <a:ext cx="6604000" cy="431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144000" y="1587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144000" y="2032000"/>
            <a:ext cx="609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Logistic Regression leads traditional ML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~72% accuracy and 0.58 Macro F1 — strongest linear baseline.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LSTM underperforms expectations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68% accuracy, suggesting sequential models don't capture the verb-pattern signal as effectively on this dataset.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Naive Bayes struggles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the high-dimensional text and class overlap, particularly on higher-order levels (Analyze, Evaluate, Create).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Large gap to BERT-class models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Li/Sridhar (2022) achieved F1 up to 0.95 with BERT-base on the same data.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6096000"/>
            <a:ext cx="14732000" cy="1016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16000" y="6096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established: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Traditional ML ceiling is ~72% accuracy / 0.58 Macro F1. This is the floor that LLMs must exceed to demonstrate value. BERT-class models (Li/Sridhar 2022) already reached F1 0.95 on this dataset.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Zero-Shot LLM Evaluation: Top Performers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Chart 0"/>
          <p:cNvGraphicFramePr/>
          <p:nvPr/>
        </p:nvGraphicFramePr>
        <p:xfrm>
          <a:off x="762000" y="1460500"/>
          <a:ext cx="8890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10033000" y="1460500"/>
            <a:ext cx="5461000" cy="4445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87000" y="1587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Zero-Shot Findings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87000" y="2032000"/>
            <a:ext cx="4953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Qwen2.5-7B at 61% accuracy, 0.48 Macro F1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 family dominates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4 Qwen variants in top 6, showing strong instruction-following for educational text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to traditional ML: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Best ZS LLM (61%) still trails Logistic Regression (72%)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 hurts: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Rare classes (Remember, Create) show very low recall in zero-shot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Gemma-2-9B underperforms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38% despite being largest model — early signal of architecture issues</a:t>
            </a:r>
            <a:endParaRPr lang="en-US" sz="1600" dirty="0"/>
          </a:p>
        </p:txBody>
      </p:sp>
      <p:graphicFrame>
        <p:nvGraphicFramePr>
          <p:cNvPr id="16" name="Chart 1"/>
          <p:cNvGraphicFramePr/>
          <p:nvPr/>
        </p:nvGraphicFramePr>
        <p:xfrm>
          <a:off x="762000" y="6223000"/>
          <a:ext cx="73660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8509000" y="6223000"/>
            <a:ext cx="6985000" cy="2159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8763000" y="63500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Zero-shot prompting alone is insufficient for reliable Bloom classification. Even the best open-weight LLMs fall 10+ percentage points below simple logistic regression. This motivates the fine-tuning phase.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Few-Shot LLM Evaluation (5-Shot)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Chart 0"/>
          <p:cNvGraphicFramePr/>
          <p:nvPr/>
        </p:nvGraphicFramePr>
        <p:xfrm>
          <a:off x="762000" y="1460500"/>
          <a:ext cx="8255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762000" y="5778500"/>
          <a:ext cx="82550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9398000" y="1460500"/>
            <a:ext cx="6096000" cy="6985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652000" y="15875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Few-Shot Analysis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9652000" y="2032000"/>
            <a:ext cx="5588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5-shot: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Qwen2.5-7B at 75% accuracy, 0.579 Macro F1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gains across all models: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+7 to +14 percentage points from zero-shot to few-shot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Qwen2.5-7B still leads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confirming it as the best candidate for fine-tuning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 to traditional ML narrowed: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75% now exceeds Logistic Regression (72%)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 still far from BERT-class SOTA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(F1 0.95) — fine-tuning needed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Selection for Phase 3: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Qwen2.5-7B (best overall)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Mistral-7B (strong, different arch)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Gemma-2-9B (largest, worth testing)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Zero-Shot vs Few-Shot: Class-Level Analysis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460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Qwen2.5-7B: Per-Class Recall (ZS → FS)</a:t>
            </a:r>
            <a:endParaRPr lang="en-US" sz="16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762000" y="1841500"/>
          <a:ext cx="7620000" cy="35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8890000" y="1460500"/>
            <a:ext cx="6604000" cy="3937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0" y="1587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Findings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44000" y="2032000"/>
            <a:ext cx="6096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 (rarest):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ZS 19% → FS 42%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Huge +23 point gain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few-shot helps recognize rare patterns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(2nd rarest):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ZS 28% → FS 50%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+22 point gain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creative levels benefit most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(most common):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ZS 65% → FS 69%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+4 points — frequent classes need less help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5715000"/>
            <a:ext cx="14732000" cy="1270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16000" y="5778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Few-shot prompting specifically helps the model find rare classes it was ignoring in zero-shot. This is a critical finding for imbalanced educational datasets — the classes that matter most pedagogically (higher-order thinking: Evaluate, Create) are also the rarest and benefit most from in-context examples. However, even few-shot performance remains far from the BERT-class ceiling (F1 0.95), motivating the QLoRA fine-tuning phase.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302500"/>
          <a:ext cx="14732000" cy="1143000"/>
        </p:xfrm>
        <a:graphic>
          <a:graphicData uri="http://schemas.openxmlformats.org/drawingml/2006/table">
            <a:tbl>
              <a:tblPr/>
              <a:tblGrid>
                <a:gridCol w="368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ZS Qwen2.5-7B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FS Qwen2.5-7B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Improvement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LogReg Baseline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BERT SOTA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Macro F1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0.579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+20.6%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762500"/>
            <a:ext cx="762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12000" y="3302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QLoRA Fine-Tuning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2000" y="419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setup, training dynamics, comprehensive results, the Gemma-2 paradox, and winner spotlight on Mistral-7B.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Fine-Tuning Setup: Three Contenders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4699000" cy="2921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1590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Mistral-7B-Instruct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5400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 AI | 32K vocabulary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2921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Trainable: 41.9M (0.57%)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Runtime: 1h 51m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2500" y="3683000"/>
            <a:ext cx="1524000" cy="3556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2500" y="3683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Winner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15000" y="1524000"/>
            <a:ext cx="4699000" cy="2921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055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05500" y="21590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Qwen2.5-7B-Instruct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05500" y="25400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Alibaba Cloud | 151K vocabulary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05500" y="2921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Trainable: 40.4M (0.53%)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Runtime: 1h 38m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05500" y="3683000"/>
            <a:ext cx="1524000" cy="35560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05500" y="3683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1524000"/>
            <a:ext cx="4826000" cy="2921000"/>
          </a:xfrm>
          <a:prstGeom prst="rect">
            <a:avLst/>
          </a:prstGeom>
          <a:solidFill>
            <a:srgbClr val="7A8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8585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>
                    <a:alpha val="25098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58500" y="21590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Gemma-2-9B-IT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58500" y="2540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DeepMind | 256K vocabulary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58500" y="2921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Trainable: 54.0M (0.58%)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Runtime: 1h 11m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858500" y="3683000"/>
            <a:ext cx="1524000" cy="3556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858500" y="3683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Failed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469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QLoRA Configuration (Identical for All)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143500"/>
          <a:ext cx="7112000" cy="330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Parameter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Quantization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4-bit NF4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LoRA Rank (r)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LoRA Alpha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Dropout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Epochs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2e-4 (cosine, 5% warmup)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Batch Size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 × 4 grad accum = 16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8382000" y="5143500"/>
            <a:ext cx="7112000" cy="1651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636000" y="5232400"/>
            <a:ext cx="660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8636000" y="55880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NVIDIA RTX A6000 (48 GB VRAM)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bf16 compute precision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Max sequence length: 256 tokens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382000" y="7048500"/>
            <a:ext cx="7112000" cy="139700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8636000" y="71374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design: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three models fine-tuned with identical configuration — same data, same QLoRA config, same 3 epochs. Only the base weights differ. This isolates architecture as the variable.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E1C921-EBCE-63AA-D9AF-BF69F64E5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06522D-09C1-6724-0E3F-A5B8DAA30621}"/>
              </a:ext>
            </a:extLst>
          </p:cNvPr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E427411-0C1B-44A8-262C-CDF78827946A}"/>
              </a:ext>
            </a:extLst>
          </p:cNvPr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0C9191-8DD0-0E25-9003-5EFFCDD3E520}"/>
              </a:ext>
            </a:extLst>
          </p:cNvPr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F73B9EB-17E0-28E0-3428-8F4FBDEE093C}"/>
              </a:ext>
            </a:extLst>
          </p:cNvPr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2B415B8-C9D2-633D-CC62-AED00E167BCB}"/>
              </a:ext>
            </a:extLst>
          </p:cNvPr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6E0656D-1C1F-67F5-3386-1921E06A3107}"/>
              </a:ext>
            </a:extLst>
          </p:cNvPr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C119068-E259-B003-5517-FCDC24BBC143}"/>
              </a:ext>
            </a:extLst>
          </p:cNvPr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917AD7C-F4EA-8FA7-C6FA-6DD93A9ACF3F}"/>
              </a:ext>
            </a:extLst>
          </p:cNvPr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61E1B5A-4D47-4395-8C55-AFB2B6B62E48}"/>
              </a:ext>
            </a:extLst>
          </p:cNvPr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Side-by-Side Comparison</a:t>
            </a:r>
            <a:endParaRPr lang="en-US" sz="2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AA87F34-BF8F-3D4E-35EB-4D8588E6ACA3}"/>
              </a:ext>
            </a:extLst>
          </p:cNvPr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876071F-8101-C23E-036D-90966656519D}"/>
              </a:ext>
            </a:extLst>
          </p:cNvPr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2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260AE9B-4AAF-D594-B3C2-3A6125EF7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762980"/>
              </p:ext>
            </p:extLst>
          </p:nvPr>
        </p:nvGraphicFramePr>
        <p:xfrm>
          <a:off x="457201" y="1463041"/>
          <a:ext cx="14630400" cy="6831873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4077188045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2978781600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107988641"/>
                    </a:ext>
                  </a:extLst>
                </a:gridCol>
              </a:tblGrid>
              <a:tr h="51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Dimension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EDM2022 paper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This work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4075005659"/>
                  </a:ext>
                </a:extLst>
              </a:tr>
              <a:tr h="902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Task framing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Multi-label: 6 independent binary classifiers (or 1 multi-label head)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Single-label multi-class: collapses one-hot to one label per example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2564259072"/>
                  </a:ext>
                </a:extLst>
              </a:tr>
              <a:tr h="902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Dataset rows used</a:t>
                      </a:r>
                      <a:endParaRPr lang="en-US" sz="1800" dirty="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21,380 (all rows kept, multi-label allowed)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18,773 — drops 2,607 rows with label_sum != 1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2877562015"/>
                  </a:ext>
                </a:extLst>
              </a:tr>
              <a:tr h="902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Split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80/20, random_state=666; for BERT a further 80/20 train/val inside the 80%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85/15, random_state=42, stratified by label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2596666332"/>
                  </a:ext>
                </a:extLst>
              </a:tr>
              <a:tr h="12890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Validation set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Separate val split (stratified) within training set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None</a:t>
                      </a:r>
                      <a:r>
                        <a:rPr lang="en-US" sz="1800"/>
                        <a:t> — eval_dataset = test_dataset (data leakage risk: best-model selection is done on the test set)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3710341317"/>
                  </a:ext>
                </a:extLst>
              </a:tr>
              <a:tr h="515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Seed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666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42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424347663"/>
                  </a:ext>
                </a:extLst>
              </a:tr>
              <a:tr h="902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Models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NB, SVM, LR, RF, XGBoost, bert-base-uncased (~110M)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Mistral-7B-Instruct-v0.3, Qwen2-7B-Instruct, gemma-2-9b-it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2444053317"/>
                  </a:ext>
                </a:extLst>
              </a:tr>
              <a:tr h="902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Fine-tuning method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Full fine-tune of BERT classification head; GridSearch for ML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800" dirty="0" err="1"/>
                        <a:t>QLoRA</a:t>
                      </a:r>
                      <a:r>
                        <a:rPr lang="fr-FR" sz="1800" dirty="0"/>
                        <a:t> 4-bit NF4, double-quant, bf16 </a:t>
                      </a:r>
                      <a:r>
                        <a:rPr lang="fr-FR" sz="1800" dirty="0" err="1"/>
                        <a:t>compute</a:t>
                      </a:r>
                      <a:endParaRPr lang="fr-FR" sz="1800" dirty="0"/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4020449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38464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64D59-20A6-99D1-FA17-4B78CDDB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AC92FD8-0F08-65C3-345B-0197C0A6A713}"/>
              </a:ext>
            </a:extLst>
          </p:cNvPr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E2E6BD-9F53-FF16-DE82-F52CAF147F5B}"/>
              </a:ext>
            </a:extLst>
          </p:cNvPr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816D31-2247-3A95-3D5C-70385AD4A1CA}"/>
              </a:ext>
            </a:extLst>
          </p:cNvPr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5F2ADD-9FF6-3FA7-3A57-7810AA1B4C7D}"/>
              </a:ext>
            </a:extLst>
          </p:cNvPr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F879F8-8256-7B7A-3E3F-762B72061567}"/>
              </a:ext>
            </a:extLst>
          </p:cNvPr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D504981-6850-1CA2-112F-16E9C73EE210}"/>
              </a:ext>
            </a:extLst>
          </p:cNvPr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D55DA0-19BE-D9FD-885F-A8F942D8CA8C}"/>
              </a:ext>
            </a:extLst>
          </p:cNvPr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B0DDFFE-9C27-94E1-2E50-45A1C2DD12BA}"/>
              </a:ext>
            </a:extLst>
          </p:cNvPr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1455C3-0219-C27B-6C07-EEA776FFC487}"/>
              </a:ext>
            </a:extLst>
          </p:cNvPr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Side-by-Side Comparison</a:t>
            </a:r>
            <a:endParaRPr lang="en-US" sz="28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ED9F97C-A8A5-FF50-0511-137B05885669}"/>
              </a:ext>
            </a:extLst>
          </p:cNvPr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63FFC906-53C9-F6EF-38D5-E654514F8357}"/>
              </a:ext>
            </a:extLst>
          </p:cNvPr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2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B6C46F-DD2D-74B8-97E3-D8721DAC4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528995"/>
              </p:ext>
            </p:extLst>
          </p:nvPr>
        </p:nvGraphicFramePr>
        <p:xfrm>
          <a:off x="404949" y="1567544"/>
          <a:ext cx="15343050" cy="697555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114350">
                  <a:extLst>
                    <a:ext uri="{9D8B030D-6E8A-4147-A177-3AD203B41FA5}">
                      <a16:colId xmlns:a16="http://schemas.microsoft.com/office/drawing/2014/main" val="504494544"/>
                    </a:ext>
                  </a:extLst>
                </a:gridCol>
                <a:gridCol w="5114350">
                  <a:extLst>
                    <a:ext uri="{9D8B030D-6E8A-4147-A177-3AD203B41FA5}">
                      <a16:colId xmlns:a16="http://schemas.microsoft.com/office/drawing/2014/main" val="3518449936"/>
                    </a:ext>
                  </a:extLst>
                </a:gridCol>
                <a:gridCol w="5114350">
                  <a:extLst>
                    <a:ext uri="{9D8B030D-6E8A-4147-A177-3AD203B41FA5}">
                      <a16:colId xmlns:a16="http://schemas.microsoft.com/office/drawing/2014/main" val="1418844089"/>
                    </a:ext>
                  </a:extLst>
                </a:gridCol>
              </a:tblGrid>
              <a:tr h="10569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Trainable params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Full BERT head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r=16, α=32, dropout 0.05 on q,k,v,o,gate,up,down — ~0.53–0.58% of params (~40–54 M)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2782933610"/>
                  </a:ext>
                </a:extLst>
              </a:tr>
              <a:tr h="42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Max seq length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55 tokens (binary BERT), 100 (MCML)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256 tokens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2379708742"/>
                  </a:ext>
                </a:extLst>
              </a:tr>
              <a:tr h="42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Batch size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64, no gradient accumulation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 × grad_accum 4 = effective 16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2501089786"/>
                  </a:ext>
                </a:extLst>
              </a:tr>
              <a:tr h="42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Epochs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3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3009785913"/>
                  </a:ext>
                </a:extLst>
              </a:tr>
              <a:tr h="739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LR / scheduler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HF defaults; warmup_steps=5, weight_decay=0.05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2e-4, cosine, </a:t>
                      </a:r>
                      <a:r>
                        <a:rPr lang="en-US" sz="1800" dirty="0" err="1"/>
                        <a:t>warmup_ratio</a:t>
                      </a:r>
                      <a:r>
                        <a:rPr lang="en-US" sz="1800" dirty="0"/>
                        <a:t>=0.05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3737958245"/>
                  </a:ext>
                </a:extLst>
              </a:tr>
              <a:tr h="42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Precision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fp32 / fp16 (defaults)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bf16 + 4-bit base weights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3622470932"/>
                  </a:ext>
                </a:extLst>
              </a:tr>
              <a:tr h="42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Eval / save strategy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steps, every 10 steps; best model on F1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epoch; best model on eval_loss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1127175171"/>
                  </a:ext>
                </a:extLst>
              </a:tr>
              <a:tr h="42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Early stopping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patience 10 (binary), 5 (MCML)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None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2842974108"/>
                  </a:ext>
                </a:extLst>
              </a:tr>
              <a:tr h="739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Input format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Raw text + LIWC + n-grams (for ML); raw text only (for BERT)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Instruction-style prompt with system message + ### Bloom's Level: continuation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1763598733"/>
                  </a:ext>
                </a:extLst>
              </a:tr>
              <a:tr h="739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Classification mechanism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Discriminative (logits over labels)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Generative — model emits a label word; post-hoc string match against BLOOM_LABELS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132236235"/>
                  </a:ext>
                </a:extLst>
              </a:tr>
              <a:tr h="422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Metrics reported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Accuracy, Cohen's κ, AUC, F1 (per Bloom level)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Accuracy, Weighted F1, Macro F1 (no κ, no AUC)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1405070334"/>
                  </a:ext>
                </a:extLst>
              </a:tr>
              <a:tr h="7398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Hyperparameter search</a:t>
                      </a:r>
                      <a:endParaRPr lang="en-US" sz="1800"/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GridSearchCV (3-fold) for every ML model, every Bloom level</a:t>
                      </a:r>
                    </a:p>
                  </a:txBody>
                  <a:tcPr marL="47173" marR="47173" marT="23587" marB="2358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None — single fixed config across all three LLMs</a:t>
                      </a:r>
                    </a:p>
                  </a:txBody>
                  <a:tcPr marL="47173" marR="47173" marT="23587" marB="23587" anchor="ctr"/>
                </a:tc>
                <a:extLst>
                  <a:ext uri="{0D108BD9-81ED-4DB2-BD59-A6C34878D82A}">
                    <a16:rowId xmlns:a16="http://schemas.microsoft.com/office/drawing/2014/main" val="3538858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76927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Training Dynamics: Loss Curves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Chart 0"/>
          <p:cNvGraphicFramePr/>
          <p:nvPr/>
        </p:nvGraphicFramePr>
        <p:xfrm>
          <a:off x="762000" y="1460500"/>
          <a:ext cx="7366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8382000" y="1460500"/>
          <a:ext cx="7366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0"/>
          <p:cNvSpPr/>
          <p:nvPr/>
        </p:nvSpPr>
        <p:spPr>
          <a:xfrm>
            <a:off x="762000" y="5588000"/>
            <a:ext cx="14732000" cy="2794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16000" y="5689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Curve Analysis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16000" y="61595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 — Healthy Convergence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016000" y="6540500"/>
            <a:ext cx="444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loss decreases steadily. Validation follows closely. No overfitting. Best generalization.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5842000" y="61595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 — Strong Convergence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5842000" y="6540500"/>
            <a:ext cx="444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training loss reduction. Validation stable. Good convergence. Strong final performance.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0668000" y="6159500"/>
            <a:ext cx="457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Gemma — The Warning Signal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0668000" y="6540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Lowest training loss (0.28) but validation </a:t>
            </a: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increases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epoch 1. Overfitting signal. Yet accuracy only 20%.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762000" y="7620000"/>
            <a:ext cx="14732000" cy="635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1016000" y="7620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insight: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Gemma's training loss was the lowest of the three. A loss curve alone would have declared it the winner. Class-level recall told the real story — always inspect per-class metrics, not just aggregate loss.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Fine-Tuning Leaderboard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4826000" cy="3556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1651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1st — BEST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095500"/>
            <a:ext cx="444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Mistral-7B-Instruct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6035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3048000"/>
            <a:ext cx="444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93.22%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2500" y="3810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2500" y="4191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W-F1: 0.9324 | M-F1: 0.9206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Trainable: 41.9M params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42000" y="1524000"/>
            <a:ext cx="4572000" cy="3556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32500" y="165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2nd — STRONG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2500" y="20955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Qwen2.5-7B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2500" y="26035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Alibaba Cloud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32500" y="3048000"/>
            <a:ext cx="419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92.47%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2500" y="3810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4191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W-F1: 0.9250 | M-F1: 0.9149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Trainable: 40.4M params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1524000"/>
            <a:ext cx="4826000" cy="3556000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858500" y="165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3rd — FAILED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58500" y="2095500"/>
            <a:ext cx="444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Gemma-2-9B-IT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58500" y="26035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DeepMind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58500" y="3048000"/>
            <a:ext cx="444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20.24%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58500" y="38100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58500" y="4191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W-F1: 0.3097 | M-F1: 0.3050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Trainable: 54.0M params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397500"/>
          <a:ext cx="14732000" cy="3047998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665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W-F1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M-F1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M-Prec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M-Recall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MCC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Kappa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Mistral-7B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93.22%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0.9324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0.9206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0.918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0.911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Qwen2.5-7B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92.47%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0.9149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0.919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0.903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0.902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Gemma-2-9B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20.24%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0.3097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0.3050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0.312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0.298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0.089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0.076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665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LogReg (baseline)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472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BERT SOTA (Li 2022)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Per-Class F1: Deep Performance Analysis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Chart 0"/>
          <p:cNvGraphicFramePr/>
          <p:nvPr/>
        </p:nvGraphicFramePr>
        <p:xfrm>
          <a:off x="762000" y="1460500"/>
          <a:ext cx="8890000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10033000" y="1460500"/>
            <a:ext cx="5461000" cy="4445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87000" y="1587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Class-Level Insights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87000" y="2057400"/>
            <a:ext cx="495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Mistral dominates across the board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287000" y="2387600"/>
            <a:ext cx="495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F1 on 4 of 6 classes. Most balanced recall-precision profile. F1 ≥ 0.86 even on the rarest class.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287000" y="3200400"/>
            <a:ext cx="495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Qwen matches on hardest levels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287000" y="3530600"/>
            <a:ext cx="495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Essentially tied with Mistral on Evaluate &amp; Create — the hardest creative levels. Strong cross-architecture performance.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287000" y="4343400"/>
            <a:ext cx="495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Gemma collapses above Remember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287000" y="4673600"/>
            <a:ext cx="495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drops from 0.83 → 0.12 (Analyze) and 0.10 (Evaluate). Despite being largest (9B), it catastrophically fails on higher-order levels.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6223000"/>
            <a:ext cx="14732000" cy="889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16000" y="6223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&gt; Size: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7B models (Mistral, Qwen) dramatically outperform the 9B Gemma. Architecture, chat templates, and tokenizer alignment matter more than raw parameter count for Bloom classification.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366000"/>
          <a:ext cx="14732000" cy="1143000"/>
        </p:xfrm>
        <a:graphic>
          <a:graphicData uri="http://schemas.openxmlformats.org/drawingml/2006/table">
            <a:tbl>
              <a:tblPr/>
              <a:tblGrid>
                <a:gridCol w="250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7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Remember (rare)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Understand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Evaluate (hard)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 (hard)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 Range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0.84-0.86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0.94-0.95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0.93-0.94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0.92-0.93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0.90-0.91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Gemma-2 Paradox: Precise Yet Wrong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2" name="Chart 0"/>
          <p:cNvGraphicFramePr/>
          <p:nvPr/>
        </p:nvGraphicFramePr>
        <p:xfrm>
          <a:off x="762000" y="1460500"/>
          <a:ext cx="7620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8763000" y="1460500"/>
            <a:ext cx="6731000" cy="3810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017000" y="1587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Diagnosis: Generation Collapse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017000" y="2032000"/>
            <a:ext cx="6223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Symptom: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Precision ≈ 1.0, Recall ≈ 0.06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Gemma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predict, it's almost always correct. But it only labels ~6% of higher-order outcomes.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cause — 4 interacting issues: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</a:t>
            </a: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Attention: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SDPA/FlashAttention incompatible with soft-capping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</a:t>
            </a: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EOS mismatch: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chat_template doesn't append &lt;eos&gt;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pad_token = eos_token: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masks stop token in loss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</a:t>
            </a: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Aggressive LR: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2e-4 too high for soft-capped arch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5588000"/>
            <a:ext cx="14732000" cy="292100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16000" y="5689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Fix (5 Steps)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16000" y="6096000"/>
            <a:ext cx="88900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 attn_implementation="eager" (disable SDPA/FlashAttention)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distinct pad token (never eos_token)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official chat template with explicit &lt;eos&gt; after &lt;end_of_turn&gt;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 learning rate to 5e-5 (from 2e-4)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bf16 (not fp16) — prevents overflow near soft-cap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0287000" y="6096000"/>
            <a:ext cx="4953000" cy="22225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541000" y="6223000"/>
            <a:ext cx="444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 value: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Documenting before/after as a reproducibility artifact has practical value for the community — suitable for TLT-style publication.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a known but poorly documented issue with Gemma-2 fine-tuning.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Winner Spotlight: Mistral-7B Full Breakdown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8890000" cy="3937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Support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Assessment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Remember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Excellent (rare)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Understand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762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Outstanding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761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Outstanding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347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Excellent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Evaluate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370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Excellent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Create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443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Excellent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Macro Avg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0.9206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2,816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10033000" y="1460500"/>
            <a:ext cx="5461000" cy="3937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287000" y="1587500"/>
            <a:ext cx="495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Metrics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87000" y="2095500"/>
            <a:ext cx="4953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93.22%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287000" y="2857500"/>
            <a:ext cx="495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795000" y="3302000"/>
            <a:ext cx="3937000" cy="0"/>
          </a:xfrm>
          <a:prstGeom prst="straightConnector1">
            <a:avLst/>
          </a:prstGeom>
          <a:noFill/>
          <a:ln w="12700">
            <a:solidFill>
              <a:srgbClr val="FFFFFF">
                <a:alpha val="25098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287000" y="34290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Weighted F1: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0.9324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287000" y="38735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F1: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0.9206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287000" y="43180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MCC: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0.912</a:t>
            </a: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| Kappa: </a:t>
            </a: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0.911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287000" y="4826000"/>
            <a:ext cx="495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Training: ~1h 51m on single A6000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" y="5715000"/>
            <a:ext cx="14732000" cy="1270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16000" y="5816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Mistral Won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16000" y="61595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Balanced: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F1 0.86-0.95 across all levels • </a:t>
            </a: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Rare class resilience: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Remember (133 samples) → F1 0.86 • </a:t>
            </a: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fit: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Sliding window attention for verb patterns • </a:t>
            </a: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Stable training: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hyperparameter tuning needed</a:t>
            </a:r>
            <a:endParaRPr lang="en-US" sz="1600" dirty="0"/>
          </a:p>
        </p:txBody>
      </p:sp>
      <p:sp>
        <p:nvSpPr>
          <p:cNvPr id="12" name="Shape 22"/>
          <p:cNvSpPr/>
          <p:nvPr/>
        </p:nvSpPr>
        <p:spPr>
          <a:xfrm>
            <a:off x="762000" y="7302500"/>
            <a:ext cx="14732000" cy="114300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16000" y="7302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vs. BERT SOTA (Li/Sridhar EDM 2022):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Mistral-7B at 0.9206 Macro F1 is within 3 percentage points of BERT-base's 0.95 — remarkable given that BERT was trained on this specific dataset with 6 binary heads, while Mistral uses only 0.57% trainable parameters via QLoRA. This demonstrates that modern open-weight LLMs can match specialized BERT-class encoders with minimal fine-tuning.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Live Predictions: Model in Action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371600"/>
            <a:ext cx="1016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Six unseen learning outcomes classified by Mistral-7B in under 100ms each on A6000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1905000"/>
            <a:ext cx="7366000" cy="101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19685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"Define the key terms used in thermodynamics."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000" y="19685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94500" y="1968500"/>
            <a:ext cx="127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2500" y="2476500"/>
            <a:ext cx="1270000" cy="2794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2500" y="2476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explain, summarize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1905000"/>
            <a:ext cx="7112000" cy="101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72500" y="1968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"Explain the principles of natural selection."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0" y="19685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287500" y="19685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72500" y="2476500"/>
            <a:ext cx="1270000" cy="2794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572500" y="2476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explain, principles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3175000"/>
            <a:ext cx="7366000" cy="101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2500" y="32385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"Calculate the acceleration of a falling object."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0000" y="32385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21500" y="32385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2500" y="3746500"/>
            <a:ext cx="1270000" cy="279400"/>
          </a:xfrm>
          <a:prstGeom prst="rect">
            <a:avLst/>
          </a:prstGeom>
          <a:solidFill>
            <a:srgbClr val="7A8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2500" y="3746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calculate, solve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0" y="3175000"/>
            <a:ext cx="7112000" cy="101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572500" y="3238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"Compare supervised and unsupervised ML."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0" y="32385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224000" y="3238500"/>
            <a:ext cx="114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72500" y="3746500"/>
            <a:ext cx="1270000" cy="279400"/>
          </a:xfrm>
          <a:prstGeom prst="rect">
            <a:avLst/>
          </a:prstGeom>
          <a:solidFill>
            <a:srgbClr val="D4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72500" y="3746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compare, contrast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4445000"/>
            <a:ext cx="7366000" cy="101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52500" y="4508500"/>
            <a:ext cx="533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"Critique a peer's experimental design."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50000" y="45085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21500" y="4508500"/>
            <a:ext cx="1143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52500" y="5016500"/>
            <a:ext cx="1270000" cy="279400"/>
          </a:xfrm>
          <a:prstGeom prst="rect">
            <a:avLst/>
          </a:prstGeom>
          <a:solidFill>
            <a:srgbClr val="D4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52500" y="50165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critique, judge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82000" y="4445000"/>
            <a:ext cx="7112000" cy="1016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572500" y="4508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"Design an algorithm for the travelling salesman problem."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3716000" y="4508500"/>
            <a:ext cx="50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287500" y="4508500"/>
            <a:ext cx="101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8B5E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72500" y="5016500"/>
            <a:ext cx="1270000" cy="279400"/>
          </a:xfrm>
          <a:prstGeom prst="rect">
            <a:avLst/>
          </a:prstGeom>
          <a:solidFill>
            <a:srgbClr val="8B5E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572500" y="50165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design, algorithm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62000" y="5842000"/>
            <a:ext cx="14732000" cy="127000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16000" y="5943600"/>
            <a:ext cx="1422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classify_learning_outcome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("Design a curriculum unit on climate change.")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</a:t>
            </a: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400" b="1" dirty="0">
                <a:solidFill>
                  <a:srgbClr val="8B5E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prediction completes in &lt; 100ms on NVIDIA RTX A6000 — deployment-ready latency for real-time educational applications.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62000" y="7429500"/>
            <a:ext cx="14732000" cy="1016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16000" y="7429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Deployment-ready: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93.22% accuracy, &lt;100ms inference, 7B parameters quantized to 4-bit (fits on consumer GPUs). The model correctly identifies cognitive levels from subtle verb cues — "calculate" → Apply, "critique" → Evaluate, "design" → Create.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762500"/>
            <a:ext cx="762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12000" y="3302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Literature Comparison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2000" y="419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Positioning this work against the 2024-2026 state-of-the-art in Bloom's Taxonomy classification.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Head-to-Head: SOTA Comparison (2020-2026)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6210300"/>
        </p:xfrm>
        <a:graphic>
          <a:graphicData uri="http://schemas.openxmlformats.org/drawingml/2006/table">
            <a:tbl>
              <a:tblPr/>
              <a:tblGrid>
                <a:gridCol w="29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086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Paper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Dataset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Accuracy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Li/Sridhar (EDM)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Monash CLO (21K, 6-level)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BERT-base, 6 binary heads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 0.95, k 0.93 — Original benchmark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This work (Mistral)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Monash CLO (18.7K)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QLoRA Mistral-7B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93.2%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First QLoRA on CLO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This work (Qwen)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Monash CLO (18.7K)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QLoRA Qwen2.5-7B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92.5%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Broadest ZS/FS sweep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Alammary &amp; Marey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Mohammed &amp; Omar 600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DistilBERT+TF-IDF Bayes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~96%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Current public SOTA (small set)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Kumar et al.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600 balanced, 6-level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SVM + synonym aug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94%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arXiv (not peer-reviewed)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Sebbaq &amp; El Faddouli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MOOC LOs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MTBERT-Attention + LIME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97.7%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Only prior Bloom work with XAI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Chindukuri &amp; Sivanesan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NCERT→Monash CLO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Transfer ensemble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78.4%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Cross-dataset transfer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Almatrafi &amp; Johri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~1,000 CLOs, 6-level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GPT-4 (rhetorical + CoT)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CAEAI — direct competitor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Baharuddin &amp; Naufal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449 Indonesian Qs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IndoBERT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Small, narrow — low generalizability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Huber &amp; Niklaus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General LLM benchmarks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GPT-4/4o, Claude-3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n/a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COLING — Create underrepresented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17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Chen et al. (BloomAPR)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Bloom-tiered APR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GPT-3.5-T, LLaMA-3.1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13-82%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Performance decays with Bloom depth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8382000"/>
            <a:ext cx="14732000" cy="2794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16000" y="8382000"/>
            <a:ext cx="142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Critical: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2024-2026 paper other than Chindukuri &amp; Sivanesan has re-benchmarked Monash CLO. This work is first to publish QLoRA-fine-tuned open-weight LLM results on it.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Novelty Audit: What is Genuinely Novel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14732000" cy="2095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2500" y="1714500"/>
            <a:ext cx="571500" cy="571500"/>
          </a:xfrm>
          <a:prstGeom prst="ellipse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17145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14500" y="1714500"/>
            <a:ext cx="134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Published QLoRA Fine-Tuning on Monash CLO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14500" y="2133600"/>
            <a:ext cx="1346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 CLO work used BERT-class encoders (Li 2022) or GPT-4 prompting (Almatrafi 2025) — no published QLoRA-fine-tuned open-weight LLM results existed on the Monash CLO dataset. This work demonstrates that parameter-efficient fine-tuning of 7B instruction-tuned models can achieve 93% accuracy, within 3 points of the BERT SOTA set in 2022.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873500"/>
            <a:ext cx="14732000" cy="2095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52500" y="4064000"/>
            <a:ext cx="571500" cy="571500"/>
          </a:xfrm>
          <a:prstGeom prst="ellipse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2500" y="40640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14500" y="4064000"/>
            <a:ext cx="134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Broadest Zero-Shot / Few-Shot Sweep on CLO Data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14500" y="4483100"/>
            <a:ext cx="1346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open-weight instruction-tuned LLMs evaluated across zero-shot and few-shot settings on CLO data — broader than any published study. Kumar et al. (2025) compared only four zero-shot LLMs on a small 600-item dataset. This systematic sweep reveals which model families and architectures are best suited for educational text classification.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223000"/>
            <a:ext cx="14732000" cy="20955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52500" y="6413500"/>
            <a:ext cx="571500" cy="571500"/>
          </a:xfrm>
          <a:prstGeom prst="ellipse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2500" y="64135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714500" y="6413500"/>
            <a:ext cx="1346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Documentation of Gemma-2-9B-IT Failure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14500" y="6832600"/>
            <a:ext cx="1346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precision ≈ 1.0, recall ≈ 0.06 failure pattern with complete root cause analysis (attention implementation, chat template mismatch, pad token, learning rate) is a useful reproducible artifact. While Gemma-2 issues are known in the community, this is the first systematic documentation in the Bloom classification context with a concrete 5-step fix — valuable for reproducibility-focused venues like IEEE TLT.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Novelty Audit: What is Not Novel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112000" cy="2032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250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460500" y="1714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"Many-Model Bake-Off" Pattern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159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pattern is exhausted: Mohammed &amp; Omar (2020), Kumar (2025), Alshanqiti/Alammary (2025), and three Indonesian IndoBERT papers (2023-2025) already cover the traditional-ML × deep-learning × LLM matrix comprehensively.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1524000"/>
            <a:ext cx="7366000" cy="2032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18500" y="1714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826500" y="1714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Monash CLO as Published Benchmark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18500" y="21590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dataset itself is already a published benchmark (Li/Sridhar EDM 2022). Simply re-benchmarking it with newer models is incremental unless accompanied by novel methodology or analysis.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810000"/>
            <a:ext cx="7112000" cy="2032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52500" y="400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460500" y="40005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Cross-Dataset Transfer to Monash CLO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500" y="4445000"/>
            <a:ext cx="673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Chindukuri &amp; Sivanesan (2024, Neural Computing &amp; Applications) already performed cross-dataset transfer onto Monash CLO at 78.44% accuracy. A plain cross-dataset study must outperform this or cover new directions.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3810000"/>
            <a:ext cx="7366000" cy="2032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318500" y="4000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201439" y="0"/>
                  <a:pt x="211485" y="6028"/>
                  <a:pt x="216694" y="15627"/>
                </a:cubicBezTo>
                <a:lnTo>
                  <a:pt x="377428" y="313283"/>
                </a:lnTo>
                <a:cubicBezTo>
                  <a:pt x="382414" y="322511"/>
                  <a:pt x="382191" y="333673"/>
                  <a:pt x="376833" y="342677"/>
                </a:cubicBezTo>
                <a:cubicBezTo>
                  <a:pt x="371475" y="351681"/>
                  <a:pt x="361727" y="357188"/>
                  <a:pt x="351234" y="357188"/>
                </a:cubicBezTo>
                <a:lnTo>
                  <a:pt x="29766" y="357188"/>
                </a:lnTo>
                <a:cubicBezTo>
                  <a:pt x="19273" y="357188"/>
                  <a:pt x="9599" y="351681"/>
                  <a:pt x="4167" y="342677"/>
                </a:cubicBezTo>
                <a:cubicBezTo>
                  <a:pt x="-1265" y="333673"/>
                  <a:pt x="-1414" y="322511"/>
                  <a:pt x="3572" y="313283"/>
                </a:cubicBezTo>
                <a:lnTo>
                  <a:pt x="164306" y="15627"/>
                </a:lnTo>
                <a:cubicBezTo>
                  <a:pt x="169515" y="6028"/>
                  <a:pt x="179561" y="0"/>
                  <a:pt x="190500" y="0"/>
                </a:cubicBezTo>
                <a:close/>
                <a:moveTo>
                  <a:pt x="190500" y="125016"/>
                </a:moveTo>
                <a:cubicBezTo>
                  <a:pt x="180603" y="125016"/>
                  <a:pt x="172641" y="132978"/>
                  <a:pt x="172641" y="142875"/>
                </a:cubicBezTo>
                <a:lnTo>
                  <a:pt x="172641" y="226219"/>
                </a:lnTo>
                <a:cubicBezTo>
                  <a:pt x="172641" y="236116"/>
                  <a:pt x="180603" y="244078"/>
                  <a:pt x="190500" y="244078"/>
                </a:cubicBezTo>
                <a:cubicBezTo>
                  <a:pt x="200397" y="244078"/>
                  <a:pt x="208359" y="236116"/>
                  <a:pt x="208359" y="226219"/>
                </a:cubicBezTo>
                <a:lnTo>
                  <a:pt x="208359" y="142875"/>
                </a:lnTo>
                <a:cubicBezTo>
                  <a:pt x="208359" y="132978"/>
                  <a:pt x="200397" y="125016"/>
                  <a:pt x="190500" y="125016"/>
                </a:cubicBezTo>
                <a:close/>
                <a:moveTo>
                  <a:pt x="210369" y="285750"/>
                </a:moveTo>
                <a:cubicBezTo>
                  <a:pt x="210821" y="278375"/>
                  <a:pt x="207143" y="271358"/>
                  <a:pt x="200820" y="267534"/>
                </a:cubicBezTo>
                <a:cubicBezTo>
                  <a:pt x="194498" y="263710"/>
                  <a:pt x="186576" y="263710"/>
                  <a:pt x="180254" y="267534"/>
                </a:cubicBezTo>
                <a:cubicBezTo>
                  <a:pt x="173932" y="271358"/>
                  <a:pt x="170254" y="278375"/>
                  <a:pt x="170706" y="285750"/>
                </a:cubicBezTo>
                <a:cubicBezTo>
                  <a:pt x="170254" y="293125"/>
                  <a:pt x="173932" y="300142"/>
                  <a:pt x="180254" y="303966"/>
                </a:cubicBezTo>
                <a:cubicBezTo>
                  <a:pt x="186576" y="307790"/>
                  <a:pt x="194498" y="307790"/>
                  <a:pt x="200820" y="303966"/>
                </a:cubicBezTo>
                <a:cubicBezTo>
                  <a:pt x="207143" y="300142"/>
                  <a:pt x="210821" y="293125"/>
                  <a:pt x="210369" y="285750"/>
                </a:cubicBezTo>
                <a:close/>
              </a:path>
            </a:pathLst>
          </a:cu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26500" y="4000500"/>
            <a:ext cx="647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Single-Label Classification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18500" y="4445000"/>
            <a:ext cx="698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Dropping the ~12% multi-label cases is a regression relative to Li/Sridhar (2022), who built multi-label classifiers from the start. The multi-label cases carry the most pedagogically interesting signal at cognitive boundaries.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159500"/>
            <a:ext cx="14732000" cy="1397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6000" y="6324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Honest Assessment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6731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absolute performance numbers (93.22% accuracy) are competitive but not SOTA. The novelty lies in the </a:t>
            </a: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(first QLoRA on CLO), </a:t>
            </a: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scope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(broadest LLM sweep), and </a:t>
            </a: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 depth</a:t>
            </a: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(failure case documentation) — not in benchmark-beating results.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747000"/>
            <a:ext cx="14732000" cy="889000"/>
          </a:xfrm>
          <a:prstGeom prst="rect">
            <a:avLst/>
          </a:prstGeom>
          <a:solidFill>
            <a:srgbClr val="E8ED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6000" y="7747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dangerous overlap: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Almatrafi &amp; Johri (2025, CAEAI) — same venue, same task, GPT-4 approach. A reviewer will ask: how does this differ? Answer: (a) open-weight fine-tuned vs closed GPT-4, (b) ~18.7K vs ~1K samples, (c) cross-dataset + multi-label potential.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Positioning vs Key Studies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5080001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740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Approach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Dataset Size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Result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Open?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vs. This Work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Almatrafi &amp; Johri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GPT-4 prompting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~1,000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 vs human labels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(closed)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We: 18x data, open-weight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Chindukuri 2024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Cross-dataset transfer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NCERT → CLO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78.44% (OOD)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We: +14.8 pp in-domain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Kumar et al. 2025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SVM + synonym aug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600 balanced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94% accuracy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We: 31x larger dataset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Sebbaq 2023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MTBERT + LIME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MOOC LOs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97.71%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They: XAI + higher accuracy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Li/Sridhar 2022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BERT-base binary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21,379 (full)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 0.95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Ceiling on same data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Alammary 2025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DistilBERT ensemble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600 (M&amp;O)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45C2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~96%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Different dataset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60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This Work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QLoRA (open LLM)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18,773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93.22%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Fully open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6794500"/>
            <a:ext cx="14732000" cy="177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16000" y="6896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Differentiators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16000" y="7302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Open-weight fine-tuned LLMs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closed GPT-4) — reproducible, deployable on consumer hardware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Largest dataset in Bloom LLM literature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~18.7K vs ~1K in Almatrafi, ~600 in Kumar/Alammary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First QLoRA + comprehensive failure analysis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methodological contribution beyond raw numbers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Critical Gaps in Current Research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4699000" cy="3302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159000"/>
            <a:ext cx="431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Explainable Fine-Tuned LLM Bloom Classifier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8956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2024-2026 paper couples a fine-tuned LLM with SHAP/attention/IG triangulation, verb-anchored symbolic overlay, and educator inter-rater validation.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Sebbaq 2023 had only LIME+attention and no educator panel.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0" y="1524000"/>
            <a:ext cx="4699000" cy="3302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055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05500" y="22225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Classification Unexplored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05500" y="2921000"/>
            <a:ext cx="431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~12% multi-label cases carry the most pedagogically interesting signal. Evaluate-Analyze (522), Evaluate-Apply (399), Create-Evaluate (376) co-occurrences are exactly where Bloom annotation is noisiest.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Krippendorff alpha = 0.67 for Bloom (Marzi 2024).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68000" y="1524000"/>
            <a:ext cx="4826000" cy="3302000"/>
          </a:xfrm>
          <a:prstGeom prst="rect">
            <a:avLst/>
          </a:prstGeom>
          <a:solidFill>
            <a:srgbClr val="7A8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8585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58500" y="22225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Cross-Dataset / Cross-Lingual Work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58500" y="2921000"/>
            <a:ext cx="4445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systematic leave-one-dataset-out evaluation across {Monash CLO, Yahya 600, Mohammed 141, NCERT, AAFAQ Arabic 5,009}. Cross-lingual dimension entirely unexplored for LLM-based Bloom.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5080000"/>
            <a:ext cx="7112000" cy="2159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2500" y="51435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78000" y="52070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Standardized Reproducible Benchmark Suite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2500" y="5651500"/>
            <a:ext cx="673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None of the 2024-2026 papers provide a standardized leaderboard with consistent splits, multi-label support, and faithfulness reporting. A HuggingFace harness for {Monash, Yahya, Mohammed, NCERT, AAFAQ} would be a valuable infrastructure contribution.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8000" y="5080000"/>
            <a:ext cx="7366000" cy="2159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18500" y="51435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144000" y="5207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Webb's Depth-of-Knowledge: Unoccupied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18500" y="5651500"/>
            <a:ext cx="698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automated Webb's Depth-of-Knowledge (DOK) classifier is essentially unoccupied in peer-reviewed NLP literature. DOK is the single largest open taxonomy slot in the 2024-2026 educational-NLP landscape — a clean "new contribution" opportunity.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7556500"/>
            <a:ext cx="14732000" cy="889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16000" y="7556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Opportunity:</a:t>
            </a: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five gaps represent clear paths to high-impact, publishable contributions. The highest-leverage is (A) explainability + educator validation — no existing work combines fine-tuned LLMs with systematic XAI and pedagogical expert review.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Recommended Contributions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460500"/>
            <a:ext cx="14732000" cy="165100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2500" y="1587500"/>
            <a:ext cx="7620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1587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1587500"/>
            <a:ext cx="1333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Pedagogically-Grounded Explainability </a:t>
            </a:r>
            <a:r>
              <a:rPr lang="en-US" sz="18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Educator Validation</a:t>
            </a:r>
            <a:endParaRPr lang="en-US" sz="1600" dirty="0">
              <a:solidFill>
                <a:srgbClr val="4A7C59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05000" y="2006600"/>
            <a:ext cx="1333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Highest-leverage contribution.</a:t>
            </a:r>
            <a:r>
              <a:rPr lang="en-US" sz="13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SHAP (TransSHAP/Partition) + Integrated Gradients + attention rollout on QLoRA models. Define Verb-Level Alignment Score. Run faithfulness metrics (ERASER). </a:t>
            </a:r>
            <a:r>
              <a:rPr lang="en-US" sz="1300" dirty="0">
                <a:solidFill>
                  <a:srgbClr val="4A7C59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 3-5 instructional-design experts to rate 30-60 CLOs, computing Fleiss' kappa and Cohen's weighted kappa. No 2024-2026 paper does this.</a:t>
            </a:r>
            <a:endParaRPr lang="en-US" sz="1600" dirty="0">
              <a:solidFill>
                <a:srgbClr val="4A7C59">
                  <a:alpha val="93333"/>
                </a:srgb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62000" y="3302000"/>
            <a:ext cx="7112000" cy="1651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52500" y="3429000"/>
            <a:ext cx="7620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2500" y="342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05000" y="34290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Restoration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2500" y="38735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Restore ~2,600 multi-label CLOs. One-vs-rest heads with thresholded per-class calibration. Report per-co-occurrence confusion on Evaluate-Analyze, Evaluate-Apply, Create-Evaluate pairs.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0" y="3302000"/>
            <a:ext cx="7366000" cy="1651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18500" y="3429000"/>
            <a:ext cx="7620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18500" y="34290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54A7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71000" y="34290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Cross-Dataset + Cross-Lingual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18500" y="38735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Leave-one-dataset-out over 6 datasets. Add Arabic AAFAQ for cross-lingual. Pair with Bloom-SOLO-DOK joint evaluation. Cleanest "new contribution" slot.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5143500"/>
            <a:ext cx="7112000" cy="1651000"/>
          </a:xfrm>
          <a:prstGeom prst="rect">
            <a:avLst/>
          </a:prstGeom>
          <a:solidFill>
            <a:srgbClr val="7A8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52500" y="5270500"/>
            <a:ext cx="762000" cy="381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52500" y="5270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905000" y="5270500"/>
            <a:ext cx="571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Gemma-2 Training Recipe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2500" y="57150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before/after fix as reproducibility artifact. Practical engineering value for TLT-style publication. Config that works and doesn't work on a widely-used model.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28000" y="5143500"/>
            <a:ext cx="7366000" cy="1651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18500" y="5270500"/>
            <a:ext cx="762000" cy="381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318500" y="5270500"/>
            <a:ext cx="7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71000" y="5270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Reproducible Benchmark Suite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18500" y="57150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HuggingFace leaderboard harness for 5 datasets with standardized splits, multi-label support, and SHAP-faithfulness reporting. Infrastructure contribution welcomed by CAEAI.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7112000"/>
            <a:ext cx="14732000" cy="1397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016000" y="7213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Publication Strategy</a:t>
            </a:r>
            <a:endParaRPr lang="en-US" sz="1600" dirty="0">
              <a:solidFill>
                <a:srgbClr val="1B3A5C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16000" y="7620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 the narrative around </a:t>
            </a:r>
            <a:r>
              <a:rPr lang="en-US" sz="14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 (A) + multi-label (B) + cross-dataset (C)</a:t>
            </a:r>
            <a:r>
              <a:rPr lang="en-US" sz="1400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three strong teeth. The 20-model bake-off lives in an appendix. Contribution A alone has no direct competitor in 2024-2026 literature and is the clearest path to CAEAI or IEEE TLT acceptance.</a:t>
            </a:r>
            <a:endParaRPr lang="en-US" sz="1600" dirty="0">
              <a:solidFill>
                <a:srgbClr val="1B3A5C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7DA20C-4D4B-410C-CE0A-4FAF7FD3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263653-E9EB-53F5-6299-D77C2BC63D05}"/>
              </a:ext>
            </a:extLst>
          </p:cNvPr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09664D-1CC0-353D-9481-E142CAB2B43B}"/>
              </a:ext>
            </a:extLst>
          </p:cNvPr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FDD57E2-C343-5F73-C1F9-3594B299B059}"/>
              </a:ext>
            </a:extLst>
          </p:cNvPr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7A8BE3-F909-BACC-8D2B-A95F318FEF89}"/>
              </a:ext>
            </a:extLst>
          </p:cNvPr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4E22B5-7F56-88F9-1791-39B350E9CC0A}"/>
              </a:ext>
            </a:extLst>
          </p:cNvPr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D2A499-2CFC-18A3-17AE-90B07AECC252}"/>
              </a:ext>
            </a:extLst>
          </p:cNvPr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4E8064E-AFA7-6515-AFE2-6B5F279A2750}"/>
              </a:ext>
            </a:extLst>
          </p:cNvPr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9BE3297-F0D5-0B29-9C71-E1531C413362}"/>
              </a:ext>
            </a:extLst>
          </p:cNvPr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97CA872-B221-DA02-F6FA-236017B81A44}"/>
              </a:ext>
            </a:extLst>
          </p:cNvPr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Recommended </a:t>
            </a:r>
            <a:r>
              <a:rPr lang="en-US" sz="2800" b="1" dirty="0">
                <a:solidFill>
                  <a:srgbClr val="1B3A5C"/>
                </a:solidFill>
                <a:latin typeface="QuattrocentoSans"/>
                <a:ea typeface="QuattrocentoSans" pitchFamily="34" charset="-122"/>
                <a:cs typeface="QuattrocentoSans" pitchFamily="34" charset="-120"/>
              </a:rPr>
              <a:t>Contributions</a:t>
            </a:r>
            <a:endParaRPr lang="en-US" sz="2800" dirty="0">
              <a:latin typeface="QuattrocentoSan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8CB63AE-673A-92AE-39C3-25FD00247CD3}"/>
              </a:ext>
            </a:extLst>
          </p:cNvPr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495BD25-AC59-AD6B-2766-F4B872CEF0D0}"/>
              </a:ext>
            </a:extLst>
          </p:cNvPr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32</a:t>
            </a:r>
            <a:endParaRPr lang="en-US" sz="12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E0752C7-AEE3-483B-D1D8-234CAE5BE23F}"/>
              </a:ext>
            </a:extLst>
          </p:cNvPr>
          <p:cNvGrpSpPr/>
          <p:nvPr/>
        </p:nvGrpSpPr>
        <p:grpSpPr>
          <a:xfrm>
            <a:off x="2311400" y="1486973"/>
            <a:ext cx="11341100" cy="7215959"/>
            <a:chOff x="2311400" y="1486973"/>
            <a:chExt cx="11341100" cy="7215959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7C648659-9594-6419-8F7F-4378A4D46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11400" y="1486973"/>
              <a:ext cx="11341100" cy="7215959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A80E35E-8823-1ACC-CFE9-955387FBCDBF}"/>
                </a:ext>
              </a:extLst>
            </p:cNvPr>
            <p:cNvSpPr/>
            <p:nvPr/>
          </p:nvSpPr>
          <p:spPr>
            <a:xfrm>
              <a:off x="4203700" y="2628900"/>
              <a:ext cx="8496300" cy="8128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338A012-D84E-3C2B-6B06-D9D0160BD5EE}"/>
                </a:ext>
              </a:extLst>
            </p:cNvPr>
            <p:cNvSpPr/>
            <p:nvPr/>
          </p:nvSpPr>
          <p:spPr>
            <a:xfrm>
              <a:off x="12192000" y="4673600"/>
              <a:ext cx="1130300" cy="520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61C5323-F491-765D-CF54-A06107FBE415}"/>
                </a:ext>
              </a:extLst>
            </p:cNvPr>
            <p:cNvSpPr/>
            <p:nvPr/>
          </p:nvSpPr>
          <p:spPr>
            <a:xfrm>
              <a:off x="11811000" y="5500173"/>
              <a:ext cx="1511300" cy="520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0B61600-64D3-FE7E-B866-EE7561FB1E96}"/>
                </a:ext>
              </a:extLst>
            </p:cNvPr>
            <p:cNvSpPr/>
            <p:nvPr/>
          </p:nvSpPr>
          <p:spPr>
            <a:xfrm>
              <a:off x="11811000" y="6274979"/>
              <a:ext cx="1511300" cy="520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B20EB36-7ABE-D637-A7FF-2C26B41E3B3F}"/>
                </a:ext>
              </a:extLst>
            </p:cNvPr>
            <p:cNvSpPr/>
            <p:nvPr/>
          </p:nvSpPr>
          <p:spPr>
            <a:xfrm>
              <a:off x="11811000" y="7159881"/>
              <a:ext cx="1511300" cy="520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AF11D7D5-AF2F-E071-2281-E66CCC2991BB}"/>
                </a:ext>
              </a:extLst>
            </p:cNvPr>
            <p:cNvSpPr/>
            <p:nvPr/>
          </p:nvSpPr>
          <p:spPr>
            <a:xfrm>
              <a:off x="11811000" y="7986454"/>
              <a:ext cx="1511300" cy="520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BFFDDD8-1F4E-D58A-DD48-7C9D99D2FC43}"/>
                </a:ext>
              </a:extLst>
            </p:cNvPr>
            <p:cNvSpPr/>
            <p:nvPr/>
          </p:nvSpPr>
          <p:spPr>
            <a:xfrm>
              <a:off x="11150600" y="3848100"/>
              <a:ext cx="2400300" cy="629722"/>
            </a:xfrm>
            <a:prstGeom prst="rect">
              <a:avLst/>
            </a:prstGeom>
            <a:solidFill>
              <a:srgbClr val="F8F8F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F74A74E-83C9-40DD-4BC9-EED04D1BA725}"/>
                </a:ext>
              </a:extLst>
            </p:cNvPr>
            <p:cNvSpPr/>
            <p:nvPr/>
          </p:nvSpPr>
          <p:spPr>
            <a:xfrm>
              <a:off x="2603500" y="1922978"/>
              <a:ext cx="1600200" cy="1391722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F034ED4-A490-4414-1075-60A19871DCFF}"/>
                </a:ext>
              </a:extLst>
            </p:cNvPr>
            <p:cNvSpPr/>
            <p:nvPr/>
          </p:nvSpPr>
          <p:spPr>
            <a:xfrm>
              <a:off x="7124700" y="7924800"/>
              <a:ext cx="1511300" cy="5823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E4600B5-82D8-E491-A4BA-8F7E4A4E6CD8}"/>
                </a:ext>
              </a:extLst>
            </p:cNvPr>
            <p:cNvSpPr/>
            <p:nvPr/>
          </p:nvSpPr>
          <p:spPr>
            <a:xfrm>
              <a:off x="9194800" y="2404601"/>
              <a:ext cx="3505200" cy="8128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5052017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Gemma-2 Fix: A Technical Contribution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4699000" cy="2540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16510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(Broken)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2095500"/>
            <a:ext cx="431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Accuracy: </a:t>
            </a:r>
            <a:r>
              <a:rPr lang="en-US" sz="14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20.24%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Precision: ~1.0 (when it predicts)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Recall: ~0.06 (almost silent)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loss: 0.28 (lowest!)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Misleadingly good loss masks catastrophic failure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88000" y="2540000"/>
            <a:ext cx="762000" cy="0"/>
          </a:xfrm>
          <a:prstGeom prst="straightConnector1">
            <a:avLst/>
          </a:prstGeom>
          <a:noFill/>
          <a:ln w="38100">
            <a:solidFill>
              <a:srgbClr val="4A7C59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77000" y="1524000"/>
            <a:ext cx="4699000" cy="254000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67500" y="16510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(Fixed — Expected)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67500" y="2095500"/>
            <a:ext cx="431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Accuracy: </a:t>
            </a:r>
            <a:r>
              <a:rPr lang="en-US" sz="1500" b="1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~85-90% (projected)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precision-recall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 generation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FFFFF">
                    <a:alpha val="9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5-step configuration fix enables proper fine-tuning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30000" y="1524000"/>
            <a:ext cx="4064000" cy="2540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620500" y="165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Contribution Value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620500" y="2095500"/>
            <a:ext cx="3683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Practical engineering value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Reproducibility artifact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Suitable for TLT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Community resource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1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 failed + fixed config + paired metrics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431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5-Step Fix (Detailed)</a:t>
            </a:r>
            <a:endParaRPr lang="en-US" sz="16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762500"/>
          <a:ext cx="14732000" cy="3683001"/>
        </p:xfrm>
        <a:graphic>
          <a:graphicData uri="http://schemas.openxmlformats.org/drawingml/2006/table">
            <a:tbl>
              <a:tblPr/>
              <a:tblGrid>
                <a:gridCol w="73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911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Issue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Root Cause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Fix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81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Attention failure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SDPA/FlashAttention incompatible with soft-capping (50.0)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attn_implementation="eager"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81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EOS mismatch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chat_template ends with &lt;end_of_turn&gt; not &lt;eos&gt;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Explicit &lt;eos&gt; after closing turn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81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Pad token masking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pad_token=eos_token masks stop token in loss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Distinct pad token (&lt;pad&gt;)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81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Learning 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2e-4 too aggressive for soft-capped 9B model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= 5e-5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81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 overflow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fp16 overflows near soft-cap on bf16-pretrained weights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bf16=True, fp16=False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762000" y="87630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HuggingFace Gemma-2 blog; Unsloth guide; transformers#32110; axolotl#1921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4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Venue Fit: CAEAI vs IEEE TLT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112000" cy="4826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52500" y="1676400"/>
            <a:ext cx="1524000" cy="381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500" y="16764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222500"/>
            <a:ext cx="673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Computers &amp; Education: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2500" y="2667000"/>
            <a:ext cx="673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CiteScore ~25 (2024) | SJR 5.2 | ~8 weeks to first decision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52500" y="3073400"/>
            <a:ext cx="635000" cy="0"/>
          </a:xfrm>
          <a:prstGeom prst="straightConnector1">
            <a:avLst/>
          </a:prstGeom>
          <a:noFill/>
          <a:ln w="254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52500" y="3238500"/>
            <a:ext cx="6731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CAEAI: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Direct precedent: Almatrafi &amp; Johri (2025) on GPT-4 + Bloom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Validates scope + defines what to surpass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Gold open-access (CC BY 4.0)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Accepts methodology-heavy with educational framing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for acceptance: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Educator-validation component (3-5 experts)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Pedagogical framing of XAI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Multi-label restoration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0" y="1524000"/>
            <a:ext cx="7366000" cy="4826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18500" y="1676400"/>
            <a:ext cx="1778000" cy="381000"/>
          </a:xfrm>
          <a:prstGeom prst="rect">
            <a:avLst/>
          </a:prstGeom>
          <a:solidFill>
            <a:srgbClr val="D4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18500" y="16764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8500" y="2222500"/>
            <a:ext cx="698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IEEE Transactions on Learning Technologies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18500" y="2667000"/>
            <a:ext cx="698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JIF 4.9 | Hybrid access | No-fee option available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8500" y="3073400"/>
            <a:ext cx="635000" cy="0"/>
          </a:xfrm>
          <a:prstGeom prst="straightConnector1">
            <a:avLst/>
          </a:prstGeom>
          <a:noFill/>
          <a:ln w="25400">
            <a:solidFill>
              <a:srgbClr val="D4A24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18500" y="3238500"/>
            <a:ext cx="6985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TLT: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Values engineering contributions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Recent LLM papers accepted (Wang 2024, Xavier 2025)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No-fee publication possible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4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 for acceptance: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Foreground technical contribution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QLoRA training recipe, Gemma-2 fix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Multi-label architecture, cross-dataset infra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Must frame as engineering, not pure evaluation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6667500"/>
            <a:ext cx="14732000" cy="1778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6000" y="6769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Recommended Dual Strategy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7175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 1 (CAEAI):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empirical + pedagogical paper — explainability + educator validation + multi-label + cross-dataset. Target the full contribution stack.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Paper 2 (TLT):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Shorter technical "training-recipes-for-Bloom-LLMs" system paper — Gemma-2 diagnosis as engineering core. Non-overlapping audience.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CAEAI if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educator validation is strong and budget allows OA APC. </a:t>
            </a:r>
            <a:r>
              <a:rPr lang="en-US" sz="15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TLT if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educator validation is thin but technical contribution is solid.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5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2000" y="2794000"/>
            <a:ext cx="49784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80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4191000"/>
            <a:ext cx="49784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kern="0" spc="4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SIX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4762500"/>
            <a:ext cx="762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12000" y="3302000"/>
            <a:ext cx="838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Conclusions &amp; Future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12000" y="4191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takeaways from the experiment, a concrete 14-week experimental roadmap, and full references.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6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2000" y="1524000"/>
            <a:ext cx="7112000" cy="1651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525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78000" y="16510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QLoRA Works at Scale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20955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&lt;1% of parameters lifted instruction-tuned models to 93% accuracy on a 6-way classification task. Parameter-efficient fine-tuning is viable for educational NLP.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1524000"/>
            <a:ext cx="7366000" cy="1651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18500" y="1651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0" y="1651000"/>
            <a:ext cx="615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Bigger ≠ Better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18500" y="20955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9B Gemma failed while both 7B models excelled. Architecture, chat templates, and tokenizer alignment matter more than raw parameter count for this task.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429000"/>
            <a:ext cx="7112000" cy="1651000"/>
          </a:xfrm>
          <a:prstGeom prst="rect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52500" y="355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78000" y="3556000"/>
            <a:ext cx="5905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Imbalance Was Survivable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500" y="4000500"/>
            <a:ext cx="673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 class had only 886 rows (&lt;5% of data) yet still achieved F1 ≥ 0.86 in both winning models. Stratified splitting + QLoRA handled the imbalance effectively.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3429000"/>
            <a:ext cx="7366000" cy="1651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318500" y="3556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>
                    <a:alpha val="18824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0" y="3556000"/>
            <a:ext cx="6159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Inspect Recall, Not Just Loss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18500" y="4000500"/>
            <a:ext cx="6985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Gemma's training loss was the lowest of the three. A loss curve alone would have declared it the winner. Class-level recall told the real story — a critical methodological lesson.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5397500"/>
            <a:ext cx="14732000" cy="1651000"/>
          </a:xfrm>
          <a:prstGeom prst="rect">
            <a:avLst/>
          </a:prstGeom>
          <a:solidFill>
            <a:srgbClr val="EDE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16000" y="54991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This Work Stands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16000" y="5905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work is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technically solid but sits in the middle of the 2024-2026 state-of-the-art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rather than above it. On Monash CLO, BERT-base already reached F1 0.95 (Li/Sridhar 2022). The value is not in benchmark-beating but in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methodological breadth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(first QLoRA on CLO, broadest LLM sweep, systematic failure analysis) and in </a:t>
            </a: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clear paths forward</a:t>
            </a: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(explainability + educator validation as the highest-leverage next step).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366000"/>
            <a:ext cx="14732000" cy="1143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16000" y="74295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93.22%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Accuracy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45000" y="74295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0.9206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Macro F1 (Mistral)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874000" y="74295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Evaluated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03000" y="7429500"/>
            <a:ext cx="393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0.57%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Trainable Parameters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7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Experimental Roadmap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524000" y="1651000"/>
            <a:ext cx="0" cy="6858000"/>
          </a:xfrm>
          <a:prstGeom prst="straightConnector1">
            <a:avLst/>
          </a:prstGeom>
          <a:noFill/>
          <a:ln w="25400">
            <a:solidFill>
              <a:srgbClr val="D5D0C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422400" y="1841500"/>
            <a:ext cx="203200" cy="203200"/>
          </a:xfrm>
          <a:prstGeom prst="ellipse">
            <a:avLst/>
          </a:prstGeom>
          <a:solidFill>
            <a:srgbClr val="4A7C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2000" y="2133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1-3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05000" y="1778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1: Data Consolidation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05000" y="21336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Restore ~2,600 multi-label CLOs. Acquire Yahya 600, Mohammed 141, AAFAQ Arabic, NCERT. Unify label schemas to Anderson &amp; Krathwohl revised Bloom.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22400" y="2921000"/>
            <a:ext cx="203200" cy="203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2000" y="32131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3-6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05000" y="2857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2: Modeling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05000" y="32131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Multi-label output heads (BCE-with-logits). Fix Gemma-2. Leave-one-dataset-out transfer. Report macro-F1, subset accuracy, Hamming loss, per-class F1.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422400" y="4000500"/>
            <a:ext cx="203200" cy="203200"/>
          </a:xfrm>
          <a:prstGeom prst="ellipse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2000" y="42926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5-8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05000" y="3937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3: Explainability (Overlapping)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05000" y="42926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 (TransSHAP), Integrated Gradients, attention rollout. ERASER sufficiency/comprehensiveness. Verb-Level Alignment Score. Counterfactual verb substitutions.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22400" y="5080000"/>
            <a:ext cx="203200" cy="203200"/>
          </a:xfrm>
          <a:prstGeom prst="ellipse">
            <a:avLst/>
          </a:prstGeom>
          <a:solidFill>
            <a:srgbClr val="D4A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000" y="5372100"/>
            <a:ext cx="825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6-10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05000" y="5016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A2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4: Educator Validation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05000" y="53721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Recruit 3-5 instructional-design experts. Rate 60-120 CLOs on label agreement, rationale plausibility, trustworthiness. Compute Fleiss' kappa, Cohen's weighted kappa, ICC.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422400" y="6159500"/>
            <a:ext cx="203200" cy="203200"/>
          </a:xfrm>
          <a:prstGeom prst="ellipse">
            <a:avLst/>
          </a:prstGeom>
          <a:solidFill>
            <a:srgbClr val="8B5E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000" y="6451600"/>
            <a:ext cx="825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9-12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905000" y="60960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8B5E8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5: Cross-Taxonomy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905000" y="64516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Evaluate on SOLO and DOK re-annotated subsets. Fit joint Bloom-SOLO-DOK models. DOK is the cleanest "new contribution" slot in educational NLP.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422400" y="7239000"/>
            <a:ext cx="203200" cy="203200"/>
          </a:xfrm>
          <a:prstGeom prst="ellipse">
            <a:avLst/>
          </a:prstGeom>
          <a:solidFill>
            <a:srgbClr val="7A8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2000" y="7531100"/>
            <a:ext cx="698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Wk 10-14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905000" y="717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7A8B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 6: Writing &amp; Venue-Shaping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905000" y="7531100"/>
            <a:ext cx="1333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Narrative around explainability + multi-label + cross-dataset (three teeth). 20-model bake-off in appendix. Target CAEAI primary, TLT secondary.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37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References — Part 1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460500"/>
            <a:ext cx="14732000" cy="704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[1] Li, Y., Rakovic, M., Poh, B. X., Gasevic, D., &amp; Chen, G. (2022).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Classification of Learning Objectives Based on Bloom's Taxonomy.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Proc. 15th Intl. Conf. on Educational Data Mining, 530-537.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EDM 2022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[2] Almatrafi, O., &amp; Johri, A.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Leveraging generative AI for course learning outcome categorization using Bloom's taxonomy.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Computers and Education: Artificial Intelligence, 8, 100404.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[3] Chindukuri, M., &amp; Sivanesan, S.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learning for Bloom's taxonomy-based question classification.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Neural Computing and Applications, 36(31), 19915-19937.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[4] Sebbaq, H., &amp; El Faddouli, N.-E. (2023).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MTBERT-Attention: An Explainable BERT Model based on Multi-Task Learning for Cognitive Text Classification.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Scientific African, 21, e01799.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[5] Sebbaq, H., &amp; El Faddouli, N.-E. (2022).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explainable attention-based bidirectional GRU model for pedagogical classification of MOOCs.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Interactive Technology and Smart Education, 19(4), 396-421.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[6] Mohammed, M., &amp; Omar, N. (2020).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 classification based on Bloom's taxonomy cognitive domain using modified TF-IDF and word2vec.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PLOS ONE, 15(3), e0230442.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7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[7] Alammary (Alshanqiti), A., &amp; Marey, S.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Towards Smarter Assessments: Enhancing Bloom's Taxonomy Classification with a Bayesian-Optimized Ensemble Model.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Electronics, 14(12), 2312.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8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[8] Kumar, R., Gulwani, D., &amp; Singh, S.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Analysis of Learning Outcomes and Exam Questions Based on Bloom's Taxonomy.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arXiv:2511.10903.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[9] Yaacoub, A., Da-Rugna, J., &amp; Assaghir, Z.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Assessing AI-Generated Questions' Alignment with Cognitive Frameworks.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IJCTE, 17(3), 114-125.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0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[10] Yaacoub, A., Assaghir, Z., &amp; Da-Rugna, J.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Depth Enhancement in AI-Driven Educational Tools via SOLO Taxonomy.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Springer LNNS, vol. 1346.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1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[11] Baharuddin, &amp; Naufal, M. F. (2023).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IndoBERT for Indonesian Exam Question Classification Based on Bloom's Taxonomy.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JISEBI, 9(2).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[12] Darfiansa, B., Fitriyani, A., &amp; Larasati, D.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Optimizing IndoBERT for Revised Bloom's Taxonomy Question Classification.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JISEBI.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[13] IJADIS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Multi-output IndoBERT for topic and cognitive-level classification.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[14] Huber, T., &amp; Niklaus, C.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LLMs meet Bloom's Taxonomy: A Cognitive View on Large Language Model Evaluations.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COLING 2025, 5211-5246.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[15] Chen et al.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BloomAPR: Bloom-structured dynamic evaluation for LLM-powered automated program repair.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arXiv:2509.25465.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[16] Herrmann-Werner, A., et al.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Assessing ChatGPT's Mastery of Bloom's Taxonomy.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JMIR Medical Education, 26, e52113.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[17] Silva et al.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ChatGPT on Brazilian medical residency questions stratified by Bloom's Taxonomy.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PMC12411524.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[18] Scaria, N., et al.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Educational Question Generation at Different Bloom's Skill Levels using LLMs.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AIED 2024.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[19] Li, J., et al. (2024/25).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AERA Chat: An Automated Explainable Educational Assessment System Built on LLMs.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arXiv:2412.13381.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EMNLP Demo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[20] Kiyak, Y. S., et al.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of LLM justifications in pediatric dentistry across Bloom levels.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Folia Medica, 67(4).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7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PDF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[21] Oral/Maxillofacial LLM-MCQ Bloom evaluation (2026).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PLOS ONE.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8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[22] Essam, M., et al.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AAFAQ: a multi-dimensional Arabic question dataset.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Scientific Data.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Dryad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solidFill>
            <a:srgbClr val="254A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05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 &amp; Methods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22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Baseline Results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QLoRA Fine-Tuning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33100" y="0"/>
            <a:ext cx="27178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Comparison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550900" y="0"/>
            <a:ext cx="2705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2000" y="698500"/>
            <a:ext cx="1143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References — Part 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" y="1231900"/>
            <a:ext cx="1270000" cy="0"/>
          </a:xfrm>
          <a:prstGeom prst="straightConnector1">
            <a:avLst/>
          </a:prstGeom>
          <a:noFill/>
          <a:ln w="381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2000" y="1460500"/>
            <a:ext cx="14732000" cy="704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[23] Zaman, K. A., et al.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Palta CS student question dataset.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in Brief.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[24] Liu et al.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Analytics with Scalable Bloom's Taxonomy Labeling of Socratic Chatbot Dialogues.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MDPI Computers, 14(12), 555.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[25] Kokalj, E., Skrlj, B., Lavrac, N., Pollak, S., &amp; Robnik-Sikonja, M. (2021).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BERT meets Shapley: Extending SHAP Explanations to Transformer-based Classifiers.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EACL Hackashop.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[26] Talebi, S., et al.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Exploring the performance and explainability of fine-tuned BERT models for neuroradiology protocol assignment.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BMC Medical Informatics, 24, 40.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[27] QwenScore+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Explainable AI for Education: Enhancing Essay Scoring via Rubric-Aligned CoT Prompting.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7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[28] Hmoud, M., &amp; Ali, S.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AIEd Bloom's Taxonomy.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IJTL, 31(2).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8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[29] Lee, G., Latif, E., Wu, X., Liu, N., &amp; Zhai, X.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Applying large language models and chain-of-thought for automatic scoring.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CAEAI, 6, 100213.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[30] Meyer, J., Jansen, T., Schiller, R., et al.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LLM-generated feedback and secondary students' text revision.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CAEAI, 6, 100199.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[31] Lang, Q., Wang, M., Yin, M., Liang, S., &amp; Song, W.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Education With Generative AI.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IEEE TLT, 18, 230-242.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0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[32] Wang, M., et al.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Unleashing ChatGPT's power in flipped classrooms via prompt engineering.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IEEE TLT, 17, 629-641.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[33] IEEE TLT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Teaching Plan Generation with GPT-4.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1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[34] Xavier, C., Rodrigues, L., et al. (2025).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educational text classification.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IEEE TLT, 18, 470-483.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[35] HuggingFace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Welcome Gemma 2: soft-capping and eager attention.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[36] HuggingFace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Hyperparameters — google/gemma-2-9b.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4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Discussion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[37] Unsloth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Gemma-2 fine-tuning guide.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[38] Google AI Dev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Fine-Tune Gemma using HF Transformers and QLoRA.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6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[39] GitHub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transformers#32110 — Gemma template won't end with eos_token.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7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Issue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[40] DataCamp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Fine-tuning Gemma-2 tutorial.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8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[41] CAEAI Journal.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9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Homepage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[42] IEEE TLT. </a:t>
            </a:r>
            <a:r>
              <a:rPr lang="en-US" sz="1300" u="sng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20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Recent Issues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[43] Waheed, A., et al. (2021).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BloomNet.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arXiv:2108.07249.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[44] Shanthamalar et al. (2024). </a:t>
            </a:r>
            <a:r>
              <a:rPr lang="en-US" sz="13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Taxonomy-based features for cross-domain Bloom classification.</a:t>
            </a: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ICCIDS 2024.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7A8B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-1270000"/>
            <a:ext cx="5080000" cy="5080000"/>
          </a:xfrm>
          <a:prstGeom prst="ellipse">
            <a:avLst/>
          </a:prstGeom>
          <a:solidFill>
            <a:srgbClr val="FFFFFF">
              <a:alpha val="3137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905000" y="5715000"/>
            <a:ext cx="4445000" cy="4445000"/>
          </a:xfrm>
          <a:prstGeom prst="ellipse">
            <a:avLst/>
          </a:prstGeom>
          <a:solidFill>
            <a:srgbClr val="FFFFFF">
              <a:alpha val="2353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540000" y="2286000"/>
            <a:ext cx="11176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kern="0" spc="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3556000"/>
            <a:ext cx="2540000" cy="0"/>
          </a:xfrm>
          <a:prstGeom prst="straightConnector1">
            <a:avLst/>
          </a:prstGeom>
          <a:noFill/>
          <a:ln w="25400">
            <a:solidFill>
              <a:srgbClr val="C45C2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05000" y="3937000"/>
            <a:ext cx="1244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of LLMs on Bloom's Taxonomy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40000" y="4572000"/>
            <a:ext cx="1117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Comparative Study on Open-Source LLMs using Monash CLO Dataset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0000" y="5461000"/>
            <a:ext cx="863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Muhammad Daniyal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10000" y="5969000"/>
            <a:ext cx="863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5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10000" y="685800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kern="0" spc="400" dirty="0">
                <a:solidFill>
                  <a:srgbClr val="C45C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5C2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9860</TotalTime>
  <Words>7655</Words>
  <Application>Microsoft Office PowerPoint</Application>
  <PresentationFormat>Custom</PresentationFormat>
  <Paragraphs>1279</Paragraphs>
  <Slides>43</Slides>
  <Notes>43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QuattrocentoSans</vt:lpstr>
      <vt:lpstr>Quattrocento Sans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of LLMs on Bloom's Taxonomy Classification</dc:title>
  <dc:subject>Evaluation of LLMs on Bloom's Taxonomy Classification</dc:subject>
  <dc:creator>Kimi</dc:creator>
  <cp:lastModifiedBy>Muhammad Daniyal</cp:lastModifiedBy>
  <cp:revision>4</cp:revision>
  <dcterms:created xsi:type="dcterms:W3CDTF">2026-04-23T04:43:07Z</dcterms:created>
  <dcterms:modified xsi:type="dcterms:W3CDTF">2026-05-21T11:06:04Z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{"Label":"Evaluation of LLMs on Bloom's Taxonomy Classification","ContentProducer":"001191110108MACG2KBH8F10000","ProduceID":"19db89e9-f962-883d-8000-0000a2105318","ReservedCode1":"","ContentPropagator":"001191110108MACG2KBH8F20000","PropagateID":"19db89e9-f962-883d-8000-0000a2105318","ReservedCode2":""}</vt:lpwstr>
  </property>
</Properties>
</file>
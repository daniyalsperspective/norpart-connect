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59E0B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90-4C60-A380-E272FE4F8C56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90-4C60-A380-E272FE4F8C56}"/>
              </c:ext>
            </c:extLst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90-4C60-A380-E272FE4F8C56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D90-4C60-A380-E272FE4F8C56}"/>
              </c:ext>
            </c:extLst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D90-4C60-A380-E272FE4F8C56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D90-4C60-A380-E272FE4F8C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F17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Understand</c:v>
                </c:pt>
                <c:pt idx="1">
                  <c:v>Apply</c:v>
                </c:pt>
                <c:pt idx="2">
                  <c:v>Create</c:v>
                </c:pt>
                <c:pt idx="3">
                  <c:v>Evaluate</c:v>
                </c:pt>
                <c:pt idx="4">
                  <c:v>Analyze</c:v>
                </c:pt>
                <c:pt idx="5">
                  <c:v>Remember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5079</c:v>
                </c:pt>
                <c:pt idx="1">
                  <c:v>5074</c:v>
                </c:pt>
                <c:pt idx="2">
                  <c:v>2955</c:v>
                </c:pt>
                <c:pt idx="3">
                  <c:v>2468</c:v>
                </c:pt>
                <c:pt idx="4">
                  <c:v>2311</c:v>
                </c:pt>
                <c:pt idx="5">
                  <c:v>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D90-4C60-A380-E272FE4F8C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Georgia"/>
              </a:rPr>
              <a:t>Training Loss (↓ lower is better)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Mistral train</c:v>
                </c:pt>
              </c:strCache>
            </c:strRef>
          </c:tx>
          <c:spPr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Epoch 0</c:v>
                </c:pt>
                <c:pt idx="1">
                  <c:v>Epoch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0.56759999999999999</c:v>
                </c:pt>
                <c:pt idx="1">
                  <c:v>0.2364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9C3-488C-9FF9-9F7A2180E9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Qwen2 train</c:v>
                </c:pt>
              </c:strCache>
            </c:strRef>
          </c:tx>
          <c:spPr>
            <a:ln w="3810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Epoch 0</c:v>
                </c:pt>
                <c:pt idx="1">
                  <c:v>Epoch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0.69189999999999996</c:v>
                </c:pt>
                <c:pt idx="1">
                  <c:v>0.39389999999999997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9C3-488C-9FF9-9F7A2180E9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Gemma-2 train</c:v>
                </c:pt>
              </c:strCache>
            </c:strRef>
          </c:tx>
          <c:spPr>
            <a:ln w="38100" cap="flat">
              <a:solidFill>
                <a:srgbClr val="F43F5E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43F5E"/>
              </a:solidFill>
              <a:ln w="9525" cap="flat">
                <a:solidFill>
                  <a:srgbClr val="F43F5E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Epoch 0</c:v>
                </c:pt>
                <c:pt idx="1">
                  <c:v>Epoch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0.65169999999999995</c:v>
                </c:pt>
                <c:pt idx="1">
                  <c:v>0.2833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9C3-488C-9FF9-9F7A2180E9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Georgia"/>
              </a:rPr>
              <a:t>Validation Loss (↓ lower is better)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Mistral val</c:v>
                </c:pt>
              </c:strCache>
            </c:strRef>
          </c:tx>
          <c:spPr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Epoch 0</c:v>
                </c:pt>
                <c:pt idx="1">
                  <c:v>Epoch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0.61219999999999997</c:v>
                </c:pt>
                <c:pt idx="1">
                  <c:v>0.61399999999999999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C32-400B-8447-357838E5F8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Qwen2 val</c:v>
                </c:pt>
              </c:strCache>
            </c:strRef>
          </c:tx>
          <c:spPr>
            <a:ln w="3810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Epoch 0</c:v>
                </c:pt>
                <c:pt idx="1">
                  <c:v>Epoch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0.72640000000000005</c:v>
                </c:pt>
                <c:pt idx="1">
                  <c:v>0.72250000000000003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C32-400B-8447-357838E5F8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Gemma-2 val</c:v>
                </c:pt>
              </c:strCache>
            </c:strRef>
          </c:tx>
          <c:spPr>
            <a:ln w="38100" cap="flat">
              <a:solidFill>
                <a:srgbClr val="F43F5E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43F5E"/>
              </a:solidFill>
              <a:ln w="9525" cap="flat">
                <a:solidFill>
                  <a:srgbClr val="F43F5E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Epoch 0</c:v>
                </c:pt>
                <c:pt idx="1">
                  <c:v>Epoch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0.6663</c:v>
                </c:pt>
                <c:pt idx="1">
                  <c:v>0.78859999999999997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C32-400B-8447-357838E5F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Mistral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0.86350000000000005</c:v>
                </c:pt>
                <c:pt idx="1">
                  <c:v>0.95430000000000004</c:v>
                </c:pt>
                <c:pt idx="2">
                  <c:v>0.93799999999999994</c:v>
                </c:pt>
                <c:pt idx="3">
                  <c:v>0.91910000000000003</c:v>
                </c:pt>
                <c:pt idx="4">
                  <c:v>0.93369999999999997</c:v>
                </c:pt>
                <c:pt idx="5">
                  <c:v>0.91520000000000001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C2-4163-949F-23B5E5DD01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Qwen2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0.86129999999999995</c:v>
                </c:pt>
                <c:pt idx="1">
                  <c:v>0.93979999999999997</c:v>
                </c:pt>
                <c:pt idx="2">
                  <c:v>0.92969999999999997</c:v>
                </c:pt>
                <c:pt idx="3">
                  <c:v>0.90780000000000005</c:v>
                </c:pt>
                <c:pt idx="4">
                  <c:v>0.93440000000000001</c:v>
                </c:pt>
                <c:pt idx="5">
                  <c:v>0.91639999999999999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C2-4163-949F-23B5E5DD01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Gemma-2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0.83460000000000001</c:v>
                </c:pt>
                <c:pt idx="1">
                  <c:v>0.40039999999999998</c:v>
                </c:pt>
                <c:pt idx="2">
                  <c:v>0.24279999999999999</c:v>
                </c:pt>
                <c:pt idx="3">
                  <c:v>0.1192</c:v>
                </c:pt>
                <c:pt idx="4">
                  <c:v>0.11700000000000001</c:v>
                </c:pt>
                <c:pt idx="5">
                  <c:v>0.4209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C2-4163-949F-23B5E5DD01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0F172A"/>
                </a:solidFill>
                <a:latin typeface="Georgia"/>
              </a:rPr>
              <a:t>Gemma-2-9B: Precision stays high, Recall collapses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0.876</c:v>
                </c:pt>
                <c:pt idx="1">
                  <c:v>0.97460000000000002</c:v>
                </c:pt>
                <c:pt idx="2">
                  <c:v>0.94640000000000002</c:v>
                </c:pt>
                <c:pt idx="3">
                  <c:v>1</c:v>
                </c:pt>
                <c:pt idx="4">
                  <c:v>1</c:v>
                </c:pt>
                <c:pt idx="5">
                  <c:v>0.91669999999999996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2D-4A47-876D-B4CF00DB30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0.79700000000000004</c:v>
                </c:pt>
                <c:pt idx="1">
                  <c:v>0.252</c:v>
                </c:pt>
                <c:pt idx="2">
                  <c:v>0.13930000000000001</c:v>
                </c:pt>
                <c:pt idx="3">
                  <c:v>6.3399999999999998E-2</c:v>
                </c:pt>
                <c:pt idx="4">
                  <c:v>6.2199999999999998E-2</c:v>
                </c:pt>
                <c:pt idx="5">
                  <c:v>0.27310000000000001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2D-4A47-876D-B4CF00DB30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Georgia"/>
              </a:rPr>
              <a:t>F1 score per Bloom level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 per 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C66-460B-AE94-FC0FFABDCFDC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C66-460B-AE94-FC0FFABDCFDC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C66-460B-AE94-FC0FFABDCFDC}"/>
              </c:ext>
            </c:extLst>
          </c:dPt>
          <c:dPt>
            <c:idx val="3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C66-460B-AE94-FC0FFABDCFDC}"/>
              </c:ext>
            </c:extLst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C66-460B-AE94-FC0FFABDCFDC}"/>
              </c:ext>
            </c:extLst>
          </c:dPt>
          <c:dPt>
            <c:idx val="5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C66-460B-AE94-FC0FFABDCFDC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C66-460B-AE94-FC0FFABDCFDC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C66-460B-AE94-FC0FFABDCFDC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C66-460B-AE94-FC0FFABDCFDC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66-460B-AE94-FC0FFABDCFDC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66-460B-AE94-FC0FFABDCFDC}"/>
                </c:ext>
              </c:extLst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C66-460B-AE94-FC0FFABDCFD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0.86350000000000005</c:v>
                </c:pt>
                <c:pt idx="1">
                  <c:v>0.95430000000000004</c:v>
                </c:pt>
                <c:pt idx="2">
                  <c:v>0.93799999999999994</c:v>
                </c:pt>
                <c:pt idx="3">
                  <c:v>0.91910000000000003</c:v>
                </c:pt>
                <c:pt idx="4">
                  <c:v>0.93369999999999997</c:v>
                </c:pt>
                <c:pt idx="5">
                  <c:v>0.91520000000000001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C66-460B-AE94-FC0FFABDCF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924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229514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440740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651967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" y="199339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" y="410565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" y="6217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6384" y="1691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380390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6384" y="591616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88136" y="138988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88136" y="350215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88136" y="561441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89888" y="108813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89888" y="32004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89888" y="531266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91640" y="78638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91640" y="289864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91640" y="501091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93392" y="48463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93392" y="259689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93392" y="47091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95144" y="1828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95144" y="229514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95144" y="440740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95144" y="651967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96896" y="199339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96896" y="410565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96896" y="6217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898648" y="1691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898648" y="380390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898648" y="591616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0" y="138988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0" y="350215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00400" y="561441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502152" y="108813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502152" y="32004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502152" y="531266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803904" y="78638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803904" y="289864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03904" y="501091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105656" y="48463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105656" y="259689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105656" y="47091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407408" y="1828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407408" y="229514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407408" y="440740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407408" y="651967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09160" y="199339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09160" y="410565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709160" y="6217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010912" y="1691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010912" y="380390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010912" y="591616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312664" y="138988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312664" y="350215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312664" y="561441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614416" y="108813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614416" y="32004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614416" y="531266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916168" y="78638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916168" y="289864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916168" y="501091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217920" y="48463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217920" y="259689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217920" y="47091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519672" y="1828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519672" y="229514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519672" y="440740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519672" y="651967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821424" y="199339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821424" y="410565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821424" y="6217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123176" y="1691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7123176" y="380390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123176" y="591616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424928" y="138988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424928" y="350215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424928" y="561441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726680" y="108813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726680" y="32004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726680" y="531266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8028432" y="78638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8028432" y="289864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028432" y="501091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8330184" y="48463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330184" y="259689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330184" y="47091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631936" y="1828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631936" y="229514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631936" y="440740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8631936" y="651967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8933688" y="199339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933688" y="410565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8933688" y="6217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9235440" y="1691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9235440" y="380390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9235440" y="591616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9537192" y="138988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537192" y="350215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9537192" y="561441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9838944" y="108813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838944" y="32004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9838944" y="531266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0140696" y="78638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0140696" y="289864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10140696" y="501091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0442448" y="48463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10442448" y="259689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10442448" y="47091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0744200" y="1828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0744200" y="229514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0744200" y="440740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0744200" y="651967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11045952" y="199339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11045952" y="410565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11045952" y="6217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11347704" y="1691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11347704" y="380390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1347704" y="591616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11649456" y="138988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11649456" y="350215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11649456" y="561441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1951208" y="108813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1951208" y="32004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1951208" y="531266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548640" y="2103120"/>
            <a:ext cx="91440" cy="2560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RESEARCH  •  FINE-TUNING PIPELINE</a:t>
            </a:r>
            <a:endParaRPr lang="en-US" sz="1300" dirty="0"/>
          </a:p>
        </p:txBody>
      </p:sp>
      <p:sp>
        <p:nvSpPr>
          <p:cNvPr id="130" name="Text 128"/>
          <p:cNvSpPr/>
          <p:nvPr/>
        </p:nvSpPr>
        <p:spPr>
          <a:xfrm>
            <a:off x="822960" y="2514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Bloom's Taxonomy</a:t>
            </a:r>
            <a:endParaRPr lang="en-US" sz="5400" dirty="0"/>
          </a:p>
        </p:txBody>
      </p:sp>
      <p:sp>
        <p:nvSpPr>
          <p:cNvPr id="131" name="Text 129"/>
          <p:cNvSpPr/>
          <p:nvPr/>
        </p:nvSpPr>
        <p:spPr>
          <a:xfrm>
            <a:off x="822960" y="3383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Fine-Tuning Pipeline</a:t>
            </a:r>
            <a:endParaRPr lang="en-US" sz="4400" dirty="0"/>
          </a:p>
        </p:txBody>
      </p:sp>
      <p:sp>
        <p:nvSpPr>
          <p:cNvPr id="132" name="Text 130"/>
          <p:cNvSpPr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three 7–9B parameter models to classify academic learning outcomes into six cognitive levels using QLoRA.</a:t>
            </a:r>
            <a:endParaRPr lang="en-US" sz="1600" dirty="0"/>
          </a:p>
        </p:txBody>
      </p:sp>
      <p:sp>
        <p:nvSpPr>
          <p:cNvPr id="133" name="Shape 131"/>
          <p:cNvSpPr/>
          <p:nvPr/>
        </p:nvSpPr>
        <p:spPr>
          <a:xfrm>
            <a:off x="822960" y="5486400"/>
            <a:ext cx="2377440" cy="822960"/>
          </a:xfrm>
          <a:prstGeom prst="rect">
            <a:avLst/>
          </a:prstGeom>
          <a:solidFill>
            <a:srgbClr val="16263D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96012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35" name="Text 133"/>
          <p:cNvSpPr/>
          <p:nvPr/>
        </p:nvSpPr>
        <p:spPr>
          <a:xfrm>
            <a:off x="960120" y="5961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3383280" y="5486400"/>
            <a:ext cx="2377440" cy="822960"/>
          </a:xfrm>
          <a:prstGeom prst="rect">
            <a:avLst/>
          </a:prstGeom>
          <a:solidFill>
            <a:srgbClr val="16263D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52044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21,379</a:t>
            </a:r>
            <a:endParaRPr lang="en-US" sz="2600" dirty="0"/>
          </a:p>
        </p:txBody>
      </p:sp>
      <p:sp>
        <p:nvSpPr>
          <p:cNvPr id="138" name="Text 136"/>
          <p:cNvSpPr/>
          <p:nvPr/>
        </p:nvSpPr>
        <p:spPr>
          <a:xfrm>
            <a:off x="3520440" y="5961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5943600" y="5486400"/>
            <a:ext cx="2377440" cy="822960"/>
          </a:xfrm>
          <a:prstGeom prst="rect">
            <a:avLst/>
          </a:prstGeom>
          <a:solidFill>
            <a:srgbClr val="16263D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608076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18.77K</a:t>
            </a:r>
            <a:endParaRPr lang="en-US" sz="2600" dirty="0"/>
          </a:p>
        </p:txBody>
      </p:sp>
      <p:sp>
        <p:nvSpPr>
          <p:cNvPr id="141" name="Text 139"/>
          <p:cNvSpPr/>
          <p:nvPr/>
        </p:nvSpPr>
        <p:spPr>
          <a:xfrm>
            <a:off x="6080760" y="5961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</a:t>
            </a:r>
            <a:endParaRPr lang="en-US" sz="1100" dirty="0"/>
          </a:p>
        </p:txBody>
      </p:sp>
      <p:sp>
        <p:nvSpPr>
          <p:cNvPr id="142" name="Shape 140"/>
          <p:cNvSpPr/>
          <p:nvPr/>
        </p:nvSpPr>
        <p:spPr>
          <a:xfrm>
            <a:off x="8503920" y="5486400"/>
            <a:ext cx="2377440" cy="822960"/>
          </a:xfrm>
          <a:prstGeom prst="rect">
            <a:avLst/>
          </a:prstGeom>
          <a:solidFill>
            <a:srgbClr val="16263D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864108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93.2%</a:t>
            </a:r>
            <a:endParaRPr lang="en-US" sz="2600" dirty="0"/>
          </a:p>
        </p:txBody>
      </p:sp>
      <p:sp>
        <p:nvSpPr>
          <p:cNvPr id="144" name="Text 142"/>
          <p:cNvSpPr/>
          <p:nvPr/>
        </p:nvSpPr>
        <p:spPr>
          <a:xfrm>
            <a:off x="8641080" y="5961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100" dirty="0"/>
          </a:p>
        </p:txBody>
      </p:sp>
      <p:sp>
        <p:nvSpPr>
          <p:cNvPr id="145" name="Text 143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 RTX A6000 • 48GB VRAM • QLoRA 4-bit NF4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Classifying what students actually learn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academic course lists dozens of learning outcomes 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“Define, explain, calculate, analyze, design…”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verb signals a different level of cognitive demand. Benjamin Bloom's taxonomy (1956, revised 2001) organizes these into six progressive tiers — a backbone of curriculum design.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760720" cy="2286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73152" cy="2286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34340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7-billion parameter open model, fine-tuned on ~16K examples, reliably sort learning outcomes into Bloom's six levels?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5532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two can. One spectacularly can't.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43800" y="1600200"/>
            <a:ext cx="3291840" cy="6217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80960" y="160020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80960" y="160020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compose, construct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88352" y="2313432"/>
            <a:ext cx="3602736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25512" y="2313432"/>
            <a:ext cx="3419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25512" y="2313432"/>
            <a:ext cx="3419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critique, judge, defend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32904" y="3026664"/>
            <a:ext cx="3913632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0064" y="3026664"/>
            <a:ext cx="3730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70064" y="3026664"/>
            <a:ext cx="3730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compare, contrast, examine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77456" y="3739896"/>
            <a:ext cx="422452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14616" y="3739896"/>
            <a:ext cx="40416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14616" y="3739896"/>
            <a:ext cx="40416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calculate, solve, demonstrate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22008" y="4453128"/>
            <a:ext cx="453542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59168" y="4453128"/>
            <a:ext cx="4352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59168" y="4453128"/>
            <a:ext cx="4352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summarize, classify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5166360"/>
            <a:ext cx="4846320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3720" y="516636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516636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define, list, identify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0" y="1280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thinking ↑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6035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Lower-order recall 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CONTENDERS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instruction-tuned open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fine-tuned identically: same data, same QLoRA config, same 3 epochs. Only the base weights differ.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Mistral-7B-Instruct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542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063240"/>
            <a:ext cx="1371600" cy="5029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4028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41.9M (0.57%)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2336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32,768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6908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51m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1480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5212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4-bit NF4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34840" y="1828800"/>
            <a:ext cx="36576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214884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4068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Qwen2-7B-Instruct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40680" y="2542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063240"/>
            <a:ext cx="1371600" cy="50292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7B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Trainable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978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40.4M (0.53%)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42336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0916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9788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151,643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09160" y="46908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0916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9788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38m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09160" y="51480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09160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97880" y="5212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4-bit NF4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2104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321040" y="1828800"/>
            <a:ext cx="3657600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595360" y="2148840"/>
            <a:ext cx="640080" cy="64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953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32688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Gemma-2-9B-IT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326880" y="2542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595360" y="3063240"/>
            <a:ext cx="1371600" cy="502920"/>
          </a:xfrm>
          <a:prstGeom prst="rect">
            <a:avLst/>
          </a:prstGeom>
          <a:solidFill>
            <a:srgbClr val="F43F5E">
              <a:alpha val="1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59536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9B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001268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59536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Trainable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7840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54.0M (0.58%)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595360" y="42336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59536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78408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256,000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595360" y="46908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59536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78408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11m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595360" y="51480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595360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784080" y="5212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4-bit NF4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18,773 labelled learning outcomes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from sample_full.csv in 2,000-row chunks — a memory-safe pipeline that drops multi-labelled and stub rows.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FUNNEL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21,379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999232"/>
            <a:ext cx="393192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992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chunked parse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9992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18,773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34440" y="3712464"/>
            <a:ext cx="320040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37124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split (85%)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7124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15,957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54480" y="4425696"/>
            <a:ext cx="2560320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91640" y="44256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 (15%)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44256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2,816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577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2,607 rows dropped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(multi-label / unlabelled)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1920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DISTRIBUTION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760720" y="224028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5760720" y="5989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Remember is ~5.7× rarer than Understand. Handled via stratified 85/15 split.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RECIPE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QLoRA: memory-efficient fine-tuning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quantised weights + low-rank adapters. Fits 9B models into 48 GB with room to train.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60320" cy="1143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7249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passes over 15,957 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560320" cy="1143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20116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26771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× 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27249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batch = 16 (grad accum)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2560320" cy="1143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337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5935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2e-4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40507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schedule, 5% warmup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246120"/>
            <a:ext cx="2560320" cy="1143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91840" y="324612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20440" y="3337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SEQ. LEN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35935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20440" y="40507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fit comfortably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2560320" cy="1143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6634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 RANK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9194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16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77240" y="53766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32, dropout 0.05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4572000"/>
            <a:ext cx="2560320" cy="1143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91840" y="457200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20440" y="46634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20440" y="49194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bf16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520440" y="53766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NF4 double-quant, bf16 compute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1920240"/>
            <a:ext cx="5623560" cy="4572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55080" y="2103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TEMPLATE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237744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Instruction-style supervised fine-tuning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55080" y="2834640"/>
            <a:ext cx="5074920" cy="3383280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92240" y="29260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System: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expert educator. Classify the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following academic learning outcome into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 one of Bloom's Taxonomy cognitive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levels: Remember, Understand, Apply, Analyze,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Evaluate, or Create.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Learning Outcome: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 the health economic implications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efficient perioperative practice.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Bloom's Level: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DYNAMICS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model learned over 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validation loss at each epoch. Lower train loss + higher val loss = classic overfitting signal.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56692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355080" y="1920240"/>
          <a:ext cx="56692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Leaderboard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2,816 held-out test samples. Weighted F1 is the primary metric.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57600" cy="4480560"/>
          </a:xfrm>
          <a:prstGeom prst="rect">
            <a:avLst/>
          </a:prstGeom>
          <a:solidFill>
            <a:srgbClr val="16263D"/>
          </a:solidFill>
          <a:ln w="25400">
            <a:solidFill>
              <a:srgbClr val="06B6D4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657600" cy="137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017520" y="2377440"/>
            <a:ext cx="91440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Mistral-7B-Instruct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310896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93.22%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2296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5577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0.9324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7744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F1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5577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0.9206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434840" y="1965960"/>
            <a:ext cx="3657600" cy="448056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34840" y="1965960"/>
            <a:ext cx="3657600" cy="137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2nd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6903720" y="2377440"/>
            <a:ext cx="91440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372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Qwen2-7B-Instruct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310896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92.47%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470916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5577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0.9250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6364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F1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5577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0.9149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321040" y="1965960"/>
            <a:ext cx="3657600" cy="448056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321040" y="1965960"/>
            <a:ext cx="3657600" cy="1371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9536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3rd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10789920" y="2377440"/>
            <a:ext cx="914400" cy="320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78992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9536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Gemma-2-9B-IT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595360" y="3566160"/>
            <a:ext cx="3108960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9536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20.24%</a:t>
            </a:r>
            <a:endParaRPr lang="en-US" sz="5600" dirty="0"/>
          </a:p>
        </p:txBody>
      </p:sp>
      <p:sp>
        <p:nvSpPr>
          <p:cNvPr id="39" name="Text 37"/>
          <p:cNvSpPr/>
          <p:nvPr/>
        </p:nvSpPr>
        <p:spPr>
          <a:xfrm>
            <a:off x="859536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9536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95360" y="5577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0.3097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014984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F1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149840" y="5577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0.3050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PER-CLASS F1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model handles each Bloom level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Gemma's collapse is uniform across higher-order levels — precision is strong, but recall falls off a cliff.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74520"/>
          <a:ext cx="74980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75320" y="1920240"/>
            <a:ext cx="3429000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75320" y="1920240"/>
            <a:ext cx="73152" cy="1325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503920" y="2057400"/>
            <a:ext cx="82296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03920" y="20574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0392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dominates across the board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03920" y="272491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on 4 of 6 classes. Most balanced recall-precision profile.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75320" y="3383280"/>
            <a:ext cx="3429000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275320" y="3383280"/>
            <a:ext cx="73152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503920" y="3520440"/>
            <a:ext cx="82296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503920" y="3520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Qwen2 matches on Evaluate &amp; Create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03920" y="418795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tied with Mistral on the hardest creative levels.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4846320"/>
            <a:ext cx="3429000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275320" y="4846320"/>
            <a:ext cx="73152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503920" y="4983480"/>
            <a:ext cx="822960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50392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03920" y="5303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collapses above Remember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503920" y="56509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drops from 0.83 → 0.12 on Analyze &amp; Evaluate. See next slide.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Gemma paradox — precise yet wrong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training loss dropped to 0.28 (lowest of the three). Yet accuracy stalled at 20%. What happened?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920240"/>
            <a:ext cx="452628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60920" y="2103120"/>
            <a:ext cx="548640" cy="5486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609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0" y="20116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→ ~1.0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230428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Gemma *does* predict a class, it's almost always right. It isn't confused about meaning — it's silent on most inputs.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78040" y="3017520"/>
            <a:ext cx="452628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60920" y="3200400"/>
            <a:ext cx="548640" cy="5486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609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046720" y="31089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→ ~0.06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46720" y="340156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~6% of Analyze/Evaluate outcomes get labelled at all. The model abstains or produces tokens that don't match any Bloom label.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78040" y="4114800"/>
            <a:ext cx="452628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60920" y="4297680"/>
            <a:ext cx="548640" cy="5486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6092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046720" y="42062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Likely cause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44988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Gemma-2's safety/instruction format differs from Mistral &amp; Qwen. Without a chat template, outputs drift and the parser captures 'Unknown'.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78040" y="5212080"/>
            <a:ext cx="452628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360920" y="5394960"/>
            <a:ext cx="548640" cy="5486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36092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046720" y="5303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046720" y="55961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Gemma's official chat template, or retrain with `attn_implementation="eager"` AND a matching prompt structure.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WINNER SPOTLIGHT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Mistral-7B — full per-class breakdown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45920"/>
          <a:ext cx="47548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783080"/>
            <a:ext cx="15544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577840" y="1783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132320" y="1783080"/>
            <a:ext cx="11887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3232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21040" y="1783080"/>
            <a:ext cx="10058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321040" y="1783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326880" y="1783080"/>
            <a:ext cx="9144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32688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241280" y="1783080"/>
            <a:ext cx="10972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24128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2240280"/>
            <a:ext cx="57607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77840" y="2240280"/>
            <a:ext cx="73152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60720" y="2240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0" y="22402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21040" y="2240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326880" y="22402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241280" y="22402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577840" y="2743200"/>
            <a:ext cx="5760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577840" y="274320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760720" y="2743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132320" y="27432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321040" y="27432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326880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241280" y="2743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762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577840" y="3246120"/>
            <a:ext cx="57607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577840" y="3246120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760720" y="3246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132320" y="3246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321040" y="32461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326880" y="3246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0241280" y="3246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577840" y="3749040"/>
            <a:ext cx="5760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577840" y="3749040"/>
            <a:ext cx="73152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760720" y="3749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132320" y="3749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321040" y="3749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32688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1024128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577840" y="4251960"/>
            <a:ext cx="57607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5577840" y="4251960"/>
            <a:ext cx="73152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760720" y="4251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132320" y="42519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321040" y="4251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9326880" y="4251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10241280" y="4251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577840" y="4754880"/>
            <a:ext cx="5760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5577840" y="4754880"/>
            <a:ext cx="73152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5760720" y="4754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132320" y="4754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321040" y="4754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9326880" y="4754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0241280" y="4754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577840" y="5486400"/>
            <a:ext cx="17983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715000" y="5559552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F1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715000" y="5779008"/>
            <a:ext cx="152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0.9206</a:t>
            </a:r>
            <a:endParaRPr lang="en-US" sz="2200" dirty="0"/>
          </a:p>
        </p:txBody>
      </p:sp>
      <p:sp>
        <p:nvSpPr>
          <p:cNvPr id="60" name="Shape 57"/>
          <p:cNvSpPr/>
          <p:nvPr/>
        </p:nvSpPr>
        <p:spPr>
          <a:xfrm>
            <a:off x="7559040" y="5486400"/>
            <a:ext cx="17983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7696200" y="5559552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7696200" y="5779008"/>
            <a:ext cx="152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0.9324</a:t>
            </a:r>
            <a:endParaRPr lang="en-US" sz="2200" dirty="0"/>
          </a:p>
        </p:txBody>
      </p:sp>
      <p:sp>
        <p:nvSpPr>
          <p:cNvPr id="63" name="Shape 60"/>
          <p:cNvSpPr/>
          <p:nvPr/>
        </p:nvSpPr>
        <p:spPr>
          <a:xfrm>
            <a:off x="9540240" y="5486400"/>
            <a:ext cx="17983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9677400" y="5559552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9677400" y="5779008"/>
            <a:ext cx="152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93.22%</a:t>
            </a:r>
            <a:endParaRPr lang="en-US" sz="2200" dirty="0"/>
          </a:p>
        </p:txBody>
      </p:sp>
      <p:sp>
        <p:nvSpPr>
          <p:cNvPr id="66" name="Text 6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WILD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predictions from the best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unseen learning outcomes. Mistral classifies each in under 100 ms on an A6000.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0972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“Define the key terms used in thermodynamics.”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20574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0" y="2194560"/>
            <a:ext cx="1417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10972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29400" y="212140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“Explain the principles of natural selection.”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66960" y="20574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0378440" y="2194560"/>
            <a:ext cx="1417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378440" y="21945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227832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227832"/>
            <a:ext cx="10972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3192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3520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“Calculate the acceleration of a falling object using Newton's 2nd law.”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60520" y="3456432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4572000" y="3593592"/>
            <a:ext cx="14173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35935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227832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55080" y="3227832"/>
            <a:ext cx="10972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29400" y="33192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3520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“Compare and contrast supervised and unsupervised ML.”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966960" y="3456432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0378440" y="3593592"/>
            <a:ext cx="14173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78440" y="35935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626864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4626864"/>
            <a:ext cx="10972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47183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" y="491947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“Critique a peer's experimental design for potential confounds.”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60520" y="4855464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4572000" y="4992624"/>
            <a:ext cx="14173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0" y="49926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55080" y="4626864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55080" y="4626864"/>
            <a:ext cx="109728" cy="1234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29400" y="47183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29400" y="491947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“Design an algorithm to solve the travelling salesman problem.”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966960" y="4855464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10378440" y="4992624"/>
            <a:ext cx="141732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378440" y="49926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6035040"/>
            <a:ext cx="1110996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classify_learning_outcome("Design a curriculum unit on climate change.")   →   Create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350215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84632" y="259689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4632" y="591616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6384" y="16916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" y="501091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88136" y="78638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88136" y="410565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89888" y="32004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89888" y="651967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91640" y="229514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91640" y="561441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93392" y="138988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93392" y="47091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95144" y="48463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95144" y="380390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96896" y="289864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96896" y="62179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898648" y="199339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898648" y="531266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108813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440740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02152" y="1828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02152" y="350215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03904" y="259689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03904" y="591616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05656" y="16916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05656" y="501091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07408" y="78638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07408" y="410565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32004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651967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10912" y="229514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10912" y="561441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312664" y="138988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12664" y="47091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614416" y="48463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614416" y="380390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916168" y="289864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916168" y="62179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17920" y="199339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17920" y="531266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19672" y="108813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519672" y="440740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821424" y="1828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21424" y="350215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123176" y="259689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123176" y="591616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424928" y="16916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424928" y="501091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726680" y="78638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726680" y="410565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028432" y="32004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028432" y="651967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330184" y="229514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330184" y="561441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631936" y="138988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631936" y="47091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933688" y="48463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933688" y="380390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235440" y="289864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235440" y="62179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537192" y="199339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537192" y="531266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838944" y="108813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838944" y="440740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0140696" y="1828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140696" y="350215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442448" y="259689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442448" y="591616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744200" y="16916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744200" y="501091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1045952" y="78638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1045952" y="410565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1347704" y="32004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1347704" y="651967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1649456" y="229514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1649456" y="561441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1951208" y="138988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1951208" y="47091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experiment proved</a:t>
            </a:r>
            <a:endParaRPr lang="en-US" sz="3600" dirty="0"/>
          </a:p>
        </p:txBody>
      </p:sp>
      <p:sp>
        <p:nvSpPr>
          <p:cNvPr id="84" name="Shape 82"/>
          <p:cNvSpPr/>
          <p:nvPr/>
        </p:nvSpPr>
        <p:spPr>
          <a:xfrm>
            <a:off x="548640" y="1737360"/>
            <a:ext cx="5486400" cy="228600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548640" y="1737360"/>
            <a:ext cx="91440" cy="2286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14400" y="1965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7" name="Text 85"/>
          <p:cNvSpPr/>
          <p:nvPr/>
        </p:nvSpPr>
        <p:spPr>
          <a:xfrm>
            <a:off x="914400" y="2514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 works — at scale.</a:t>
            </a:r>
            <a:endParaRPr lang="en-US" sz="1900" dirty="0"/>
          </a:p>
        </p:txBody>
      </p:sp>
      <p:sp>
        <p:nvSpPr>
          <p:cNvPr id="88" name="Text 86"/>
          <p:cNvSpPr/>
          <p:nvPr/>
        </p:nvSpPr>
        <p:spPr>
          <a:xfrm>
            <a:off x="914400" y="30632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&lt;1% of parameters lifted instruction-tuned models to 93% accuracy on a 6-way classification task.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263640" y="1737360"/>
            <a:ext cx="5486400" cy="228600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6263640" y="1737360"/>
            <a:ext cx="91440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629400" y="1965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92" name="Text 90"/>
          <p:cNvSpPr/>
          <p:nvPr/>
        </p:nvSpPr>
        <p:spPr>
          <a:xfrm>
            <a:off x="6629400" y="2514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Bigger ≠ better.</a:t>
            </a:r>
            <a:endParaRPr lang="en-US" sz="1900" dirty="0"/>
          </a:p>
        </p:txBody>
      </p:sp>
      <p:sp>
        <p:nvSpPr>
          <p:cNvPr id="93" name="Text 91"/>
          <p:cNvSpPr/>
          <p:nvPr/>
        </p:nvSpPr>
        <p:spPr>
          <a:xfrm>
            <a:off x="6629400" y="30632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9B Gemma failed while both 7B models excelled. Architecture, chat templates, and tokenizer alignment matter more than raw parameter count.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548640" y="4206240"/>
            <a:ext cx="5486400" cy="228600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48640" y="4206240"/>
            <a:ext cx="91440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91440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97" name="Text 95"/>
          <p:cNvSpPr/>
          <p:nvPr/>
        </p:nvSpPr>
        <p:spPr>
          <a:xfrm>
            <a:off x="914400" y="4983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imbalance was survivable.</a:t>
            </a:r>
            <a:endParaRPr lang="en-US" sz="1900" dirty="0"/>
          </a:p>
        </p:txBody>
      </p:sp>
      <p:sp>
        <p:nvSpPr>
          <p:cNvPr id="98" name="Text 96"/>
          <p:cNvSpPr/>
          <p:nvPr/>
        </p:nvSpPr>
        <p:spPr>
          <a:xfrm>
            <a:off x="914400" y="55321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class had only 886 rows (&lt;5% of data) yet still achieved F1 ≥ 0.86 in both winning models. Stratified splitting + QLoRA handled it.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263640" y="4206240"/>
            <a:ext cx="5486400" cy="228600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6263640" y="4206240"/>
            <a:ext cx="91440" cy="22860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62940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02" name="Text 100"/>
          <p:cNvSpPr/>
          <p:nvPr/>
        </p:nvSpPr>
        <p:spPr>
          <a:xfrm>
            <a:off x="6629400" y="4983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inspect recall, not just loss.</a:t>
            </a:r>
            <a:endParaRPr lang="en-US" sz="1900" dirty="0"/>
          </a:p>
        </p:txBody>
      </p:sp>
      <p:sp>
        <p:nvSpPr>
          <p:cNvPr id="103" name="Text 101"/>
          <p:cNvSpPr/>
          <p:nvPr/>
        </p:nvSpPr>
        <p:spPr>
          <a:xfrm>
            <a:off x="6629400" y="55321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Gemma's training loss was the lowest of the three. A loss curve alone would have declared it the winner. Class-level recall told the real story.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548640" y="6446520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Mistral-7B-Instruct-v0.3  •  93.22% accuracy  •  0.9324 weighted F1  •  ~1h 51m training on a single A6000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1232</Words>
  <Application>Microsoft Office PowerPoint</Application>
  <PresentationFormat>Widescreen</PresentationFormat>
  <Paragraphs>311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Bloom's Taxonomy LLM Fine-Tuning Pipeline</dc:title>
  <dc:subject>PptxGenJS Presentation</dc:subject>
  <dc:creator>ML Research</dc:creator>
  <cp:lastModifiedBy>Muhammad Daniyal</cp:lastModifiedBy>
  <cp:revision>2</cp:revision>
  <dcterms:created xsi:type="dcterms:W3CDTF">2026-04-21T01:14:21Z</dcterms:created>
  <dcterms:modified xsi:type="dcterms:W3CDTF">2026-04-21T01:18:51Z</dcterms:modified>
</cp:coreProperties>
</file>